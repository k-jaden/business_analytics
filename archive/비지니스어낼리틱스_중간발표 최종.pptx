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94" r:id="rId5"/>
    <p:sldId id="302" r:id="rId6"/>
    <p:sldId id="295" r:id="rId7"/>
    <p:sldId id="303" r:id="rId8"/>
    <p:sldId id="293" r:id="rId9"/>
    <p:sldId id="300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88" r:id="rId19"/>
    <p:sldId id="272" r:id="rId20"/>
    <p:sldId id="273" r:id="rId21"/>
    <p:sldId id="275" r:id="rId22"/>
    <p:sldId id="276" r:id="rId23"/>
    <p:sldId id="301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5EE2-8ED6-4C88-96F3-CFCEB1F1B20B}" v="6" dt="2026-04-19T04:39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618F-8F8D-E332-314C-069C74C7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7BB6E-A09C-5B71-D6F1-AC92C6BA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B13E7-6D25-9811-999B-7792A82CC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0811-20BE-D29D-CC06-44674E84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37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9B8D-8526-7A9D-D5F9-43F9428E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C95CB-DDC4-B534-D1E3-D734B821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F3328-C8F0-D177-6701-ACAAE779E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2479-BBC3-E57F-C7F8-57D575DD7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8C45-A992-FA0C-08B7-E7273432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3639A-3931-E8E6-C74E-D295DAA69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1901F-58E1-1B62-6B4B-9D90E7E0D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55295-A9D1-0EE7-DCAE-2EA556AC6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28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gazine.hankyung.com/business/article/202602106584b" TargetMode="External"/><Relationship Id="rId2" Type="http://schemas.openxmlformats.org/officeDocument/2006/relationships/hyperlink" Target="https://www.nytimes.com/athletic/1800120/2020/05/07/air-jordan-sales-soar-on-resale-sites-as-espn-airs-the-last-dance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apitaloneshopping.com/research/thrifting-statistics/" TargetMode="External"/><Relationship Id="rId5" Type="http://schemas.openxmlformats.org/officeDocument/2006/relationships/hyperlink" Target="https://stockx.com/about/stockxs-current-culture-index-highlights-2025s-biggest-winners-reveals-predictions-for-2026/" TargetMode="External"/><Relationship Id="rId4" Type="http://schemas.openxmlformats.org/officeDocument/2006/relationships/hyperlink" Target="https://biz.chosun.com/stock/finance/2022/01/30/LU2U6SU5DBDNXB4RIWSFNSJSH4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6610" y="1577817"/>
            <a:ext cx="8925950" cy="74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리셀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시장에서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미디어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채널의</a:t>
            </a:r>
            <a:r>
              <a:rPr lang="en-US" sz="3000" b="1" dirty="0">
                <a:latin typeface="+mj-ea"/>
                <a:ea typeface="+mj-ea"/>
              </a:rPr>
              <a:t>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가격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선행성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비교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연구</a:t>
            </a:r>
            <a:endParaRPr lang="en-US" sz="3000" b="1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46560" y="2928745"/>
            <a:ext cx="5650880" cy="30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스니커즈 · 트레이딩 카드 · </a:t>
            </a:r>
            <a:r>
              <a:rPr lang="en-US" sz="1500" b="1" dirty="0" err="1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레고의</a:t>
            </a:r>
            <a:r>
              <a:rPr lang="en-US" sz="1500" b="1" dirty="0">
                <a:latin typeface="+mj-ea"/>
                <a:ea typeface="+mj-ea"/>
              </a:rPr>
              <a:t> </a:t>
            </a: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Granger 검정 기반 실증분석</a:t>
            </a:r>
            <a:endParaRPr lang="en-US" sz="1500" b="1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F8ED8-28F2-ED21-540A-57A5B7899E43}"/>
              </a:ext>
            </a:extLst>
          </p:cNvPr>
          <p:cNvSpPr txBox="1"/>
          <p:nvPr/>
        </p:nvSpPr>
        <p:spPr>
          <a:xfrm>
            <a:off x="7508632" y="4616769"/>
            <a:ext cx="1543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이승현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bg2">
                    <a:lumMod val="75000"/>
                  </a:schemeClr>
                </a:solidFill>
              </a:rPr>
              <a:t>윤재은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최형호</a:t>
            </a:r>
            <a:endParaRPr lang="en-US" altLang="ko-KR" sz="10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30632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813816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1179576"/>
            <a:ext cx="13716" cy="4023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08760" y="11064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ko-KR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3807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연구 목적 </a:t>
            </a:r>
            <a:r>
              <a:rPr lang="en-US" altLang="ko-KR" sz="14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4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핵심 가설 </a:t>
            </a:r>
            <a:r>
              <a:rPr lang="en-US" altLang="ko-KR" sz="14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400" dirty="0" err="1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리셀</a:t>
            </a:r>
            <a:r>
              <a:rPr lang="ko-KR" altLang="en-US" sz="14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시장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8138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1956816"/>
            <a:ext cx="13716" cy="4023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08760" y="18836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한계 &amp; 포지션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15798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블루오션 근거 및 차별점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16063"/>
            <a:ext cx="813816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26060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2734056"/>
            <a:ext cx="13716" cy="4023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08760" y="26609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&amp; 채널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29352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자산 × 5개 채널 선정 근거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8138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5800" y="33832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371600" y="3511296"/>
            <a:ext cx="13716" cy="4023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08760" y="34381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7124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· FinBERT · XGBoost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813816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16052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71600" y="4288536"/>
            <a:ext cx="13716" cy="40233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508760" y="4215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48970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</a:t>
            </a: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및</a:t>
            </a: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연구 목적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핵심 가설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 err="1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리셀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시장 성장</a:t>
            </a:r>
            <a:endParaRPr lang="en-US" altLang="ko-KR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27AA4-A7E2-D83D-2809-858D9940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88DDBF-858A-142C-6E65-DC03CB1C7844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B0B5E5-E08D-ED9E-C78A-5F5F90E34C3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E8A079-FD4F-7F21-EBA4-94845D6B00FF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H2 (핵심) · H3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649E74-6324-9244-CC2B-AE42D5EBD600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850444-A0FE-1D8E-F4E4-B2E1B2D4C9A0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8" name="Div">
            <a:extLst>
              <a:ext uri="{FF2B5EF4-FFF2-40B4-BE49-F238E27FC236}">
                <a16:creationId xmlns:a16="http://schemas.microsoft.com/office/drawing/2014/main" id="{56EE6109-4694-2633-CDED-BEED637F41F5}"/>
              </a:ext>
            </a:extLst>
          </p:cNvPr>
          <p:cNvSpPr/>
          <p:nvPr/>
        </p:nvSpPr>
        <p:spPr>
          <a:xfrm>
            <a:off x="521760" y="1006780"/>
            <a:ext cx="8229600" cy="1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29" name="PurposeBg">
            <a:extLst>
              <a:ext uri="{FF2B5EF4-FFF2-40B4-BE49-F238E27FC236}">
                <a16:creationId xmlns:a16="http://schemas.microsoft.com/office/drawing/2014/main" id="{2E0F23ED-4283-1404-2022-A05C298450B2}"/>
              </a:ext>
            </a:extLst>
          </p:cNvPr>
          <p:cNvSpPr/>
          <p:nvPr/>
        </p:nvSpPr>
        <p:spPr>
          <a:xfrm>
            <a:off x="521760" y="1056780"/>
            <a:ext cx="8139600" cy="68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0" name="PurposeText">
            <a:extLst>
              <a:ext uri="{FF2B5EF4-FFF2-40B4-BE49-F238E27FC236}">
                <a16:creationId xmlns:a16="http://schemas.microsoft.com/office/drawing/2014/main" id="{2C5658D5-544E-D815-6E46-9B2328C29F7F}"/>
              </a:ext>
            </a:extLst>
          </p:cNvPr>
          <p:cNvSpPr/>
          <p:nvPr/>
        </p:nvSpPr>
        <p:spPr>
          <a:xfrm>
            <a:off x="678840" y="1086780"/>
            <a:ext cx="796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연구 목적: 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스니커즈·트레이딩 카드·레고 리셀 가격이 오르기 전에, 어떤 미디어 채널(</a:t>
            </a:r>
            <a:r>
              <a:rPr lang="ko-KR" sz="1300" dirty="0" err="1">
                <a:solidFill>
                  <a:srgbClr val="BBBBBB"/>
                </a:solidFill>
                <a:latin typeface="Calibri"/>
                <a:ea typeface="Calibri"/>
              </a:rPr>
              <a:t>구글·뉴스·유튜브</a:t>
            </a:r>
            <a:r>
              <a:rPr lang="en-US" altLang="ko-KR" sz="1300" dirty="0">
                <a:solidFill>
                  <a:srgbClr val="BBBBBB"/>
                </a:solidFill>
                <a:latin typeface="Calibri"/>
                <a:ea typeface="Calibri"/>
              </a:rPr>
              <a:t>, </a:t>
            </a:r>
            <a:r>
              <a:rPr lang="ko-KR" altLang="en-US" sz="1300" dirty="0">
                <a:solidFill>
                  <a:srgbClr val="BBBBBB"/>
                </a:solidFill>
                <a:latin typeface="Calibri"/>
                <a:ea typeface="Calibri"/>
              </a:rPr>
              <a:t>감성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)이 먼저 반응하는지를 자산별로 비교 실증한다.</a:t>
            </a:r>
          </a:p>
        </p:txBody>
      </p:sp>
      <p:sp>
        <p:nvSpPr>
          <p:cNvPr id="31" name="H1Bg">
            <a:extLst>
              <a:ext uri="{FF2B5EF4-FFF2-40B4-BE49-F238E27FC236}">
                <a16:creationId xmlns:a16="http://schemas.microsoft.com/office/drawing/2014/main" id="{E7DCE920-3605-F3A0-0B42-ECB5B5FA6030}"/>
              </a:ext>
            </a:extLst>
          </p:cNvPr>
          <p:cNvSpPr/>
          <p:nvPr/>
        </p:nvSpPr>
        <p:spPr>
          <a:xfrm>
            <a:off x="521760" y="1806780"/>
            <a:ext cx="2580000" cy="14914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" name="H1Bar">
            <a:extLst>
              <a:ext uri="{FF2B5EF4-FFF2-40B4-BE49-F238E27FC236}">
                <a16:creationId xmlns:a16="http://schemas.microsoft.com/office/drawing/2014/main" id="{149419E6-DC2F-42FF-EFC9-078A30C26A26}"/>
              </a:ext>
            </a:extLst>
          </p:cNvPr>
          <p:cNvSpPr/>
          <p:nvPr/>
        </p:nvSpPr>
        <p:spPr>
          <a:xfrm>
            <a:off x="521760" y="1806780"/>
            <a:ext cx="60000" cy="150174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3" name="H1Text">
            <a:extLst>
              <a:ext uri="{FF2B5EF4-FFF2-40B4-BE49-F238E27FC236}">
                <a16:creationId xmlns:a16="http://schemas.microsoft.com/office/drawing/2014/main" id="{B0445B9B-60FD-6D7F-5F8D-392F9EB82743}"/>
              </a:ext>
            </a:extLst>
          </p:cNvPr>
          <p:cNvSpPr/>
          <p:nvPr/>
        </p:nvSpPr>
        <p:spPr>
          <a:xfrm>
            <a:off x="663220" y="1848117"/>
            <a:ext cx="245708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1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b="1" dirty="0">
                <a:latin typeface="Calibri"/>
                <a:ea typeface="Calibri"/>
              </a:rPr>
              <a:t>H1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미디어 채널은 리셀 가격에 선행한다</a:t>
            </a:r>
          </a:p>
          <a:p>
            <a:endParaRPr lang="en-US" altLang="ko-KR" sz="1000" dirty="0"/>
          </a:p>
        </p:txBody>
      </p:sp>
      <p:sp>
        <p:nvSpPr>
          <p:cNvPr id="34" name="H2Bg">
            <a:extLst>
              <a:ext uri="{FF2B5EF4-FFF2-40B4-BE49-F238E27FC236}">
                <a16:creationId xmlns:a16="http://schemas.microsoft.com/office/drawing/2014/main" id="{3FD1F962-52DE-DFDA-A338-70FA45AC0ED5}"/>
              </a:ext>
            </a:extLst>
          </p:cNvPr>
          <p:cNvSpPr/>
          <p:nvPr/>
        </p:nvSpPr>
        <p:spPr>
          <a:xfrm>
            <a:off x="3251760" y="1806779"/>
            <a:ext cx="2580000" cy="1491459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5" name="H2Text">
            <a:extLst>
              <a:ext uri="{FF2B5EF4-FFF2-40B4-BE49-F238E27FC236}">
                <a16:creationId xmlns:a16="http://schemas.microsoft.com/office/drawing/2014/main" id="{2A3EAAFF-E98E-0F0A-925B-D0FBE60888DF}"/>
              </a:ext>
            </a:extLst>
          </p:cNvPr>
          <p:cNvSpPr/>
          <p:nvPr/>
        </p:nvSpPr>
        <p:spPr>
          <a:xfrm>
            <a:off x="3334026" y="1720730"/>
            <a:ext cx="2460000" cy="170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FFFFFF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solidFill>
                  <a:schemeClr val="bg1"/>
                </a:solidFill>
                <a:latin typeface="Calibri"/>
                <a:ea typeface="Calibri"/>
              </a:rPr>
              <a:t>H2</a:t>
            </a:r>
            <a:r>
              <a:rPr lang="ko-KR" sz="1800" b="1" dirty="0">
                <a:latin typeface="Calibri"/>
                <a:ea typeface="Calibri"/>
              </a:rPr>
              <a:t> 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FFFFFF"/>
                </a:solidFill>
                <a:latin typeface="Calibri"/>
                <a:ea typeface="Calibri"/>
              </a:rPr>
              <a:t>선행 채널은 자산 유형마다 다르다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endParaRPr lang="ko-KR" sz="1500" dirty="0">
              <a:solidFill>
                <a:srgbClr val="BBBBBB"/>
              </a:solidFill>
              <a:latin typeface="Calibri"/>
              <a:ea typeface="Calibri"/>
            </a:endParaRPr>
          </a:p>
        </p:txBody>
      </p:sp>
      <p:sp>
        <p:nvSpPr>
          <p:cNvPr id="36" name="H3Bg">
            <a:extLst>
              <a:ext uri="{FF2B5EF4-FFF2-40B4-BE49-F238E27FC236}">
                <a16:creationId xmlns:a16="http://schemas.microsoft.com/office/drawing/2014/main" id="{9E93F63E-BE4B-DA5A-BFE6-7B5B15A207C8}"/>
              </a:ext>
            </a:extLst>
          </p:cNvPr>
          <p:cNvSpPr/>
          <p:nvPr/>
        </p:nvSpPr>
        <p:spPr>
          <a:xfrm>
            <a:off x="5981760" y="1806780"/>
            <a:ext cx="2680000" cy="149145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7" name="H3Bar">
            <a:extLst>
              <a:ext uri="{FF2B5EF4-FFF2-40B4-BE49-F238E27FC236}">
                <a16:creationId xmlns:a16="http://schemas.microsoft.com/office/drawing/2014/main" id="{3F1B2044-236A-16B2-6AB4-ED87885BE554}"/>
              </a:ext>
            </a:extLst>
          </p:cNvPr>
          <p:cNvSpPr/>
          <p:nvPr/>
        </p:nvSpPr>
        <p:spPr>
          <a:xfrm>
            <a:off x="5981760" y="1806780"/>
            <a:ext cx="60000" cy="149145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8" name="H3Text">
            <a:extLst>
              <a:ext uri="{FF2B5EF4-FFF2-40B4-BE49-F238E27FC236}">
                <a16:creationId xmlns:a16="http://schemas.microsoft.com/office/drawing/2014/main" id="{022BD500-3041-7818-BDE6-28E8CE04EE2E}"/>
              </a:ext>
            </a:extLst>
          </p:cNvPr>
          <p:cNvSpPr/>
          <p:nvPr/>
        </p:nvSpPr>
        <p:spPr>
          <a:xfrm>
            <a:off x="6051760" y="1584668"/>
            <a:ext cx="254000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latin typeface="Calibri"/>
                <a:ea typeface="Calibri"/>
              </a:rPr>
              <a:t>H3</a:t>
            </a:r>
            <a:endParaRPr lang="en-US" altLang="ko-KR" b="1" dirty="0">
              <a:latin typeface="Calibri"/>
              <a:ea typeface="Calibri"/>
            </a:endParaRP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채널 선별 모델이 전채널 모델보다 예측력이 높다</a:t>
            </a: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39" name="FlowLabel">
            <a:extLst>
              <a:ext uri="{FF2B5EF4-FFF2-40B4-BE49-F238E27FC236}">
                <a16:creationId xmlns:a16="http://schemas.microsoft.com/office/drawing/2014/main" id="{5A952EAB-FAA3-7014-3C37-7F00059A18A9}"/>
              </a:ext>
            </a:extLst>
          </p:cNvPr>
          <p:cNvSpPr/>
          <p:nvPr/>
        </p:nvSpPr>
        <p:spPr>
          <a:xfrm>
            <a:off x="4045092" y="3710477"/>
            <a:ext cx="1363936" cy="256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500" b="1" dirty="0">
                <a:solidFill>
                  <a:srgbClr val="888888"/>
                </a:solidFill>
                <a:latin typeface="Calibri"/>
                <a:ea typeface="Calibri"/>
              </a:rPr>
              <a:t>분석 흐름</a:t>
            </a:r>
          </a:p>
        </p:txBody>
      </p:sp>
      <p:sp>
        <p:nvSpPr>
          <p:cNvPr id="40" name="F1">
            <a:extLst>
              <a:ext uri="{FF2B5EF4-FFF2-40B4-BE49-F238E27FC236}">
                <a16:creationId xmlns:a16="http://schemas.microsoft.com/office/drawing/2014/main" id="{B3B3026D-1143-3323-6DBF-F624D257ED3E}"/>
              </a:ext>
            </a:extLst>
          </p:cNvPr>
          <p:cNvSpPr/>
          <p:nvPr/>
        </p:nvSpPr>
        <p:spPr>
          <a:xfrm>
            <a:off x="4765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b"/>
          <a:lstStyle/>
          <a:p>
            <a:pPr algn="ctr"/>
            <a:endParaRPr lang="ko-KR" sz="1100" dirty="0">
              <a:solidFill>
                <a:srgbClr val="666666"/>
              </a:solidFill>
              <a:latin typeface="Calibri"/>
              <a:ea typeface="Calibri"/>
            </a:endParaRPr>
          </a:p>
        </p:txBody>
      </p:sp>
      <p:sp>
        <p:nvSpPr>
          <p:cNvPr id="41" name="F2">
            <a:extLst>
              <a:ext uri="{FF2B5EF4-FFF2-40B4-BE49-F238E27FC236}">
                <a16:creationId xmlns:a16="http://schemas.microsoft.com/office/drawing/2014/main" id="{95862516-BA85-1B1C-3FDE-3D91256C5C93}"/>
              </a:ext>
            </a:extLst>
          </p:cNvPr>
          <p:cNvSpPr/>
          <p:nvPr/>
        </p:nvSpPr>
        <p:spPr>
          <a:xfrm>
            <a:off x="27140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감성분석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뉴스·댓글 점수화</a:t>
            </a:r>
          </a:p>
        </p:txBody>
      </p:sp>
      <p:sp>
        <p:nvSpPr>
          <p:cNvPr id="42" name="F3">
            <a:extLst>
              <a:ext uri="{FF2B5EF4-FFF2-40B4-BE49-F238E27FC236}">
                <a16:creationId xmlns:a16="http://schemas.microsoft.com/office/drawing/2014/main" id="{75E4CEA8-2A16-3932-D3FD-55050A61FF16}"/>
              </a:ext>
            </a:extLst>
          </p:cNvPr>
          <p:cNvSpPr/>
          <p:nvPr/>
        </p:nvSpPr>
        <p:spPr>
          <a:xfrm>
            <a:off x="4884026" y="407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검정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선행 채널 식별</a:t>
            </a:r>
          </a:p>
        </p:txBody>
      </p:sp>
      <p:sp>
        <p:nvSpPr>
          <p:cNvPr id="43" name="F4">
            <a:extLst>
              <a:ext uri="{FF2B5EF4-FFF2-40B4-BE49-F238E27FC236}">
                <a16:creationId xmlns:a16="http://schemas.microsoft.com/office/drawing/2014/main" id="{D9D6969D-47DE-AE6C-CACB-27E31BBFF965}"/>
              </a:ext>
            </a:extLst>
          </p:cNvPr>
          <p:cNvSpPr/>
          <p:nvPr/>
        </p:nvSpPr>
        <p:spPr>
          <a:xfrm>
            <a:off x="7076526" y="4086720"/>
            <a:ext cx="1540000" cy="780000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XGBoost 검증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AAAAAA"/>
                </a:solidFill>
                <a:latin typeface="Calibri"/>
                <a:ea typeface="Calibri"/>
              </a:rPr>
              <a:t>AUC·DM검정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2C1C89B7-F0C8-9012-A753-C703282D2B05}"/>
              </a:ext>
            </a:extLst>
          </p:cNvPr>
          <p:cNvSpPr/>
          <p:nvPr/>
        </p:nvSpPr>
        <p:spPr>
          <a:xfrm>
            <a:off x="2432526" y="435728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9194B45C-45FC-B116-F6C6-D0A82193E68E}"/>
              </a:ext>
            </a:extLst>
          </p:cNvPr>
          <p:cNvSpPr/>
          <p:nvPr/>
        </p:nvSpPr>
        <p:spPr>
          <a:xfrm>
            <a:off x="4613776" y="437874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C979988-8ECC-982D-3F1F-EBE605E0DE29}"/>
              </a:ext>
            </a:extLst>
          </p:cNvPr>
          <p:cNvSpPr/>
          <p:nvPr/>
        </p:nvSpPr>
        <p:spPr>
          <a:xfrm>
            <a:off x="6795026" y="4392740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16B587-B072-C6B4-AC2E-B00E497C90C6}"/>
              </a:ext>
            </a:extLst>
          </p:cNvPr>
          <p:cNvSpPr/>
          <p:nvPr/>
        </p:nvSpPr>
        <p:spPr>
          <a:xfrm>
            <a:off x="419226" y="3609746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1Bar">
            <a:extLst>
              <a:ext uri="{FF2B5EF4-FFF2-40B4-BE49-F238E27FC236}">
                <a16:creationId xmlns:a16="http://schemas.microsoft.com/office/drawing/2014/main" id="{023EA7B2-1336-6376-153F-8DAEDB1342AB}"/>
              </a:ext>
            </a:extLst>
          </p:cNvPr>
          <p:cNvSpPr/>
          <p:nvPr/>
        </p:nvSpPr>
        <p:spPr>
          <a:xfrm>
            <a:off x="3248902" y="1801634"/>
            <a:ext cx="60000" cy="15017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BF36-3070-50A8-D989-643577DB940C}"/>
              </a:ext>
            </a:extLst>
          </p:cNvPr>
          <p:cNvSpPr txBox="1"/>
          <p:nvPr/>
        </p:nvSpPr>
        <p:spPr>
          <a:xfrm>
            <a:off x="551760" y="4161249"/>
            <a:ext cx="16811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300" b="1" dirty="0">
                <a:solidFill>
                  <a:srgbClr val="1A1A1A"/>
                </a:solidFill>
                <a:ea typeface="Calibri"/>
              </a:rPr>
              <a:t>데이터 수집</a:t>
            </a: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StockX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,</a:t>
            </a:r>
            <a:r>
              <a:rPr lang="en-US" altLang="ko-KR" sz="1100" dirty="0" err="1">
                <a:solidFill>
                  <a:srgbClr val="666666"/>
                </a:solidFill>
                <a:ea typeface="Calibri"/>
              </a:rPr>
              <a:t>Prciecharting</a:t>
            </a:r>
            <a:endParaRPr lang="en-US" altLang="ko-KR" sz="1100" dirty="0">
              <a:solidFill>
                <a:srgbClr val="666666"/>
              </a:solidFill>
              <a:ea typeface="Calibri"/>
            </a:endParaRP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유튜브·뉴스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 (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볼륨</a:t>
            </a:r>
            <a:r>
              <a:rPr lang="ko-KR" altLang="ko-KR" sz="1100" dirty="0">
                <a:solidFill>
                  <a:srgbClr val="666666"/>
                </a:solidFill>
                <a:ea typeface="Calibri"/>
              </a:rPr>
              <a:t> ·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감성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8691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연구 배경 - 리셀 시장의 성장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640080"/>
            <a:ext cx="8461466" cy="232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200" b="1" i="1" dirty="0">
                <a:solidFill>
                  <a:schemeClr val="accent3"/>
                </a:solidFill>
                <a:ea typeface="Calibri"/>
              </a:rPr>
              <a:t>리셀</a:t>
            </a:r>
            <a:r>
              <a:rPr lang="ko-KR" sz="1200" i="1" dirty="0">
                <a:solidFill>
                  <a:schemeClr val="accent3"/>
                </a:solidFill>
                <a:ea typeface="Calibri"/>
              </a:rPr>
              <a:t>: 한정적 공급으로 형성된 희소 가치를 기반으로, 2차 시장에서 프리미엄을 부가하여 재화를 전매하는 수익 창출 행위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Box1Bg"/>
          <p:cNvSpPr/>
          <p:nvPr/>
        </p:nvSpPr>
        <p:spPr>
          <a:xfrm>
            <a:off x="5029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7" name="Stat1Num"/>
          <p:cNvSpPr/>
          <p:nvPr/>
        </p:nvSpPr>
        <p:spPr>
          <a:xfrm>
            <a:off x="5029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</a:t>
            </a:r>
            <a:r>
              <a:rPr lang="en-US" altLang="ko-KR" sz="2600" b="1" dirty="0">
                <a:solidFill>
                  <a:srgbClr val="1A1A1A"/>
                </a:solidFill>
                <a:latin typeface="Calibri"/>
                <a:ea typeface="Calibri"/>
              </a:rPr>
              <a:t>490</a:t>
            </a:r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억 달러</a:t>
            </a:r>
          </a:p>
        </p:txBody>
      </p:sp>
      <p:sp>
        <p:nvSpPr>
          <p:cNvPr id="8" name="Stat1Label"/>
          <p:cNvSpPr/>
          <p:nvPr/>
        </p:nvSpPr>
        <p:spPr>
          <a:xfrm>
            <a:off x="432581" y="1820000"/>
            <a:ext cx="269434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4</a:t>
            </a:r>
            <a:r>
              <a:rPr lang="ko-KR" sz="1300" dirty="0">
                <a:ea typeface="Calibri"/>
              </a:rPr>
              <a:t> 미국 중고품 시장 규모</a:t>
            </a:r>
          </a:p>
          <a:p>
            <a:pPr algn="ctr"/>
            <a:r>
              <a:rPr lang="ko-KR" sz="950" i="1" dirty="0">
                <a:ea typeface="Calibri"/>
              </a:rPr>
              <a:t>– ThredUp, Capital One Shopping (2026) –</a:t>
            </a:r>
          </a:p>
        </p:txBody>
      </p:sp>
      <p:sp>
        <p:nvSpPr>
          <p:cNvPr id="9" name="Box2Bg"/>
          <p:cNvSpPr/>
          <p:nvPr/>
        </p:nvSpPr>
        <p:spPr>
          <a:xfrm>
            <a:off x="32461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0" name="Stat2Num"/>
          <p:cNvSpPr/>
          <p:nvPr/>
        </p:nvSpPr>
        <p:spPr>
          <a:xfrm>
            <a:off x="3246120" y="11155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3200" b="1" dirty="0">
                <a:solidFill>
                  <a:srgbClr val="1A1A1A"/>
                </a:solidFill>
                <a:latin typeface="Calibri"/>
                <a:ea typeface="Calibri"/>
              </a:rPr>
              <a:t>14.3%</a:t>
            </a:r>
          </a:p>
        </p:txBody>
      </p:sp>
      <p:sp>
        <p:nvSpPr>
          <p:cNvPr id="11" name="Stat2Label"/>
          <p:cNvSpPr/>
          <p:nvPr/>
        </p:nvSpPr>
        <p:spPr>
          <a:xfrm>
            <a:off x="3246120" y="1722681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5</a:t>
            </a:r>
            <a:r>
              <a:rPr lang="ko-KR" sz="1300" dirty="0">
                <a:ea typeface="Calibri"/>
              </a:rPr>
              <a:t>년 전년 대비 성장률</a:t>
            </a:r>
          </a:p>
          <a:p>
            <a:pPr algn="ctr"/>
            <a:r>
              <a:rPr lang="ko-KR" sz="1300" dirty="0">
                <a:ea typeface="Calibri"/>
              </a:rPr>
              <a:t>미국 중고품 시장</a:t>
            </a:r>
          </a:p>
        </p:txBody>
      </p:sp>
      <p:sp>
        <p:nvSpPr>
          <p:cNvPr id="12" name="Box3Bg"/>
          <p:cNvSpPr/>
          <p:nvPr/>
        </p:nvSpPr>
        <p:spPr>
          <a:xfrm>
            <a:off x="59893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3" name="Stat3Num"/>
          <p:cNvSpPr/>
          <p:nvPr/>
        </p:nvSpPr>
        <p:spPr>
          <a:xfrm>
            <a:off x="59893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740억 달러</a:t>
            </a:r>
          </a:p>
        </p:txBody>
      </p:sp>
      <p:sp>
        <p:nvSpPr>
          <p:cNvPr id="14" name="Stat3Label"/>
          <p:cNvSpPr/>
          <p:nvPr/>
        </p:nvSpPr>
        <p:spPr>
          <a:xfrm>
            <a:off x="5989320" y="1820000"/>
            <a:ext cx="25146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2029년 예상 미국 시장 규모</a:t>
            </a:r>
          </a:p>
          <a:p>
            <a:pPr algn="ctr"/>
            <a:r>
              <a:rPr lang="ko-KR" sz="1300" dirty="0">
                <a:ea typeface="Calibri"/>
              </a:rPr>
              <a:t>(ThredUp 추정)</a:t>
            </a:r>
          </a:p>
        </p:txBody>
      </p:sp>
      <p:sp>
        <p:nvSpPr>
          <p:cNvPr id="22" name="Arrow2"/>
          <p:cNvSpPr txBox="1"/>
          <p:nvPr/>
        </p:nvSpPr>
        <p:spPr>
          <a:xfrm>
            <a:off x="4914933" y="12592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17" name="RightBg"/>
          <p:cNvSpPr/>
          <p:nvPr/>
        </p:nvSpPr>
        <p:spPr>
          <a:xfrm>
            <a:off x="5016814" y="2676145"/>
            <a:ext cx="3487106" cy="21537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" name="RightHeader"/>
          <p:cNvSpPr/>
          <p:nvPr/>
        </p:nvSpPr>
        <p:spPr>
          <a:xfrm>
            <a:off x="5200000" y="2780000"/>
            <a:ext cx="29000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000" b="1" dirty="0">
                <a:ea typeface="Calibri"/>
              </a:rPr>
              <a:t>"리셀" 거래 증가</a:t>
            </a:r>
          </a:p>
        </p:txBody>
      </p:sp>
      <p:sp>
        <p:nvSpPr>
          <p:cNvPr id="24" name="RightBullets"/>
          <p:cNvSpPr txBox="1"/>
          <p:nvPr/>
        </p:nvSpPr>
        <p:spPr>
          <a:xfrm>
            <a:off x="5120000" y="3090000"/>
            <a:ext cx="32559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Z세대 소비자 83%가 중고품 구매 경험 또는 희망</a:t>
            </a:r>
          </a:p>
          <a:p>
            <a:pPr marL="171450" indent="-171450">
              <a:buFont typeface="Arial"/>
              <a:buChar char="•"/>
            </a:pP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 시장, 2018년 대비 650% 성장 (일반 중고매장 36.8% 대비)</a:t>
            </a:r>
          </a:p>
          <a:p>
            <a:pPr marL="171450" indent="-171450">
              <a:buFont typeface="Arial"/>
              <a:buChar char="•"/>
            </a:pPr>
            <a:endParaRPr lang="ko-KR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>
                <a:ea typeface="Calibri"/>
              </a:rPr>
              <a:t>온라인 </a:t>
            </a: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, 2029년까지 연평균 13% 성장 전망</a:t>
            </a: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endParaRPr lang="ko-KR" sz="1050" dirty="0"/>
          </a:p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약 490억 달러(2024) → 약 560억 달러(2025), 전년 대비 14.3% 성장</a:t>
            </a:r>
          </a:p>
          <a:p>
            <a:pPr marL="171450" indent="-171450">
              <a:buFont typeface="Arial"/>
              <a:buChar char="•"/>
            </a:pPr>
            <a:endParaRPr lang="ko-KR" sz="1050" dirty="0"/>
          </a:p>
        </p:txBody>
      </p:sp>
      <p:pic>
        <p:nvPicPr>
          <p:cNvPr id="19" name="ThredUP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" y="2629084"/>
            <a:ext cx="4600000" cy="21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SourceCaption"/>
          <p:cNvSpPr/>
          <p:nvPr/>
        </p:nvSpPr>
        <p:spPr>
          <a:xfrm>
            <a:off x="267286" y="4750000"/>
            <a:ext cx="4700000" cy="22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ko-KR" sz="800" i="1" dirty="0">
                <a:ea typeface="Calibri"/>
              </a:rPr>
              <a:t>미국 중고품·리셀 시장 규모 (단위: 10억 달러)</a:t>
            </a:r>
            <a:r>
              <a:rPr lang="en-US" altLang="ko-KR" sz="800" i="1" dirty="0">
                <a:ea typeface="Calibri"/>
              </a:rPr>
              <a:t>, 2025</a:t>
            </a:r>
            <a:r>
              <a:rPr lang="ko-KR" altLang="en-US" sz="800" i="1" dirty="0">
                <a:ea typeface="Calibri"/>
              </a:rPr>
              <a:t>년부터 예측치</a:t>
            </a:r>
            <a:r>
              <a:rPr lang="ko-KR" sz="800" i="1" dirty="0">
                <a:ea typeface="Calibri"/>
              </a:rPr>
              <a:t> / 출처: ThredUp, Capital One Shopping Research (2026)</a:t>
            </a:r>
          </a:p>
        </p:txBody>
      </p:sp>
      <p:sp>
        <p:nvSpPr>
          <p:cNvPr id="15" name="SlideNum"/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73D2-8A86-605B-1CCA-DAF48D5D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A59B56FF-CFBF-C419-4D36-ED245D83056C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ACCDDD8-2A6A-3B10-231A-11F272EC049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 err="1">
                <a:solidFill>
                  <a:srgbClr val="1A1A1A"/>
                </a:solidFill>
                <a:latin typeface="Calibri"/>
                <a:ea typeface="Calibri"/>
              </a:rPr>
              <a:t>리셀</a:t>
            </a: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 분야 선정 이유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B8D4C8D-781A-317B-DCB7-BAA34439439E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 분야 선정 이유 </a:t>
            </a:r>
            <a:r>
              <a:rPr lang="en-US" altLang="ko-KR" sz="1300" i="1" dirty="0">
                <a:solidFill>
                  <a:srgbClr val="AAAAAA"/>
                </a:solidFill>
                <a:latin typeface="Calibri"/>
                <a:ea typeface="Calibri"/>
              </a:rPr>
              <a:t>3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가지</a:t>
            </a:r>
            <a:endParaRPr lang="ko-KR" sz="1300" i="1" dirty="0">
              <a:solidFill>
                <a:srgbClr val="AAAAAA"/>
              </a:solidFill>
              <a:latin typeface="Calibri"/>
              <a:ea typeface="Calibri"/>
            </a:endParaRP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9F44F7-7CD3-28D7-EE23-A1E434DB1509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2ABA3D8A-73AB-E19E-E53B-0978F95CE4D6}"/>
              </a:ext>
            </a:extLst>
          </p:cNvPr>
          <p:cNvSpPr/>
          <p:nvPr/>
        </p:nvSpPr>
        <p:spPr>
          <a:xfrm>
            <a:off x="50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" name="P2Bg">
            <a:extLst>
              <a:ext uri="{FF2B5EF4-FFF2-40B4-BE49-F238E27FC236}">
                <a16:creationId xmlns:a16="http://schemas.microsoft.com/office/drawing/2014/main" id="{EA6BC6E1-5EF6-28BF-EEEA-F0173DA1F3E1}"/>
              </a:ext>
            </a:extLst>
          </p:cNvPr>
          <p:cNvSpPr/>
          <p:nvPr/>
        </p:nvSpPr>
        <p:spPr>
          <a:xfrm>
            <a:off x="325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P2Bar">
            <a:extLst>
              <a:ext uri="{FF2B5EF4-FFF2-40B4-BE49-F238E27FC236}">
                <a16:creationId xmlns:a16="http://schemas.microsoft.com/office/drawing/2014/main" id="{E8E59110-E24E-E649-4876-036E58305504}"/>
              </a:ext>
            </a:extLst>
          </p:cNvPr>
          <p:cNvSpPr/>
          <p:nvPr/>
        </p:nvSpPr>
        <p:spPr>
          <a:xfrm>
            <a:off x="3252920" y="1000000"/>
            <a:ext cx="45719" cy="38893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45B6188B-0901-1FB5-2D58-75B0E403E042}"/>
              </a:ext>
            </a:extLst>
          </p:cNvPr>
          <p:cNvSpPr/>
          <p:nvPr/>
        </p:nvSpPr>
        <p:spPr>
          <a:xfrm>
            <a:off x="502920" y="1000000"/>
            <a:ext cx="45719" cy="38699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2" name="P3Bg">
            <a:extLst>
              <a:ext uri="{FF2B5EF4-FFF2-40B4-BE49-F238E27FC236}">
                <a16:creationId xmlns:a16="http://schemas.microsoft.com/office/drawing/2014/main" id="{A9D74BD4-DCA0-8E13-82F1-3962EA6E2F00}"/>
              </a:ext>
            </a:extLst>
          </p:cNvPr>
          <p:cNvSpPr/>
          <p:nvPr/>
        </p:nvSpPr>
        <p:spPr>
          <a:xfrm>
            <a:off x="6002920" y="1000000"/>
            <a:ext cx="264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3" name="P3Bar">
            <a:extLst>
              <a:ext uri="{FF2B5EF4-FFF2-40B4-BE49-F238E27FC236}">
                <a16:creationId xmlns:a16="http://schemas.microsoft.com/office/drawing/2014/main" id="{B2F89DFE-99B5-0CB0-F8AD-E46870C6E3CA}"/>
              </a:ext>
            </a:extLst>
          </p:cNvPr>
          <p:cNvSpPr/>
          <p:nvPr/>
        </p:nvSpPr>
        <p:spPr>
          <a:xfrm>
            <a:off x="5997649" y="1000000"/>
            <a:ext cx="45719" cy="38562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1471A-E72D-0158-02B6-5F5881E0AF17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CF9D3-8ABE-9592-D966-CFA96D979351}"/>
              </a:ext>
            </a:extLst>
          </p:cNvPr>
          <p:cNvSpPr txBox="1"/>
          <p:nvPr/>
        </p:nvSpPr>
        <p:spPr>
          <a:xfrm>
            <a:off x="615179" y="1044619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시장 진입 용이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913A3F-4700-95E0-34AB-6190410F078C}"/>
              </a:ext>
            </a:extLst>
          </p:cNvPr>
          <p:cNvSpPr txBox="1"/>
          <p:nvPr/>
        </p:nvSpPr>
        <p:spPr>
          <a:xfrm>
            <a:off x="3419472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미디어 영향이 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FFCC4-5B07-5138-D9DE-9B268743CAD8}"/>
              </a:ext>
            </a:extLst>
          </p:cNvPr>
          <p:cNvSpPr txBox="1"/>
          <p:nvPr/>
        </p:nvSpPr>
        <p:spPr>
          <a:xfrm>
            <a:off x="6157468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투자 측면 시장 성장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A8898-A662-7452-C663-D852C21D2268}"/>
              </a:ext>
            </a:extLst>
          </p:cNvPr>
          <p:cNvSpPr txBox="1"/>
          <p:nvPr/>
        </p:nvSpPr>
        <p:spPr>
          <a:xfrm>
            <a:off x="574894" y="1465383"/>
            <a:ext cx="27233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리셀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 전용 플랫폼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크림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솔드아웃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의 등장으로 거래 품목 확대와     이용 활성화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FF7F65-DADA-4105-76BB-55BAC148AC50}"/>
              </a:ext>
            </a:extLst>
          </p:cNvPr>
          <p:cNvSpPr txBox="1"/>
          <p:nvPr/>
        </p:nvSpPr>
        <p:spPr>
          <a:xfrm>
            <a:off x="3314231" y="1592450"/>
            <a:ext cx="254138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2020</a:t>
            </a:r>
            <a:r>
              <a:rPr lang="ko-KR" altLang="en-US" sz="1300" dirty="0"/>
              <a:t>년 마이클 </a:t>
            </a:r>
            <a:r>
              <a:rPr lang="ko-KR" altLang="en-US" sz="1300" dirty="0" err="1"/>
              <a:t>조던의</a:t>
            </a:r>
            <a:r>
              <a:rPr lang="ko-KR" altLang="en-US" sz="1300" dirty="0"/>
              <a:t> 다큐멘터리 </a:t>
            </a:r>
            <a:r>
              <a:rPr lang="en-US" altLang="ko-KR" sz="1300" dirty="0"/>
              <a:t>&lt;The Last Dance&gt; </a:t>
            </a:r>
            <a:r>
              <a:rPr lang="ko-KR" altLang="en-US" sz="1300" dirty="0"/>
              <a:t>방영 이후  </a:t>
            </a:r>
            <a:r>
              <a:rPr lang="en-US" altLang="ko-KR" sz="1300" dirty="0" err="1"/>
              <a:t>StockX</a:t>
            </a:r>
            <a:r>
              <a:rPr lang="en-US" altLang="ko-KR" sz="1300" dirty="0"/>
              <a:t> </a:t>
            </a:r>
            <a:r>
              <a:rPr lang="ko-KR" altLang="en-US" sz="1300" dirty="0"/>
              <a:t>내 조던 브랜드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</a:t>
            </a:r>
            <a:r>
              <a:rPr lang="en-US" altLang="ko-KR" sz="1300" dirty="0"/>
              <a:t>63% , </a:t>
            </a:r>
            <a:r>
              <a:rPr lang="ko-KR" altLang="en-US" sz="1300" dirty="0"/>
              <a:t>전체 판매량 </a:t>
            </a:r>
            <a:r>
              <a:rPr lang="en-US" altLang="ko-KR" sz="1300" dirty="0"/>
              <a:t>40% </a:t>
            </a:r>
            <a:r>
              <a:rPr lang="ko-KR" altLang="en-US" sz="1300" dirty="0"/>
              <a:t>증가 </a:t>
            </a:r>
            <a:r>
              <a:rPr lang="en-US" altLang="ko-KR" sz="1000" i="1" dirty="0"/>
              <a:t>- the athletic -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라부부</a:t>
            </a:r>
            <a:r>
              <a:rPr lang="ko-KR" altLang="en-US" sz="1300" dirty="0"/>
              <a:t> 열풍</a:t>
            </a:r>
            <a:r>
              <a:rPr lang="en-US" altLang="ko-KR" sz="1300"/>
              <a:t>, </a:t>
            </a:r>
            <a:r>
              <a:rPr lang="ko-KR" altLang="en-US" sz="1300" dirty="0"/>
              <a:t>블랙핑크 리사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리한나</a:t>
            </a:r>
            <a:r>
              <a:rPr lang="ko-KR" altLang="en-US" sz="1300" dirty="0"/>
              <a:t> 등 유명 인사들이 </a:t>
            </a:r>
            <a:r>
              <a:rPr lang="en-US" altLang="ko-KR" sz="1300" dirty="0"/>
              <a:t>SNS</a:t>
            </a:r>
            <a:r>
              <a:rPr lang="ko-KR" altLang="en-US" sz="1300" dirty="0"/>
              <a:t>에 제품 노출하면서 글로벌 인지도 급상승 </a:t>
            </a:r>
            <a:r>
              <a:rPr lang="en-US" altLang="ko-KR" sz="1300" dirty="0"/>
              <a:t>2025</a:t>
            </a:r>
            <a:r>
              <a:rPr lang="ko-KR" altLang="en-US" sz="1300" dirty="0"/>
              <a:t>년 기준 전세계 판매량 </a:t>
            </a:r>
            <a:r>
              <a:rPr lang="en-US" altLang="ko-KR" sz="1300" dirty="0"/>
              <a:t>1</a:t>
            </a:r>
            <a:r>
              <a:rPr lang="ko-KR" altLang="en-US" sz="1300" dirty="0"/>
              <a:t>억 개 돌파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nate</a:t>
            </a:r>
            <a:r>
              <a:rPr lang="en-US" altLang="ko-KR" sz="1000" i="1" dirty="0"/>
              <a:t> news -</a:t>
            </a:r>
          </a:p>
        </p:txBody>
      </p:sp>
      <p:pic>
        <p:nvPicPr>
          <p:cNvPr id="2050" name="Picture 2" descr="&quot;딴 데는 다 죽어가는데…&quot; 크림은 어떻게 '성장캐'가 됐나">
            <a:extLst>
              <a:ext uri="{FF2B5EF4-FFF2-40B4-BE49-F238E27FC236}">
                <a16:creationId xmlns:a16="http://schemas.microsoft.com/office/drawing/2014/main" id="{49EF78D0-CF15-E319-5EBE-D16E08606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5" t="3952" r="5312" b="4059"/>
          <a:stretch>
            <a:fillRect/>
          </a:stretch>
        </p:blipFill>
        <p:spPr bwMode="auto">
          <a:xfrm>
            <a:off x="548639" y="2375083"/>
            <a:ext cx="2570434" cy="251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8C8E34-3EF6-A00A-C1E6-F9FE0831BD5C}"/>
              </a:ext>
            </a:extLst>
          </p:cNvPr>
          <p:cNvSpPr txBox="1"/>
          <p:nvPr/>
        </p:nvSpPr>
        <p:spPr>
          <a:xfrm>
            <a:off x="6090928" y="1458624"/>
            <a:ext cx="25790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한정품의 소유를 위한 구매 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단순 재판매가  아닌 추가적인 금액을 더해 되파는 투자 성향의 시장으로 성장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FCC53-26FB-4985-8F9E-E14E21951499}"/>
              </a:ext>
            </a:extLst>
          </p:cNvPr>
          <p:cNvSpPr txBox="1"/>
          <p:nvPr/>
        </p:nvSpPr>
        <p:spPr>
          <a:xfrm>
            <a:off x="6076845" y="2334673"/>
            <a:ext cx="2532598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리셀</a:t>
            </a:r>
            <a:r>
              <a:rPr lang="ko-KR" altLang="en-US" sz="1300" dirty="0"/>
              <a:t> 상품은 주식시장과 별개로 움직여 포트폴리오 안전성이 높음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/>
              <a:t>한정판 상품 외의 상품을 묵혀두며 가치를 올리는 </a:t>
            </a:r>
            <a:r>
              <a:rPr lang="en-US" altLang="ko-KR" sz="1300" dirty="0"/>
              <a:t>‘</a:t>
            </a:r>
            <a:r>
              <a:rPr lang="ko-KR" altLang="en-US" sz="1300" dirty="0"/>
              <a:t>저축형 </a:t>
            </a:r>
            <a:r>
              <a:rPr lang="ko-KR" altLang="en-US" sz="1300" dirty="0" err="1"/>
              <a:t>리셀</a:t>
            </a:r>
            <a:r>
              <a:rPr lang="en-US" altLang="ko-KR" sz="1300" dirty="0"/>
              <a:t>’ </a:t>
            </a:r>
            <a:r>
              <a:rPr lang="ko-KR" altLang="en-US" sz="1300" dirty="0"/>
              <a:t>등 여러 형태로 성장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r>
              <a:rPr lang="en-US" altLang="ko-KR" sz="1000" dirty="0"/>
              <a:t>	                        </a:t>
            </a:r>
          </a:p>
          <a:p>
            <a:r>
              <a:rPr lang="en-US" altLang="ko-KR" sz="1000" dirty="0"/>
              <a:t>	</a:t>
            </a:r>
            <a:endParaRPr lang="en-US" altLang="ko-KR" sz="1000" i="1" dirty="0"/>
          </a:p>
        </p:txBody>
      </p:sp>
    </p:spTree>
    <p:extLst>
      <p:ext uri="{BB962C8B-B14F-4D97-AF65-F5344CB8AC3E}">
        <p14:creationId xmlns:p14="http://schemas.microsoft.com/office/powerpoint/2010/main" val="378414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9DCE-8B9F-17CF-8BD6-42326070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CDC463-5CF7-62B9-FC5F-24C08F6FCF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14D643-F3CF-BEBE-34C9-8DB91F7C9FB3}"/>
              </a:ext>
            </a:extLst>
          </p:cNvPr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4FAE3B-1BF5-F6A8-C819-C060EBAD90A8}"/>
              </a:ext>
            </a:extLst>
          </p:cNvPr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한계 </a:t>
            </a:r>
            <a:r>
              <a:rPr lang="en-US" altLang="ko-KR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23ED3F-CC85-D8C7-4D16-66F6E95C44D4}"/>
              </a:ext>
            </a:extLst>
          </p:cNvPr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블루오션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65207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9E5-E03C-8D25-4CDE-E60C3373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77B2A34C-B072-C2FA-6B96-FA4948C15D98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5D4412D-85CB-1219-0A1E-5B2DD8BD8255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기존 연구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6392D56-7272-D9F2-1B4B-1B34AF26E443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3가지 적용 한계 상세 분석 —</a:t>
            </a:r>
            <a:r>
              <a:rPr lang="ko-KR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 연구의 필요성</a:t>
            </a: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5A8BC1-5F9D-11CC-87FE-25C143D21CBE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5F51776F-D64F-4350-2E74-AFE2F03D4E68}"/>
              </a:ext>
            </a:extLst>
          </p:cNvPr>
          <p:cNvSpPr/>
          <p:nvPr/>
        </p:nvSpPr>
        <p:spPr>
          <a:xfrm>
            <a:off x="426503" y="1095720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734D09A9-3ECB-182C-3B20-EDE13A3E5447}"/>
              </a:ext>
            </a:extLst>
          </p:cNvPr>
          <p:cNvSpPr/>
          <p:nvPr/>
        </p:nvSpPr>
        <p:spPr>
          <a:xfrm>
            <a:off x="426503" y="1095720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P1Text">
            <a:extLst>
              <a:ext uri="{FF2B5EF4-FFF2-40B4-BE49-F238E27FC236}">
                <a16:creationId xmlns:a16="http://schemas.microsoft.com/office/drawing/2014/main" id="{A05AB476-E750-61AF-E6B8-C8D5910D842D}"/>
              </a:ext>
            </a:extLst>
          </p:cNvPr>
          <p:cNvSpPr/>
          <p:nvPr/>
        </p:nvSpPr>
        <p:spPr>
          <a:xfrm>
            <a:off x="472222" y="1145719"/>
            <a:ext cx="2774090" cy="3662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Bollen et al.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(2011)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Twitter 감성 → 주가 선행</a:t>
            </a:r>
          </a:p>
          <a:p>
            <a:pPr marL="0" indent="0">
              <a:buNone/>
            </a:pPr>
            <a:endParaRPr lang="ko-KR" sz="11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DJIA (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다우 존스 산업평균지수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)</a:t>
            </a:r>
            <a:endParaRPr 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Twitter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latin typeface="Calibri"/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: granger,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텍스트 감성 추출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</a:t>
            </a:r>
            <a:r>
              <a:rPr lang="en-US" altLang="ko-KR" sz="1100" dirty="0">
                <a:solidFill>
                  <a:srgbClr val="555555"/>
                </a:solidFill>
              </a:rPr>
              <a:t>GPOMS)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대규모 트위터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피드에서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추출한 집단적 감정 상태 측정치가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의 시간 경과에 따른 변동과 상관관계가 있는지 조사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긍정적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/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부정적 감정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+ 7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가지 감정 차원으로 나누어 측정 후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2008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년 대선과 추수감사절에 대한 대증의 심리 상태가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종가 변동을 예측하는지 검증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>
                <a:latin typeface="Calibri"/>
                <a:ea typeface="Calibri"/>
              </a:rPr>
              <a:t>긍정</a:t>
            </a:r>
            <a:r>
              <a:rPr lang="en-US" altLang="ko-KR" sz="1500" b="1" dirty="0">
                <a:latin typeface="Calibri"/>
                <a:ea typeface="Calibri"/>
              </a:rPr>
              <a:t>/</a:t>
            </a:r>
            <a:r>
              <a:rPr lang="ko-KR" altLang="en-US" sz="1500" b="1" dirty="0">
                <a:latin typeface="Calibri"/>
                <a:ea typeface="Calibri"/>
              </a:rPr>
              <a:t>부정의 감성 분석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7E5F86-C77E-7AA2-EF43-8AE82E544067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P2Bg">
            <a:extLst>
              <a:ext uri="{FF2B5EF4-FFF2-40B4-BE49-F238E27FC236}">
                <a16:creationId xmlns:a16="http://schemas.microsoft.com/office/drawing/2014/main" id="{48C536BB-A0BC-C64D-5109-85822AD0FD2C}"/>
              </a:ext>
            </a:extLst>
          </p:cNvPr>
          <p:cNvSpPr/>
          <p:nvPr/>
        </p:nvSpPr>
        <p:spPr>
          <a:xfrm>
            <a:off x="3237058" y="1099238"/>
            <a:ext cx="2684906" cy="3713335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P2Bar">
            <a:extLst>
              <a:ext uri="{FF2B5EF4-FFF2-40B4-BE49-F238E27FC236}">
                <a16:creationId xmlns:a16="http://schemas.microsoft.com/office/drawing/2014/main" id="{9168503D-D12C-7DF4-0085-404B10423342}"/>
              </a:ext>
            </a:extLst>
          </p:cNvPr>
          <p:cNvSpPr/>
          <p:nvPr/>
        </p:nvSpPr>
        <p:spPr>
          <a:xfrm>
            <a:off x="3237058" y="1099239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22" name="P2Text">
            <a:extLst>
              <a:ext uri="{FF2B5EF4-FFF2-40B4-BE49-F238E27FC236}">
                <a16:creationId xmlns:a16="http://schemas.microsoft.com/office/drawing/2014/main" id="{9EFDBEE8-42B4-A7C1-2CED-D46013D5721E}"/>
              </a:ext>
            </a:extLst>
          </p:cNvPr>
          <p:cNvSpPr/>
          <p:nvPr/>
        </p:nvSpPr>
        <p:spPr>
          <a:xfrm>
            <a:off x="3292031" y="1149239"/>
            <a:ext cx="2629933" cy="3659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Da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et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al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. (2011,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JF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Google </a:t>
            </a:r>
            <a:r>
              <a:rPr lang="ko-KR" sz="1350" b="1" dirty="0" err="1">
                <a:solidFill>
                  <a:srgbClr val="1A1A1A"/>
                </a:solidFill>
                <a:latin typeface="Calibri"/>
                <a:ea typeface="Calibri"/>
              </a:rPr>
              <a:t>검색량</a:t>
            </a: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 → 주가 선행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Russell 3000 개별 주식</a:t>
            </a: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Google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Trends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구글 검색 빈도를 투자자의 관심 지표로 적용하여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Russell 3000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지수에 포함된 종목들 대상으로 분석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검색량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(SVI)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           기존 투자자 관심도 지표들과 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상관관계 존재하나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, 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개인 투자자의 관심 측정에 적합하다는 점 발견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b="1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→ </a:t>
            </a:r>
            <a:r>
              <a:rPr lang="ko-KR" altLang="en-US" sz="1500" b="1" dirty="0" err="1">
                <a:latin typeface="Calibri"/>
                <a:ea typeface="Calibri"/>
              </a:rPr>
              <a:t>검색량</a:t>
            </a:r>
            <a:r>
              <a:rPr lang="ko-KR" altLang="en-US" sz="1500" b="1" dirty="0">
                <a:latin typeface="Calibri"/>
                <a:ea typeface="Calibri"/>
              </a:rPr>
              <a:t> 지수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11" name="P1Bg">
            <a:extLst>
              <a:ext uri="{FF2B5EF4-FFF2-40B4-BE49-F238E27FC236}">
                <a16:creationId xmlns:a16="http://schemas.microsoft.com/office/drawing/2014/main" id="{450B980E-1359-DF4E-C2F8-661915D7A21E}"/>
              </a:ext>
            </a:extLst>
          </p:cNvPr>
          <p:cNvSpPr/>
          <p:nvPr/>
        </p:nvSpPr>
        <p:spPr>
          <a:xfrm>
            <a:off x="6047614" y="1095427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P1Bar">
            <a:extLst>
              <a:ext uri="{FF2B5EF4-FFF2-40B4-BE49-F238E27FC236}">
                <a16:creationId xmlns:a16="http://schemas.microsoft.com/office/drawing/2014/main" id="{A8198228-E2EE-84B0-952D-6B69E6BA2D5E}"/>
              </a:ext>
            </a:extLst>
          </p:cNvPr>
          <p:cNvSpPr/>
          <p:nvPr/>
        </p:nvSpPr>
        <p:spPr>
          <a:xfrm>
            <a:off x="6047614" y="1095427"/>
            <a:ext cx="45719" cy="37171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3" name="P1Text">
            <a:extLst>
              <a:ext uri="{FF2B5EF4-FFF2-40B4-BE49-F238E27FC236}">
                <a16:creationId xmlns:a16="http://schemas.microsoft.com/office/drawing/2014/main" id="{A8025A78-1F26-80F6-6F0A-DD934DF4016A}"/>
              </a:ext>
            </a:extLst>
          </p:cNvPr>
          <p:cNvSpPr/>
          <p:nvPr/>
        </p:nvSpPr>
        <p:spPr>
          <a:xfrm>
            <a:off x="6102587" y="1145426"/>
            <a:ext cx="2639186" cy="36630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>Jang</a:t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> </a:t>
            </a:r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>et</a:t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> </a:t>
            </a:r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>al</a:t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>. (2024, JFE)</a:t>
            </a:r>
          </a:p>
          <a:p>
            <a:r>
              <a:rPr lang="ko-KR" altLang="ko-KR" sz="1350" b="1" dirty="0" err="1">
                <a:solidFill>
                  <a:srgbClr val="1A1A1A"/>
                </a:solidFill>
                <a:ea typeface="Calibri"/>
              </a:rPr>
              <a:t>YouTube</a:t>
            </a:r>
            <a:r>
              <a:rPr lang="ko-KR" altLang="ko-KR" sz="1350" b="1" dirty="0">
                <a:solidFill>
                  <a:srgbClr val="1A1A1A"/>
                </a:solidFill>
                <a:ea typeface="Calibri"/>
              </a:rPr>
              <a:t> 조회수 → 주가 선행</a:t>
            </a:r>
          </a:p>
          <a:p>
            <a:endParaRPr lang="ko-KR" altLang="ko-KR" sz="900" dirty="0"/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분석 대상: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나스닥 상장 기업</a:t>
            </a:r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채널: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</a:t>
            </a:r>
            <a:r>
              <a:rPr lang="ko-KR" altLang="ko-KR" sz="1100" dirty="0" err="1">
                <a:solidFill>
                  <a:srgbClr val="555555"/>
                </a:solidFill>
                <a:ea typeface="Calibri"/>
              </a:rPr>
              <a:t>YouTube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조회수 단일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ko-KR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/>
          </a:p>
          <a:p>
            <a:r>
              <a:rPr lang="ko-KR" altLang="en-US" sz="1100" b="1" dirty="0"/>
              <a:t>내용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코로나</a:t>
            </a:r>
            <a:r>
              <a:rPr lang="en-US" altLang="ko-KR" sz="1100" dirty="0"/>
              <a:t>19 </a:t>
            </a:r>
            <a:r>
              <a:rPr lang="ko-KR" altLang="en-US" sz="1100" dirty="0"/>
              <a:t>기간 이후 주식 관련 유튜브 조회수와 영상 수 크게 증가</a:t>
            </a:r>
            <a:endParaRPr lang="en-US" altLang="ko-KR" sz="1100" dirty="0"/>
          </a:p>
          <a:p>
            <a:r>
              <a:rPr lang="ko-KR" altLang="en-US" sz="1100" dirty="0"/>
              <a:t>영상 콘텐츠는 개인 투자자들에게 강력한 정보 전파력 가짐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/>
              <a:t>유튜브 조회수가 투자자 관심도를 나타내는 효과적인 지표로 작용할 수 있음 시사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5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/>
              <a:t>영상 콘텐츠의 전파력</a:t>
            </a:r>
            <a:endParaRPr lang="en-US" altLang="ko-KR" sz="1500" b="1" dirty="0"/>
          </a:p>
          <a:p>
            <a:endParaRPr lang="ko-KR" altLang="ko-KR" sz="900" dirty="0"/>
          </a:p>
          <a:p>
            <a:pPr marL="0" indent="0">
              <a:buNone/>
            </a:pPr>
            <a:endParaRPr lang="ko-KR" sz="1050" dirty="0">
              <a:solidFill>
                <a:srgbClr val="555555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06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4" y="20431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28600"/>
            <a:ext cx="50292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92024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 err="1">
                <a:solidFill>
                  <a:srgbClr val="1A1A1A"/>
                </a:solidFill>
                <a:latin typeface="Malgun Gothic"/>
              </a:rPr>
              <a:t>기존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연구의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공통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한계</a:t>
            </a:r>
            <a:endParaRPr sz="20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8229600" cy="32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 dirty="0" err="1">
                <a:solidFill>
                  <a:srgbClr val="888888"/>
                </a:solidFill>
              </a:rPr>
              <a:t>주식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연구를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리셀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시장에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그대로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적용할</a:t>
            </a:r>
            <a:r>
              <a:rPr sz="1300" b="0" i="1" dirty="0">
                <a:solidFill>
                  <a:srgbClr val="888888"/>
                </a:solidFill>
              </a:rPr>
              <a:t> 수 </a:t>
            </a:r>
            <a:r>
              <a:rPr sz="1300" b="0" i="1" dirty="0" err="1">
                <a:solidFill>
                  <a:srgbClr val="888888"/>
                </a:solidFill>
              </a:rPr>
              <a:t>없는</a:t>
            </a:r>
            <a:r>
              <a:rPr sz="1300" b="0" i="1" dirty="0">
                <a:solidFill>
                  <a:srgbClr val="888888"/>
                </a:solidFill>
              </a:rPr>
              <a:t> 3가지 </a:t>
            </a:r>
            <a:r>
              <a:rPr sz="1300" b="0" i="1" dirty="0" err="1">
                <a:solidFill>
                  <a:srgbClr val="888888"/>
                </a:solidFill>
              </a:rPr>
              <a:t>이유</a:t>
            </a:r>
            <a:endParaRPr sz="1300" b="0" i="1" dirty="0">
              <a:solidFill>
                <a:srgbClr val="88888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969264"/>
            <a:ext cx="8631936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" y="1216151"/>
            <a:ext cx="384048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226515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분석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대상</a:t>
            </a:r>
            <a:endParaRPr sz="1700" b="1" dirty="0"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주식 단일 자산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2286000"/>
            <a:ext cx="2523744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주식은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매일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연속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거래되지만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리셀은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*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드롭·단종처럼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이벤트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기반으로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움직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임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lang="ko-KR" altLang="en-US" sz="1400" b="0" dirty="0">
                <a:solidFill>
                  <a:srgbClr val="444444"/>
                </a:solidFill>
                <a:latin typeface="Malgun Gothic"/>
              </a:rPr>
              <a:t>→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시장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구조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자체가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다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르다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1211897"/>
            <a:ext cx="384048" cy="3840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64992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223467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채널</a:t>
            </a:r>
            <a:r>
              <a:rPr sz="1700" b="1" dirty="0">
                <a:latin typeface="Malgun Gothic"/>
              </a:rPr>
              <a:t>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719072"/>
            <a:ext cx="2414016" cy="323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dirty="0" err="1">
                <a:solidFill>
                  <a:srgbClr val="1A1A1A"/>
                </a:solidFill>
                <a:latin typeface="Malgun Gothic"/>
              </a:rPr>
              <a:t>단일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lang="ko-KR" altLang="en-US" sz="1300" b="1" dirty="0">
                <a:solidFill>
                  <a:srgbClr val="1A1A1A"/>
                </a:solidFill>
                <a:latin typeface="Malgun Gothic"/>
              </a:rPr>
              <a:t>미디어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채널만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분석</a:t>
            </a:r>
            <a:endParaRPr sz="13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4992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2286000"/>
            <a:ext cx="2414016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트위터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,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구글 트랜드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,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유튜브 각각 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1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개씩 사용</a:t>
            </a:r>
            <a:endParaRPr lang="en-US"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어떤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먼저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반응하는지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간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비교가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없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44768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193048"/>
            <a:ext cx="384048" cy="3840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187479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1188720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측정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방식</a:t>
            </a:r>
            <a:endParaRPr sz="1700" b="1" dirty="0">
              <a:latin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볼륨·감성 미분리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311603"/>
            <a:ext cx="2779776" cy="18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검색량만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보거나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감성만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봐서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둘을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분리하지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않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음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같은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보도량도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긍정·부정에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endParaRPr lang="en-US" sz="1400" b="1" dirty="0">
              <a:solidFill>
                <a:srgbClr val="FF0000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FF0000"/>
                </a:solidFill>
                <a:latin typeface="Malgun Gothic"/>
              </a:rPr>
              <a:t>따라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가격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방향이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다르나 설명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211726"/>
            <a:ext cx="8631936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" y="4250867"/>
            <a:ext cx="8449056" cy="44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FFFFFF"/>
                </a:solidFill>
                <a:latin typeface="Malgun Gothic"/>
              </a:rPr>
              <a:t>→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한계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극복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리셀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3종 × 5개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채널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볼륨·감성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분리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)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latin typeface="Malgun Gothic"/>
              </a:rPr>
              <a:t>×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Granger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검정</a:t>
            </a:r>
            <a:endParaRPr sz="2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B69FFB-A7F3-9DE8-99AA-7E36D7E78798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E85D3-F959-336E-B0EA-73FDDC87698F}"/>
              </a:ext>
            </a:extLst>
          </p:cNvPr>
          <p:cNvSpPr txBox="1"/>
          <p:nvPr/>
        </p:nvSpPr>
        <p:spPr>
          <a:xfrm>
            <a:off x="281178" y="3822758"/>
            <a:ext cx="336384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드롭 </a:t>
            </a:r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제품을 불시에 공개하여 판매하는 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와의 차이점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새로운가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15581" y="1383193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15581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53284" y="1396909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8914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5581" y="1730665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5830" y="1713683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자산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2011830" y="1752055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단일 자산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1118" y="1768792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수집품 3종 동시 비교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5581" y="2398177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5163" y="2398177"/>
            <a:ext cx="12713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수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1970682" y="2408872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채널 (트위터 or 구글)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5796" y="2411893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</a:t>
            </a: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 (볼륨 + 감성 분리)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9251" y="3065689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9058" y="3065689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선정</a:t>
            </a:r>
            <a:endParaRPr lang="en-US" sz="1400" b="1" dirty="0"/>
          </a:p>
        </p:txBody>
      </p:sp>
      <p:sp>
        <p:nvSpPr>
          <p:cNvPr id="20" name="Text 18"/>
          <p:cNvSpPr/>
          <p:nvPr/>
        </p:nvSpPr>
        <p:spPr>
          <a:xfrm>
            <a:off x="1970682" y="307777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고정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3138" y="3058831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검정으로 자산별 탐색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5581" y="3733201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1912" y="3705769"/>
            <a:ext cx="12664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방향</a:t>
            </a:r>
            <a:endParaRPr lang="en-US" sz="1400" b="1" dirty="0"/>
          </a:p>
        </p:txBody>
      </p:sp>
      <p:sp>
        <p:nvSpPr>
          <p:cNvPr id="24" name="Text 22"/>
          <p:cNvSpPr/>
          <p:nvPr/>
        </p:nvSpPr>
        <p:spPr>
          <a:xfrm>
            <a:off x="1970682" y="371344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'선행하는가 Yes/No'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08272" y="3725527"/>
            <a:ext cx="30685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altLang="ko-KR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자산별 채널 영향 확인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7487B5C-1C5F-998E-E5AC-E3D19C2B5622}"/>
              </a:ext>
            </a:extLst>
          </p:cNvPr>
          <p:cNvCxnSpPr>
            <a:cxnSpLocks/>
          </p:cNvCxnSpPr>
          <p:nvPr/>
        </p:nvCxnSpPr>
        <p:spPr>
          <a:xfrm>
            <a:off x="1862436" y="1744381"/>
            <a:ext cx="0" cy="2628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38B326-DDEA-F3F5-2DCB-09C3A78CACDE}"/>
              </a:ext>
            </a:extLst>
          </p:cNvPr>
          <p:cNvCxnSpPr>
            <a:cxnSpLocks/>
          </p:cNvCxnSpPr>
          <p:nvPr/>
        </p:nvCxnSpPr>
        <p:spPr>
          <a:xfrm>
            <a:off x="4325706" y="1683475"/>
            <a:ext cx="0" cy="2689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1A1B92-C5BD-B931-E900-67D91FDA24ED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&amp; 채널 선정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자산 × 5개 채널 선정 근거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r>
              <a:rPr lang="en-US" altLang="ko-KR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분석 대상 선정 이유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0469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1289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식별 가능성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1609344"/>
            <a:ext cx="3941064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모델명/카드명/세트명으로 단일 상품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기반 미디어 수집 &amp; 가격 1:1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매핑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ex) </a:t>
            </a:r>
            <a:r>
              <a:rPr lang="en-US" altLang="ko-KR" sz="1000" i="1" dirty="0"/>
              <a:t>Jordan 1 Chicago Lost &amp; Found, </a:t>
            </a:r>
            <a:r>
              <a:rPr lang="da-DK" altLang="ko-KR" sz="1000" i="1" dirty="0"/>
              <a:t>Charizard VMAX Alt Art PSA 10,</a:t>
            </a:r>
            <a:r>
              <a:rPr lang="en-US" altLang="ko-KR" sz="1000" i="1" dirty="0"/>
              <a:t> LEGO Eiffel Tower 10307</a:t>
            </a:r>
            <a:endParaRPr lang="en-US" sz="1000" i="1" dirty="0"/>
          </a:p>
        </p:txBody>
      </p:sp>
      <p:sp>
        <p:nvSpPr>
          <p:cNvPr id="11" name="Shape 9"/>
          <p:cNvSpPr/>
          <p:nvPr/>
        </p:nvSpPr>
        <p:spPr>
          <a:xfrm>
            <a:off x="4782312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82312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46904" y="10332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71288" y="13121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실거래가 수집 가능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0432" y="1604772"/>
            <a:ext cx="3785616" cy="912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StockX(스니커즈) · PriceCharting(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카드·레고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호가 아닌 체결가, 학술 연구 채택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실적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다수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/>
              <a:t>ex) </a:t>
            </a:r>
            <a:r>
              <a:rPr lang="en-US" altLang="ko-KR" sz="1000" i="1" dirty="0"/>
              <a:t>Ma &amp; Treiber (2020), Campana et al. (2021), </a:t>
            </a:r>
            <a:r>
              <a:rPr lang="en-US" altLang="ko-KR" sz="1000" i="1" dirty="0" err="1"/>
              <a:t>Raditya</a:t>
            </a:r>
            <a:r>
              <a:rPr lang="en-US" altLang="ko-KR" sz="1000" i="1" dirty="0"/>
              <a:t> et al. (2021), </a:t>
            </a:r>
            <a:r>
              <a:rPr lang="en-US" altLang="ko-KR" sz="1000" i="1" dirty="0" err="1"/>
              <a:t>Dobrynskaya</a:t>
            </a:r>
            <a:r>
              <a:rPr lang="en-US" altLang="ko-KR" sz="1000" i="1" dirty="0"/>
              <a:t> (2022)</a:t>
            </a:r>
            <a:endParaRPr lang="en-US" sz="1000" i="1" dirty="0"/>
          </a:p>
        </p:txBody>
      </p:sp>
      <p:sp>
        <p:nvSpPr>
          <p:cNvPr id="22" name="Shape 20"/>
          <p:cNvSpPr/>
          <p:nvPr/>
        </p:nvSpPr>
        <p:spPr>
          <a:xfrm>
            <a:off x="1711574" y="2837688"/>
            <a:ext cx="64007" cy="20519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00652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2F17CE7-A294-1C01-7A04-F926158ED328}"/>
              </a:ext>
            </a:extLst>
          </p:cNvPr>
          <p:cNvSpPr/>
          <p:nvPr/>
        </p:nvSpPr>
        <p:spPr>
          <a:xfrm>
            <a:off x="1775582" y="2837688"/>
            <a:ext cx="5392661" cy="205194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39590" y="308094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반응 구조 이질성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75581" y="3425600"/>
            <a:ext cx="5523291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출시 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r>
              <a:rPr lang="ko-KR" altLang="en-US" sz="1300" dirty="0"/>
              <a:t> 몇 주 전부터 유튜브</a:t>
            </a:r>
            <a:r>
              <a:rPr lang="en-US" altLang="ko-KR" sz="1300" dirty="0"/>
              <a:t>, </a:t>
            </a:r>
            <a:r>
              <a:rPr lang="ko-KR" altLang="en-US" sz="1300" dirty="0"/>
              <a:t>뉴스 통한 정보 공개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(팩 </a:t>
            </a: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팩을 뜯는 순간 희귀 카드 존재가 시장에 최초 공개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유튜브 통해 정보 생성 →  구매 위해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증가</a:t>
            </a:r>
            <a:endParaRPr lang="en-US" altLang="ko-KR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단종 뉴스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단종 이벤트 특성상 뉴스가 </a:t>
            </a:r>
            <a:r>
              <a:rPr lang="en-US" altLang="ko-KR" sz="1300" dirty="0"/>
              <a:t>1</a:t>
            </a:r>
            <a:r>
              <a:rPr lang="ko-KR" altLang="en-US" sz="1300" dirty="0"/>
              <a:t>차 전파 채널 역할</a:t>
            </a:r>
            <a:endParaRPr lang="en-US" sz="1300" dirty="0"/>
          </a:p>
          <a:p>
            <a:pPr marL="0" indent="0">
              <a:buNone/>
            </a:pP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H2 검증에 이상적인 자산 조합</a:t>
            </a:r>
            <a:endParaRPr lang="en-US" sz="1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4900C-E911-576C-A9DC-48E8F2586A69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33BDD79-1EA5-7283-94EB-04C3A7D7A5E2}"/>
              </a:ext>
            </a:extLst>
          </p:cNvPr>
          <p:cNvSpPr/>
          <p:nvPr/>
        </p:nvSpPr>
        <p:spPr>
          <a:xfrm>
            <a:off x="1866318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미디어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정보원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볼륨·감성 분리 = 5채널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8069" y="1033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방법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선행 연구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371600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566928" y="1371600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87168" y="153619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27248" y="13716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검색 관심도 (0~100)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pytrends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2011; Huang 2019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1984248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1984248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487168" y="214884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87168" y="214884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27248" y="1984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뉴스 대비 보도량 비율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48272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2011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596896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2596896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259689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487168" y="2761488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87168" y="276148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27248" y="259689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조회수 합계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48272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et al. 2024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209544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6928" y="3209544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209544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감성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487168" y="3374136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487168" y="337413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127248" y="32095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보도 논조  (–1 ~ 1)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46320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48272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2023; Mao 2011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822192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66928" y="3822192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32688" y="382219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댓글 감성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487168" y="39867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487168" y="39867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127248" y="3822192"/>
            <a:ext cx="184480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반응 (–1 ~ 1)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46320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+ FinBERT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748272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2024; Huang 2023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볼륨과 감성을 분리 측정하는 방식은 Mao et al.(2011)에서 확립된 표준 접근법</a:t>
            </a:r>
            <a:endParaRPr lang="en-US" sz="9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906125-9271-1B1F-AFC2-19196F67B5E7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13711" y="10195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선행 연구에서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논문에서 이미 검증된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채널만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X,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자체는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볼륨·감성 분리 원칙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(2011, RFS)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구글 검색량이 주가에 2주 선행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(2019, EE)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Granger 프레임워크에서 S&amp;P 500 방향 예측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 et al. (2022)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Bitcoin·알트코인 가격의 Granger 원인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 + 뉴스 감성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(2011, arXiv)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감성과 DJIA 간 양방향 Granger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(2023, CAR)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FinBERT 금융 텍스트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 + 댓글 감성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716677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et al. (2024, JFE)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   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조회수가 단기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주가에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유의한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트렌드 통제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후에도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설명력 유지 확인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610" y="3543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볼륨과 감성을 분리 측정하는 이유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4366" y="3852672"/>
            <a:ext cx="8288154" cy="111023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59421"/>
            <a:ext cx="45719" cy="109281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3790" y="3754265"/>
            <a:ext cx="8070753" cy="1304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300"/>
              </a:spcBef>
            </a:pPr>
            <a:r>
              <a:rPr lang="en-US" altLang="ko-KR" sz="1300" dirty="0"/>
              <a:t>Ex) Nike </a:t>
            </a:r>
            <a:r>
              <a:rPr lang="ko-KR" altLang="en-US" sz="1300" dirty="0"/>
              <a:t>신제품 출시 시</a:t>
            </a:r>
            <a:r>
              <a:rPr lang="en-US" altLang="ko-KR" sz="1300" dirty="0"/>
              <a:t>,</a:t>
            </a:r>
            <a:r>
              <a:rPr lang="ko-KR" altLang="en-US" sz="1300" dirty="0"/>
              <a:t> 뉴스가 폭발적으로 증가</a:t>
            </a:r>
            <a:r>
              <a:rPr lang="en-US" altLang="ko-KR" sz="1300" dirty="0"/>
              <a:t>(</a:t>
            </a:r>
            <a:r>
              <a:rPr lang="ko-KR" altLang="en-US" sz="1300" dirty="0"/>
              <a:t>볼륨 높음</a:t>
            </a:r>
            <a:r>
              <a:rPr lang="en-US" altLang="ko-KR" sz="1300" dirty="0"/>
              <a:t>) vs</a:t>
            </a:r>
            <a:r>
              <a:rPr lang="ko-KR" altLang="en-US" sz="1300" dirty="0"/>
              <a:t> </a:t>
            </a:r>
            <a:r>
              <a:rPr lang="en-US" altLang="ko-KR" sz="1300" dirty="0"/>
              <a:t>"</a:t>
            </a:r>
            <a:r>
              <a:rPr lang="ko-KR" altLang="en-US" sz="1300" dirty="0"/>
              <a:t>공급 부족으로 구매 불가</a:t>
            </a:r>
            <a:r>
              <a:rPr lang="en-US" altLang="ko-KR" sz="1300" dirty="0"/>
              <a:t>" </a:t>
            </a:r>
            <a:r>
              <a:rPr lang="ko-KR" altLang="en-US" sz="1300" dirty="0"/>
              <a:t>보도</a:t>
            </a:r>
            <a:r>
              <a:rPr lang="en-US" altLang="ko-KR" sz="1300" dirty="0"/>
              <a:t>(</a:t>
            </a:r>
            <a:r>
              <a:rPr lang="ko-KR" altLang="en-US" sz="1300" dirty="0"/>
              <a:t>감성 부정</a:t>
            </a:r>
            <a:r>
              <a:rPr lang="en-US" altLang="ko-KR" sz="1300" dirty="0"/>
              <a:t>)</a:t>
            </a:r>
            <a:endParaRPr lang="ko-KR" altLang="en-US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관심 급증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상승</a:t>
            </a:r>
            <a:r>
              <a:rPr lang="en-US" altLang="ko-KR" sz="1300" dirty="0"/>
              <a:t>"  &amp;</a:t>
            </a:r>
            <a:r>
              <a:rPr lang="ko-KR" altLang="en-US" sz="1300" dirty="0"/>
              <a:t> 감성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부정 보도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하락</a:t>
            </a:r>
            <a:r>
              <a:rPr lang="en-US" altLang="ko-KR" sz="1300" dirty="0"/>
              <a:t> </a:t>
            </a:r>
            <a:r>
              <a:rPr lang="ko-KR" altLang="en-US" sz="1300" dirty="0"/>
              <a:t>예측 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</a:t>
            </a:r>
            <a:r>
              <a:rPr lang="ko-KR" altLang="en-US" sz="1300" b="1" u="sng" dirty="0"/>
              <a:t>둘을 합치면 신호가 상쇄되어 아무것도 설명 못 함</a:t>
            </a:r>
            <a:endParaRPr lang="ko-KR" altLang="en-US" sz="1300" u="sng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볼륨과 감성을 분리해야 각각이 가격에 미치는 </a:t>
            </a:r>
            <a:r>
              <a:rPr lang="ko-KR" altLang="en-US" sz="1300" b="1" dirty="0"/>
              <a:t>독립적 효과</a:t>
            </a:r>
            <a:r>
              <a:rPr lang="ko-KR" altLang="en-US" sz="1300" dirty="0"/>
              <a:t>를 볼 수 있음</a:t>
            </a:r>
            <a:endParaRPr lang="en-US" altLang="ko-KR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F2B114-DCC8-D037-544F-A5AC31375CF7}"/>
              </a:ext>
            </a:extLst>
          </p:cNvPr>
          <p:cNvSpPr txBox="1"/>
          <p:nvPr/>
        </p:nvSpPr>
        <p:spPr>
          <a:xfrm>
            <a:off x="8548007" y="200025"/>
            <a:ext cx="41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방법론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제안모델 구조 </a:t>
            </a:r>
            <a:r>
              <a:rPr lang="en-US" altLang="ko-KR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· FinBERT · XGBoost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모델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773684-CA0C-D114-7BD5-B85B66A6E4E2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A4B24CD5-0E85-9580-22D7-58F8A54F68D3}"/>
              </a:ext>
            </a:extLst>
          </p:cNvPr>
          <p:cNvSpPr/>
          <p:nvPr/>
        </p:nvSpPr>
        <p:spPr>
          <a:xfrm>
            <a:off x="532914" y="650198"/>
            <a:ext cx="7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무엇을 모으고 → 어떻게 수치화하고 → 선행 채널을 찾고 → 예측력을 검증하는가</a:t>
            </a:r>
          </a:p>
        </p:txBody>
      </p:sp>
      <p:sp>
        <p:nvSpPr>
          <p:cNvPr id="7" name="L1Label"/>
          <p:cNvSpPr/>
          <p:nvPr/>
        </p:nvSpPr>
        <p:spPr>
          <a:xfrm>
            <a:off x="535983" y="1054921"/>
            <a:ext cx="742006" cy="799225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1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데이터 수집</a:t>
            </a:r>
          </a:p>
        </p:txBody>
      </p:sp>
      <p:sp>
        <p:nvSpPr>
          <p:cNvPr id="8" name="DS1"/>
          <p:cNvSpPr/>
          <p:nvPr/>
        </p:nvSpPr>
        <p:spPr>
          <a:xfrm>
            <a:off x="1375069" y="1073423"/>
            <a:ext cx="1700000" cy="724993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StockX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· </a:t>
            </a: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PriceCharting</a:t>
            </a:r>
            <a:endParaRPr lang="ko-KR" sz="13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체결가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 (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스니커즈·카드·레고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)</a:t>
            </a:r>
          </a:p>
        </p:txBody>
      </p:sp>
      <p:sp>
        <p:nvSpPr>
          <p:cNvPr id="9" name="DS2"/>
          <p:cNvSpPr/>
          <p:nvPr/>
        </p:nvSpPr>
        <p:spPr>
          <a:xfrm>
            <a:off x="3159486" y="1082945"/>
            <a:ext cx="1699999" cy="715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Google Trends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검색 관심도 0~100</a:t>
            </a:r>
          </a:p>
        </p:txBody>
      </p:sp>
      <p:sp>
        <p:nvSpPr>
          <p:cNvPr id="10" name="DS3"/>
          <p:cNvSpPr/>
          <p:nvPr/>
        </p:nvSpPr>
        <p:spPr>
          <a:xfrm>
            <a:off x="4957116" y="1093186"/>
            <a:ext cx="1699999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NewsAPI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뉴스 기사 본문 수집</a:t>
            </a:r>
          </a:p>
        </p:txBody>
      </p:sp>
      <p:sp>
        <p:nvSpPr>
          <p:cNvPr id="11" name="DS4"/>
          <p:cNvSpPr/>
          <p:nvPr/>
        </p:nvSpPr>
        <p:spPr>
          <a:xfrm>
            <a:off x="6740982" y="1084605"/>
            <a:ext cx="1660068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YouTube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Data API v3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조회수 + 상위 댓글 수집</a:t>
            </a:r>
          </a:p>
        </p:txBody>
      </p:sp>
      <p:sp>
        <p:nvSpPr>
          <p:cNvPr id="12" name="R1Tag"/>
          <p:cNvSpPr/>
          <p:nvPr/>
        </p:nvSpPr>
        <p:spPr>
          <a:xfrm>
            <a:off x="1375069" y="1831232"/>
            <a:ext cx="6968832" cy="45719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/>
          </a:p>
        </p:txBody>
      </p:sp>
      <p:sp>
        <p:nvSpPr>
          <p:cNvPr id="15" name="L2Label"/>
          <p:cNvSpPr/>
          <p:nvPr/>
        </p:nvSpPr>
        <p:spPr>
          <a:xfrm>
            <a:off x="515696" y="2122495"/>
            <a:ext cx="742006" cy="778544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2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감성 분석</a:t>
            </a:r>
          </a:p>
        </p:txBody>
      </p:sp>
      <p:sp>
        <p:nvSpPr>
          <p:cNvPr id="16" name="FinBERT"/>
          <p:cNvSpPr/>
          <p:nvPr/>
        </p:nvSpPr>
        <p:spPr>
          <a:xfrm>
            <a:off x="1357702" y="2122495"/>
            <a:ext cx="2900000" cy="7985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(Araci, 2019)</a:t>
            </a:r>
          </a:p>
          <a:p>
            <a:pPr marL="0" indent="0">
              <a:buNone/>
            </a:pPr>
            <a:r>
              <a:rPr lang="ko-KR" sz="900" dirty="0" err="1">
                <a:solidFill>
                  <a:srgbClr val="555555"/>
                </a:solidFill>
                <a:latin typeface="Calibri"/>
                <a:ea typeface="Calibri"/>
              </a:rPr>
              <a:t>뉴스·댓글</a:t>
            </a: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 텍스트를 긍정/부정 점수로 변환 (–1 ~ +1)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금융 뉴스 1.8만 건 사전학습 모델 활용</a:t>
            </a:r>
          </a:p>
        </p:txBody>
      </p:sp>
      <p:sp>
        <p:nvSpPr>
          <p:cNvPr id="17" name="VolOut"/>
          <p:cNvSpPr/>
          <p:nvPr/>
        </p:nvSpPr>
        <p:spPr>
          <a:xfrm>
            <a:off x="4921009" y="2147536"/>
            <a:ext cx="3480041" cy="7985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chemeClr val="bg1"/>
                </a:solidFill>
                <a:latin typeface="Calibri"/>
                <a:ea typeface="Calibri"/>
              </a:rPr>
              <a:t>입력 데이터 완성: 5채널 패널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볼륨 3개 (Trends·뉴스량·조회수) + 감성 2개 (뉴스·댓글)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15개 아이템 × 72개월 = 최대 1,080행</a:t>
            </a:r>
          </a:p>
        </p:txBody>
      </p:sp>
      <p:sp>
        <p:nvSpPr>
          <p:cNvPr id="19" name="L3Label"/>
          <p:cNvSpPr/>
          <p:nvPr/>
        </p:nvSpPr>
        <p:spPr>
          <a:xfrm>
            <a:off x="518616" y="3009556"/>
            <a:ext cx="742006" cy="801536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3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인과 검정</a:t>
            </a:r>
          </a:p>
        </p:txBody>
      </p:sp>
      <p:sp>
        <p:nvSpPr>
          <p:cNvPr id="20" name="ModelA"/>
          <p:cNvSpPr/>
          <p:nvPr/>
        </p:nvSpPr>
        <p:spPr>
          <a:xfrm>
            <a:off x="1357702" y="3037376"/>
            <a:ext cx="2900000" cy="77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인과검정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3자산 × 5채널: 어떤 채널이 가격보다 먼저 움직이는가?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H1·H2 검증: 자산마다 선행 채널이 다른가?</a:t>
            </a:r>
          </a:p>
        </p:txBody>
      </p:sp>
      <p:sp>
        <p:nvSpPr>
          <p:cNvPr id="21" name="SHAPNote"/>
          <p:cNvSpPr/>
          <p:nvPr/>
        </p:nvSpPr>
        <p:spPr>
          <a:xfrm>
            <a:off x="4907115" y="3038725"/>
            <a:ext cx="3500000" cy="801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결과: 자산별 유의 채널 선별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스니커즈/카드/레고별 유의 채</a:t>
            </a:r>
            <a:r>
              <a:rPr lang="ko-KR" altLang="en-US" sz="900" dirty="0">
                <a:solidFill>
                  <a:srgbClr val="555555"/>
                </a:solidFill>
                <a:latin typeface="Calibri"/>
                <a:ea typeface="Calibri"/>
              </a:rPr>
              <a:t>널 선정</a:t>
            </a:r>
            <a:endParaRPr lang="ko-KR" sz="9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→ Model B 입력 채널 결정</a:t>
            </a:r>
          </a:p>
        </p:txBody>
      </p:sp>
      <p:sp>
        <p:nvSpPr>
          <p:cNvPr id="22" name="ArrowD3"/>
          <p:cNvSpPr/>
          <p:nvPr/>
        </p:nvSpPr>
        <p:spPr>
          <a:xfrm rot="16200000">
            <a:off x="4512000" y="3346775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L4Label"/>
          <p:cNvSpPr/>
          <p:nvPr/>
        </p:nvSpPr>
        <p:spPr>
          <a:xfrm>
            <a:off x="518616" y="3919609"/>
            <a:ext cx="742006" cy="941483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4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예측 검증</a:t>
            </a:r>
          </a:p>
        </p:txBody>
      </p:sp>
      <p:sp>
        <p:nvSpPr>
          <p:cNvPr id="24" name="XGB_A"/>
          <p:cNvSpPr/>
          <p:nvPr/>
        </p:nvSpPr>
        <p:spPr>
          <a:xfrm>
            <a:off x="1357702" y="3919609"/>
            <a:ext cx="3114298" cy="93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Model A (전채널)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5개 채널 모두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타겟: 가격 상승(1)/하락(0) / TimeSeriesSplit 5-fold / AUC</a:t>
            </a:r>
          </a:p>
        </p:txBody>
      </p:sp>
      <p:sp>
        <p:nvSpPr>
          <p:cNvPr id="25" name="VSLabel"/>
          <p:cNvSpPr/>
          <p:nvPr/>
        </p:nvSpPr>
        <p:spPr>
          <a:xfrm>
            <a:off x="4427720" y="4280436"/>
            <a:ext cx="38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888888"/>
                </a:solidFill>
                <a:latin typeface="Calibri"/>
                <a:ea typeface="Calibri"/>
              </a:rPr>
              <a:t>vs</a:t>
            </a:r>
          </a:p>
        </p:txBody>
      </p:sp>
      <p:sp>
        <p:nvSpPr>
          <p:cNvPr id="26" name="XGB_B"/>
          <p:cNvSpPr/>
          <p:nvPr/>
        </p:nvSpPr>
        <p:spPr>
          <a:xfrm>
            <a:off x="4796518" y="3923492"/>
            <a:ext cx="3604532" cy="933716"/>
          </a:xfrm>
          <a:prstGeom prst="rect">
            <a:avLst/>
          </a:prstGeom>
          <a:solidFill>
            <a:srgbClr val="1A1A1A"/>
          </a:solidFill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Model B (Granger 선별)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BBBBBB"/>
                </a:solidFill>
                <a:latin typeface="Calibri"/>
                <a:ea typeface="Calibri"/>
              </a:rPr>
              <a:t>유의 채널만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AUC 비교 + DM검정 → 선별이 실제로 효과 있는가? (H3)</a:t>
            </a:r>
          </a:p>
        </p:txBody>
      </p:sp>
      <p:sp>
        <p:nvSpPr>
          <p:cNvPr id="27" name="ArrowD1">
            <a:extLst>
              <a:ext uri="{FF2B5EF4-FFF2-40B4-BE49-F238E27FC236}">
                <a16:creationId xmlns:a16="http://schemas.microsoft.com/office/drawing/2014/main" id="{2004CE79-DD9C-6D55-3E0E-D2238F5A71D6}"/>
              </a:ext>
            </a:extLst>
          </p:cNvPr>
          <p:cNvSpPr/>
          <p:nvPr/>
        </p:nvSpPr>
        <p:spPr>
          <a:xfrm rot="16200000">
            <a:off x="4512000" y="2428474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E4DCE73-C7C8-E6FC-DCC8-E5B0046A46EA}"/>
              </a:ext>
            </a:extLst>
          </p:cNvPr>
          <p:cNvSpPr/>
          <p:nvPr/>
        </p:nvSpPr>
        <p:spPr>
          <a:xfrm>
            <a:off x="4943901" y="1093186"/>
            <a:ext cx="3463213" cy="7052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D15F49B-7B51-B12F-D717-10D2E95558FB}"/>
              </a:ext>
            </a:extLst>
          </p:cNvPr>
          <p:cNvCxnSpPr>
            <a:cxnSpLocks/>
            <a:stCxn id="28" idx="2"/>
            <a:endCxn id="16" idx="0"/>
          </p:cNvCxnSpPr>
          <p:nvPr/>
        </p:nvCxnSpPr>
        <p:spPr>
          <a:xfrm rot="5400000">
            <a:off x="4579567" y="26553"/>
            <a:ext cx="324077" cy="386780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— 감성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점수화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텍스트 특화 BERT 기반 모델 (Araci 2019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18872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98448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1408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기사 본문 / 유튜브 댓글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8928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8720" y="205740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98448" y="1984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토큰화 &amp; 벡터화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2276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Transformer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292608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98448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확률 출력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3145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· P(neu) · P(neg) 3개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3016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79476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984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점수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0142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P(positive) – P(negative) ∈ [–1, +1]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024128"/>
            <a:ext cx="2880360" cy="335584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2981" y="117451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FinBERT인가?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43995" y="1298999"/>
            <a:ext cx="2704012" cy="1936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ko-KR" altLang="en-US" sz="1400" dirty="0"/>
              <a:t>→</a:t>
            </a:r>
            <a:r>
              <a:rPr lang="en-US" altLang="ko-KR" sz="1400" dirty="0"/>
              <a:t>"</a:t>
            </a:r>
            <a:r>
              <a:rPr lang="ko-KR" altLang="en-US" sz="1400" dirty="0"/>
              <a:t>가격 급등 예상</a:t>
            </a:r>
            <a:r>
              <a:rPr lang="en-US" altLang="ko-KR" sz="1400" dirty="0"/>
              <a:t>", "</a:t>
            </a:r>
            <a:r>
              <a:rPr lang="ko-KR" altLang="en-US" sz="1400" dirty="0"/>
              <a:t>공급 부족 우려</a:t>
            </a:r>
            <a:r>
              <a:rPr lang="en-US" altLang="ko-KR" sz="1400" dirty="0"/>
              <a:t>" </a:t>
            </a:r>
            <a:r>
              <a:rPr lang="ko-KR" altLang="en-US" sz="1400" dirty="0"/>
              <a:t>등 금융 맥락 감성 방향 포착에 특화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 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→ 금융 텍스트 분류 정확도 우수 </a:t>
            </a:r>
            <a:r>
              <a:rPr lang="en-US" altLang="ko-KR" sz="1400" dirty="0"/>
              <a:t>(Huang et al. 2023, CAR)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92981" y="3144129"/>
            <a:ext cx="260604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92981" y="3291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"limited release drives huge demand"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35661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97880" y="3877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"resale prices collapse"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8770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–0.72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53803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대상: 뉴스 감성(기사 본문) + 유튜브 댓글 감성 (아이템당 상위 15영상 × 30댓글)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D6DC78-6E97-FC0C-042C-620D9ED9A30A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C9EEE-EEF5-EE9C-F8EA-FB55E7C1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D30361-BE3D-32E1-DC23-01221F42D7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9BF03E-E95C-0E00-326B-9005ABBA9F71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인과검정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8BF027-9156-6028-BF26-4CBC515D7871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'미디어가 먼저 움직이면 가격도 따라오는가?'를 숫자로 증명하는 방법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E90D89-4122-9A3E-0F88-02FB945D5236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B3B6C9-BBDE-8ABD-461A-AA51B88A5321}"/>
              </a:ext>
            </a:extLst>
          </p:cNvPr>
          <p:cNvSpPr/>
          <p:nvPr/>
        </p:nvSpPr>
        <p:spPr>
          <a:xfrm>
            <a:off x="502920" y="1024128"/>
            <a:ext cx="3971544" cy="1090422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A63EB-9C34-6018-B57F-8963A80454FC}"/>
              </a:ext>
            </a:extLst>
          </p:cNvPr>
          <p:cNvSpPr/>
          <p:nvPr/>
        </p:nvSpPr>
        <p:spPr>
          <a:xfrm>
            <a:off x="521208" y="1037844"/>
            <a:ext cx="45719" cy="10652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6D6CC9-7996-07A1-8EC0-BAAD7F66682A}"/>
              </a:ext>
            </a:extLst>
          </p:cNvPr>
          <p:cNvSpPr/>
          <p:nvPr/>
        </p:nvSpPr>
        <p:spPr>
          <a:xfrm>
            <a:off x="713232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8949AB-B686-9214-FD69-3AFA7D305476}"/>
              </a:ext>
            </a:extLst>
          </p:cNvPr>
          <p:cNvSpPr/>
          <p:nvPr/>
        </p:nvSpPr>
        <p:spPr>
          <a:xfrm>
            <a:off x="731520" y="1341881"/>
            <a:ext cx="3282696" cy="321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"미디어 데이터의 과거값을 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알면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가격의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미래를 더 잘 맞출 수 있는가?"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3425E9-D36D-3F08-56E2-1B48222A9EBE}"/>
              </a:ext>
            </a:extLst>
          </p:cNvPr>
          <p:cNvSpPr/>
          <p:nvPr/>
        </p:nvSpPr>
        <p:spPr>
          <a:xfrm>
            <a:off x="576071" y="1762506"/>
            <a:ext cx="3916681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YES이면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가격에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선행한다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96AFCE-5A7F-491D-5541-88083AC92378}"/>
              </a:ext>
            </a:extLst>
          </p:cNvPr>
          <p:cNvSpPr/>
          <p:nvPr/>
        </p:nvSpPr>
        <p:spPr>
          <a:xfrm>
            <a:off x="50292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방식 — 2가지 모델을 비교한다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B3703F-D55D-5548-102B-57D3ED9E7F9D}"/>
              </a:ext>
            </a:extLst>
          </p:cNvPr>
          <p:cNvSpPr/>
          <p:nvPr/>
        </p:nvSpPr>
        <p:spPr>
          <a:xfrm>
            <a:off x="502920" y="2450592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0F8CCD5-675D-9577-D075-688579453EDC}"/>
              </a:ext>
            </a:extLst>
          </p:cNvPr>
          <p:cNvSpPr/>
          <p:nvPr/>
        </p:nvSpPr>
        <p:spPr>
          <a:xfrm>
            <a:off x="502920" y="2542032"/>
            <a:ext cx="3414932" cy="1792877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7EB697-B9FE-9DB5-8AB6-2717CCD846FE}"/>
              </a:ext>
            </a:extLst>
          </p:cNvPr>
          <p:cNvSpPr/>
          <p:nvPr/>
        </p:nvSpPr>
        <p:spPr>
          <a:xfrm>
            <a:off x="64008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가격만으로 예측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D9CD4C-8002-E0DF-8D36-BEBA083E8E75}"/>
              </a:ext>
            </a:extLst>
          </p:cNvPr>
          <p:cNvSpPr/>
          <p:nvPr/>
        </p:nvSpPr>
        <p:spPr>
          <a:xfrm>
            <a:off x="64008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모델)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85FF33F-B29F-84AC-C811-0DE3AB7EB451}"/>
              </a:ext>
            </a:extLst>
          </p:cNvPr>
          <p:cNvSpPr/>
          <p:nvPr/>
        </p:nvSpPr>
        <p:spPr>
          <a:xfrm>
            <a:off x="640080" y="3182112"/>
            <a:ext cx="3136392" cy="457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78C393-5AE4-0DCC-0FE3-6A22F6E486BA}"/>
              </a:ext>
            </a:extLst>
          </p:cNvPr>
          <p:cNvSpPr/>
          <p:nvPr/>
        </p:nvSpPr>
        <p:spPr>
          <a:xfrm>
            <a:off x="64008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지난달·지지난달 가격만 보고 예측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68C918-40BF-29FC-2FE3-F975D5F19CD2}"/>
              </a:ext>
            </a:extLst>
          </p:cNvPr>
          <p:cNvSpPr/>
          <p:nvPr/>
        </p:nvSpPr>
        <p:spPr>
          <a:xfrm>
            <a:off x="640080" y="391363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정보 없이 가격 자체의 관성만 이용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E121E9-119B-C959-BF1E-C57F0B0D7352}"/>
              </a:ext>
            </a:extLst>
          </p:cNvPr>
          <p:cNvSpPr/>
          <p:nvPr/>
        </p:nvSpPr>
        <p:spPr>
          <a:xfrm>
            <a:off x="4754880" y="2542032"/>
            <a:ext cx="3781044" cy="1792877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4E8505-8589-3186-B4EF-90E0DF4BEA2E}"/>
              </a:ext>
            </a:extLst>
          </p:cNvPr>
          <p:cNvSpPr/>
          <p:nvPr/>
        </p:nvSpPr>
        <p:spPr>
          <a:xfrm>
            <a:off x="489204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가격 + 미디어로 예측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DE152BD-87F4-4AC6-1B1D-E7D403F0A138}"/>
              </a:ext>
            </a:extLst>
          </p:cNvPr>
          <p:cNvSpPr/>
          <p:nvPr/>
        </p:nvSpPr>
        <p:spPr>
          <a:xfrm>
            <a:off x="489204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(비교 모델)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C6EC25-29BF-752B-CDA8-B56CE1D2A4CF}"/>
              </a:ext>
            </a:extLst>
          </p:cNvPr>
          <p:cNvSpPr/>
          <p:nvPr/>
        </p:nvSpPr>
        <p:spPr>
          <a:xfrm>
            <a:off x="4892040" y="3182112"/>
            <a:ext cx="347472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1415DB-C5D5-6D79-0A58-DD5E7808D3B6}"/>
              </a:ext>
            </a:extLst>
          </p:cNvPr>
          <p:cNvSpPr/>
          <p:nvPr/>
        </p:nvSpPr>
        <p:spPr>
          <a:xfrm>
            <a:off x="489204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 가격 + 지난달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신호로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예측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2F1B88-A8FB-D0B4-C483-59DB4150236D}"/>
              </a:ext>
            </a:extLst>
          </p:cNvPr>
          <p:cNvSpPr/>
          <p:nvPr/>
        </p:nvSpPr>
        <p:spPr>
          <a:xfrm>
            <a:off x="4846320" y="3880975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향상 확인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DB0EA3B-0D57-CD56-7EE0-53649DD51D97}"/>
              </a:ext>
            </a:extLst>
          </p:cNvPr>
          <p:cNvSpPr/>
          <p:nvPr/>
        </p:nvSpPr>
        <p:spPr>
          <a:xfrm>
            <a:off x="4014216" y="31363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46597C-8804-AFF1-F6CE-16603B9B9901}"/>
              </a:ext>
            </a:extLst>
          </p:cNvPr>
          <p:cNvSpPr/>
          <p:nvPr/>
        </p:nvSpPr>
        <p:spPr>
          <a:xfrm>
            <a:off x="4014216" y="3383280"/>
            <a:ext cx="6583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773C70-5A88-68ED-5390-1F1EAAF3D410}"/>
              </a:ext>
            </a:extLst>
          </p:cNvPr>
          <p:cNvSpPr/>
          <p:nvPr/>
        </p:nvSpPr>
        <p:spPr>
          <a:xfrm>
            <a:off x="534924" y="4535424"/>
            <a:ext cx="81381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6A26AE-B7F5-8B21-9610-F0C12601CA94}"/>
              </a:ext>
            </a:extLst>
          </p:cNvPr>
          <p:cNvSpPr/>
          <p:nvPr/>
        </p:nvSpPr>
        <p:spPr>
          <a:xfrm>
            <a:off x="672084" y="4558447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모델이 A보다 예측 오차가 통계적으로 유의미하게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작으면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&lt; 0.05) →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미디어 채널이 가격에 선행한다</a:t>
            </a:r>
            <a:endParaRPr lang="en-US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7B043-4144-182E-17C0-FE7E3B834F3F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F5C3376-A986-75AA-A7EC-81FB63B11746}"/>
              </a:ext>
            </a:extLst>
          </p:cNvPr>
          <p:cNvSpPr/>
          <p:nvPr/>
        </p:nvSpPr>
        <p:spPr>
          <a:xfrm>
            <a:off x="4617720" y="1030986"/>
            <a:ext cx="4123944" cy="109499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1958859C-F0F8-42AE-BC26-C5612CCF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966" y="1119209"/>
            <a:ext cx="41239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sz="12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en-US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인가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endParaRPr kumimoji="0" lang="ko-KR" altLang="ko-KR" sz="12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미디어-가격 관계를 분석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회귀분석</a:t>
            </a:r>
            <a:r>
              <a:rPr kumimoji="0" lang="en-US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dirty="0">
                <a:latin typeface="Arial" panose="020B0604020202020204" pitchFamily="34" charset="0"/>
              </a:rPr>
              <a:t>사용</a:t>
            </a:r>
            <a:endParaRPr lang="en-US" altLang="ko-KR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연구 질문이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'미디어가 가격에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선행하는가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'이기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때문에, </a:t>
            </a: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방향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시차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를 동시에 볼 수 있는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선택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81B9B33-47F5-80EA-BE91-44A577188F0B}"/>
              </a:ext>
            </a:extLst>
          </p:cNvPr>
          <p:cNvSpPr/>
          <p:nvPr/>
        </p:nvSpPr>
        <p:spPr>
          <a:xfrm>
            <a:off x="4396506" y="1449099"/>
            <a:ext cx="317461" cy="2356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19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 및 평가 지표</a:t>
            </a:r>
            <a:endParaRPr lang="en-US" altLang="ko-KR" sz="30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결과를 실제 예측 성능으로 검증하는 모델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64008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여러 개의 약한 결정 트리를 순차적으로 쌓아 예측 오차를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줄여나가는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머신러닝 모델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502920" y="1726256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이유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000575"/>
            <a:ext cx="4005072" cy="45719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9496" y="2110793"/>
            <a:ext cx="3968496" cy="1325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66825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데이터에 강함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70575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딥러닝(LSTM·Transformer)은 수만 행 이상 필요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본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연구는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~1,080행 — XGBoost가 과적합 위험 낮음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(Akyildirim et al. 2021 — 금융·자산 가격 예측에서 선형 모델 대비 우수)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1059" y="3559300"/>
            <a:ext cx="3968496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7259" y="35772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8219" y="38096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중요도 해석 가능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7259" y="4097487"/>
            <a:ext cx="4005071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분석으로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‘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어떤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예측에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얼마나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기여했는지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’  수치로 확인 가능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Granger 검정 결과와 교차 검증하는 핵심 도구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27448" y="353121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8324" y="3709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DM(Diebold-Mariano) </a:t>
            </a:r>
            <a:r>
              <a:rPr lang="ko-KR" altLang="en-US" sz="1500" b="1" dirty="0">
                <a:solidFill>
                  <a:schemeClr val="bg1"/>
                </a:solidFill>
              </a:rPr>
              <a:t>검정 </a:t>
            </a:r>
            <a:endParaRPr lang="ko-KR" sz="1500" b="1" dirty="0">
              <a:solidFill>
                <a:schemeClr val="bg1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A54E2D6-E2E7-9EAA-8BF3-DE4CA701F387}"/>
              </a:ext>
            </a:extLst>
          </p:cNvPr>
          <p:cNvSpPr/>
          <p:nvPr/>
        </p:nvSpPr>
        <p:spPr>
          <a:xfrm>
            <a:off x="4727448" y="1720923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평가 지표</a:t>
            </a:r>
            <a:endParaRPr lang="en-US" sz="15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F705C7E-F5D6-D0AE-A12D-EEFCC27369C4}"/>
              </a:ext>
            </a:extLst>
          </p:cNvPr>
          <p:cNvSpPr/>
          <p:nvPr/>
        </p:nvSpPr>
        <p:spPr>
          <a:xfrm>
            <a:off x="4727448" y="1995242"/>
            <a:ext cx="4005072" cy="4571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7"/>
          <p:cNvSpPr/>
          <p:nvPr/>
        </p:nvSpPr>
        <p:spPr>
          <a:xfrm>
            <a:off x="4727448" y="211487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1" name="Text 18"/>
          <p:cNvSpPr/>
          <p:nvPr/>
        </p:nvSpPr>
        <p:spPr>
          <a:xfrm>
            <a:off x="4864608" y="22063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19"/>
          <p:cNvSpPr/>
          <p:nvPr/>
        </p:nvSpPr>
        <p:spPr>
          <a:xfrm>
            <a:off x="4846320" y="2269561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AUC  </a:t>
            </a:r>
            <a:r>
              <a:rPr lang="ko-KR" altLang="en-US" sz="1500" b="1" dirty="0">
                <a:solidFill>
                  <a:schemeClr val="bg1"/>
                </a:solidFill>
              </a:rPr>
              <a:t>예측 정확도 점수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0.5 </a:t>
            </a:r>
            <a:r>
              <a:rPr lang="ko-KR" altLang="en-US" sz="1100" b="1" dirty="0">
                <a:solidFill>
                  <a:schemeClr val="bg1"/>
                </a:solidFill>
              </a:rPr>
              <a:t>기준으로 모델의 정확도 확인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33" name="Text 20"/>
          <p:cNvSpPr/>
          <p:nvPr/>
        </p:nvSpPr>
        <p:spPr>
          <a:xfrm>
            <a:off x="4846320" y="2700092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모든 채널을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A)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vs Granger </a:t>
            </a:r>
            <a:r>
              <a:rPr lang="ko-KR" altLang="en-US" sz="1200" dirty="0">
                <a:solidFill>
                  <a:schemeClr val="bg1"/>
                </a:solidFill>
              </a:rPr>
              <a:t>유의 채널만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B)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=&gt; </a:t>
            </a:r>
            <a:r>
              <a:rPr lang="ko-KR" altLang="en-US" sz="1200" dirty="0">
                <a:solidFill>
                  <a:schemeClr val="bg1"/>
                </a:solidFill>
              </a:rPr>
              <a:t>지표 선별이 예측력을 얼마나 향상시켰는지 확인</a:t>
            </a: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ECA81-9A2E-BC37-F844-07D178AD9D52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6851E91C-1EEA-F555-6736-55CBBA0CCCAD}"/>
              </a:ext>
            </a:extLst>
          </p:cNvPr>
          <p:cNvSpPr/>
          <p:nvPr/>
        </p:nvSpPr>
        <p:spPr>
          <a:xfrm>
            <a:off x="4878323" y="4143863"/>
            <a:ext cx="37309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어떤 모델이 통계적으로 더 정확한가</a:t>
            </a:r>
            <a:r>
              <a:rPr lang="en-US" altLang="ko-KR" sz="1200" dirty="0">
                <a:solidFill>
                  <a:schemeClr val="bg1"/>
                </a:solidFill>
              </a:rPr>
              <a:t>? </a:t>
            </a:r>
            <a:r>
              <a:rPr lang="ko-KR" altLang="en-US" sz="1200" dirty="0">
                <a:solidFill>
                  <a:schemeClr val="bg1"/>
                </a:solidFill>
              </a:rPr>
              <a:t>판별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=&gt; Granger </a:t>
            </a:r>
            <a:r>
              <a:rPr lang="ko-KR" altLang="en-US" sz="1200" dirty="0">
                <a:solidFill>
                  <a:schemeClr val="bg1"/>
                </a:solidFill>
              </a:rPr>
              <a:t>검정으로 채널을 선별하는 것이 실제 예측 성능을 </a:t>
            </a:r>
            <a:r>
              <a:rPr lang="ko-KR" altLang="en-US" sz="1200" b="1" dirty="0">
                <a:solidFill>
                  <a:schemeClr val="bg1"/>
                </a:solidFill>
              </a:rPr>
              <a:t>통계적으로 유의미하게 향상 </a:t>
            </a:r>
            <a:r>
              <a:rPr lang="ko-KR" altLang="en-US" sz="1200" dirty="0">
                <a:solidFill>
                  <a:schemeClr val="bg1"/>
                </a:solidFill>
              </a:rPr>
              <a:t>시켰는지 검증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결과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결과 &amp; 기여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자산마다 다른 채널이 선행한다면?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선행 채널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1371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조회수 · 뉴스 · Trends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 이벤트 → 다채널 동시 반응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02996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트레이딩 카드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0299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조회수 · Trends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202996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 오프닝 영상 → 유튜브 먼저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688336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688336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65960" y="268833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 · Trends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268833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단종 발표 → 뉴스 선행 후 검색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813816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64008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 기여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794760"/>
            <a:ext cx="53271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수집품 최초 다채널 </a:t>
            </a:r>
            <a:r>
              <a:rPr lang="en-US" sz="1500" b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</a:t>
            </a:r>
            <a:endParaRPr lang="en-US" sz="1500" b="1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500" b="1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선택이 자산마다 </a:t>
            </a:r>
            <a:r>
              <a:rPr lang="en-US" sz="1500" b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다름을</a:t>
            </a: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체계화</a:t>
            </a:r>
            <a:endParaRPr lang="en-US" sz="1500" b="1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E8BC29-9DBC-5413-02A7-48EC7294E116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투고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4974" y="605516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70282" y="930755"/>
            <a:ext cx="8102852" cy="1011929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07442" y="893197"/>
            <a:ext cx="914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94994" y="1175156"/>
            <a:ext cx="13716" cy="7132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50442" y="10837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Research Letters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50442" y="1381951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기반 실증 논문 다수 게재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형식(5,000단어 내) / 빠른 리뷰(6~8주)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974" y="2197783"/>
            <a:ext cx="8138160" cy="996506"/>
          </a:xfrm>
          <a:prstGeom prst="rect">
            <a:avLst/>
          </a:prstGeom>
          <a:solidFill>
            <a:schemeClr val="bg2">
              <a:lumMod val="75000"/>
            </a:schemeClr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0866" y="2152821"/>
            <a:ext cx="9144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2순위</a:t>
            </a:r>
            <a:endParaRPr lang="en-US" sz="17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57400" y="2466290"/>
            <a:ext cx="13716" cy="71323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678558" y="2384617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Economics Letters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78558" y="2768665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282" y="3514956"/>
            <a:ext cx="8102852" cy="1030205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7442" y="3791027"/>
            <a:ext cx="910433" cy="562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3순위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594993" y="3615791"/>
            <a:ext cx="45719" cy="90287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750442" y="3633160"/>
            <a:ext cx="3823818" cy="439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Behavioral Finance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51004" y="4090212"/>
            <a:ext cx="6236465" cy="671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투기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자산·하이프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사이클·FOMO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01AC0-1840-60E0-2318-1AD0B63716B7}"/>
              </a:ext>
            </a:extLst>
          </p:cNvPr>
          <p:cNvSpPr txBox="1"/>
          <p:nvPr/>
        </p:nvSpPr>
        <p:spPr>
          <a:xfrm>
            <a:off x="8548007" y="200025"/>
            <a:ext cx="416379" cy="36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참고 문헌 (References)</a:t>
            </a:r>
          </a:p>
        </p:txBody>
      </p:sp>
      <p:sp>
        <p:nvSpPr>
          <p:cNvPr id="4" name="Div"/>
          <p:cNvSpPr/>
          <p:nvPr/>
        </p:nvSpPr>
        <p:spPr>
          <a:xfrm>
            <a:off x="502920" y="633716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5" name="LeftRefs"/>
          <p:cNvSpPr/>
          <p:nvPr/>
        </p:nvSpPr>
        <p:spPr>
          <a:xfrm>
            <a:off x="489204" y="2116019"/>
            <a:ext cx="40500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미디어 감성 &amp; 가격 선행성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Bollen, J., Mao, H., &amp; Zeng, X. (2011). Twitter mood predicts the stock market. Journal of Computational Science, 2(1), 1-8.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Da, Z., Engelberg, J., &amp; Gao, P. (2011). In search of attention. Review of Financial Studies, 24(6), 1461-1499.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Jang, J. &amp; Jun, S. (2025). YouTube view count, investor attention and stock returns. International Review of Financial Analysis, 97.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Mao, H., Counts, S., &amp; Bollen, J. (2011). Predicting financial markets: Comparing survey, news, Twitter and search engine data. arXiv:1112.1051.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A. H., Wang, H., &amp; Yang, Y. (2023). FinBERT: A large language model for extracting information from financial text. Contemporary Accounting Research, 40(2), 806-841.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M. Y., Rojas, R. R., &amp; Convery, P. D. (2019). Forecasting stock market movements using Google Trend searches. Empirical Economics, 59(6), 2821-2839.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Raza, S. A., et al. (2022). Google Trends and cryptocurrencies. Research in International Business and Finance.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Granger, C. W. J. (1969). Investigating causal relations by econometric models and cross-spectral methods. Econometrica, 37(3), 424-438.</a:t>
            </a:r>
          </a:p>
        </p:txBody>
      </p:sp>
      <p:sp>
        <p:nvSpPr>
          <p:cNvPr id="6" name="RightRefs"/>
          <p:cNvSpPr/>
          <p:nvPr/>
        </p:nvSpPr>
        <p:spPr>
          <a:xfrm>
            <a:off x="4761636" y="1872179"/>
            <a:ext cx="41000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리셀 자산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Treiber, M. C., &amp; Ma, K. (2020). Hedonic Pricing in the Sneaker Resale Market. Duke Journal of Economics. [Working Paper]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Dobrynskaya, V., &amp; Kishilova, J. (2022). LEGO — The toy of smart investors. Research in International Business and Finance, 59, 101547.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Ding, X. (2022). The Sneaker Value: A Disquisition Into Sneaker Resale Market. Theses - ALL, 626. Syracuse University.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머신러닝 &amp; 감성 분석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Akyildirim, E., et al. (2021). Prediction of cryptocurrency returns using machine learning. Annals of Operations Research, 297, 3-36.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Araci, D. (2019). FinBERT: Financial sentiment analysis with pre-trained language models. arXiv:1908.10063.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시장 데이터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ThredUp (2026). 14th Annual Resale Report. GlobalData. thredup.com/resale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ko-KR" sz="700" dirty="0">
                <a:solidFill>
                  <a:srgbClr val="333333"/>
                </a:solidFill>
                <a:latin typeface="Calibri"/>
                <a:ea typeface="Calibri"/>
              </a:rPr>
              <a:t>리셀 시장의 현황과 소비자이슈 [한국소비자원 소비자정책동향 122호] (2022)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Benjamini, Y., &amp; Hochberg, Y. (1995). Controlling the false discovery rate. Journal of the Royal Statistical Society: Series B, 57(1), 289-300.</a:t>
            </a:r>
          </a:p>
        </p:txBody>
      </p:sp>
      <p:sp>
        <p:nvSpPr>
          <p:cNvPr id="7" name="VDiv"/>
          <p:cNvSpPr/>
          <p:nvPr/>
        </p:nvSpPr>
        <p:spPr>
          <a:xfrm>
            <a:off x="4682920" y="670000"/>
            <a:ext cx="13716" cy="410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220B4-C24C-164E-1AF1-AA4C4AB93EB8}"/>
              </a:ext>
            </a:extLst>
          </p:cNvPr>
          <p:cNvSpPr txBox="1"/>
          <p:nvPr/>
        </p:nvSpPr>
        <p:spPr>
          <a:xfrm>
            <a:off x="513570" y="792400"/>
            <a:ext cx="4050000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185FA5"/>
                </a:solidFill>
              </a:rPr>
              <a:t>리셀</a:t>
            </a:r>
            <a:r>
              <a:rPr lang="ko-KR" altLang="en-US" sz="1000" b="1" dirty="0">
                <a:solidFill>
                  <a:srgbClr val="185FA5"/>
                </a:solidFill>
              </a:rPr>
              <a:t> 시장 배경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적용 이유</a:t>
            </a:r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ko-KR" altLang="en-US" sz="800" dirty="0" err="1"/>
              <a:t>리셀</a:t>
            </a:r>
            <a:r>
              <a:rPr lang="ko-KR" altLang="en-US" sz="800" dirty="0"/>
              <a:t> 시장의 현황과 소비자이슈 </a:t>
            </a:r>
            <a:r>
              <a:rPr lang="en-US" altLang="ko-KR" sz="800" dirty="0"/>
              <a:t>[</a:t>
            </a:r>
            <a:r>
              <a:rPr lang="ko-KR" altLang="en-US" sz="800" dirty="0"/>
              <a:t>한국소비자원 소비자정책동향 </a:t>
            </a:r>
            <a:r>
              <a:rPr lang="en-US" altLang="ko-KR" sz="800" dirty="0"/>
              <a:t>122</a:t>
            </a:r>
            <a:r>
              <a:rPr lang="ko-KR" altLang="en-US" sz="800" dirty="0"/>
              <a:t>호</a:t>
            </a:r>
            <a:r>
              <a:rPr lang="en-US" altLang="ko-KR" sz="800" dirty="0"/>
              <a:t>] (2022)</a:t>
            </a:r>
          </a:p>
          <a:p>
            <a:r>
              <a:rPr lang="en-US" altLang="ko-KR" sz="75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https://www.nytimes.com/athletic/1800120/2020/05/07/air-jordan-sales-soar-on-resale-sites-as-espn-airs-the-last-dance/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https://magazine.hankyung.com/business/article/</a:t>
            </a:r>
            <a:r>
              <a:rPr lang="en-US" altLang="ko-KR" sz="7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202602106584b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hlinkClick r:id="rId4"/>
              </a:rPr>
              <a:t>https://biz.chosun.com/stock/finance/2022/01/30/LU2U6SU5DBDNXB4RIWSFNSJSH4/</a:t>
            </a:r>
            <a:r>
              <a:rPr lang="en-US" altLang="ko-KR" sz="750" dirty="0"/>
              <a:t> </a:t>
            </a:r>
          </a:p>
          <a:p>
            <a:r>
              <a:rPr lang="ko-KR" altLang="en-US" sz="750" dirty="0"/>
              <a:t>한국소비자원</a:t>
            </a:r>
            <a:r>
              <a:rPr lang="en-US" altLang="ko-KR" sz="750" dirty="0"/>
              <a:t>/</a:t>
            </a:r>
            <a:r>
              <a:rPr lang="ko-KR" altLang="en-US" sz="750" dirty="0"/>
              <a:t>재판매 플랫폼 이용 실태 조사 </a:t>
            </a:r>
            <a:endParaRPr lang="en-US" altLang="ko-KR" sz="750" dirty="0"/>
          </a:p>
          <a:p>
            <a:endParaRPr lang="en-US" altLang="ko-KR" sz="750" dirty="0"/>
          </a:p>
          <a:p>
            <a:endParaRPr lang="en-US" altLang="ko-KR" sz="750" dirty="0"/>
          </a:p>
          <a:p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D0B4C-496C-1EEE-BCB6-281038C95750}"/>
              </a:ext>
            </a:extLst>
          </p:cNvPr>
          <p:cNvSpPr txBox="1"/>
          <p:nvPr/>
        </p:nvSpPr>
        <p:spPr>
          <a:xfrm>
            <a:off x="4798819" y="765650"/>
            <a:ext cx="40256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185FA5"/>
                </a:solidFill>
              </a:rPr>
              <a:t>기존 연구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제안 연구의 필요성 </a:t>
            </a:r>
            <a:endParaRPr lang="en-US" altLang="ko-KR" sz="1000" b="1" dirty="0">
              <a:solidFill>
                <a:srgbClr val="185FA5"/>
              </a:solidFill>
            </a:endParaRPr>
          </a:p>
          <a:p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en-US" altLang="ko-KR" sz="800" dirty="0">
                <a:hlinkClick r:id="rId5"/>
              </a:rPr>
              <a:t>https://stockx.com/about/stockxs-current-culture-index-highlights-2025s-biggest-winners-reveals-predictions-for-2026/</a:t>
            </a:r>
            <a:r>
              <a:rPr lang="en-US" altLang="ko-KR" sz="800" dirty="0"/>
              <a:t> </a:t>
            </a:r>
          </a:p>
          <a:p>
            <a:r>
              <a:rPr lang="en-US" altLang="ko-KR" sz="800" dirty="0" err="1"/>
              <a:t>ThredUp</a:t>
            </a:r>
            <a:r>
              <a:rPr lang="en-US" altLang="ko-KR" sz="800" dirty="0"/>
              <a:t>: 2026 Resale Report, 10,13p</a:t>
            </a:r>
          </a:p>
          <a:p>
            <a:r>
              <a:rPr lang="en-US" altLang="ko-KR" sz="800" dirty="0">
                <a:hlinkClick r:id="rId6"/>
              </a:rPr>
              <a:t>https://capitaloneshopping.com/research/thrifting-statistics/</a:t>
            </a:r>
            <a:endParaRPr lang="en-US" altLang="ko-KR" sz="800" dirty="0"/>
          </a:p>
          <a:p>
            <a:r>
              <a:rPr lang="en-US" altLang="ko-KR" sz="800" dirty="0" err="1"/>
              <a:t>Capitalone</a:t>
            </a:r>
            <a:r>
              <a:rPr lang="en-US" altLang="ko-KR" sz="800" dirty="0"/>
              <a:t> shopping</a:t>
            </a:r>
          </a:p>
          <a:p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BDAA8-003A-F7A8-1223-EE67FBDC577B}"/>
              </a:ext>
            </a:extLst>
          </p:cNvPr>
          <p:cNvSpPr txBox="1"/>
          <p:nvPr/>
        </p:nvSpPr>
        <p:spPr>
          <a:xfrm>
            <a:off x="8548007" y="200025"/>
            <a:ext cx="41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</a:t>
            </a:r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200400" cy="137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시장 미디어 선행 지표 연구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 · 트레이딩 카드 · 레고의 Granger 검정 기반 실증분석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2924</Words>
  <Application>Microsoft Office PowerPoint</Application>
  <PresentationFormat>화면 슬라이드 쇼(16:9)</PresentationFormat>
  <Paragraphs>489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리셀 시장 미디어 선행 지표 연구</dc:title>
  <dc:subject>PptxGenJS Presentation</dc:subject>
  <dc:creator>PptxGenJS</dc:creator>
  <cp:lastModifiedBy>이승현(2022314025)</cp:lastModifiedBy>
  <cp:revision>64</cp:revision>
  <dcterms:created xsi:type="dcterms:W3CDTF">2026-04-09T08:16:19Z</dcterms:created>
  <dcterms:modified xsi:type="dcterms:W3CDTF">2026-05-25T13:29:16Z</dcterms:modified>
</cp:coreProperties>
</file>