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83" r:id="rId21"/>
    <p:sldId id="284" r:id="rId22"/>
    <p:sldId id="275" r:id="rId23"/>
    <p:sldId id="28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4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2ABB4-A636-4D6F-B0F2-249ADD656E46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4765B-B2BB-421C-A480-02E061EFE8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5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F0F-08BE-24C3-AF6D-CE823D8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A4356-95BB-337A-0302-21925D7F5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7EC4C-B645-1DC4-62EF-4075FB35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51C85-00D8-72C4-99BA-443FBFCC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0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시장에서 미디어 채널은 가격을 선행하는가?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515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스니커즈 · 트레이딩 카드 · 레고 — 다중자산 Granger 인과분석 &amp; XGBoost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0B5"/>
                </a:solidFill>
                <a:latin typeface="맑은 고딕"/>
                <a:ea typeface="맑은 고딕"/>
                <a:cs typeface="맑은 고딕"/>
              </a:rPr>
              <a:t>2022.01 – 2025.12  |  48개월 × 15개 아이템 × 5개 미디어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이승현 · 윤재은 · 최형호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발표 흐름 한눈에 보기 — 6개 섹션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7863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78638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07592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연구 배경 &amp;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55064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리셀 시장 · 연구문제 RQ1–RQ3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2"/>
            <a:ext cx="10881360" cy="786384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084832"/>
            <a:ext cx="109728" cy="786384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84832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57984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기존 연구 &amp;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05456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선행연구의 공통 한계 · 본 연구의 차별점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35224"/>
            <a:ext cx="10881360" cy="786384"/>
          </a:xfrm>
          <a:prstGeom prst="roundRect">
            <a:avLst/>
          </a:prstGeom>
          <a:solidFill>
            <a:srgbClr val="EFEA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35224"/>
            <a:ext cx="109728" cy="786384"/>
          </a:xfrm>
          <a:prstGeom prst="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935224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08376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대상 &amp; 채널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355848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3종 자산 · 5개 미디어 채널 · 전처리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85615"/>
            <a:ext cx="10881360" cy="786384"/>
          </a:xfrm>
          <a:prstGeom prst="roundRect">
            <a:avLst/>
          </a:prstGeom>
          <a:solidFill>
            <a:srgbClr val="FBEEDD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785615"/>
            <a:ext cx="109728" cy="78638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785615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58768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방법론 (왜 이 도구?)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206240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FinBERT · Granger · XGBoost · SHAP · DM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36007"/>
            <a:ext cx="10881360" cy="786384"/>
          </a:xfrm>
          <a:prstGeom prst="roundRect">
            <a:avLst/>
          </a:prstGeom>
          <a:solidFill>
            <a:srgbClr val="EAF1F8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636007"/>
            <a:ext cx="109728" cy="78638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636007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709159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실험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56631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RQ1–RQ3 · SHAP · IRF · 한계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86399"/>
            <a:ext cx="10881360" cy="786384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486399"/>
            <a:ext cx="109728" cy="786384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486399"/>
            <a:ext cx="914400" cy="786384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559551"/>
            <a:ext cx="8686800" cy="411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결론 &amp; 시사점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907023"/>
            <a:ext cx="868680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연구문제별 결론 · 실무 함의 ·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배경 &amp;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리셀 시장 · 연구문제 RQ1–RQ3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배경 &amp; 연구 문제 (RQ1–RQ3)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리셀 시장은 미디어에 민감하나 다채널 선행성 비교는 미답 — 세 단계로 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51560"/>
            <a:ext cx="11612880" cy="50292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시장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(’24 美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중고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약 490억$,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전년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+14%)은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SNS·뉴스·유튜브에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민감</a:t>
            </a:r>
            <a:r>
              <a:rPr sz="11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어떤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미디어가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가격보다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’ </a:t>
            </a:r>
            <a:r>
              <a:rPr sz="1150" b="1" dirty="0" err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움직이는가</a:t>
            </a:r>
            <a:r>
              <a:rPr sz="1150" b="1" dirty="0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246120" cy="8229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시간적 선행성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어떤 미디어 채널이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가격을 선행하는가?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3520439"/>
            <a:ext cx="2971800" cy="4572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인과검정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회귀는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관계’만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봄.</a:t>
            </a:r>
            <a:endParaRPr lang="ko-KR" altLang="en-US"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방향</a:t>
            </a:r>
            <a:r>
              <a:rPr lang="en-US" altLang="ko-KR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시차를 함께 보려면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F 통계량 · p · 래그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24528" y="1783080"/>
            <a:ext cx="3246120" cy="82296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RQ2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 이질성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 채널 구성이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자산마다 다른가?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520439"/>
            <a:ext cx="2971800" cy="45720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유의채널 집합 · Jaccard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자산별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차이를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한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숫자로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정량화하려고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Jaccard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24528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Jaccard 유사도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783080"/>
            <a:ext cx="32461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74736" y="1783080"/>
            <a:ext cx="3246120" cy="82296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RQ3 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간결성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697480"/>
            <a:ext cx="2971800" cy="77724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선별 채널 모델이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전채널과 동등한가?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11896" y="3520439"/>
            <a:ext cx="2971800" cy="457200"/>
          </a:xfrm>
          <a:prstGeom prst="roundRect">
            <a:avLst/>
          </a:prstGeom>
          <a:solidFill>
            <a:srgbClr val="EFEAF5"/>
          </a:solidFill>
          <a:ln w="12700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  </a:t>
            </a:r>
            <a:r>
              <a:rPr sz="11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XGBoost A/B/C · DM검정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069080"/>
            <a:ext cx="2971800" cy="964367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왜 이 </a:t>
            </a:r>
            <a:r>
              <a:rPr sz="14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</a:t>
            </a:r>
            <a:r>
              <a:rPr sz="14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AUC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숫자차가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우연인지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실제인지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통계로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보려면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DM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검정이</a:t>
            </a:r>
            <a:r>
              <a:rPr sz="14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400" b="0" dirty="0">
              <a:solidFill>
                <a:srgbClr val="55555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74736" y="5577840"/>
            <a:ext cx="3246120" cy="502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측정  </a:t>
            </a:r>
            <a:r>
              <a:rPr sz="10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AUC · ΔAUC · DM 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7328" y="3520439"/>
            <a:ext cx="438912" cy="73152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717536" y="3520439"/>
            <a:ext cx="438912" cy="73152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 &amp;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선행연구의 공통 한계 · 본 연구의 차별점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 &amp; 공통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세 연구 흐름 모두 ‘리셀 × 다채널 × 선행성 비교’의 교점은 비워 둠 — 한계가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246120" cy="5029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→ 주식 선행성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Tetlock (2007)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뉴스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비관론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S&amp;P500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Da et al. (2011) · Google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검색량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1479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전통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금융자산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주식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에만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24528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24528" y="1097280"/>
            <a:ext cx="3246120" cy="50292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상품 가격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Campello et al. (2021)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StockX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Dobrynskaya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&amp;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Kishilova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(2023)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레고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대체자산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61688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미포함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74736" y="109728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74736" y="1097280"/>
            <a:ext cx="3246120" cy="50292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멀티채널 예측 방법론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1737360"/>
            <a:ext cx="2971800" cy="107721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Bollen et al. (2011) · Twitter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→ DJIA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Zhang et al. (2018) ·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뉴스+감성+가격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결합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11896" y="3794760"/>
            <a:ext cx="2971800" cy="1691640"/>
          </a:xfrm>
          <a:prstGeom prst="round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dirty="0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2000" b="1" dirty="0" err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한계</a:t>
            </a:r>
            <a:endParaRPr sz="2000" b="1" dirty="0">
              <a:solidFill>
                <a:srgbClr val="B23B3B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주식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단일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20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· Granger </a:t>
            </a:r>
            <a:r>
              <a:rPr sz="2000" b="1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미적용</a:t>
            </a:r>
            <a:endParaRPr sz="2000" b="1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74320" y="5897880"/>
            <a:ext cx="11612880" cy="6400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본 연구  </a:t>
            </a:r>
            <a:r>
              <a:rPr sz="12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스니커즈·카드·레고 3개 자산 × 5채널 × Granger × SHAP+DM → 세 흐름의 빈 교점을 메움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연구와의 차별점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무엇이 새로운가 — 4가지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43200" cy="54864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4206240" cy="548640"/>
          </a:xfrm>
          <a:prstGeom prst="roundRect">
            <a:avLst/>
          </a:prstGeom>
          <a:solidFill>
            <a:srgbClr val="8A9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연구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4114800" cy="54864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 연구 (본 연구)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9280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자산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9280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주식 단일 자산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9280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리셀 수집품 3종 동시 비교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15200" y="213969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285292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85292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단일 채널 (트위터 or 구글)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85292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다중 채널 5개 (볼륨+감성 분리)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309981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381304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 선정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81304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사전 고정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81304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검정으로 자산별 탐색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15200" y="4059935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4773168"/>
            <a:ext cx="2743200" cy="86868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분석 방향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4773168"/>
            <a:ext cx="42062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‘선행하는가 Yes/No’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773168"/>
            <a:ext cx="4114800" cy="86868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XGBoost·SHAP로 자산별 기여 정량화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315200" y="5020056"/>
            <a:ext cx="320040" cy="3657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대상 &amp; 채널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3종 자산 · 5개 미디어 채널 · 전처리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대상: 3종 리셀 자산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자산별 대표 5개 아이템 · 2022.01–2025.12 (48개월) · 공개 실거래가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3246120" cy="86868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스니커즈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StockX · US Sz10 평균가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350008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Jordan 1 Bordeaux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953512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Nike Dunk Low Panda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557016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Yeezy 350 V2 Zebra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160520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Travis Scott Jordan 1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764024"/>
            <a:ext cx="109728" cy="109728"/>
          </a:xfrm>
          <a:prstGeom prst="ellipse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New Balance 550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24528" y="1188720"/>
            <a:ext cx="3246120" cy="86868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트레이딩 카드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PriceCharting · PSA 10</a:t>
            </a:r>
          </a:p>
        </p:txBody>
      </p:sp>
      <p:sp>
        <p:nvSpPr>
          <p:cNvPr id="20" name="Oval 19"/>
          <p:cNvSpPr/>
          <p:nvPr/>
        </p:nvSpPr>
        <p:spPr>
          <a:xfrm>
            <a:off x="4453128" y="2350008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Charizard VMAX (SV107)</a:t>
            </a:r>
          </a:p>
        </p:txBody>
      </p:sp>
      <p:sp>
        <p:nvSpPr>
          <p:cNvPr id="22" name="Oval 21"/>
          <p:cNvSpPr/>
          <p:nvPr/>
        </p:nvSpPr>
        <p:spPr>
          <a:xfrm>
            <a:off x="4453128" y="2953512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Umbreon VMAX Alt</a:t>
            </a:r>
          </a:p>
        </p:txBody>
      </p:sp>
      <p:sp>
        <p:nvSpPr>
          <p:cNvPr id="24" name="Oval 23"/>
          <p:cNvSpPr/>
          <p:nvPr/>
        </p:nvSpPr>
        <p:spPr>
          <a:xfrm>
            <a:off x="4453128" y="3557016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81728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Rayquaza VMAX Alt</a:t>
            </a:r>
          </a:p>
        </p:txBody>
      </p:sp>
      <p:sp>
        <p:nvSpPr>
          <p:cNvPr id="26" name="Oval 25"/>
          <p:cNvSpPr/>
          <p:nvPr/>
        </p:nvSpPr>
        <p:spPr>
          <a:xfrm>
            <a:off x="4453128" y="4160520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Pikachu VMAX</a:t>
            </a:r>
          </a:p>
        </p:txBody>
      </p:sp>
      <p:sp>
        <p:nvSpPr>
          <p:cNvPr id="28" name="Oval 27"/>
          <p:cNvSpPr/>
          <p:nvPr/>
        </p:nvSpPr>
        <p:spPr>
          <a:xfrm>
            <a:off x="4453128" y="4764024"/>
            <a:ext cx="109728" cy="109728"/>
          </a:xfrm>
          <a:prstGeom prst="ellipse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81728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Charizard GX Hidden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1188720"/>
            <a:ext cx="32461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74736" y="1188720"/>
            <a:ext cx="3246120" cy="86868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CF3"/>
                </a:solidFill>
                <a:latin typeface="맑은 고딕"/>
                <a:ea typeface="맑은 고딕"/>
                <a:cs typeface="맑은 고딕"/>
              </a:rPr>
              <a:t>BrickRanker · 새 봉인가</a:t>
            </a:r>
          </a:p>
        </p:txBody>
      </p:sp>
      <p:sp>
        <p:nvSpPr>
          <p:cNvPr id="32" name="Oval 31"/>
          <p:cNvSpPr/>
          <p:nvPr/>
        </p:nvSpPr>
        <p:spPr>
          <a:xfrm>
            <a:off x="8403336" y="2350008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2240280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Millennium Falcon</a:t>
            </a:r>
          </a:p>
        </p:txBody>
      </p:sp>
      <p:sp>
        <p:nvSpPr>
          <p:cNvPr id="34" name="Oval 33"/>
          <p:cNvSpPr/>
          <p:nvPr/>
        </p:nvSpPr>
        <p:spPr>
          <a:xfrm>
            <a:off x="8403336" y="2953512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2843784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Hogwarts Castle</a:t>
            </a:r>
          </a:p>
        </p:txBody>
      </p:sp>
      <p:sp>
        <p:nvSpPr>
          <p:cNvPr id="36" name="Oval 35"/>
          <p:cNvSpPr/>
          <p:nvPr/>
        </p:nvSpPr>
        <p:spPr>
          <a:xfrm>
            <a:off x="8403336" y="3557016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3447288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Titanic 10294</a:t>
            </a:r>
          </a:p>
        </p:txBody>
      </p:sp>
      <p:sp>
        <p:nvSpPr>
          <p:cNvPr id="38" name="Oval 37"/>
          <p:cNvSpPr/>
          <p:nvPr/>
        </p:nvSpPr>
        <p:spPr>
          <a:xfrm>
            <a:off x="8403336" y="4160520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31936" y="4050792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Porsche 911</a:t>
            </a:r>
          </a:p>
        </p:txBody>
      </p:sp>
      <p:sp>
        <p:nvSpPr>
          <p:cNvPr id="40" name="Oval 39"/>
          <p:cNvSpPr/>
          <p:nvPr/>
        </p:nvSpPr>
        <p:spPr>
          <a:xfrm>
            <a:off x="8403336" y="4764024"/>
            <a:ext cx="109728" cy="109728"/>
          </a:xfrm>
          <a:prstGeom prst="ellipse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31936" y="4654296"/>
            <a:ext cx="2606039" cy="50292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Bugatti Chiron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897880"/>
            <a:ext cx="1161288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모든 아이템 48/48 커버리지 · 호가가 아닌 체결가 사용 (선행연구 다수 채택)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5개 미디어 채널 &amp;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볼륨 3 + 감성 2 · 채널마다 단위가 달라 스케일이 다름 → 전처리로 통일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7040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→ 최종 스케일</a:t>
                      </a:r>
                    </a:p>
                  </a:txBody>
                  <a:tcPr marL="63500" marR="38100" marT="25400" marB="25400" anchor="ctr"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Google Trends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월평균 → 0–100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CH2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뉴스 보도량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GDELT → 0–1 정규화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CH3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뉴스 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GDELT tone → −1~+1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CH4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유튜브 조회수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볼륨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log1p → z-score</a:t>
                      </a:r>
                    </a:p>
                  </a:txBody>
                  <a:tcPr marL="63500" marR="38100" marT="25400" marB="254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CH5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유튜브 댓글 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감성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FinBERT → −1~+1</a:t>
                      </a:r>
                    </a:p>
                  </a:txBody>
                  <a:tcPr marL="63500" marR="381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188720"/>
            <a:ext cx="4389120" cy="141732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채널마다 스케일이 다른가? → 통일인가?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검색량·보도량·감성은 서로 다른 단위.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XGBoost 투입 직전 StandardScaler로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  z-score 통일 (전처리한 수치 사용)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4389120" cy="169164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왜 정상성(ADF) 검정인가?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비정상 시계열은 ‘허구 인과’ 위험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Granger의 전제조건 (반드시 선검정)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결과: 정상 9개 그대로 · 비정상 9개 차분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예외: 스니커즈 CH1 차분 후 p=0.120(경계)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17720"/>
            <a:ext cx="7040880" cy="9601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왜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볼륨과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감성을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분리하나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보도량도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긍정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부정에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따라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방향이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다름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합치면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신호가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상쇄됨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(Mao 2011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제한점  CH3는 GDELT tone(자동추출) 사용 — FinBERT 대비 도메인 특화도 낮음 · CH4는 ‘resell+review’ 키워드로 일반 hype 과소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방법론 — 왜 이 도구인가?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FinBERT · Granger · XGBoost · SHAP · DM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무엇을 모으고 → 어떻게 수치화하고 → 선행 채널을 찾고 → 예측력을 검증하는가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971800"/>
            <a:ext cx="2514600" cy="15544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2514600" cy="1554480"/>
          </a:xfrm>
          <a:prstGeom prst="round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수치화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2514600" cy="155448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Granger </a:t>
            </a: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인과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89720" y="2971800"/>
            <a:ext cx="2697480" cy="155448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 lang="en-US"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XGBoost·DM</a:t>
            </a:r>
            <a:endParaRPr sz="2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200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8072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7790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8750808" y="3474719"/>
            <a:ext cx="420624" cy="54864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FinBERT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점수화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금융 텍스트 특화 BERT (Araci 2019) · 유튜브 댓글 감성(CH5) 산출에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985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①  </a:t>
            </a:r>
            <a:r>
              <a:rPr sz="13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문장</a:t>
            </a:r>
            <a:r>
              <a:rPr sz="13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 lang="ko-KR" altLang="en-US" sz="1300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1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유튜브 댓글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1192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58937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②  토큰화·벡터화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BERT Transformer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6144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03889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③  감성 확률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P(pos)·P(neu)·P(neg)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11097" y="1645920"/>
            <a:ext cx="237744" cy="36576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48841" y="1261872"/>
            <a:ext cx="2788920" cy="114300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④  감성 점수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P(pos)−P(neg) ∈ [−1,+1]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" y="2606040"/>
            <a:ext cx="5669280" cy="1737359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endParaRPr lang="en-US" sz="1250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</a:t>
            </a:r>
            <a:r>
              <a:rPr sz="125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FinBERT인가</a:t>
            </a:r>
            <a:r>
              <a:rPr sz="125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급등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예상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”·“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공급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부족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우려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” 등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맥락의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포착에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특화</a:t>
            </a:r>
            <a:endParaRPr sz="115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일반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BERT보다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금융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텍스트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분류</a:t>
            </a: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정확</a:t>
            </a:r>
            <a:endParaRPr sz="115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  (Huang et al. 2023, CAR)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651760"/>
            <a:ext cx="5760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“limited release drives huge demand”   </a:t>
            </a:r>
            <a:r>
              <a:rPr sz="13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+0.85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“resale prices collapse”   </a:t>
            </a:r>
            <a:r>
              <a:rPr sz="1300" b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−0.72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572000"/>
            <a:ext cx="11612880" cy="128016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>
              <a:spcAft>
                <a:spcPts val="400"/>
              </a:spcAft>
            </a:pP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2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유튜브</a:t>
            </a:r>
            <a:r>
              <a:rPr lang="ko-KR" altLang="en-US" sz="1400" b="1" dirty="0" err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제한점</a:t>
            </a:r>
            <a:r>
              <a:rPr lang="ko-KR" altLang="en-US" sz="1400" b="1" dirty="0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뉴스 감성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(CH3)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은 </a:t>
            </a:r>
            <a:r>
              <a:rPr lang="en-US" altLang="ko-KR" sz="120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NewsAPI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역사데이터 제약으로 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GDELT tone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대체 </a:t>
            </a:r>
            <a:r>
              <a:rPr lang="en-US" altLang="ko-KR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20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도메인 특화도가 낮은 점은 한계로 명시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댓글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감성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(CH5) —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아이템당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상위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15영상 × 30댓글,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영어만</a:t>
            </a:r>
            <a:endParaRPr sz="12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Granger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인과검정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</a:t>
            </a:r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‘미디어가 먼저 움직이면 가격도 따라오는가’를 두 모델 비교로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11612880" cy="77724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미디어의 과거값을 알면 가격의 미래를 더 잘 맞히는가? → YES면 그 채널이 가격을 선행한다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224" y="2103120"/>
            <a:ext cx="4572000" cy="155448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모델 A · 기준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이번달 가격 = 지난달·지지난달 가격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미디어 없이 가격 관성만 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52260" y="2103120"/>
            <a:ext cx="4572000" cy="155448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모델 B · 비교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이번달 가격 = 가격 + 지난달 미디어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미디어 추가 시 오차가 줄면 선행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80" y="4317075"/>
            <a:ext cx="5669280" cy="18288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왜 Granger </a:t>
            </a:r>
            <a:r>
              <a:rPr sz="17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검정인가</a:t>
            </a:r>
            <a:r>
              <a:rPr sz="17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연구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질문이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가격에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선행하는가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’.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회귀분석은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동시적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관계’만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방향과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시차를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동시에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보는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Granger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6596B-FF0B-19D0-7976-41B8A848F1FC}"/>
              </a:ext>
            </a:extLst>
          </p:cNvPr>
          <p:cNvSpPr txBox="1"/>
          <p:nvPr/>
        </p:nvSpPr>
        <p:spPr>
          <a:xfrm>
            <a:off x="5706329" y="2533995"/>
            <a:ext cx="945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vs</a:t>
            </a:r>
            <a:endParaRPr lang="ko-KR" alt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XGBoost · SHAP · DM — 예측 검증 (왜 이 도구인가?)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 선행성을 실제 예측력으로 검증 · 모델 A/B/C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3794760" cy="182880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XGBoost</a:t>
            </a:r>
            <a:endParaRPr b="1" dirty="0">
              <a:solidFill>
                <a:srgbClr val="277A4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N=48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소표본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딥러닝은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과적합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위험</a:t>
            </a:r>
            <a:endParaRPr sz="16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트리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앙상블이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소표본·비선형에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강함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794760" cy="182880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SHAP</a:t>
            </a:r>
            <a:endParaRPr lang="en-US" b="1" dirty="0">
              <a:solidFill>
                <a:srgbClr val="2E6DA4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‘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기여도’를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수치화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Granger(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)와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교차검증하는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749039" cy="1828800"/>
          </a:xfrm>
          <a:prstGeom prst="roundRect">
            <a:avLst/>
          </a:prstGeom>
          <a:solidFill>
            <a:srgbClr val="EFEAF5"/>
          </a:solidFill>
          <a:ln w="15875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63500" bIns="38100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DM</a:t>
            </a:r>
            <a:r>
              <a:rPr lang="en-US"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6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검정</a:t>
            </a:r>
            <a:endParaRPr sz="1600" b="1" dirty="0">
              <a:solidFill>
                <a:srgbClr val="6C3D9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AUC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숫자차가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우연인지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실제인지</a:t>
            </a:r>
            <a:endParaRPr sz="16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월별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예측오차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시계열로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통계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6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474720"/>
            <a:ext cx="2514600" cy="118872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Model A</a:t>
            </a: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,B </a:t>
            </a:r>
            <a:r>
              <a:rPr lang="ko-KR" alt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 비교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46120" y="3474720"/>
            <a:ext cx="2514600" cy="11887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SHAP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0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기여</a:t>
            </a:r>
            <a:r>
              <a:rPr sz="1050" b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채널</a:t>
            </a:r>
            <a:endParaRPr sz="1050" b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2514600" cy="118872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Model C</a:t>
            </a: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89720" y="3474720"/>
            <a:ext cx="2697480" cy="118872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DM 검정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 vs 선별 동등?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072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7790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750808" y="3858768"/>
            <a:ext cx="420624" cy="41148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" y="4892040"/>
            <a:ext cx="3703320" cy="91440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Model A · </a:t>
            </a:r>
            <a:r>
              <a:rPr sz="20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전채널</a:t>
            </a:r>
            <a:endParaRPr sz="2000" b="1" dirty="0">
              <a:solidFill>
                <a:srgbClr val="1F2D4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24528" y="4892040"/>
            <a:ext cx="3703320" cy="914400"/>
          </a:xfrm>
          <a:prstGeom prst="roundRect">
            <a:avLst/>
          </a:prstGeom>
          <a:solidFill>
            <a:srgbClr val="E7F2EC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Model B · Granger </a:t>
            </a:r>
            <a:r>
              <a:rPr sz="20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선별</a:t>
            </a:r>
            <a:endParaRPr sz="2000" b="1" dirty="0">
              <a:solidFill>
                <a:srgbClr val="277A4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74736" y="4892040"/>
            <a:ext cx="3703320" cy="914400"/>
          </a:xfrm>
          <a:prstGeom prst="roundRect">
            <a:avLst/>
          </a:prstGeom>
          <a:solidFill>
            <a:srgbClr val="EFEA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Model C · SHAP </a:t>
            </a:r>
            <a:r>
              <a:rPr lang="ko-KR" altLang="en-US" sz="20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상위 자산</a:t>
            </a:r>
            <a:endParaRPr sz="2000" b="1" dirty="0">
              <a:solidFill>
                <a:srgbClr val="6C3D9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9407" y="6187335"/>
            <a:ext cx="11612880" cy="3200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1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통제피처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price_vs_ma3·lag1~3 |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TimeSeriesSplit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(5) | </a:t>
            </a:r>
            <a:r>
              <a:rPr sz="11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1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AUC-ROC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RQ1–RQ3 · SHAP · IRF · 한계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RQ1 · Granger 인과검정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15회 중 유의 4 · 경계 1 · 비유의 10 (유의 기준 p&lt;0.05)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6" name="Picture 5" descr="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9352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" y="5257800"/>
            <a:ext cx="5029200" cy="2308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자산×채널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15쌍의 Granger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F값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높을수록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CH3·카드 CH1)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강함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77840" y="1143000"/>
          <a:ext cx="6309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래그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50800" marR="25400" marT="12700" marB="12700" anchor="ctr"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CH3 뉴스감성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13.39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8.42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0.006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CH4 유튜브뷰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4.73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0.035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스니커즈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3.47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0.041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77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유의</a:t>
                      </a:r>
                    </a:p>
                  </a:txBody>
                  <a:tcPr marL="50800" marR="25400" marT="12700" marB="12700" anchor="ctr">
                    <a:solidFill>
                      <a:srgbClr val="E7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레고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CH1 Google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0.054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나머지 10쌍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&lt;2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&gt;0.18</a:t>
                      </a: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비유의</a:t>
                      </a:r>
                      <a:endParaRPr sz="1100" b="0" dirty="0">
                        <a:solidFill>
                          <a:srgbClr val="11111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0800" marR="25400" marT="12700" marB="12700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577840" y="4617720"/>
            <a:ext cx="6309360" cy="128016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결론</a:t>
            </a:r>
            <a:r>
              <a:rPr sz="12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RQ1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미디어의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가격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선행성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부분</a:t>
            </a:r>
            <a:r>
              <a:rPr sz="12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지지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3개(CH3·CH4·CH1)·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1개(CH1)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채널이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유의</a:t>
            </a:r>
            <a:r>
              <a:rPr sz="12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(p&lt;0.05)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RQ2 · 자산별 채널 구성 차이 (Jaccard)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유의 채널 집합이 자산마다 다른가? — Jaccard로 정량화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Picture 5" descr="fig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2024770"/>
            <a:ext cx="5669280" cy="28084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9265" y="5096664"/>
            <a:ext cx="4152638" cy="230832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자산별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유의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집합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겹치는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채널이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적을수록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구성이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이질적</a:t>
            </a:r>
            <a:r>
              <a:rPr sz="1000" b="0" dirty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유의</a:t>
            </a:r>
            <a:r>
              <a:rPr sz="17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7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집합</a:t>
            </a:r>
            <a:endParaRPr sz="1700" b="1" dirty="0">
              <a:solidFill>
                <a:srgbClr val="1F2D4E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dirty="0" err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700" b="1" dirty="0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  {CH1, CH3, CH4}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dirty="0" err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700" b="1" dirty="0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        {CH1}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레고</a:t>
            </a:r>
            <a:r>
              <a:rPr sz="17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        {∅}  (</a:t>
            </a:r>
            <a:r>
              <a:rPr sz="17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유의</a:t>
            </a:r>
            <a:r>
              <a:rPr sz="17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채널</a:t>
            </a:r>
            <a:r>
              <a:rPr sz="17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 err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700" b="1" dirty="0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54680"/>
            <a:ext cx="5669280" cy="1371600"/>
          </a:xfrm>
          <a:prstGeom prst="round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Jaccard </a:t>
            </a:r>
            <a:r>
              <a:rPr sz="17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유사도</a:t>
            </a:r>
            <a:r>
              <a:rPr sz="17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700" b="1" dirty="0" err="1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700" b="1" dirty="0">
                <a:solidFill>
                  <a:srgbClr val="1F2D4E"/>
                </a:solidFill>
                <a:latin typeface="맑은 고딕"/>
                <a:ea typeface="맑은 고딕"/>
                <a:cs typeface="맑은 고딕"/>
              </a:rPr>
              <a:t> &lt; 0.6)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스니커즈</a:t>
            </a:r>
            <a:r>
              <a:rPr sz="17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7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카드</a:t>
            </a:r>
            <a:r>
              <a:rPr sz="17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0.333</a:t>
            </a:r>
            <a:r>
              <a:rPr sz="17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 ·   그 외 쌍 </a:t>
            </a:r>
            <a:r>
              <a:rPr sz="1700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669280" cy="123444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결론 RQ2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 유형마다 선행 채널 구성이 다름 → </a:t>
            </a:r>
            <a:r>
              <a:rPr sz="17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RQ2 지지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A &amp; B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468" y="613238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5798" y="4047831"/>
            <a:ext cx="5669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D4E"/>
                </a:solidFill>
                <a:latin typeface="Calibri"/>
              </a:rPr>
              <a:t>모델 A vs 모델 B  AUC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6952" y="6537960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10 / 19</a:t>
            </a:r>
          </a:p>
        </p:txBody>
      </p:sp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8F8F6E32-DA1B-3540-5370-B3A158D6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8" y="1485510"/>
            <a:ext cx="7481770" cy="3606362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E5D5BF3-3BFB-B142-4E06-82FED560AAC7}"/>
              </a:ext>
            </a:extLst>
          </p:cNvPr>
          <p:cNvGraphicFramePr>
            <a:graphicFrameLocks noGrp="1"/>
          </p:cNvGraphicFramePr>
          <p:nvPr/>
        </p:nvGraphicFramePr>
        <p:xfrm>
          <a:off x="7589619" y="2322457"/>
          <a:ext cx="4324395" cy="1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25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모델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 B AUC
(Granger </a:t>
                      </a:r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선별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05D590-0588-7F90-6F55-2A6052B256DC}"/>
              </a:ext>
            </a:extLst>
          </p:cNvPr>
          <p:cNvSpPr txBox="1"/>
          <p:nvPr/>
        </p:nvSpPr>
        <p:spPr>
          <a:xfrm>
            <a:off x="1196692" y="6035473"/>
            <a:ext cx="9798616" cy="3693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B1032-40CB-7470-B3C3-B3A23EA7FE02}"/>
              </a:ext>
            </a:extLst>
          </p:cNvPr>
          <p:cNvSpPr txBox="1"/>
          <p:nvPr/>
        </p:nvSpPr>
        <p:spPr>
          <a:xfrm>
            <a:off x="1437400" y="6142870"/>
            <a:ext cx="1078992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B가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A보다</a:t>
            </a:r>
            <a:r>
              <a:rPr lang="ko-KR" altLang="en-US" sz="1200" dirty="0">
                <a:solidFill>
                  <a:schemeClr val="bg1"/>
                </a:solidFill>
              </a:rPr>
              <a:t> 우수하다는 결론</a:t>
            </a:r>
            <a:r>
              <a:rPr lang="en-US" altLang="ko-KR" sz="1200" dirty="0">
                <a:solidFill>
                  <a:schemeClr val="bg1"/>
                </a:solidFill>
              </a:rPr>
              <a:t>(RQ3)</a:t>
            </a:r>
            <a:r>
              <a:rPr lang="ko-KR" altLang="en-US" sz="1200" dirty="0">
                <a:solidFill>
                  <a:schemeClr val="bg1"/>
                </a:solidFill>
              </a:rPr>
              <a:t>은 성립하지 않음. 사실상 두 모델에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r>
              <a:rPr lang="ko-KR" altLang="en-US" sz="1200" dirty="0">
                <a:solidFill>
                  <a:schemeClr val="bg1"/>
                </a:solidFill>
              </a:rPr>
              <a:t>개의 자산이 차이가 없다는 것을 확인할 수 있었음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2AB48-7174-57BE-F1C9-40E49927A5C6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841C-94BE-E35C-486F-7136E066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6F11-C15C-955A-03C8-72689320F332}"/>
              </a:ext>
            </a:extLst>
          </p:cNvPr>
          <p:cNvSpPr txBox="1"/>
          <p:nvPr/>
        </p:nvSpPr>
        <p:spPr>
          <a:xfrm>
            <a:off x="1588" y="1"/>
            <a:ext cx="12202604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Calibri"/>
              </a:rPr>
              <a:t>SHAP이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밝힌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것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34CD-C187-6C70-22EF-A90EDF153CB8}"/>
              </a:ext>
            </a:extLst>
          </p:cNvPr>
          <p:cNvSpPr txBox="1"/>
          <p:nvPr/>
        </p:nvSpPr>
        <p:spPr>
          <a:xfrm>
            <a:off x="184468" y="531327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C4113-26BF-90CF-337B-D72DA5A97CF0}"/>
              </a:ext>
            </a:extLst>
          </p:cNvPr>
          <p:cNvSpPr txBox="1"/>
          <p:nvPr/>
        </p:nvSpPr>
        <p:spPr>
          <a:xfrm>
            <a:off x="4306866" y="3941575"/>
            <a:ext cx="5989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SHAP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—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실제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기여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(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모델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A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기반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8525B-C378-E0B4-6DDF-94AA0B3A3570}"/>
              </a:ext>
            </a:extLst>
          </p:cNvPr>
          <p:cNvSpPr txBox="1"/>
          <p:nvPr/>
        </p:nvSpPr>
        <p:spPr>
          <a:xfrm>
            <a:off x="1233997" y="4305535"/>
            <a:ext cx="2757344" cy="369332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6BD1B-2732-2F34-4443-BE182A1A77A9}"/>
              </a:ext>
            </a:extLst>
          </p:cNvPr>
          <p:cNvSpPr txBox="1"/>
          <p:nvPr/>
        </p:nvSpPr>
        <p:spPr>
          <a:xfrm>
            <a:off x="2251657" y="4413257"/>
            <a:ext cx="1820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2E6DA4"/>
                </a:solidFill>
                <a:latin typeface="Calibri"/>
              </a:rPr>
              <a:t>스니커즈</a:t>
            </a:r>
            <a:endParaRPr sz="1100" b="1" dirty="0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FB7D5-91B4-708D-2AD2-662F68ACD0F5}"/>
              </a:ext>
            </a:extLst>
          </p:cNvPr>
          <p:cNvSpPr txBox="1"/>
          <p:nvPr/>
        </p:nvSpPr>
        <p:spPr>
          <a:xfrm>
            <a:off x="1338517" y="4641319"/>
            <a:ext cx="26557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CH1 Google 
SHAP 2위: CH5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
SHAP 3위: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</a:t>
            </a:r>
            <a:endParaRPr lang="en-US" sz="1100" dirty="0">
              <a:solidFill>
                <a:srgbClr val="0A0A0A"/>
              </a:solidFill>
              <a:latin typeface="Calibri"/>
            </a:endParaRPr>
          </a:p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주목</a:t>
            </a:r>
            <a:r>
              <a:rPr sz="1100" dirty="0">
                <a:solidFill>
                  <a:srgbClr val="0A0A0A"/>
                </a:solidFill>
                <a:latin typeface="Calibri"/>
              </a:rPr>
              <a:t>: CH3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뉴스감성은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Granger 1위지만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4위 (0.011)
→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선행성과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기여도가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다름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E3D8-CEB9-4C04-34D7-D08FDBA0CD79}"/>
              </a:ext>
            </a:extLst>
          </p:cNvPr>
          <p:cNvSpPr txBox="1"/>
          <p:nvPr/>
        </p:nvSpPr>
        <p:spPr>
          <a:xfrm>
            <a:off x="4932986" y="4358393"/>
            <a:ext cx="2349979" cy="369332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FC243-9F35-0929-898C-DEBA77EFF741}"/>
              </a:ext>
            </a:extLst>
          </p:cNvPr>
          <p:cNvSpPr txBox="1"/>
          <p:nvPr/>
        </p:nvSpPr>
        <p:spPr>
          <a:xfrm>
            <a:off x="5828795" y="4416665"/>
            <a:ext cx="1365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277A4A"/>
                </a:solidFill>
                <a:latin typeface="Calibri"/>
              </a:rPr>
              <a:t>카드</a:t>
            </a:r>
            <a:endParaRPr sz="1100" b="1" dirty="0">
              <a:solidFill>
                <a:srgbClr val="277A4A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7D5-EDB8-0AD1-3255-C70A6B6525EB}"/>
              </a:ext>
            </a:extLst>
          </p:cNvPr>
          <p:cNvSpPr txBox="1"/>
          <p:nvPr/>
        </p:nvSpPr>
        <p:spPr>
          <a:xfrm>
            <a:off x="5057072" y="4674868"/>
            <a:ext cx="227669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
SHAP 2위: CH1 Google 
SHAP 3위: CH2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뉴스량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
CH1이 Granger 1위 &amp; SHAP 2위
→ 두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일관성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→ CH4가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예측엔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더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강한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100E4-013E-004D-234E-16D6A7095252}"/>
              </a:ext>
            </a:extLst>
          </p:cNvPr>
          <p:cNvSpPr txBox="1"/>
          <p:nvPr/>
        </p:nvSpPr>
        <p:spPr>
          <a:xfrm>
            <a:off x="8144102" y="4278637"/>
            <a:ext cx="2757344" cy="369332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4135-F68C-02E0-4B16-D6544090B42E}"/>
              </a:ext>
            </a:extLst>
          </p:cNvPr>
          <p:cNvSpPr txBox="1"/>
          <p:nvPr/>
        </p:nvSpPr>
        <p:spPr>
          <a:xfrm>
            <a:off x="9306214" y="4400248"/>
            <a:ext cx="1394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6C3D91"/>
                </a:solidFill>
                <a:latin typeface="Calibri"/>
              </a:rPr>
              <a:t>레고</a:t>
            </a:r>
            <a:endParaRPr sz="1100" b="1" dirty="0">
              <a:solidFill>
                <a:srgbClr val="6C3D91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740B-C168-FFF4-6884-0F41FC78D8C2}"/>
              </a:ext>
            </a:extLst>
          </p:cNvPr>
          <p:cNvSpPr txBox="1"/>
          <p:nvPr/>
        </p:nvSpPr>
        <p:spPr>
          <a:xfrm>
            <a:off x="8275410" y="4647969"/>
            <a:ext cx="268032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0A0A0A"/>
                </a:solidFill>
                <a:latin typeface="Calibri"/>
              </a:rPr>
              <a:t>SHAP 1위: CH5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SHAP 2위: CH4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>
                <a:solidFill>
                  <a:srgbClr val="0A0A0A"/>
                </a:solidFill>
                <a:latin typeface="Calibri"/>
              </a:rPr>
              <a:t>뷰 
SHAP 3위: CH1 Google
Granger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없었지만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CH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4</a:t>
            </a:r>
            <a:r>
              <a:rPr sz="1100" dirty="0">
                <a:solidFill>
                  <a:srgbClr val="0A0A0A"/>
                </a:solidFill>
                <a:latin typeface="Calibri"/>
              </a:rPr>
              <a:t>, CH</a:t>
            </a:r>
            <a:r>
              <a:rPr lang="en-US" sz="1100" dirty="0">
                <a:solidFill>
                  <a:srgbClr val="0A0A0A"/>
                </a:solidFill>
                <a:latin typeface="Calibri"/>
              </a:rPr>
              <a:t>5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100" dirty="0">
                <a:solidFill>
                  <a:srgbClr val="0A0A0A"/>
                </a:solidFill>
                <a:latin typeface="Calibri"/>
              </a:rPr>
              <a:t>
→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선행성은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없으나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동시적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연관성</a:t>
            </a:r>
            <a:r>
              <a:rPr sz="110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0A0A0A"/>
                </a:solidFill>
                <a:latin typeface="Calibri"/>
              </a:rPr>
              <a:t>존재</a:t>
            </a:r>
            <a:endParaRPr sz="11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34C1-352A-0AFF-0CDD-DDD9360AC99D}"/>
              </a:ext>
            </a:extLst>
          </p:cNvPr>
          <p:cNvSpPr txBox="1"/>
          <p:nvPr/>
        </p:nvSpPr>
        <p:spPr>
          <a:xfrm>
            <a:off x="230124" y="6537960"/>
            <a:ext cx="11731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555555"/>
                </a:solidFill>
                <a:latin typeface="Calibri"/>
              </a:rPr>
              <a:t>주.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자산별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평균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|SHAP|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막대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그래프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높을수록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XGBoost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예측에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실제로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기여한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스니커즈는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CH1·CH5,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카드는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CH4·CH1,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레고는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CH5·CH4가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상위권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-&gt; Model C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선택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근거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E7BEE-774F-1A2D-714B-814CBA05EC33}"/>
              </a:ext>
            </a:extLst>
          </p:cNvPr>
          <p:cNvSpPr txBox="1"/>
          <p:nvPr/>
        </p:nvSpPr>
        <p:spPr>
          <a:xfrm>
            <a:off x="11426952" y="6537960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11 / 19</a:t>
            </a:r>
          </a:p>
        </p:txBody>
      </p:sp>
      <p:pic>
        <p:nvPicPr>
          <p:cNvPr id="17" name="Picture 34" descr="image.png">
            <a:extLst>
              <a:ext uri="{FF2B5EF4-FFF2-40B4-BE49-F238E27FC236}">
                <a16:creationId xmlns:a16="http://schemas.microsoft.com/office/drawing/2014/main" id="{BCE6363C-BE9A-1835-192D-739C42B4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00" y="1061725"/>
            <a:ext cx="10292833" cy="2755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4E92A5-CB86-D666-F94D-C640A96DC6D9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128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468" y="690372"/>
            <a:ext cx="11887200" cy="2231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8" y="1339597"/>
            <a:ext cx="11603576" cy="4565851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651430" y="6556248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55"/>
                </a:solidFill>
                <a:latin typeface="Calibri"/>
              </a:rPr>
              <a:t>12 / 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DB855-5145-757D-D1E9-E7EDE70D9463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3277A-D9DC-FD09-964F-FB69BF931EC1}"/>
              </a:ext>
            </a:extLst>
          </p:cNvPr>
          <p:cNvSpPr txBox="1"/>
          <p:nvPr/>
        </p:nvSpPr>
        <p:spPr>
          <a:xfrm>
            <a:off x="1885695" y="6042833"/>
            <a:ext cx="8420610" cy="3693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48356-15BF-401D-40A5-7EE2444F305E}"/>
              </a:ext>
            </a:extLst>
          </p:cNvPr>
          <p:cNvSpPr txBox="1"/>
          <p:nvPr/>
        </p:nvSpPr>
        <p:spPr>
          <a:xfrm>
            <a:off x="2126403" y="6150115"/>
            <a:ext cx="881169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ko-KR" sz="1200" dirty="0">
                <a:solidFill>
                  <a:schemeClr val="bg1"/>
                </a:solidFill>
              </a:rPr>
              <a:t>세 자산 모두 모델 간 AUC-ROC 차이는 최대 0.01 내외로, 채널 수를 줄여도 예측 성능이 실질적으로 유지됨을 확인</a:t>
            </a:r>
            <a:r>
              <a:rPr lang="ko-KR" altLang="ko-KR" sz="1200" dirty="0"/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322E-25B3-399C-217A-2A4ECCF7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25B3FAA-3D66-9DAA-74CE-09FC74CF1933}"/>
              </a:ext>
            </a:extLst>
          </p:cNvPr>
          <p:cNvSpPr txBox="1"/>
          <p:nvPr/>
        </p:nvSpPr>
        <p:spPr>
          <a:xfrm>
            <a:off x="1588" y="1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선별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 — DM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7A9FD-6E2B-D535-7E6D-B32891DFCDBD}"/>
              </a:ext>
            </a:extLst>
          </p:cNvPr>
          <p:cNvSpPr txBox="1"/>
          <p:nvPr/>
        </p:nvSpPr>
        <p:spPr>
          <a:xfrm>
            <a:off x="184468" y="690372"/>
            <a:ext cx="11887200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555555"/>
                </a:solidFill>
                <a:latin typeface="Calibri"/>
              </a:rPr>
              <a:t>Diebold-Mariano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검정으로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'Model A(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) = Model C(SHAP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2채널)'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가설을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통계적으로</a:t>
            </a:r>
            <a:r>
              <a:rPr sz="90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i="1" dirty="0" err="1">
                <a:solidFill>
                  <a:srgbClr val="555555"/>
                </a:solidFill>
                <a:latin typeface="Calibri"/>
              </a:rPr>
              <a:t>검증</a:t>
            </a:r>
            <a:endParaRPr sz="90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A888E-2F76-182E-74A3-9B8961DF958E}"/>
              </a:ext>
            </a:extLst>
          </p:cNvPr>
          <p:cNvSpPr txBox="1"/>
          <p:nvPr/>
        </p:nvSpPr>
        <p:spPr>
          <a:xfrm>
            <a:off x="275908" y="6510529"/>
            <a:ext cx="1175004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확인</a:t>
            </a:r>
            <a:endParaRPr sz="1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80BD43-64B5-06D3-C65A-A0DD8B913EF8}"/>
              </a:ext>
            </a:extLst>
          </p:cNvPr>
          <p:cNvSpPr txBox="1"/>
          <p:nvPr/>
        </p:nvSpPr>
        <p:spPr>
          <a:xfrm>
            <a:off x="166053" y="6247811"/>
            <a:ext cx="11997055" cy="36933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9B7E4F-C6EB-7638-824C-7143D5394DED}"/>
              </a:ext>
            </a:extLst>
          </p:cNvPr>
          <p:cNvSpPr txBox="1"/>
          <p:nvPr/>
        </p:nvSpPr>
        <p:spPr>
          <a:xfrm>
            <a:off x="-643556" y="6350319"/>
            <a:ext cx="13616269" cy="2923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300" b="1" dirty="0" err="1">
                <a:solidFill>
                  <a:srgbClr val="FFFFFF"/>
                </a:solidFill>
                <a:latin typeface="Calibri"/>
              </a:rPr>
              <a:t>확인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7" name="Picture 15" descr="image.png">
            <a:extLst>
              <a:ext uri="{FF2B5EF4-FFF2-40B4-BE49-F238E27FC236}">
                <a16:creationId xmlns:a16="http://schemas.microsoft.com/office/drawing/2014/main" id="{2F027425-9DBB-1B92-50A9-F9D9784EC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678" y="1102892"/>
            <a:ext cx="7498079" cy="3703320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651430" y="6556248"/>
            <a:ext cx="5116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dirty="0">
                <a:solidFill>
                  <a:srgbClr val="555555"/>
                </a:solidFill>
                <a:latin typeface="Calibri"/>
              </a:rPr>
              <a:t>15 / 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22B86-AEB1-1AC4-8F9F-D238FD17244E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8291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" y="1"/>
            <a:ext cx="12161520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B·C가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A와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냈는가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9" y="658368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4468" y="690373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i="1">
                <a:solidFill>
                  <a:srgbClr val="555555"/>
                </a:solidFill>
                <a:latin typeface="Calibri"/>
              </a:rPr>
              <a:t>Granger 선별(B)과 SHAP 선별(C) 모두 전채널(A)과 성능 차이 없음 — 세 가지 메커니즘으로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189" y="1024128"/>
            <a:ext cx="184731" cy="369332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916" y="1097281"/>
            <a:ext cx="357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①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간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정보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중복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9916" y="1481328"/>
            <a:ext cx="3575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CH1(Google)과 CH4(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200" dirty="0">
                <a:solidFill>
                  <a:srgbClr val="0A0A0A"/>
                </a:solidFill>
                <a:latin typeface="Calibri"/>
              </a:rPr>
              <a:t>)는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관심도'를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높은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-&gt; 한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채널로도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충분한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정보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커버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XGBoost는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이미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중복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낮은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가중치를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자동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부여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추가해도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미변화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80397" y="1024128"/>
            <a:ext cx="184731" cy="369332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0124" y="1097281"/>
            <a:ext cx="35753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② Granger ≠ SHAP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순위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불일치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90124" y="1481328"/>
            <a:ext cx="3575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Granger(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VAR)와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XGBoost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SHAP(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)은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다른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것을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CH3:
  Granger F=13.4 (1위)
  SHAP 0.011 (4위)
-&gt;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강하지만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기여는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낮음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두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지표는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상호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보완적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0605" y="1024128"/>
            <a:ext cx="184731" cy="369332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0332" y="1097281"/>
            <a:ext cx="361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F2D4E"/>
                </a:solidFill>
                <a:latin typeface="Calibri"/>
              </a:rPr>
              <a:t>③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소표본</a:t>
            </a:r>
            <a:r>
              <a:rPr sz="1200" b="1" dirty="0">
                <a:solidFill>
                  <a:srgbClr val="1F2D4E"/>
                </a:solidFill>
                <a:latin typeface="Calibri"/>
              </a:rPr>
              <a:t>(N=48) </a:t>
            </a:r>
            <a:r>
              <a:rPr sz="1200" b="1" dirty="0" err="1">
                <a:solidFill>
                  <a:srgbClr val="1F2D4E"/>
                </a:solidFill>
                <a:latin typeface="Calibri"/>
              </a:rPr>
              <a:t>효과</a:t>
            </a:r>
            <a:endParaRPr sz="12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0332" y="1481328"/>
            <a:ext cx="3611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0A0A0A"/>
                </a:solidFill>
                <a:latin typeface="Calibri"/>
              </a:rPr>
              <a:t>N=48개월의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: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간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미세한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차이를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검출할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통계적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검정력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부족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DM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p값이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0.50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이상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-&gt;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없음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'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결론이지만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없다'는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증명도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아님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N=200+이면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미세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차이도</a:t>
            </a:r>
            <a:r>
              <a:rPr sz="120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탐지</a:t>
            </a:r>
            <a:r>
              <a:rPr sz="120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A0A0A"/>
                </a:solidFill>
                <a:latin typeface="Calibri"/>
              </a:rPr>
              <a:t>가능</a:t>
            </a:r>
            <a:endParaRPr sz="120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0189" y="3547872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188" y="3630168"/>
            <a:ext cx="117317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D4E"/>
                </a:solidFill>
                <a:latin typeface="Calibri"/>
              </a:rPr>
              <a:t>자산별 해석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17057" y="4017054"/>
          <a:ext cx="11622023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5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B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(Granger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C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(SHAP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인사이트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(-0.005)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나머지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4채널도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잔여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CH1+CH5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(-0.001)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파악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(CH3)과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(CH1·CH5)이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!=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예측력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(-0.004)
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1개로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유지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CH4+CH1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오히려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CH4의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잠재력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발견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Granger·SHAP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중요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일관성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두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방법론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B = A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불가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CH5+CH4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(+0.003)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(Granger)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(SHAP)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동시적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연관성만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있음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85868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dirty="0">
                <a:solidFill>
                  <a:srgbClr val="555555"/>
                </a:solidFill>
                <a:latin typeface="Calibri"/>
              </a:rPr>
              <a:t>14 / 19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5F943-4776-AA36-06E2-7C9C7C59F786}"/>
              </a:ext>
            </a:extLst>
          </p:cNvPr>
          <p:cNvSpPr txBox="1"/>
          <p:nvPr/>
        </p:nvSpPr>
        <p:spPr>
          <a:xfrm>
            <a:off x="1589" y="430887"/>
            <a:ext cx="184731" cy="3693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 제한점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과도한 일반화를 막기 위해 한계를 투명하게 명시 — 탐색적 발견으로 한정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1417320"/>
          </a:xfrm>
          <a:prstGeom prst="roundRect">
            <a:avLst/>
          </a:prstGeom>
          <a:solidFill>
            <a:srgbClr val="F8D7DA"/>
          </a:solidFill>
          <a:ln w="12700">
            <a:solidFill>
              <a:srgbClr val="B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B23B3B"/>
                </a:solidFill>
                <a:latin typeface="맑은 고딕"/>
                <a:ea typeface="맑은 고딕"/>
                <a:cs typeface="맑은 고딕"/>
              </a:rPr>
              <a:t>소표본 (N=48)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자산별 48개월 — 검정력 낮음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탐색적 해석 · 검정력 명시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1887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스니커즈 CH1 약정상성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차분 후도 p=0.120 경계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해석 시 주의 명시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7616" y="11887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CH3 도메인 특화도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GDELT tone(자동추출) 대체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민감도 분석·한계 명시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88920"/>
            <a:ext cx="3749039" cy="1417320"/>
          </a:xfrm>
          <a:prstGeom prst="roundRect">
            <a:avLst/>
          </a:prstGeom>
          <a:solidFill>
            <a:srgbClr val="FBEEDD"/>
          </a:solidFill>
          <a:ln w="12700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레고 GT 0주 비율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Porsche·Bugatti 0값 많음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강한 결론 배제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788920"/>
            <a:ext cx="3749039" cy="14173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단일 플랫폼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YouTube만 — Tiktok·X 제외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향후 연구 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2788920"/>
            <a:ext cx="3749039" cy="14173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z-score 데이터 누출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전체 패널 fit (fold별 X)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대응  </a:t>
            </a:r>
            <a:r>
              <a:rPr sz="10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N=48 영향 미미·명시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526280"/>
            <a:ext cx="11612880" cy="64008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DH 패널 · VAR 블록 교차검증으로 결과를 스스로 검증 → 확증이 아닌 ‘검증할 가설’로 제시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64592" cy="13716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2743200" cy="12801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697480"/>
            <a:ext cx="8046720" cy="82296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&amp; 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3611880"/>
            <a:ext cx="804672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연구문제별 결론 · 실무 함의 · 향후 연구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· 연구문제별 답변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Granger → Jaccard → XGBoost+DM, 세 단계 분석의 핵심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28016" cy="132588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4416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미디어가 가격을 선행하는가?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0136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스니커즈 CH3(F=13.4)·CH4·CH1 · 카드 CH1(F=8.4) 유의 (p&lt;0.05, 4개)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90472"/>
            <a:ext cx="3474720" cy="822960"/>
          </a:xfrm>
          <a:prstGeom prst="roundRect">
            <a:avLst/>
          </a:prstGeom>
          <a:solidFill>
            <a:srgbClr val="EAF1F8"/>
          </a:solidFill>
          <a:ln w="15875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부분 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9748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128016" cy="1325880"/>
          </a:xfrm>
          <a:prstGeom prst="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선행 채널 구성이 자산마다 다른가?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6440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Jaccard 모두 &lt;0.6 (스–카 0.33, 그 외 0) — 자산별 채널 이질성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953512"/>
            <a:ext cx="3474720" cy="822960"/>
          </a:xfrm>
          <a:prstGeom prst="roundRect">
            <a:avLst/>
          </a:prstGeom>
          <a:solidFill>
            <a:srgbClr val="E7F2EC"/>
          </a:solidFill>
          <a:ln w="15875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7A4A"/>
                </a:solidFill>
                <a:latin typeface="맑은 고딕"/>
                <a:ea typeface="맑은 고딕"/>
                <a:cs typeface="맑은 고딕"/>
              </a:rPr>
              <a:t>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60520"/>
            <a:ext cx="11430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28016" cy="1325880"/>
          </a:xfrm>
          <a:prstGeom prst="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1280160" cy="1325880"/>
          </a:xfrm>
          <a:prstGeom prst="rect">
            <a:avLst/>
          </a:prstGeom>
          <a:noFill/>
        </p:spPr>
        <p:txBody>
          <a:bodyPr wrap="square" lIns="63500" tIns="38100" rIns="63500" bIns="381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70248"/>
            <a:ext cx="5943600" cy="45720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선별 모델이 전채널과 동등한가?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727448"/>
            <a:ext cx="6035040" cy="6400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DM p&gt;0.50 (스 0.678·카 0.504·레 0.646) — 2채널로 5채널 동등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416552"/>
            <a:ext cx="3474720" cy="822960"/>
          </a:xfrm>
          <a:prstGeom prst="roundRect">
            <a:avLst/>
          </a:prstGeom>
          <a:solidFill>
            <a:srgbClr val="EFEAF5"/>
          </a:solidFill>
          <a:ln w="15875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C3D91"/>
                </a:solidFill>
                <a:latin typeface="맑은 고딕"/>
                <a:ea typeface="맑은 고딕"/>
                <a:cs typeface="맑은 고딕"/>
              </a:rPr>
              <a:t>동등(간결성)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623560"/>
            <a:ext cx="11430000" cy="68580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D9A0"/>
                </a:solidFill>
                <a:latin typeface="맑은 고딕"/>
                <a:ea typeface="맑은 고딕"/>
                <a:cs typeface="맑은 고딕"/>
              </a:rPr>
              <a:t>핵심  </a:t>
            </a: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선행성은 자산별로 분화 — 스니커즈는 뉴스감성, 카드는 검색량이 핵심 선행 채널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시사점 &amp; 향후 연구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탐색적 발견의 실무 함의와 확증 연구로의 발전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3749039" cy="237744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3749039" cy="54864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투자자·수집가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검색 관심도(CH1)를 1–2개월 선행 보조지표로 모니터링 — 기계적 신호가 아닌 종합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234440"/>
            <a:ext cx="3749039" cy="2377440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24528" y="1234440"/>
            <a:ext cx="3749039" cy="54864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리셀 플랫폼 운영자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자산별 맞춤 피처 · Granger 선별 채널 중심 구성 시 예측력 유지하며 비용 절감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234440"/>
            <a:ext cx="3749039" cy="2377440"/>
          </a:xfrm>
          <a:prstGeom prst="roundRect">
            <a:avLst/>
          </a:prstGeom>
          <a:solidFill>
            <a:srgbClr val="EFEAF5"/>
          </a:solidFill>
          <a:ln w="12700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74736" y="1234440"/>
            <a:ext cx="3749039" cy="54864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학술 연구자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920240"/>
            <a:ext cx="3383279" cy="15544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‘공개데이터 → Granger 선별 → XGBoost+SHAP+DM’ 파이프라인은 명품·시계 등으로 확장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886200"/>
            <a:ext cx="116128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27000" rIns="63500" bIns="3810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772E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①  더 긴 패널(5년+)·아이템 확대로 검정력 강화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②  CH3를 도메인 특화 FinBERT로 대체해 감성 신호 품질 개선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③  월별 → 주별 고빈도 분석 · 드롭/한정판 이벤트 효과 통제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④  SPA/MCS 다중모형 비교 · 사전등록(pre-registration)으로 확증 연구화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8100" rIns="63500" bIns="381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참고 문헌 (References)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3657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11887200" cy="310896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주요 인용 · 데이터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47104"/>
            <a:ext cx="685800" cy="27432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미디어·감성 → 자산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Tetlock (2007), JF 62(3)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11095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Da, Engelberg &amp; Gao (2011), JF 66(5)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951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Bollen, Mao &amp; Zeng (2011), J.Comp.Sci 2(1)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Antweiler &amp; Frank (2004), JF 59(3)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Loughran &amp; McDonald (2011), JF 66(1)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7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계량·통계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Granger (1969), Econometrica 37(3)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Dickey &amp; Fuller (1979), JASA 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45736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Diebold &amp; Mariano (1995), JBES 13(3)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9783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Akaike (1974), IEEE TAC 19(6)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14300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머신러닝·NLP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2704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Chen &amp; Guestrin (2016), KDD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11095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Lundberg &amp; Lee (2017), NeurIPS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951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Araci (2019), FinBERT arXiv:1908.10063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791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Huang et al. (2023), 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63239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209544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대안자산·수집품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593591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Dobrynskaya &amp; Kishilova (2022), RIBF 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77639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Campello/Raditya et al. (2021), Procedia 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61688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4507992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E6DA4"/>
                </a:solidFill>
                <a:latin typeface="맑은 고딕"/>
                <a:ea typeface="맑은 고딕"/>
                <a:cs typeface="맑은 고딕"/>
              </a:rPr>
              <a:t>데이터 출처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92040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StockX · PriceCharting · BrickRanker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276088"/>
            <a:ext cx="5486400" cy="292608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Google Trends · GDELT · YouTube Data API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0515600" cy="54864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BC4D0"/>
                </a:solidFill>
                <a:latin typeface="맑은 고딕"/>
                <a:ea typeface="맑은 고딕"/>
                <a:cs typeface="맑은 고딕"/>
              </a:rPr>
              <a:t>리셀 시장 미디어 선행 지표 연구 — 스니커즈 · 트레이딩 카드 · 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 lIns="63500" tIns="38100" rIns="63500" bIns="381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FA0B5"/>
                </a:solidFill>
                <a:latin typeface="맑은 고딕"/>
                <a:ea typeface="맑은 고딕"/>
                <a:cs typeface="맑은 고딕"/>
              </a:rPr>
              <a:t>이승현 · 윤재은 · 최형호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3046</Words>
  <Application>Microsoft Office PowerPoint</Application>
  <PresentationFormat>와이드스크린</PresentationFormat>
  <Paragraphs>454</Paragraphs>
  <Slides>29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2026-06-09T02:55:16Z</dcterms:modified>
  <cp:category/>
</cp:coreProperties>
</file>