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SHAP이 밝힌 것 — 채널 선택 기준은 '평균(기준 점선)'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채널 5개 SHAP의 평균에 점선을 긋고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그 위(★)만 선택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 — 반 평균 점수와 같은 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07008"/>
            <a:ext cx="11640312" cy="334670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05" y="1298448"/>
            <a:ext cx="8805740" cy="31638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700016"/>
            <a:ext cx="3758184" cy="148132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4700016"/>
            <a:ext cx="3758184" cy="36576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18304"/>
            <a:ext cx="3758184" cy="32918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스니커즈  →  선택 3개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" y="5138928"/>
            <a:ext cx="3465576" cy="969264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2E6DA4"/>
                </a:solidFill>
                <a:latin typeface="맑은 고딕"/>
              </a:rPr>
              <a:t>★ </a:t>
            </a:r>
            <a:r>
              <a:rPr sz="1050" b="1">
                <a:solidFill>
                  <a:srgbClr val="1F2D4E"/>
                </a:solidFill>
                <a:latin typeface="맑은 고딕"/>
              </a:rPr>
              <a:t>CH1 Google Trends</a:t>
            </a:r>
            <a:r>
              <a:rPr sz="1000" b="0">
                <a:solidFill>
                  <a:srgbClr val="444444"/>
                </a:solidFill>
                <a:latin typeface="맑은 고딕"/>
              </a:rPr>
              <a:t>  (0.125)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2E6DA4"/>
                </a:solidFill>
                <a:latin typeface="맑은 고딕"/>
              </a:rPr>
              <a:t>★ </a:t>
            </a:r>
            <a:r>
              <a:rPr sz="1050" b="1">
                <a:solidFill>
                  <a:srgbClr val="1F2D4E"/>
                </a:solidFill>
                <a:latin typeface="맑은 고딕"/>
              </a:rPr>
              <a:t>CH5 YT 댓글감성</a:t>
            </a:r>
            <a:r>
              <a:rPr sz="1000" b="0">
                <a:solidFill>
                  <a:srgbClr val="444444"/>
                </a:solidFill>
                <a:latin typeface="맑은 고딕"/>
              </a:rPr>
              <a:t>  (0.124)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2E6DA4"/>
                </a:solidFill>
                <a:latin typeface="맑은 고딕"/>
              </a:rPr>
              <a:t>★ </a:t>
            </a:r>
            <a:r>
              <a:rPr sz="1050" b="1">
                <a:solidFill>
                  <a:srgbClr val="1F2D4E"/>
                </a:solidFill>
                <a:latin typeface="맑은 고딕"/>
              </a:rPr>
              <a:t>CH4 YT 조회수</a:t>
            </a:r>
            <a:r>
              <a:rPr sz="1000" b="0">
                <a:solidFill>
                  <a:srgbClr val="444444"/>
                </a:solidFill>
                <a:latin typeface="맑은 고딕"/>
              </a:rPr>
              <a:t>  (0.080)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DM vs 전채널  p=</a:t>
            </a:r>
            <a:r>
              <a:rPr sz="950" b="1">
                <a:solidFill>
                  <a:srgbClr val="1E7E34"/>
                </a:solidFill>
                <a:latin typeface="맑은 고딕"/>
              </a:rPr>
              <a:t>0.057</a:t>
            </a:r>
            <a:r>
              <a:rPr sz="950" b="0">
                <a:solidFill>
                  <a:srgbClr val="0A0A0A"/>
                </a:solidFill>
                <a:latin typeface="맑은 고딕"/>
              </a:rPr>
              <a:t> → 동등 (경계)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5384" y="4700016"/>
            <a:ext cx="3758184" cy="148132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15384" y="4700016"/>
            <a:ext cx="3758184" cy="36576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15384" y="4718304"/>
            <a:ext cx="3758184" cy="32918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카드  →  선택 2개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5138928"/>
            <a:ext cx="3465576" cy="969264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2E6DA4"/>
                </a:solidFill>
                <a:latin typeface="맑은 고딕"/>
              </a:rPr>
              <a:t>★ </a:t>
            </a:r>
            <a:r>
              <a:rPr sz="1050" b="1">
                <a:solidFill>
                  <a:srgbClr val="1F2D4E"/>
                </a:solidFill>
                <a:latin typeface="맑은 고딕"/>
              </a:rPr>
              <a:t>CH4 YT 조회수</a:t>
            </a:r>
            <a:r>
              <a:rPr sz="1000" b="0">
                <a:solidFill>
                  <a:srgbClr val="444444"/>
                </a:solidFill>
                <a:latin typeface="맑은 고딕"/>
              </a:rPr>
              <a:t>  (0.091)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2E6DA4"/>
                </a:solidFill>
                <a:latin typeface="맑은 고딕"/>
              </a:rPr>
              <a:t>★ </a:t>
            </a:r>
            <a:r>
              <a:rPr sz="1050" b="1">
                <a:solidFill>
                  <a:srgbClr val="1F2D4E"/>
                </a:solidFill>
                <a:latin typeface="맑은 고딕"/>
              </a:rPr>
              <a:t>CH1 Google Trends</a:t>
            </a:r>
            <a:r>
              <a:rPr sz="1000" b="0">
                <a:solidFill>
                  <a:srgbClr val="444444"/>
                </a:solidFill>
                <a:latin typeface="맑은 고딕"/>
              </a:rPr>
              <a:t>  (0.048)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DM vs 전채널  p=</a:t>
            </a:r>
            <a:r>
              <a:rPr sz="950" b="1">
                <a:solidFill>
                  <a:srgbClr val="1E7E34"/>
                </a:solidFill>
                <a:latin typeface="맑은 고딕"/>
              </a:rPr>
              <a:t>0.355</a:t>
            </a:r>
            <a:r>
              <a:rPr sz="950" b="0">
                <a:solidFill>
                  <a:srgbClr val="0A0A0A"/>
                </a:solidFill>
                <a:latin typeface="맑은 고딕"/>
              </a:rPr>
              <a:t> → 동등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4700016"/>
            <a:ext cx="3758184" cy="1481328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4700016"/>
            <a:ext cx="3758184" cy="365760"/>
          </a:xfrm>
          <a:prstGeom prst="round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4718304"/>
            <a:ext cx="3758184" cy="329184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레고  →  선택 2개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5138928"/>
            <a:ext cx="3465576" cy="969264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2E6DA4"/>
                </a:solidFill>
                <a:latin typeface="맑은 고딕"/>
              </a:rPr>
              <a:t>★ </a:t>
            </a:r>
            <a:r>
              <a:rPr sz="1050" b="1">
                <a:solidFill>
                  <a:srgbClr val="1F2D4E"/>
                </a:solidFill>
                <a:latin typeface="맑은 고딕"/>
              </a:rPr>
              <a:t>CH4 YT 조회수</a:t>
            </a:r>
            <a:r>
              <a:rPr sz="1000" b="0">
                <a:solidFill>
                  <a:srgbClr val="444444"/>
                </a:solidFill>
                <a:latin typeface="맑은 고딕"/>
              </a:rPr>
              <a:t>  (0.070)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2E6DA4"/>
                </a:solidFill>
                <a:latin typeface="맑은 고딕"/>
              </a:rPr>
              <a:t>★ </a:t>
            </a:r>
            <a:r>
              <a:rPr sz="1050" b="1">
                <a:solidFill>
                  <a:srgbClr val="1F2D4E"/>
                </a:solidFill>
                <a:latin typeface="맑은 고딕"/>
              </a:rPr>
              <a:t>CH1 Google Trends</a:t>
            </a:r>
            <a:r>
              <a:rPr sz="1000" b="0">
                <a:solidFill>
                  <a:srgbClr val="444444"/>
                </a:solidFill>
                <a:latin typeface="맑은 고딕"/>
              </a:rPr>
              <a:t>  (0.036)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DM vs 전채널  p=</a:t>
            </a:r>
            <a:r>
              <a:rPr sz="950" b="1">
                <a:solidFill>
                  <a:srgbClr val="1E7E34"/>
                </a:solidFill>
                <a:latin typeface="맑은 고딕"/>
              </a:rPr>
              <a:t>0.390</a:t>
            </a:r>
            <a:r>
              <a:rPr sz="950" b="0">
                <a:solidFill>
                  <a:srgbClr val="0A0A0A"/>
                </a:solidFill>
                <a:latin typeface="맑은 고딕"/>
              </a:rPr>
              <a:t> → 동등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" y="6272784"/>
            <a:ext cx="11640312" cy="237744"/>
          </a:xfrm>
          <a:prstGeom prst="rect">
            <a:avLst/>
          </a:prstGeom>
          <a:noFill/>
        </p:spPr>
        <p:txBody>
          <a:bodyPr wrap="square" anchor="t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44444"/>
                </a:solidFill>
                <a:latin typeface="맑은 고딕"/>
              </a:rPr>
              <a:t>※ 값 = Model A SHAP 기여도(전채널 동시 투입) · 선택 기준 = </a:t>
            </a:r>
            <a:r>
              <a:rPr sz="950" b="1">
                <a:solidFill>
                  <a:srgbClr val="2E6DA4"/>
                </a:solidFill>
                <a:latin typeface="맑은 고딕"/>
              </a:rPr>
              <a:t>평균 중요도 임계값 (scikit-learn SelectFromModel 기본값 threshold='mean')</a:t>
            </a:r>
            <a:r>
              <a:rPr sz="950" b="0">
                <a:solidFill>
                  <a:srgbClr val="444444"/>
                </a:solidFill>
                <a:latin typeface="맑은 고딕"/>
              </a:rPr>
              <a:t> · Wang et al. (2024), J. Big Data 11:44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382512"/>
            <a:ext cx="11640312" cy="36576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6382512"/>
            <a:ext cx="11365992" cy="36576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 </a:t>
            </a:r>
            <a:r>
              <a:rPr sz="1150" b="1">
                <a:solidFill>
                  <a:srgbClr val="FFFFFF"/>
                </a:solidFill>
                <a:latin typeface="맑은 고딕"/>
              </a:rPr>
              <a:t>'평균(기준 점선)보다 기여가 큰 채널만 남긴다'</a:t>
            </a:r>
            <a:r>
              <a:rPr sz="1150" b="0">
                <a:solidFill>
                  <a:srgbClr val="FFFFFF"/>
                </a:solidFill>
                <a:latin typeface="맑은 고딕"/>
              </a:rPr>
              <a:t>는 객관적 규칙 → 선별 모델이 전채널과 통계적으로 동등 → 간결성 입증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