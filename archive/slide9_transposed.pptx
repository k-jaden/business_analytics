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FFFFFF"/>
                </a:solidFill>
                <a:latin typeface="Calibri"/>
              </a:rPr>
              <a:t>  RQ3 — 모델 설계 요약 (A / B /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555555"/>
                </a:solidFill>
                <a:latin typeface="Calibri"/>
              </a:rPr>
              <a:t>평가지표: AUC-ROC  |  교차검증: TimeSeriesSplit(n_splits=5)  |  통제 피처 공통: price_vs_ma3, price_chg_lag1~lag3  |  모델: XGBClassifier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8056" y="1005840"/>
          <a:ext cx="1129283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874519"/>
                <a:gridCol w="2514600"/>
                <a:gridCol w="1828800"/>
                <a:gridCol w="1417320"/>
                <a:gridCol w="2148840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</a:p>
                  </a:txBody>
                  <a:tcPr>
                    <a:solidFill>
                      <a:srgbClr val="1F2D4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투입 채널</a:t>
                      </a:r>
                    </a:p>
                  </a:txBody>
                  <a:tcPr>
                    <a:solidFill>
                      <a:srgbClr val="1F2D4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자산별
선별 채널</a:t>
                      </a:r>
                    </a:p>
                  </a:txBody>
                  <a:tcPr>
                    <a:solidFill>
                      <a:srgbClr val="1F2D4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통제 피처</a:t>
                      </a:r>
                    </a:p>
                  </a:txBody>
                  <a:tcPr>
                    <a:solidFill>
                      <a:srgbClr val="1F2D4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교차검증</a:t>
                      </a:r>
                    </a:p>
                  </a:txBody>
                  <a:tcPr>
                    <a:solidFill>
                      <a:srgbClr val="1F2D4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비교 방식</a:t>
                      </a:r>
                    </a:p>
                  </a:txBody>
                  <a:tcPr>
                    <a:solidFill>
                      <a:srgbClr val="1F2D4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1682496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모델 A  (전채널)</a:t>
                      </a:r>
                    </a:p>
                  </a:txBody>
                  <a:tcPr>
                    <a:solidFill>
                      <a:srgbClr val="1F2D4E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통제 피처
+ CH1~CH5 전부
(5채널)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모두 동일
(5채널 전부)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price_vs_ma3
price_chg_lag1~lag3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TimeSeriesSplit
(n_splits=5)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기준 모델
(베이스라인)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1682496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모델 B  (Granger 선별)</a:t>
                      </a:r>
                    </a:p>
                  </a:txBody>
                  <a:tcPr>
                    <a:solidFill>
                      <a:srgbClr val="E87722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통제 피처
+ Granger 유의 채널만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스니커즈: CH3
카드: CH1
레고: (없음)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A 대비 AUC
직접 비교</a:t>
                      </a:r>
                    </a:p>
                  </a:txBody>
                  <a:tcPr>
                    <a:solidFill>
                      <a:srgbClr val="FFFFFF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1682496"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모델 C  (SHAP 선별)</a:t>
                      </a:r>
                    </a:p>
                  </a:txBody>
                  <a:tcPr>
                    <a:solidFill>
                      <a:srgbClr val="2E6DA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통제 피처
+ SHAP 상위
2채널만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스니커즈: CH1+CH5
카드: CH4+CH1
레고: CH5+CH4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444444"/>
                          </a:solidFill>
                          <a:latin typeface="Calibri"/>
                        </a:rPr>
                        <a:t>A 대비
Diebold-Mariano 검정</a:t>
                      </a:r>
                    </a:p>
                  </a:txBody>
                  <a:tcPr>
                    <a:solidFill>
                      <a:srgbClr val="F4F6F9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8056" y="6565392"/>
            <a:ext cx="11292840" cy="228600"/>
          </a:xfrm>
          <a:prstGeom prst="rect">
            <a:avLst/>
          </a:prstGeom>
          <a:solidFill>
            <a:srgbClr val="EFF2F7"/>
          </a:solidFill>
          <a:ln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pPr algn="l"/>
            <a:r>
              <a:rPr sz="800" i="1">
                <a:solidFill>
                  <a:srgbClr val="444444"/>
                </a:solidFill>
                <a:latin typeface="Calibri"/>
              </a:rPr>
              <a:t>■ 네이비 = 모델 A  ■ 오렌지 = 모델 B  ■ 블루 = 모델 C  |  B 스니커즈: CH3만 유의 (BH 보정 기준)  |  레고 B: 유의 채널 없음 → B =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