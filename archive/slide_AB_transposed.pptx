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6" d="100"/>
          <a:sy n="76" d="100"/>
        </p:scale>
        <p:origin x="282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12188952" cy="621792"/>
          </a:xfrm>
          <a:prstGeom prst="rect">
            <a:avLst/>
          </a:prstGeom>
          <a:solidFill>
            <a:srgbClr val="1F2D4E"/>
          </a:solidFill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Calibri"/>
              </a:rPr>
              <a:t>  RQ3 — Model A vs Model B AUC 비교 (행/열 전치)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21792"/>
            <a:ext cx="12188952" cy="20116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2880" y="658368"/>
            <a:ext cx="11887200" cy="25603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900" i="1">
                <a:solidFill>
                  <a:srgbClr val="555555"/>
                </a:solidFill>
                <a:latin typeface="Calibri"/>
              </a:rPr>
              <a:t>A=전채널(CH1~5+가격래그)  |  B=Granger raw p&lt;0.05 유의 채널  |  스니커즈B: CH3 / 카드B: CH1 / 레고B: 없음 (→ B=A)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8179536"/>
              </p:ext>
            </p:extLst>
          </p:nvPr>
        </p:nvGraphicFramePr>
        <p:xfrm>
          <a:off x="993857" y="2319002"/>
          <a:ext cx="6800615" cy="23485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969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45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45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45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1668"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1F2D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스니커즈</a:t>
                      </a:r>
                    </a:p>
                  </a:txBody>
                  <a:tcPr>
                    <a:solidFill>
                      <a:srgbClr val="1F2D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카드</a:t>
                      </a:r>
                    </a:p>
                  </a:txBody>
                  <a:tcPr>
                    <a:solidFill>
                      <a:srgbClr val="1F2D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레고</a:t>
                      </a:r>
                    </a:p>
                  </a:txBody>
                  <a:tcPr>
                    <a:solidFill>
                      <a:srgbClr val="1F2D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7085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2D4E"/>
                          </a:solidFill>
                          <a:latin typeface="Calibri"/>
                        </a:rPr>
                        <a:t>모델 A AUC
(전채널 5개)</a:t>
                      </a:r>
                    </a:p>
                  </a:txBody>
                  <a:tcPr>
                    <a:solidFill>
                      <a:srgbClr val="D8DF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333333"/>
                          </a:solidFill>
                          <a:latin typeface="Calibri"/>
                        </a:rPr>
                        <a:t>0.841</a:t>
                      </a:r>
                    </a:p>
                  </a:txBody>
                  <a:tcPr>
                    <a:solidFill>
                      <a:srgbClr val="D0E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333333"/>
                          </a:solidFill>
                          <a:latin typeface="Calibri"/>
                        </a:rPr>
                        <a:t>0.859</a:t>
                      </a:r>
                    </a:p>
                  </a:txBody>
                  <a:tcPr>
                    <a:solidFill>
                      <a:srgbClr val="D4ED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333333"/>
                          </a:solidFill>
                          <a:latin typeface="Calibri"/>
                        </a:rPr>
                        <a:t>0.960</a:t>
                      </a:r>
                    </a:p>
                  </a:txBody>
                  <a:tcPr>
                    <a:solidFill>
                      <a:srgbClr val="FDF3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7085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2D4E"/>
                          </a:solidFill>
                          <a:latin typeface="Calibri"/>
                        </a:rPr>
                        <a:t>모델 B AUC
(Granger 선별)</a:t>
                      </a:r>
                    </a:p>
                  </a:txBody>
                  <a:tcPr>
                    <a:solidFill>
                      <a:srgbClr val="D8DF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333333"/>
                          </a:solidFill>
                          <a:latin typeface="Calibri"/>
                        </a:rPr>
                        <a:t>0.836</a:t>
                      </a:r>
                    </a:p>
                  </a:txBody>
                  <a:tcPr>
                    <a:solidFill>
                      <a:srgbClr val="D0E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333333"/>
                          </a:solidFill>
                          <a:latin typeface="Calibri"/>
                        </a:rPr>
                        <a:t>0.855</a:t>
                      </a:r>
                    </a:p>
                  </a:txBody>
                  <a:tcPr>
                    <a:solidFill>
                      <a:srgbClr val="D4ED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333333"/>
                          </a:solidFill>
                          <a:latin typeface="Calibri"/>
                        </a:rPr>
                        <a:t>0.960</a:t>
                      </a:r>
                    </a:p>
                  </a:txBody>
                  <a:tcPr>
                    <a:solidFill>
                      <a:srgbClr val="FDF3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7085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2D4E"/>
                          </a:solidFill>
                          <a:latin typeface="Calibri"/>
                        </a:rPr>
                        <a:t>ΔAUC
(B−A)</a:t>
                      </a:r>
                    </a:p>
                  </a:txBody>
                  <a:tcPr>
                    <a:solidFill>
                      <a:srgbClr val="D8DF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C00000"/>
                          </a:solidFill>
                          <a:latin typeface="Calibri"/>
                        </a:rPr>
                        <a:t>−0.005</a:t>
                      </a:r>
                    </a:p>
                  </a:txBody>
                  <a:tcPr>
                    <a:solidFill>
                      <a:srgbClr val="D0E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C00000"/>
                          </a:solidFill>
                          <a:latin typeface="Calibri"/>
                        </a:rPr>
                        <a:t>−0.004</a:t>
                      </a:r>
                    </a:p>
                  </a:txBody>
                  <a:tcPr>
                    <a:solidFill>
                      <a:srgbClr val="D4ED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666666"/>
                          </a:solidFill>
                          <a:latin typeface="Calibri"/>
                        </a:rPr>
                        <a:t>0.000</a:t>
                      </a:r>
                    </a:p>
                  </a:txBody>
                  <a:tcPr>
                    <a:solidFill>
                      <a:srgbClr val="FDF3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1156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2D4E"/>
                          </a:solidFill>
                          <a:latin typeface="Calibri"/>
                        </a:rPr>
                        <a:t>해석</a:t>
                      </a:r>
                    </a:p>
                  </a:txBody>
                  <a:tcPr>
                    <a:solidFill>
                      <a:srgbClr val="D8DF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333333"/>
                          </a:solidFill>
                          <a:latin typeface="Calibri"/>
                        </a:rPr>
                        <a:t>Granger </a:t>
                      </a:r>
                      <a:r>
                        <a:rPr sz="1100" b="0" dirty="0" err="1">
                          <a:solidFill>
                            <a:srgbClr val="333333"/>
                          </a:solidFill>
                          <a:latin typeface="Calibri"/>
                        </a:rPr>
                        <a:t>유의</a:t>
                      </a:r>
                      <a:r>
                        <a:rPr sz="1100" b="0" dirty="0">
                          <a:solidFill>
                            <a:srgbClr val="333333"/>
                          </a:solidFill>
                          <a:latin typeface="Calibri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333333"/>
                          </a:solidFill>
                          <a:latin typeface="Calibri"/>
                        </a:rPr>
                        <a:t>채널</a:t>
                      </a:r>
                      <a:r>
                        <a:rPr sz="1100" b="0" dirty="0">
                          <a:solidFill>
                            <a:srgbClr val="333333"/>
                          </a:solidFill>
                          <a:latin typeface="Calibri"/>
                        </a:rPr>
                        <a:t>(CH3)만
</a:t>
                      </a:r>
                      <a:r>
                        <a:rPr sz="1100" b="0" dirty="0" err="1">
                          <a:solidFill>
                            <a:srgbClr val="333333"/>
                          </a:solidFill>
                          <a:latin typeface="Calibri"/>
                        </a:rPr>
                        <a:t>투입해도</a:t>
                      </a:r>
                      <a:r>
                        <a:rPr sz="1100" b="0" dirty="0">
                          <a:solidFill>
                            <a:srgbClr val="333333"/>
                          </a:solidFill>
                          <a:latin typeface="Calibri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333333"/>
                          </a:solidFill>
                          <a:latin typeface="Calibri"/>
                        </a:rPr>
                        <a:t>성능</a:t>
                      </a:r>
                      <a:r>
                        <a:rPr sz="1100" b="0" dirty="0">
                          <a:solidFill>
                            <a:srgbClr val="333333"/>
                          </a:solidFill>
                          <a:latin typeface="Calibri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333333"/>
                          </a:solidFill>
                          <a:latin typeface="Calibri"/>
                        </a:rPr>
                        <a:t>소폭</a:t>
                      </a:r>
                      <a:r>
                        <a:rPr sz="1100" b="0" dirty="0">
                          <a:solidFill>
                            <a:srgbClr val="333333"/>
                          </a:solidFill>
                          <a:latin typeface="Calibri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333333"/>
                          </a:solidFill>
                          <a:latin typeface="Calibri"/>
                        </a:rPr>
                        <a:t>하락만</a:t>
                      </a:r>
                      <a:endParaRPr sz="1100" b="0" dirty="0">
                        <a:solidFill>
                          <a:srgbClr val="333333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D0E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Granger 유의 채널(CH1)만
투입 → A와 거의 동등</a:t>
                      </a:r>
                    </a:p>
                  </a:txBody>
                  <a:tcPr>
                    <a:solidFill>
                      <a:srgbClr val="D4ED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333333"/>
                          </a:solidFill>
                          <a:latin typeface="Calibri"/>
                        </a:rPr>
                        <a:t>Granger </a:t>
                      </a:r>
                      <a:r>
                        <a:rPr sz="1100" b="0" dirty="0" err="1">
                          <a:solidFill>
                            <a:srgbClr val="333333"/>
                          </a:solidFill>
                          <a:latin typeface="Calibri"/>
                        </a:rPr>
                        <a:t>유의</a:t>
                      </a:r>
                      <a:r>
                        <a:rPr sz="1100" b="0" dirty="0">
                          <a:solidFill>
                            <a:srgbClr val="333333"/>
                          </a:solidFill>
                          <a:latin typeface="Calibri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333333"/>
                          </a:solidFill>
                          <a:latin typeface="Calibri"/>
                        </a:rPr>
                        <a:t>채널</a:t>
                      </a:r>
                      <a:r>
                        <a:rPr sz="1100" b="0" dirty="0">
                          <a:solidFill>
                            <a:srgbClr val="333333"/>
                          </a:solidFill>
                          <a:latin typeface="Calibri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333333"/>
                          </a:solidFill>
                          <a:latin typeface="Calibri"/>
                        </a:rPr>
                        <a:t>없음</a:t>
                      </a:r>
                      <a:r>
                        <a:rPr sz="1100" b="0" dirty="0">
                          <a:solidFill>
                            <a:srgbClr val="333333"/>
                          </a:solidFill>
                          <a:latin typeface="Calibri"/>
                        </a:rPr>
                        <a:t>
→ </a:t>
                      </a:r>
                      <a:r>
                        <a:rPr sz="1100" b="0" dirty="0" err="1">
                          <a:solidFill>
                            <a:srgbClr val="333333"/>
                          </a:solidFill>
                          <a:latin typeface="Calibri"/>
                        </a:rPr>
                        <a:t>A와</a:t>
                      </a:r>
                      <a:r>
                        <a:rPr sz="1100" b="0" dirty="0">
                          <a:solidFill>
                            <a:srgbClr val="333333"/>
                          </a:solidFill>
                          <a:latin typeface="Calibri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333333"/>
                          </a:solidFill>
                          <a:latin typeface="Calibri"/>
                        </a:rPr>
                        <a:t>동일</a:t>
                      </a:r>
                      <a:r>
                        <a:rPr sz="1100" b="0" dirty="0">
                          <a:solidFill>
                            <a:srgbClr val="333333"/>
                          </a:solidFill>
                          <a:latin typeface="Calibri"/>
                        </a:rPr>
                        <a:t> (</a:t>
                      </a:r>
                      <a:r>
                        <a:rPr sz="1100" b="0" dirty="0" err="1">
                          <a:solidFill>
                            <a:srgbClr val="333333"/>
                          </a:solidFill>
                          <a:latin typeface="Calibri"/>
                        </a:rPr>
                        <a:t>채널</a:t>
                      </a:r>
                      <a:r>
                        <a:rPr sz="1100" b="0" dirty="0">
                          <a:solidFill>
                            <a:srgbClr val="333333"/>
                          </a:solidFill>
                          <a:latin typeface="Calibri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333333"/>
                          </a:solidFill>
                          <a:latin typeface="Calibri"/>
                        </a:rPr>
                        <a:t>제외</a:t>
                      </a:r>
                      <a:r>
                        <a:rPr sz="1100" b="0" dirty="0">
                          <a:solidFill>
                            <a:srgbClr val="333333"/>
                          </a:solidFill>
                          <a:latin typeface="Calibri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333333"/>
                          </a:solidFill>
                          <a:latin typeface="Calibri"/>
                        </a:rPr>
                        <a:t>불가</a:t>
                      </a:r>
                      <a:r>
                        <a:rPr sz="1100" b="0" dirty="0">
                          <a:solidFill>
                            <a:srgbClr val="333333"/>
                          </a:solidFill>
                          <a:latin typeface="Calibri"/>
                        </a:rPr>
                        <a:t>)</a:t>
                      </a:r>
                    </a:p>
                  </a:txBody>
                  <a:tcPr>
                    <a:solidFill>
                      <a:srgbClr val="FDF3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48056" y="6528816"/>
            <a:ext cx="11292840" cy="25603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850" i="1">
                <a:solidFill>
                  <a:srgbClr val="777777"/>
                </a:solidFill>
                <a:latin typeface="Calibri"/>
              </a:rPr>
              <a:t>평가지표: AUC-ROC  |  교차검증: TimeSeriesSplit(n_splits=5)  |  레고 B=A: Granger 유의 채널 없음, 채널 제외 불가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162</Words>
  <Application>Microsoft Office PowerPoint</Application>
  <PresentationFormat>사용자 지정</PresentationFormat>
  <Paragraphs>22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이승현(2022314025)</cp:lastModifiedBy>
  <cp:revision>2</cp:revision>
  <dcterms:created xsi:type="dcterms:W3CDTF">2013-01-27T09:14:16Z</dcterms:created>
  <dcterms:modified xsi:type="dcterms:W3CDTF">2026-06-06T15:30:41Z</dcterms:modified>
  <cp:category/>
</cp:coreProperties>
</file>