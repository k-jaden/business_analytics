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28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기존 연구 &amp; 한계 — 세 연구 흐름의 빈 교점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미디어→주식 · 리셀 예측 · 멀티채널 — 셋 다 </a:t>
            </a:r>
            <a:r>
              <a:rPr sz="1300" b="1">
                <a:solidFill>
                  <a:srgbClr val="E87722"/>
                </a:solidFill>
                <a:latin typeface="맑은 고딕"/>
              </a:rPr>
              <a:t>‘리셀 × 다채널 × 선행성 비교’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의 교점은 비워 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3776472" cy="36118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3776472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53312"/>
            <a:ext cx="3776472" cy="36576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 dirty="0" err="1">
                <a:solidFill>
                  <a:srgbClr val="FFFFFF"/>
                </a:solidFill>
                <a:latin typeface="맑은 고딕"/>
              </a:rPr>
              <a:t>미디어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→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주식</a:t>
            </a:r>
            <a:r>
              <a:rPr sz="1250" b="1" dirty="0">
                <a:solidFill>
                  <a:srgbClr val="FFFFFF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FFFFFF"/>
                </a:solidFill>
                <a:latin typeface="맑은 고딕"/>
              </a:rPr>
              <a:t>선행성</a:t>
            </a:r>
            <a:endParaRPr sz="1250" b="1" dirty="0">
              <a:solidFill>
                <a:srgbClr val="FFFFFF"/>
              </a:solidFill>
              <a:latin typeface="맑은 고딕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84048" y="1892807"/>
            <a:ext cx="3557015" cy="18288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1F2D4E"/>
                </a:solidFill>
                <a:latin typeface="맑은 고딕"/>
              </a:rPr>
              <a:t>Tetlock (2007)</a:t>
            </a: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 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뉴스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비관론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→ S&amp;P500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하락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1150" b="1" dirty="0">
                <a:solidFill>
                  <a:srgbClr val="1F2D4E"/>
                </a:solidFill>
                <a:latin typeface="맑은 고딕"/>
              </a:rPr>
              <a:t>Da et al. (2011)</a:t>
            </a: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   Google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검색량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주가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선행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84048" y="4096512"/>
            <a:ext cx="3557015" cy="731520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38912" y="4114800"/>
            <a:ext cx="3447288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 dirty="0">
                <a:solidFill>
                  <a:srgbClr val="E87722"/>
                </a:solidFill>
                <a:latin typeface="맑은 고딕"/>
              </a:rPr>
              <a:t>⚠ </a:t>
            </a:r>
            <a:r>
              <a:rPr sz="1050" b="1" dirty="0" err="1">
                <a:solidFill>
                  <a:srgbClr val="E87722"/>
                </a:solidFill>
                <a:latin typeface="맑은 고딕"/>
              </a:rPr>
              <a:t>한계</a:t>
            </a:r>
            <a:r>
              <a:rPr sz="1050" b="1" dirty="0">
                <a:solidFill>
                  <a:srgbClr val="E87722"/>
                </a:solidFill>
                <a:latin typeface="맑은 고딕"/>
              </a:rPr>
              <a:t> 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전통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금융자산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(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주식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)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에만</a:t>
            </a:r>
            <a:r>
              <a:rPr sz="105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050" b="0" dirty="0" err="1">
                <a:solidFill>
                  <a:srgbClr val="0A0A0A"/>
                </a:solidFill>
                <a:latin typeface="맑은 고딕"/>
              </a:rPr>
              <a:t>적용</a:t>
            </a:r>
            <a:endParaRPr sz="105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251959" y="1325880"/>
            <a:ext cx="3776472" cy="36118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251959" y="1325880"/>
            <a:ext cx="3776472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251959" y="1353312"/>
            <a:ext cx="3776472" cy="36576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리셀 상품 가격 예측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8" y="1892807"/>
            <a:ext cx="3557015" cy="18288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Campello et al. (2021)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   StockX 스니커즈 가격 예측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Dobrynskaya &amp; Kishilova (2023)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   레고를 대체자산으로 분석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1688" y="4096512"/>
            <a:ext cx="3557015" cy="731520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16551" y="4114800"/>
            <a:ext cx="3447288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E87722"/>
                </a:solidFill>
                <a:latin typeface="맑은 고딕"/>
              </a:rPr>
              <a:t>⚠ 한계  </a:t>
            </a:r>
            <a:r>
              <a:rPr sz="1050" b="0">
                <a:solidFill>
                  <a:srgbClr val="0A0A0A"/>
                </a:solidFill>
                <a:latin typeface="맑은 고딕"/>
              </a:rPr>
              <a:t>미디어 채널 신호 미포함 · 단일 자산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1325880"/>
            <a:ext cx="3776472" cy="36118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229600" y="1325880"/>
            <a:ext cx="3776472" cy="420624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0" y="1353312"/>
            <a:ext cx="3776472" cy="36576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FFFFFF"/>
                </a:solidFill>
                <a:latin typeface="맑은 고딕"/>
              </a:rPr>
              <a:t>멀티채널 예측 방법론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39327" y="1892807"/>
            <a:ext cx="3557015" cy="1828800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Bollen et al. (2011)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   Twitter 감성 → DJIA 선행</a:t>
            </a:r>
          </a:p>
          <a:p>
            <a:pPr algn="l">
              <a:spcAft>
                <a:spcPts val="600"/>
              </a:spcAft>
            </a:pPr>
            <a:r>
              <a:rPr sz="1150" b="1">
                <a:solidFill>
                  <a:srgbClr val="1F2D4E"/>
                </a:solidFill>
                <a:latin typeface="맑은 고딕"/>
              </a:rPr>
              <a:t>Zhang et al. (2018)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0A0A0A"/>
                </a:solidFill>
                <a:latin typeface="맑은 고딕"/>
              </a:rPr>
              <a:t>   뉴스+감성+가격 결합 예측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9327" y="4096512"/>
            <a:ext cx="3557015" cy="731520"/>
          </a:xfrm>
          <a:prstGeom prst="roundRect">
            <a:avLst/>
          </a:prstGeom>
          <a:solidFill>
            <a:srgbClr val="FCF0E6"/>
          </a:solidFill>
          <a:ln w="12700">
            <a:solidFill>
              <a:srgbClr val="E877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94192" y="4114800"/>
            <a:ext cx="3447288" cy="69494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100"/>
              </a:spcAft>
            </a:pPr>
            <a:r>
              <a:rPr sz="1050" b="1">
                <a:solidFill>
                  <a:srgbClr val="E87722"/>
                </a:solidFill>
                <a:latin typeface="맑은 고딕"/>
              </a:rPr>
              <a:t>⚠ 한계  </a:t>
            </a:r>
            <a:r>
              <a:rPr sz="1050" b="0">
                <a:solidFill>
                  <a:srgbClr val="0A0A0A"/>
                </a:solidFill>
                <a:latin typeface="맑은 고딕"/>
              </a:rPr>
              <a:t>주식 단일 · 채널 비교 없음 · Granger 미적용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5102352"/>
            <a:ext cx="11640312" cy="676656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1480" y="5129784"/>
            <a:ext cx="11338560" cy="62179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본 연구 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스니커즈·카드·레고 3자산 × 5채널 × Granger × SHAP+DM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 — 세 흐름의 빈 교점을 메움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F2D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" y="54864"/>
            <a:ext cx="11704320" cy="64008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본 연구와 가장 맞닿은 선행연구 2편 — 직접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49808"/>
            <a:ext cx="12188952" cy="41148"/>
          </a:xfrm>
          <a:prstGeom prst="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" y="841248"/>
            <a:ext cx="11704320" cy="365760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444444"/>
                </a:solidFill>
                <a:latin typeface="맑은 고딕"/>
              </a:rPr>
              <a:t>사용 </a:t>
            </a:r>
            <a:r>
              <a:rPr sz="1300" b="1">
                <a:solidFill>
                  <a:srgbClr val="2E6DA4"/>
                </a:solidFill>
                <a:latin typeface="맑은 고딕"/>
              </a:rPr>
              <a:t>채널·방법론·분석 대상</a:t>
            </a:r>
            <a:r>
              <a:rPr sz="1300" b="0">
                <a:solidFill>
                  <a:srgbClr val="444444"/>
                </a:solidFill>
                <a:latin typeface="맑은 고딕"/>
              </a:rPr>
              <a:t>을 본 연구와 나란히 비교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325880"/>
            <a:ext cx="5632704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74320" y="1325880"/>
            <a:ext cx="563270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344168"/>
            <a:ext cx="5632704" cy="34747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국내 · Granger · 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" y="1764792"/>
            <a:ext cx="5522976" cy="841248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1F2D4E"/>
                </a:solidFill>
                <a:latin typeface="맑은 고딕"/>
              </a:rPr>
              <a:t>유튜브 기반 데이터 분석을 통한 주가 선행성 분석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777777"/>
                </a:solidFill>
                <a:latin typeface="맑은 고딕"/>
              </a:rPr>
              <a:t>유재필·김문선 (2023), 정보화연구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06039"/>
            <a:ext cx="5449824" cy="1024128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채널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유튜브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조회수·검색빈도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(2개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지표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학습법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= Granger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인과분석만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예측모델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없음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결과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유튜브가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ETF(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주식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시장을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선행함을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통계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확인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190488" y="1325880"/>
            <a:ext cx="5632704" cy="237744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CFD6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190488" y="1325880"/>
            <a:ext cx="5632704" cy="384048"/>
          </a:xfrm>
          <a:prstGeom prst="roundRect">
            <a:avLst/>
          </a:prstGeom>
          <a:solidFill>
            <a:srgbClr val="2E6DA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90488" y="1344168"/>
            <a:ext cx="5632704" cy="34747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 dirty="0">
                <a:solidFill>
                  <a:srgbClr val="FFFFFF"/>
                </a:solidFill>
                <a:latin typeface="맑은 고딕"/>
              </a:rPr>
              <a:t>Granger + </a:t>
            </a:r>
            <a:r>
              <a:rPr sz="1150" b="1" dirty="0" err="1">
                <a:solidFill>
                  <a:srgbClr val="FFFFFF"/>
                </a:solidFill>
                <a:latin typeface="맑은 고딕"/>
              </a:rPr>
              <a:t>예측</a:t>
            </a:r>
            <a:r>
              <a:rPr sz="1150" b="1" dirty="0">
                <a:solidFill>
                  <a:srgbClr val="FFFFFF"/>
                </a:solidFill>
                <a:latin typeface="맑은 고딕"/>
              </a:rPr>
              <a:t> · Electronics 2024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45351" y="1764792"/>
            <a:ext cx="5522976" cy="841248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 dirty="0">
                <a:solidFill>
                  <a:srgbClr val="1F2D4E"/>
                </a:solidFill>
                <a:latin typeface="맑은 고딕"/>
              </a:rPr>
              <a:t>Granger </a:t>
            </a:r>
            <a:r>
              <a:rPr sz="1250" b="1" dirty="0" err="1">
                <a:solidFill>
                  <a:srgbClr val="1F2D4E"/>
                </a:solidFill>
                <a:latin typeface="맑은 고딕"/>
              </a:rPr>
              <a:t>인과</a:t>
            </a:r>
            <a:r>
              <a:rPr sz="1250" b="1" dirty="0">
                <a:solidFill>
                  <a:srgbClr val="1F2D4E"/>
                </a:solidFill>
                <a:latin typeface="맑은 고딕"/>
              </a:rPr>
              <a:t> + LSTM </a:t>
            </a:r>
            <a:r>
              <a:rPr sz="1250" b="1" dirty="0" err="1">
                <a:solidFill>
                  <a:srgbClr val="1F2D4E"/>
                </a:solidFill>
                <a:latin typeface="맑은 고딕"/>
              </a:rPr>
              <a:t>기반</a:t>
            </a:r>
            <a:r>
              <a:rPr sz="125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2D4E"/>
                </a:solidFill>
                <a:latin typeface="맑은 고딕"/>
              </a:rPr>
              <a:t>금융</a:t>
            </a:r>
            <a:r>
              <a:rPr sz="1250" b="1" dirty="0">
                <a:solidFill>
                  <a:srgbClr val="1F2D4E"/>
                </a:solidFill>
                <a:latin typeface="맑은 고딕"/>
              </a:rPr>
              <a:t> </a:t>
            </a:r>
            <a:r>
              <a:rPr sz="1250" b="1" dirty="0" err="1">
                <a:solidFill>
                  <a:srgbClr val="1F2D4E"/>
                </a:solidFill>
                <a:latin typeface="맑은 고딕"/>
              </a:rPr>
              <a:t>예측</a:t>
            </a:r>
            <a:endParaRPr sz="1250" b="1" dirty="0">
              <a:solidFill>
                <a:srgbClr val="1F2D4E"/>
              </a:solidFill>
              <a:latin typeface="맑은 고딕"/>
            </a:endParaRPr>
          </a:p>
          <a:p>
            <a:pPr algn="l">
              <a:spcAft>
                <a:spcPts val="300"/>
              </a:spcAft>
            </a:pPr>
            <a:r>
              <a:rPr sz="950" b="0" dirty="0">
                <a:solidFill>
                  <a:srgbClr val="777777"/>
                </a:solidFill>
                <a:latin typeface="맑은 고딕"/>
              </a:rPr>
              <a:t>Intelligent Financial Forecasting (</a:t>
            </a:r>
            <a:r>
              <a:rPr sz="950" b="0" dirty="0" err="1">
                <a:solidFill>
                  <a:srgbClr val="777777"/>
                </a:solidFill>
                <a:latin typeface="맑은 고딕"/>
              </a:rPr>
              <a:t>Electronics·MDPI</a:t>
            </a:r>
            <a:r>
              <a:rPr sz="950" b="0" dirty="0">
                <a:solidFill>
                  <a:srgbClr val="777777"/>
                </a:solidFill>
                <a:latin typeface="맑은 고딕"/>
              </a:rPr>
              <a:t>, 2024)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7" y="2606039"/>
            <a:ext cx="5449824" cy="959237"/>
          </a:xfrm>
          <a:prstGeom prst="rect">
            <a:avLst/>
          </a:prstGeom>
          <a:noFill/>
        </p:spPr>
        <p:txBody>
          <a:bodyPr wrap="square" lIns="76200" tIns="25400" rIns="76200" bIns="25400" anchor="t">
            <a:spAutoFit/>
          </a:bodyPr>
          <a:lstStyle/>
          <a:p>
            <a:pPr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채널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금융·거시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시계열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변수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(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가격·지표</a:t>
            </a:r>
            <a:r>
              <a:rPr lang="en-US" sz="1100" dirty="0">
                <a:solidFill>
                  <a:srgbClr val="0A0A0A"/>
                </a:solidFill>
                <a:latin typeface="맑은 고딕"/>
              </a:rPr>
              <a:t>, </a:t>
            </a:r>
            <a:r>
              <a:rPr lang="ko-KR" altLang="ko-KR" sz="1100" dirty="0"/>
              <a:t>오픈 가격, 최고가, 최저가, </a:t>
            </a:r>
            <a:r>
              <a:rPr lang="ko-KR" altLang="ko-KR" sz="1100" dirty="0" err="1"/>
              <a:t>종가</a:t>
            </a:r>
            <a:r>
              <a:rPr lang="ko-KR" altLang="en-US" sz="1100" dirty="0" err="1"/>
              <a:t>등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</a:t>
            </a:r>
          </a:p>
          <a:p>
            <a:pPr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변수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선별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= Granger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인과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+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상관분석</a:t>
            </a:r>
            <a:r>
              <a:rPr lang="en-US" sz="1100" b="0" dirty="0">
                <a:solidFill>
                  <a:srgbClr val="0A0A0A"/>
                </a:solidFill>
                <a:latin typeface="맑은 고딕"/>
              </a:rPr>
              <a:t> 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학습법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=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베이지안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최적화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+ LSTM (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딥러닝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)</a:t>
            </a:r>
          </a:p>
          <a:p>
            <a:pPr algn="l">
              <a:spcAft>
                <a:spcPts val="600"/>
              </a:spcAft>
            </a:pPr>
            <a:r>
              <a:rPr sz="1100" b="0" dirty="0">
                <a:solidFill>
                  <a:srgbClr val="0A0A0A"/>
                </a:solidFill>
                <a:latin typeface="맑은 고딕"/>
              </a:rPr>
              <a:t>•  본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연구와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동일한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‘Granger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선별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 →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예측</a:t>
            </a:r>
            <a:r>
              <a:rPr sz="1100" b="0" dirty="0">
                <a:solidFill>
                  <a:srgbClr val="0A0A0A"/>
                </a:solidFill>
                <a:latin typeface="맑은 고딕"/>
              </a:rPr>
              <a:t>’ </a:t>
            </a:r>
            <a:r>
              <a:rPr sz="1100" b="0" dirty="0" err="1">
                <a:solidFill>
                  <a:srgbClr val="0A0A0A"/>
                </a:solidFill>
                <a:latin typeface="맑은 고딕"/>
              </a:rPr>
              <a:t>구조</a:t>
            </a:r>
            <a:endParaRPr sz="1100" b="0" dirty="0">
              <a:solidFill>
                <a:srgbClr val="0A0A0A"/>
              </a:solidFill>
              <a:latin typeface="맑은 고딕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274320" y="3886200"/>
            <a:ext cx="1508760" cy="420624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886200"/>
            <a:ext cx="1508760" cy="42062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83080" y="3886200"/>
            <a:ext cx="3291840" cy="420624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783080" y="3886200"/>
            <a:ext cx="3291840" cy="42062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유재필·김문선(2023)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74920" y="3886200"/>
            <a:ext cx="3291840" cy="420624"/>
          </a:xfrm>
          <a:prstGeom prst="rect">
            <a:avLst/>
          </a:prstGeom>
          <a:solidFill>
            <a:srgbClr val="1F2D4E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74920" y="3886200"/>
            <a:ext cx="3291840" cy="42062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Granger+LSTM (2024)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66760" y="3886200"/>
            <a:ext cx="3547872" cy="420624"/>
          </a:xfrm>
          <a:prstGeom prst="rect">
            <a:avLst/>
          </a:prstGeom>
          <a:solidFill>
            <a:srgbClr val="1E7E34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366760" y="3886200"/>
            <a:ext cx="3547872" cy="420624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맑은 고딕"/>
              </a:rPr>
              <a:t>본 연구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06824"/>
            <a:ext cx="1508760" cy="530352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92608" y="4306824"/>
            <a:ext cx="147218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사용 채널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83080" y="4306824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801368" y="4306824"/>
            <a:ext cx="325526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유튜브 조회수·검색빈도 (2지표)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74920" y="4306824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93207" y="4306824"/>
            <a:ext cx="325526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금융·거시 시계열 (미디어 아님)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66760" y="4306824"/>
            <a:ext cx="3547872" cy="530352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85048" y="4306824"/>
            <a:ext cx="3511296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A0A0A"/>
                </a:solidFill>
                <a:latin typeface="맑은 고딕"/>
              </a:rPr>
              <a:t>5개 채널 (검색·뉴스량·뉴스감성·조회수·댓글)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837176"/>
            <a:ext cx="1508760" cy="530352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292608" y="4837176"/>
            <a:ext cx="147218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방법론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783080" y="4837176"/>
            <a:ext cx="3291840" cy="530352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801368" y="4837176"/>
            <a:ext cx="325526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Granger 인과분석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74920" y="4837176"/>
            <a:ext cx="3291840" cy="530352"/>
          </a:xfrm>
          <a:prstGeom prst="rect">
            <a:avLst/>
          </a:prstGeom>
          <a:solidFill>
            <a:srgbClr val="F7F8FA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93207" y="4837176"/>
            <a:ext cx="325526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Granger 선별 + LSTM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366760" y="4837176"/>
            <a:ext cx="3547872" cy="530352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385048" y="4837176"/>
            <a:ext cx="3511296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A0A0A"/>
                </a:solidFill>
                <a:latin typeface="맑은 고딕"/>
              </a:rPr>
              <a:t>Granger + XGBoost · SHAP · DM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5367528"/>
            <a:ext cx="1508760" cy="530352"/>
          </a:xfrm>
          <a:prstGeom prst="rect">
            <a:avLst/>
          </a:prstGeom>
          <a:solidFill>
            <a:srgbClr val="ECEFF3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292608" y="5367528"/>
            <a:ext cx="147218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1F2D4E"/>
                </a:solidFill>
                <a:latin typeface="맑은 고딕"/>
              </a:rPr>
              <a:t>분석 대상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783080" y="5367528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801368" y="5367528"/>
            <a:ext cx="325526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ETF (주식)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74920" y="5367528"/>
            <a:ext cx="329184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93207" y="5367528"/>
            <a:ext cx="3255264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0A0A0A"/>
                </a:solidFill>
                <a:latin typeface="맑은 고딕"/>
              </a:rPr>
              <a:t>시장지수·자산가격 (주식)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5367528"/>
            <a:ext cx="3547872" cy="530352"/>
          </a:xfrm>
          <a:prstGeom prst="rect">
            <a:avLst/>
          </a:prstGeom>
          <a:solidFill>
            <a:srgbClr val="E7F2E9"/>
          </a:solidFill>
          <a:ln w="9525">
            <a:solidFill>
              <a:srgbClr val="D5DA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385048" y="5367528"/>
            <a:ext cx="3511296" cy="530352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0A0A0A"/>
                </a:solidFill>
                <a:latin typeface="맑은 고딕"/>
              </a:rPr>
              <a:t>리셀 3종 (스니커즈·카드·레고)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74320" y="6044183"/>
            <a:ext cx="11640312" cy="603504"/>
          </a:xfrm>
          <a:prstGeom prst="roundRect">
            <a:avLst/>
          </a:prstGeom>
          <a:solidFill>
            <a:srgbClr val="1E7E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411480" y="6062471"/>
            <a:ext cx="11338560" cy="566928"/>
          </a:xfrm>
          <a:prstGeom prst="rect">
            <a:avLst/>
          </a:prstGeom>
          <a:noFill/>
        </p:spPr>
        <p:txBody>
          <a:bodyPr wrap="square" lIns="76200" tIns="25400" rIns="76200" bIns="2540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맑은 고딕"/>
              </a:rPr>
              <a:t>차이 요약  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선행연구는 같은 'Granger 선별→예측'을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주식·금융 도메인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에 적용 — 본 연구는 </a:t>
            </a:r>
            <a:r>
              <a:rPr sz="1200" b="1">
                <a:solidFill>
                  <a:srgbClr val="FFFFFF"/>
                </a:solidFill>
                <a:latin typeface="맑은 고딕"/>
              </a:rPr>
              <a:t>‘미디어 다채널 × 리셀’</a:t>
            </a:r>
            <a:r>
              <a:rPr sz="1200" b="0">
                <a:solidFill>
                  <a:srgbClr val="FFFFFF"/>
                </a:solidFill>
                <a:latin typeface="맑은 고딕"/>
              </a:rPr>
              <a:t>로 확장한 최초 검증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431</Words>
  <Application>Microsoft Office PowerPoint</Application>
  <PresentationFormat>사용자 지정</PresentationFormat>
  <Paragraphs>53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이승현(2022314025)</cp:lastModifiedBy>
  <cp:revision>2</cp:revision>
  <dcterms:created xsi:type="dcterms:W3CDTF">2013-01-27T09:14:16Z</dcterms:created>
  <dcterms:modified xsi:type="dcterms:W3CDTF">2026-06-13T10:52:14Z</dcterms:modified>
  <cp:category/>
</cp:coreProperties>
</file>