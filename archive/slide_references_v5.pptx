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67512" y="82296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b="1" sz="2200">
                <a:solidFill>
                  <a:srgbClr val="1A1A1A"/>
                </a:solidFill>
                <a:latin typeface="Calibri"/>
              </a:rPr>
              <a:t>참고 문헌</a:t>
            </a:r>
            <a:r>
              <a:rPr b="0" sz="1800">
                <a:solidFill>
                  <a:srgbClr val="555555"/>
                </a:solidFill>
                <a:latin typeface="Calibri"/>
              </a:rPr>
              <a:t> 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585216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888888"/>
                </a:solidFill>
                <a:latin typeface="Calibri"/>
              </a:rPr>
              <a:t>draft.tex 실제 인용 43건  ·  Granger 인과 / XGBoost+SHAP / DM 검정 / 대안자산 / 미디어·감성 / 디지털 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12471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272991" y="932688"/>
            <a:ext cx="12801" cy="579729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022031" y="932688"/>
            <a:ext cx="12801" cy="579729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7512" y="969264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 algn="l"/>
            <a:r>
              <a:rPr b="1" sz="1100">
                <a:solidFill>
                  <a:srgbClr val="1F4E79"/>
                </a:solidFill>
                <a:latin typeface="Calibri"/>
              </a:rPr>
              <a:t>계량경제 · 통계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165860"/>
            <a:ext cx="3474720" cy="201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" y="1202436"/>
            <a:ext cx="3474720" cy="2130552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1F4E79"/>
                </a:solidFill>
                <a:latin typeface="Calibri"/>
              </a:rPr>
              <a:t>[1] </a:t>
            </a:r>
            <a:r>
              <a:rPr b="0" sz="1000">
                <a:solidFill>
                  <a:srgbClr val="1A1A1A"/>
                </a:solidFill>
                <a:latin typeface="Calibri"/>
              </a:rPr>
              <a:t>Granger (1969)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Econometrica 37(3)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1F4E79"/>
                </a:solidFill>
                <a:latin typeface="Calibri"/>
              </a:rPr>
              <a:t>[2] </a:t>
            </a:r>
            <a:r>
              <a:rPr b="0" sz="1000">
                <a:solidFill>
                  <a:srgbClr val="1A1A1A"/>
                </a:solidFill>
                <a:latin typeface="Calibri"/>
              </a:rPr>
              <a:t>Dickey &amp; Fuller (1979)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JASA 74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1F4E79"/>
                </a:solidFill>
                <a:latin typeface="Calibri"/>
              </a:rPr>
              <a:t>[3] </a:t>
            </a:r>
            <a:r>
              <a:rPr b="0" sz="1000">
                <a:solidFill>
                  <a:srgbClr val="1A1A1A"/>
                </a:solidFill>
                <a:latin typeface="Calibri"/>
              </a:rPr>
              <a:t>Schwarz (1978)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Ann. Stat. 6(2)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1F4E79"/>
                </a:solidFill>
                <a:latin typeface="Calibri"/>
              </a:rPr>
              <a:t>[4] </a:t>
            </a:r>
            <a:r>
              <a:rPr b="0" sz="1000">
                <a:solidFill>
                  <a:srgbClr val="1A1A1A"/>
                </a:solidFill>
                <a:latin typeface="Calibri"/>
              </a:rPr>
              <a:t>Diebold &amp; Mariano (1995)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JBES 13(3)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1F4E79"/>
                </a:solidFill>
                <a:latin typeface="Calibri"/>
              </a:rPr>
              <a:t>[5] </a:t>
            </a:r>
            <a:r>
              <a:rPr b="0" sz="1000">
                <a:solidFill>
                  <a:srgbClr val="1A1A1A"/>
                </a:solidFill>
                <a:latin typeface="Calibri"/>
              </a:rPr>
              <a:t>Benjamini &amp; Hochberg (1995)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JRSS-B 57(1)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1F4E79"/>
                </a:solidFill>
                <a:latin typeface="Calibri"/>
              </a:rPr>
              <a:t>[6] </a:t>
            </a:r>
            <a:r>
              <a:rPr b="0" sz="1000">
                <a:solidFill>
                  <a:srgbClr val="1A1A1A"/>
                </a:solidFill>
                <a:latin typeface="Calibri"/>
              </a:rPr>
              <a:t>West (1996)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Econometrica 64(5)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1F4E79"/>
                </a:solidFill>
                <a:latin typeface="Calibri"/>
              </a:rPr>
              <a:t>[7] </a:t>
            </a:r>
            <a:r>
              <a:rPr b="0" sz="1000">
                <a:solidFill>
                  <a:srgbClr val="1A1A1A"/>
                </a:solidFill>
                <a:latin typeface="Calibri"/>
              </a:rPr>
              <a:t>Hansen (2005)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JBES 23(4)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1F4E79"/>
                </a:solidFill>
                <a:latin typeface="Calibri"/>
              </a:rPr>
              <a:t>[8] </a:t>
            </a:r>
            <a:r>
              <a:rPr b="0" sz="1000">
                <a:solidFill>
                  <a:srgbClr val="1A1A1A"/>
                </a:solidFill>
                <a:latin typeface="Calibri"/>
              </a:rPr>
              <a:t>Hansen et al. (2011)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Econometrica 79(2)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1F4E79"/>
                </a:solidFill>
                <a:latin typeface="Calibri"/>
              </a:rPr>
              <a:t>[9] </a:t>
            </a:r>
            <a:r>
              <a:rPr b="0" sz="1000">
                <a:solidFill>
                  <a:srgbClr val="1A1A1A"/>
                </a:solidFill>
                <a:latin typeface="Calibri"/>
              </a:rPr>
              <a:t>Holtz-Eakin et al. (1988)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Econometrica 56(6)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1F4E79"/>
                </a:solidFill>
                <a:latin typeface="Calibri"/>
              </a:rPr>
              <a:t>[10] </a:t>
            </a:r>
            <a:r>
              <a:rPr b="0" sz="1000">
                <a:solidFill>
                  <a:srgbClr val="1A1A1A"/>
                </a:solidFill>
                <a:latin typeface="Calibri"/>
              </a:rPr>
              <a:t>Dumitrescu &amp; Hurlin (2012)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Econ. Modelling 29(4)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1F4E79"/>
                </a:solidFill>
                <a:latin typeface="Calibri"/>
              </a:rPr>
              <a:t>[11] </a:t>
            </a:r>
            <a:r>
              <a:rPr b="0" sz="1000">
                <a:solidFill>
                  <a:srgbClr val="1A1A1A"/>
                </a:solidFill>
                <a:latin typeface="Calibri"/>
              </a:rPr>
              <a:t>Welch &amp; Goyal (2008)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RFS 21(4)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470148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 algn="l"/>
            <a:r>
              <a:rPr b="1" sz="1100">
                <a:solidFill>
                  <a:srgbClr val="145A32"/>
                </a:solidFill>
                <a:latin typeface="Calibri"/>
              </a:rPr>
              <a:t>머신러닝 · NLP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666744"/>
            <a:ext cx="3474720" cy="20116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" y="3703320"/>
            <a:ext cx="3474720" cy="786384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145A32"/>
                </a:solidFill>
                <a:latin typeface="Calibri"/>
              </a:rPr>
              <a:t>[12] </a:t>
            </a:r>
            <a:r>
              <a:rPr b="0" sz="1000">
                <a:solidFill>
                  <a:srgbClr val="1A1A1A"/>
                </a:solidFill>
                <a:latin typeface="Calibri"/>
              </a:rPr>
              <a:t>Chen &amp; Guestrin (2016)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KDD 2016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145A32"/>
                </a:solidFill>
                <a:latin typeface="Calibri"/>
              </a:rPr>
              <a:t>[13] </a:t>
            </a:r>
            <a:r>
              <a:rPr b="0" sz="1000">
                <a:solidFill>
                  <a:srgbClr val="1A1A1A"/>
                </a:solidFill>
                <a:latin typeface="Calibri"/>
              </a:rPr>
              <a:t>Lundberg &amp; Lee (2017)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NeurIPS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145A32"/>
                </a:solidFill>
                <a:latin typeface="Calibri"/>
              </a:rPr>
              <a:t>[14] </a:t>
            </a:r>
            <a:r>
              <a:rPr b="0" sz="1000">
                <a:solidFill>
                  <a:srgbClr val="1A1A1A"/>
                </a:solidFill>
                <a:latin typeface="Calibri"/>
              </a:rPr>
              <a:t>Araci (2019) FinBERT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arXiv:1908.10063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145A32"/>
                </a:solidFill>
                <a:latin typeface="Calibri"/>
              </a:rPr>
              <a:t>[15] </a:t>
            </a:r>
            <a:r>
              <a:rPr b="0" sz="1000">
                <a:solidFill>
                  <a:srgbClr val="1A1A1A"/>
                </a:solidFill>
                <a:latin typeface="Calibri"/>
              </a:rPr>
              <a:t>Devlin et al. (2019)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NAACL-HLT 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969264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 algn="l"/>
            <a:r>
              <a:rPr b="1" sz="1100">
                <a:solidFill>
                  <a:srgbClr val="145A32"/>
                </a:solidFill>
                <a:latin typeface="Calibri"/>
              </a:rPr>
              <a:t>머신러닝 · NLP (CONT.)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1165860"/>
            <a:ext cx="3474720" cy="20116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416552" y="1202436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145A32"/>
                </a:solidFill>
                <a:latin typeface="Calibri"/>
              </a:rPr>
              <a:t>[16] </a:t>
            </a:r>
            <a:r>
              <a:rPr b="0" sz="1000">
                <a:solidFill>
                  <a:srgbClr val="1A1A1A"/>
                </a:solidFill>
                <a:latin typeface="Calibri"/>
              </a:rPr>
              <a:t>Gu et al. (2020)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RFS 33(5)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145A32"/>
                </a:solidFill>
                <a:latin typeface="Calibri"/>
              </a:rPr>
              <a:t>[17] </a:t>
            </a:r>
            <a:r>
              <a:rPr b="0" sz="1000">
                <a:solidFill>
                  <a:srgbClr val="1A1A1A"/>
                </a:solidFill>
                <a:latin typeface="Calibri"/>
              </a:rPr>
              <a:t>Akiba et al. (2019)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KDD 2019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741932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 algn="l"/>
            <a:r>
              <a:rPr b="1" sz="1100">
                <a:solidFill>
                  <a:srgbClr val="4A235A"/>
                </a:solidFill>
                <a:latin typeface="Calibri"/>
              </a:rPr>
              <a:t>대안 자산 · 수집품 시장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1938528"/>
            <a:ext cx="3474720" cy="20116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416552" y="1975104"/>
            <a:ext cx="3474720" cy="1170432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4A235A"/>
                </a:solidFill>
                <a:latin typeface="Calibri"/>
              </a:rPr>
              <a:t>[18] </a:t>
            </a:r>
            <a:r>
              <a:rPr b="0" sz="1000">
                <a:solidFill>
                  <a:srgbClr val="1A1A1A"/>
                </a:solidFill>
                <a:latin typeface="Calibri"/>
              </a:rPr>
              <a:t>Burton &amp; Jacobsen (1999)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JEP 13(4)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4A235A"/>
                </a:solidFill>
                <a:latin typeface="Calibri"/>
              </a:rPr>
              <a:t>[19] </a:t>
            </a:r>
            <a:r>
              <a:rPr b="0" sz="1000">
                <a:solidFill>
                  <a:srgbClr val="1A1A1A"/>
                </a:solidFill>
                <a:latin typeface="Calibri"/>
              </a:rPr>
              <a:t>Mei &amp; Moses (2002)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AER 92(5)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4A235A"/>
                </a:solidFill>
                <a:latin typeface="Calibri"/>
              </a:rPr>
              <a:t>[20] </a:t>
            </a:r>
            <a:r>
              <a:rPr b="0" sz="1000">
                <a:solidFill>
                  <a:srgbClr val="1A1A1A"/>
                </a:solidFill>
                <a:latin typeface="Calibri"/>
              </a:rPr>
              <a:t>Renneboog &amp; Spaenjers (2013)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Mgmt. Sci. 59(1)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4A235A"/>
                </a:solidFill>
                <a:latin typeface="Calibri"/>
              </a:rPr>
              <a:t>[21] </a:t>
            </a:r>
            <a:r>
              <a:rPr b="0" sz="1000">
                <a:solidFill>
                  <a:srgbClr val="1A1A1A"/>
                </a:solidFill>
                <a:latin typeface="Calibri"/>
              </a:rPr>
              <a:t>Dimson et al. (2015)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JFE 118(2)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4A235A"/>
                </a:solidFill>
                <a:latin typeface="Calibri"/>
              </a:rPr>
              <a:t>[22] </a:t>
            </a:r>
            <a:r>
              <a:rPr b="0" sz="1000">
                <a:solidFill>
                  <a:srgbClr val="1A1A1A"/>
                </a:solidFill>
                <a:latin typeface="Calibri"/>
              </a:rPr>
              <a:t>Dobrynskaya &amp; Kishilova (2022)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RIBF 59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4A235A"/>
                </a:solidFill>
                <a:latin typeface="Calibri"/>
              </a:rPr>
              <a:t>[23] </a:t>
            </a:r>
            <a:r>
              <a:rPr b="0" sz="1000">
                <a:solidFill>
                  <a:srgbClr val="1A1A1A"/>
                </a:solidFill>
                <a:latin typeface="Calibri"/>
              </a:rPr>
              <a:t>Raditya et al. (2021)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Procedia CS 179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282696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 algn="l"/>
            <a:r>
              <a:rPr b="1" sz="1100">
                <a:solidFill>
                  <a:srgbClr val="782800"/>
                </a:solidFill>
                <a:latin typeface="Calibri"/>
              </a:rPr>
              <a:t>미디어 · 감성 → 자산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3479292"/>
            <a:ext cx="3474720" cy="20116"/>
          </a:xfrm>
          <a:prstGeom prst="rect">
            <a:avLst/>
          </a:prstGeom>
          <a:solidFill>
            <a:srgbClr val="78280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416552" y="3515868"/>
            <a:ext cx="3474720" cy="1170432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782800"/>
                </a:solidFill>
                <a:latin typeface="Calibri"/>
              </a:rPr>
              <a:t>[24] </a:t>
            </a:r>
            <a:r>
              <a:rPr b="0" sz="1000">
                <a:solidFill>
                  <a:srgbClr val="1A1A1A"/>
                </a:solidFill>
                <a:latin typeface="Calibri"/>
              </a:rPr>
              <a:t>Tetlock (2007)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JF 62(3)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782800"/>
                </a:solidFill>
                <a:latin typeface="Calibri"/>
              </a:rPr>
              <a:t>[25] </a:t>
            </a:r>
            <a:r>
              <a:rPr b="0" sz="1000">
                <a:solidFill>
                  <a:srgbClr val="1A1A1A"/>
                </a:solidFill>
                <a:latin typeface="Calibri"/>
              </a:rPr>
              <a:t>Tetlock et al. (2008)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JF 63(3)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782800"/>
                </a:solidFill>
                <a:latin typeface="Calibri"/>
              </a:rPr>
              <a:t>[26] </a:t>
            </a:r>
            <a:r>
              <a:rPr b="0" sz="1000">
                <a:solidFill>
                  <a:srgbClr val="1A1A1A"/>
                </a:solidFill>
                <a:latin typeface="Calibri"/>
              </a:rPr>
              <a:t>Antweiler &amp; Frank (2004)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JF 59(3)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782800"/>
                </a:solidFill>
                <a:latin typeface="Calibri"/>
              </a:rPr>
              <a:t>[27] </a:t>
            </a:r>
            <a:r>
              <a:rPr b="0" sz="1000">
                <a:solidFill>
                  <a:srgbClr val="1A1A1A"/>
                </a:solidFill>
                <a:latin typeface="Calibri"/>
              </a:rPr>
              <a:t>Engelberg &amp; Parsons (2011)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JF 66(1)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782800"/>
                </a:solidFill>
                <a:latin typeface="Calibri"/>
              </a:rPr>
              <a:t>[28] </a:t>
            </a:r>
            <a:r>
              <a:rPr b="0" sz="1000">
                <a:solidFill>
                  <a:srgbClr val="1A1A1A"/>
                </a:solidFill>
                <a:latin typeface="Calibri"/>
              </a:rPr>
              <a:t>Loughran &amp; McDonald (2011)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JF 66(1)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782800"/>
                </a:solidFill>
                <a:latin typeface="Calibri"/>
              </a:rPr>
              <a:t>[29] </a:t>
            </a:r>
            <a:r>
              <a:rPr b="0" sz="1000">
                <a:solidFill>
                  <a:srgbClr val="1A1A1A"/>
                </a:solidFill>
                <a:latin typeface="Calibri"/>
              </a:rPr>
              <a:t>Loughran &amp; McDonald (2016)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JAR 54(4)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969264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 algn="l"/>
            <a:r>
              <a:rPr b="1" sz="1100">
                <a:solidFill>
                  <a:srgbClr val="782800"/>
                </a:solidFill>
                <a:latin typeface="Calibri"/>
              </a:rPr>
              <a:t>미디어 · 감성 → 자산 (CONT.)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1165860"/>
            <a:ext cx="3474720" cy="20116"/>
          </a:xfrm>
          <a:prstGeom prst="rect">
            <a:avLst/>
          </a:prstGeom>
          <a:solidFill>
            <a:srgbClr val="78280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165592" y="1202436"/>
            <a:ext cx="3474720" cy="978408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782800"/>
                </a:solidFill>
                <a:latin typeface="Calibri"/>
              </a:rPr>
              <a:t>[30] </a:t>
            </a:r>
            <a:r>
              <a:rPr b="0" sz="1000">
                <a:solidFill>
                  <a:srgbClr val="1A1A1A"/>
                </a:solidFill>
                <a:latin typeface="Calibri"/>
              </a:rPr>
              <a:t>García (2013)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JF 68(3)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782800"/>
                </a:solidFill>
                <a:latin typeface="Calibri"/>
              </a:rPr>
              <a:t>[31] </a:t>
            </a:r>
            <a:r>
              <a:rPr b="0" sz="1000">
                <a:solidFill>
                  <a:srgbClr val="1A1A1A"/>
                </a:solidFill>
                <a:latin typeface="Calibri"/>
              </a:rPr>
              <a:t>Kearney &amp; Liu (2014)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IRFA 33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782800"/>
                </a:solidFill>
                <a:latin typeface="Calibri"/>
              </a:rPr>
              <a:t>[32] </a:t>
            </a:r>
            <a:r>
              <a:rPr b="0" sz="1000">
                <a:solidFill>
                  <a:srgbClr val="1A1A1A"/>
                </a:solidFill>
                <a:latin typeface="Calibri"/>
              </a:rPr>
              <a:t>Heston &amp; Sinha (2017)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FAJ 73(3)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782800"/>
                </a:solidFill>
                <a:latin typeface="Calibri"/>
              </a:rPr>
              <a:t>[33] </a:t>
            </a:r>
            <a:r>
              <a:rPr b="0" sz="1000">
                <a:solidFill>
                  <a:srgbClr val="1A1A1A"/>
                </a:solidFill>
                <a:latin typeface="Calibri"/>
              </a:rPr>
              <a:t>Bollen et al. (2011)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J. Comput. Sci. 2(1)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782800"/>
                </a:solidFill>
                <a:latin typeface="Calibri"/>
              </a:rPr>
              <a:t>[34] </a:t>
            </a:r>
            <a:r>
              <a:rPr b="0" sz="1000">
                <a:solidFill>
                  <a:srgbClr val="1A1A1A"/>
                </a:solidFill>
                <a:latin typeface="Calibri"/>
              </a:rPr>
              <a:t>Sprenger et al. (2014)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EFM 20(5)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2318004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 algn="l"/>
            <a:r>
              <a:rPr b="1" sz="1100">
                <a:solidFill>
                  <a:srgbClr val="0B3D66"/>
                </a:solidFill>
                <a:latin typeface="Calibri"/>
              </a:rPr>
              <a:t>검색 · 디지털 흔적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2514600"/>
            <a:ext cx="3474720" cy="20116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165592" y="2551176"/>
            <a:ext cx="3474720" cy="1554480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0B3D66"/>
                </a:solidFill>
                <a:latin typeface="Calibri"/>
              </a:rPr>
              <a:t>[35] </a:t>
            </a:r>
            <a:r>
              <a:rPr b="0" sz="1000">
                <a:solidFill>
                  <a:srgbClr val="1A1A1A"/>
                </a:solidFill>
                <a:latin typeface="Calibri"/>
              </a:rPr>
              <a:t>Da et al. (2011)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JF 66(5)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0B3D66"/>
                </a:solidFill>
                <a:latin typeface="Calibri"/>
              </a:rPr>
              <a:t>[36] </a:t>
            </a:r>
            <a:r>
              <a:rPr b="0" sz="1000">
                <a:solidFill>
                  <a:srgbClr val="1A1A1A"/>
                </a:solidFill>
                <a:latin typeface="Calibri"/>
              </a:rPr>
              <a:t>Preis et al. (2013)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Sci. Rep.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0B3D66"/>
                </a:solidFill>
                <a:latin typeface="Calibri"/>
              </a:rPr>
              <a:t>[37] </a:t>
            </a:r>
            <a:r>
              <a:rPr b="0" sz="1000">
                <a:solidFill>
                  <a:srgbClr val="1A1A1A"/>
                </a:solidFill>
                <a:latin typeface="Calibri"/>
              </a:rPr>
              <a:t>Joseph et al. (2011)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IJF 27(4)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0B3D66"/>
                </a:solidFill>
                <a:latin typeface="Calibri"/>
              </a:rPr>
              <a:t>[38] </a:t>
            </a:r>
            <a:r>
              <a:rPr b="0" sz="1000">
                <a:solidFill>
                  <a:srgbClr val="1A1A1A"/>
                </a:solidFill>
                <a:latin typeface="Calibri"/>
              </a:rPr>
              <a:t>Vlastakis &amp; Markellos (2012)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JBF 36(6)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0B3D66"/>
                </a:solidFill>
                <a:latin typeface="Calibri"/>
              </a:rPr>
              <a:t>[39] </a:t>
            </a:r>
            <a:r>
              <a:rPr b="0" sz="1000">
                <a:solidFill>
                  <a:srgbClr val="1A1A1A"/>
                </a:solidFill>
                <a:latin typeface="Calibri"/>
              </a:rPr>
              <a:t>Vozlyublennaia (2014)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JBF 41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0B3D66"/>
                </a:solidFill>
                <a:latin typeface="Calibri"/>
              </a:rPr>
              <a:t>[40] </a:t>
            </a:r>
            <a:r>
              <a:rPr b="0" sz="1000">
                <a:solidFill>
                  <a:srgbClr val="1A1A1A"/>
                </a:solidFill>
                <a:latin typeface="Calibri"/>
              </a:rPr>
              <a:t>Bordino et al. (2012)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PLoS ONE 7(7)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0B3D66"/>
                </a:solidFill>
                <a:latin typeface="Calibri"/>
              </a:rPr>
              <a:t>[41] </a:t>
            </a:r>
            <a:r>
              <a:rPr b="0" sz="1000">
                <a:solidFill>
                  <a:srgbClr val="1A1A1A"/>
                </a:solidFill>
                <a:latin typeface="Calibri"/>
              </a:rPr>
              <a:t>Moat et al. (2013)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Sci. Rep.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0B3D66"/>
                </a:solidFill>
                <a:latin typeface="Calibri"/>
              </a:rPr>
              <a:t>[42] </a:t>
            </a:r>
            <a:r>
              <a:rPr b="0" sz="1000">
                <a:solidFill>
                  <a:srgbClr val="1A1A1A"/>
                </a:solidFill>
                <a:latin typeface="Calibri"/>
              </a:rPr>
              <a:t>Curme et al. (2014)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PNAS 111(32)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4242816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 algn="l"/>
            <a:r>
              <a:rPr b="1" sz="1100">
                <a:solidFill>
                  <a:srgbClr val="374751"/>
                </a:solidFill>
                <a:latin typeface="Calibri"/>
              </a:rPr>
              <a:t>데이터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4439412"/>
            <a:ext cx="3474720" cy="20116"/>
          </a:xfrm>
          <a:prstGeom prst="rect">
            <a:avLst/>
          </a:prstGeom>
          <a:solidFill>
            <a:srgbClr val="374751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165592" y="4475988"/>
            <a:ext cx="3474720" cy="210311"/>
          </a:xfrm>
          <a:prstGeom prst="rect">
            <a:avLst/>
          </a:prstGeom>
          <a:noFill/>
          <a:ln>
            <a:noFill/>
          </a:ln>
        </p:spPr>
        <p:txBody>
          <a:bodyPr wrap="none" tIns="0" bIns="0" lIns="1270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sz="1000">
                <a:solidFill>
                  <a:srgbClr val="374751"/>
                </a:solidFill>
                <a:latin typeface="Calibri"/>
              </a:rPr>
              <a:t>[43] </a:t>
            </a:r>
            <a:r>
              <a:rPr b="0" sz="1000">
                <a:solidFill>
                  <a:srgbClr val="1A1A1A"/>
                </a:solidFill>
                <a:latin typeface="Calibri"/>
              </a:rPr>
              <a:t>Leetaru &amp; Schrodt (2013) GDELT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b="0" sz="1000" i="1">
                <a:solidFill>
                  <a:srgbClr val="777777"/>
                </a:solidFill>
                <a:latin typeface="Calibri"/>
              </a:rPr>
              <a:t>ISA Annual Conv.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6638544"/>
            <a:ext cx="11247120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67512" y="6675120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888888"/>
                </a:solidFill>
                <a:latin typeface="Calibri"/>
              </a:rPr>
              <a:t>43 references  ·  리셀 시장 미디어 선행 지표 연구  ·  draft.tex 인용 기준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