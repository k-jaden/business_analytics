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185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A5EE2-8ED6-4C88-96F3-CFCEB1F1B20B}" v="6" dt="2026-04-19T04:39:1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8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미디어 채널의 리셀 가격 선행성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스니커즈 · 트레이딩 카드 · 레고  |  5개 미디어 채널  |  XGBoost 예측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724912"/>
            <a:ext cx="3657600" cy="11887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이승현 · 윤재은 · 최형호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관련 연구 — 4개 연구 흐름과 공통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미디어·가격·멀티채널·Granger→예측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005840"/>
            <a:ext cx="3931920" cy="402336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미디어 → 가격
선행성 연구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46304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Tetlock (2007): 뉴스 감성 → 주가 하락
Da et al. (2011, JF): Google Trends → 주가 공포
Preis et al. (2013): 검색량 → 시장 전략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" y="215798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" y="221284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▶ 한계: 전통 금융자산(주식)만
리셀 자산 적용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00584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600" y="1005840"/>
            <a:ext cx="3931920" cy="402336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005840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리셀/대체자산
가격 연구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46304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StockX 스니커즈 프리미엄 연구
Dobrynskaya &amp; Kishilova (2018): LEGO 투자
거시 경제 변수·공급 분석 중심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6904" y="215798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46904" y="221284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▶ 한계: 미디어 채널 효과 미포함
채널 선행성 미검증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9748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1480" y="2697480"/>
            <a:ext cx="3931920" cy="402336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멀티채널
미디어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" y="315468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Bollen et al. (2011): Twitter → DJIA 예측
Jang &amp; Jun (2025): YouTube → 주가
볼륨·감성 분리 활용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" y="384962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" y="390448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▶ 한계: 단일 자산(주식) 위주
리셀 3종 자산 비교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69748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00600" y="2697480"/>
            <a:ext cx="3931920" cy="402336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2697480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Granger → ML
예측 파이프라인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904" y="315468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Bollen (2011): Granger 확인 → SVM 예측
Tetlock (2007): Granger → 회귀 예측 결합
★ 공통 가정: 선행 채널 = ML 유효 피처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46904" y="384962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46904" y="390448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▶ 한계: Granger 선행성 ≠ 예측력
이 괴리를 직접 검증한 연구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37083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37083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→ 리셀 × 멀티채널 선행성 비교 + Granger-ML 괴리 직접 검증  =  본 연구의 이중 기여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연구 배경 — 우리가 채우는 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리셀 × 멀티채널 선행성 = 최초 시도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gap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374416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64515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64515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★ 본 연구</a:t>
            </a:r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  — 리셀 3종 × 5채널 멀티채널 선행성 비교 (최초) + Granger-예측력 괴리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정당화 — 미디어가 정말 가격을 선행하는가?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Granger 인과검정 15회 · 역인과·우연이 아님을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3832953" cy="2999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965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1. 자산×채널 15쌍 Granger F-통계량 (초록=유의 · 노랑=경계 · 회색=비유의)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09728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67528" y="1188720"/>
            <a:ext cx="3163824" cy="3035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Sneakers: 뉴스감성(F=13.4)·YT조회수(F=4.7)·검색(F=3.5) 선행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Cards: 검색량(F=8.4) 선행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LEGO: 유의 채널 없음 (경계: 검색 F=3.9)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BH 보정 후 sneakers CH3 · cards CH1 두 채널만 견고하게 생존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역인과·우연이 아님을 확인 — XGBoost 피처 채택의 통계적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4370832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i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⚠ Granger는 '정당화 근거'이지 XGBoost의 필수조건이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정당화 — 자산마다 유효 채널이 다르다 (H2 지지)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유의 채널 집합 비교 · Jaccard 유사도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4128"/>
            <a:ext cx="6091298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6908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2. 자산별 유의 채널 집합 (초록=유의 · 회색=비유의)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09728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67528" y="1188720"/>
            <a:ext cx="3163824" cy="3127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Sneakers: {CH1, CH3, CH4}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Cards: {CH1}  — 검색량 1개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LEGO: {∅}  — 유의 채널 없음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Jaccard  sn–cards=0.333 / 그 외 0.000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모든 자산쌍 Jaccard &lt; 0.6 → 채널 구성이 자산마다 뚜렷이 다름 (H2 지지)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XGBoost — Granger 결과를 바탕으로 A·B 모형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Model A (전채널) vs Model B (Granger 선별) · TimeSeriesSplit(5)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3931920" cy="3611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931920" cy="438912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3931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Model A — 전채널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3566160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피처 (9개):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price_vs_ma3, price_chg_lag1~3
(가격 모멘텀 통제 변수)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CH1 Google Trends 검색량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CH2 뉴스 보도량 (GDELT)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CH3 뉴스 감성 (GDELT tone)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CH4 YouTube 조회수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CH5 YouTube 댓글 감성 (FinBERT)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5603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051560"/>
            <a:ext cx="3749039" cy="3611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83480" y="1051560"/>
            <a:ext cx="3749039" cy="438912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1051560"/>
            <a:ext cx="3749039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Model B — Granger 선별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572768"/>
            <a:ext cx="3383280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피처 (4~5개):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price_vs_ma3, price_chg_lag1~3
(동일 통제 변수)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Granger 유의 채널만: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Sneakers → CH1, CH3, CH4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Cards → CH1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LEGO → (없음, 전채널 폴백)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비교: TimeSeriesSplit(5) → AUC · Diebold-Mariano 검정으로 유의차 판정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DM 검정 — A·B 모형 예측력 비교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Diebold-Mariano · 15개 아이템 × 2모형 · 24개월 테스트 구간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2560320" cy="20574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아이템에서 A·B 차이 없음
(73% — 간결성 확보)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051560"/>
            <a:ext cx="5577840" cy="117043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4680" y="1051560"/>
            <a:ext cx="54864" cy="11704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14300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Sneakers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453895"/>
            <a:ext cx="3840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Jordan1: Model A 유의 우세 (p&lt;0.001)
나머지 4개: 차이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380743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A 우세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2295144"/>
            <a:ext cx="5577840" cy="117043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54680" y="2295144"/>
            <a:ext cx="54864" cy="1170432"/>
          </a:xfrm>
          <a:prstGeom prst="rect">
            <a:avLst/>
          </a:prstGeom>
          <a:solidFill>
            <a:srgbClr val="2A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238658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79"/>
            <a:ext cx="3840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5개 전부 차이 없음
Granger 선별(CH1)로 간결성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624327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동등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538728"/>
            <a:ext cx="5577840" cy="117043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54680" y="3538728"/>
            <a:ext cx="54864" cy="1170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0" y="363016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LEGO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941064"/>
            <a:ext cx="38404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Falcon: Model A 약간 우세 (p=0.032)
나머지 4개: 차이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867912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A 약간 우세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결론: '선별이 더 낫다'기보다 </a:t>
            </a:r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큰 손해 없이 채널 수를 줄일 수 있다</a:t>
            </a:r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 (H3 부분 지지)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SHAP — 채널별 예측 기여도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mean |SHAP| (Model A, XGBoost) · 인과성(Granger) ≠ 예측 기여(SHAP)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96012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8869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24128"/>
            <a:ext cx="196596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1024128"/>
            <a:ext cx="1892807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024128"/>
            <a:ext cx="1325880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79" y="1024128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Sneakers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24128"/>
            <a:ext cx="1325880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1024128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024128"/>
            <a:ext cx="1325880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024128"/>
            <a:ext cx="12527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LEGO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024128"/>
            <a:ext cx="1883664" cy="402336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1024128"/>
            <a:ext cx="18105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핵심 포인트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426464"/>
            <a:ext cx="9601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" y="1426464"/>
            <a:ext cx="90525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1426464"/>
            <a:ext cx="196596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44752" y="1426464"/>
            <a:ext cx="183794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Google Trends
검색량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142646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74136" y="142646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0.125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42646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142646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0.048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42646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25896" y="142646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426464"/>
            <a:ext cx="1883664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88352" y="1426464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Sneakers 최고 기여 · Cards Granger 유일 채널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1929384"/>
            <a:ext cx="96012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" y="1929384"/>
            <a:ext cx="90525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1929384"/>
            <a:ext cx="196596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44752" y="1929384"/>
            <a:ext cx="183794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뉴스 보도량
(GDELT)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192938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74136" y="192938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192938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0016" y="192938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0.031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92938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25896" y="192938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1929384"/>
            <a:ext cx="1883664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88352" y="1929384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전체적으로 기여 미미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432304"/>
            <a:ext cx="9601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8056" y="2432304"/>
            <a:ext cx="90525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2432304"/>
            <a:ext cx="196596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444752" y="2432304"/>
            <a:ext cx="183794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뉴스 감성
(GDELT tone)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60" y="2432304"/>
            <a:ext cx="1325880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74136" y="243230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0.011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2432304"/>
            <a:ext cx="1325880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00016" y="243230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432304"/>
            <a:ext cx="1325880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25896" y="243230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2432304"/>
            <a:ext cx="1883664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88352" y="2432304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Granger 1위(F=13.4) → SHAP 최하위
▶ 인과성 ≠ 예측 기여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935224"/>
            <a:ext cx="96012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8056" y="2935224"/>
            <a:ext cx="90525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2935224"/>
            <a:ext cx="196596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444752" y="2935224"/>
            <a:ext cx="183794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YT 조회수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293522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74136" y="293522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0.080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293522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00016" y="293522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0.091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293522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25896" y="293522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0.070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2935224"/>
            <a:ext cx="1883664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88352" y="2935224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Cards·LEGO 최고 기여
3자산 공통 중요 채널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438144"/>
            <a:ext cx="9601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8056" y="3438144"/>
            <a:ext cx="90525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3438144"/>
            <a:ext cx="196596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44752" y="3438144"/>
            <a:ext cx="183794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YT 댓글감성
(FinBERT)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37560" y="343814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374136" y="343814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0.124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43814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00016" y="343814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89320" y="343814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25896" y="3438144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0.021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0" y="3438144"/>
            <a:ext cx="1883664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88352" y="3438144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Sneakers CH1과 동급 기여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3995928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참고  </a:t>
            </a:r>
            <a:r>
              <a:rPr sz="950" i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price_vs_ma3 = 2.93 / price_chg_lag1 = 0.97  →  가격 모멘텀이 예측 분산의 대부분 흡수 (채널 대비 20~30배)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" y="482803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4360" y="482803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CH3(Granger 최강) → SHAP 최하위 · CH4(Granger 비유의) → 3자산 공통 최상위  ▶  </a:t>
            </a:r>
            <a:r>
              <a:rPr sz="115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선행성 ≠ 예측 기여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추가 실험 — 채널만 vs 가격 래그만 vs 전채널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가격 래그 없이 채널만으로 예측 가능한가? · 채널별 단독 기여는?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blation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45" y="1359707"/>
            <a:ext cx="4965870" cy="21241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72160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3. 9개 모형 × 3자산 Ablation AUC (X=Channels-only·★=A-dropGranger가 A보다 유의 우세)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24128"/>
            <a:ext cx="146304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05272" y="1024128"/>
            <a:ext cx="142646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실험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79" y="1024128"/>
            <a:ext cx="658368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102412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Sn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1024128"/>
            <a:ext cx="658368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102412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7616" y="1024128"/>
            <a:ext cx="658368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02412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5984" y="1024128"/>
            <a:ext cx="658368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43416" y="102412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판정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353312"/>
            <a:ext cx="1463040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14416" y="1353312"/>
            <a:ext cx="140817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Model A
(기준)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79" y="1353312"/>
            <a:ext cx="658368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7455" y="1353312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0.841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1353312"/>
            <a:ext cx="658368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35823" y="1353312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0.859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7616" y="1353312"/>
            <a:ext cx="658368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1353312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0.960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1353312"/>
            <a:ext cx="658368" cy="51206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1353312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1865376"/>
            <a:ext cx="1463040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14416" y="1865376"/>
            <a:ext cx="140817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가격 래그만
(채널 없음)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79" y="1865376"/>
            <a:ext cx="658368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77455" y="1865376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0.837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9248" y="1865376"/>
            <a:ext cx="658368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35823" y="1865376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0.863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7616" y="1865376"/>
            <a:ext cx="658368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94192" y="1865376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0.963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15984" y="1865376"/>
            <a:ext cx="658368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0" y="1865376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동등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377440"/>
            <a:ext cx="1463040" cy="512064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14416" y="2377440"/>
            <a:ext cx="140817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채널만
(래그 없음)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79" y="2377440"/>
            <a:ext cx="658368" cy="512064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77455" y="2377440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0.505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9248" y="2377440"/>
            <a:ext cx="658368" cy="512064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35823" y="2377440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0.474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2377440"/>
            <a:ext cx="658368" cy="512064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94192" y="2377440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0.532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15984" y="2377440"/>
            <a:ext cx="658368" cy="512064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52560" y="2377440"/>
            <a:ext cx="60350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예측 불가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77840" y="2980944"/>
            <a:ext cx="4096512" cy="10058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79" y="3054096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채널 단독 + 래그: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CH1~CH5 각각 단독으로 추가해도
Model A와 유의차 없음 (대부분 no diff)</a:t>
            </a:r>
          </a:p>
          <a:p>
            <a:pPr algn="l">
              <a:spcBef>
                <a:spcPts val="400"/>
              </a:spcBef>
            </a:pPr>
            <a:r>
              <a:rPr sz="9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→ 특정 채널이 아닌 가격 래그가
핵심 예측력 원천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482803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82803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채널만으로는 AUC≈0.5(무작위) → 가격 모멘텀이 핵심 예측 동력  |  채널은 보조적 정보 신호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자산별 최적 미디어 채널 조합 —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Granger 선행성 · SHAP 기여도 · DM 검정 교차 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201168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SHAP 상위 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024128"/>
            <a:ext cx="164592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23160" y="102412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Granger 유의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024128"/>
            <a:ext cx="201168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02412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DM 검정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24128"/>
            <a:ext cx="228600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02412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실무 해석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44752"/>
            <a:ext cx="201168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517904"/>
            <a:ext cx="184708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CH1≈CH5 &gt; CH4
&gt; CH3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444752"/>
            <a:ext cx="164592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1517904"/>
            <a:ext cx="148132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{CH1, CH3, CH4}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1444752"/>
            <a:ext cx="201168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1517904"/>
            <a:ext cx="184708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Jordan1: Model A 우세
나머지: 동등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444752"/>
            <a:ext cx="228600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1517904"/>
            <a:ext cx="212140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뉴스감성·댓글 모니터링
정보 비대칭 해소가 가격 촉매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444752"/>
            <a:ext cx="201168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1444752"/>
            <a:ext cx="45720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" y="1444752"/>
            <a:ext cx="1847088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스니커즈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532888"/>
            <a:ext cx="201168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606040"/>
            <a:ext cx="184708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CH4 &gt; CH1 &gt; CH2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2532888"/>
            <a:ext cx="164592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14600" y="2606040"/>
            <a:ext cx="148132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{CH1}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2532888"/>
            <a:ext cx="201168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2606040"/>
            <a:ext cx="184708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73% 동등
CH1 단독 간결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2532888"/>
            <a:ext cx="228600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2606040"/>
            <a:ext cx="212140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Google Trends 1채널로 충분
수요(검색)가 가격에 직접 반응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532888"/>
            <a:ext cx="2011680" cy="10515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" y="2532888"/>
            <a:ext cx="45720" cy="105156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9496" y="2532888"/>
            <a:ext cx="1847088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트레이딩
카드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21024"/>
            <a:ext cx="201168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3694176"/>
            <a:ext cx="184708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CH4 &gt; CH1 &gt; CH5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3621024"/>
            <a:ext cx="164592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14600" y="3694176"/>
            <a:ext cx="148132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80" y="3621024"/>
            <a:ext cx="201168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60520" y="3694176"/>
            <a:ext cx="184708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Falcon: A 약간 우세
나머지: 동등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621024"/>
            <a:ext cx="228600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72200" y="3694176"/>
            <a:ext cx="2121408" cy="92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미디어보다 단종·재고 지배
비선형 신호만 약하게 포착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621024"/>
            <a:ext cx="201168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1480" y="3621024"/>
            <a:ext cx="45720" cy="10515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9496" y="3621024"/>
            <a:ext cx="1847088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레고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견고성 검증 — 어떤 모델로도 같은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XGBoost · CatBoost · RandomForest · ElasticNet · Model A 동일 조건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4128"/>
            <a:ext cx="6092051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40156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4. 4모델 AUC 비교 (Model A, TimeSeriesSplit 5-fold)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024128"/>
            <a:ext cx="3520440" cy="1874519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12080" y="1024128"/>
            <a:ext cx="3520440" cy="384048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024128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왜 CatBoost가 더 높게 나왔나?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1463040"/>
            <a:ext cx="3200400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① Ordered Boosting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  N=48 소표본에서 target leakage
   없는 순서 기반 앙상블 → 과적합 억제</a:t>
            </a:r>
          </a:p>
          <a:p>
            <a:pPr algn="l"/>
            <a:r>
              <a:rPr sz="10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② 강한 기본 정규화</a:t>
            </a:r>
          </a:p>
          <a:p>
            <a:pPr algn="l"/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  Symmetric Trees → 정규화 내재
   튜닝 없이도 tuned XGBoost 이상 성능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944368"/>
            <a:ext cx="3520440" cy="1828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12080" y="2944368"/>
            <a:ext cx="3520440" cy="384048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2944368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그래도 XGBoost가 메인인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3383280"/>
            <a:ext cx="320040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5FA5"/>
                </a:solidFill>
                <a:latin typeface="Calibri"/>
                <a:ea typeface="Malgun Gothic"/>
                <a:cs typeface="Calibri"/>
              </a:rPr>
              <a:t>① SHAP 생태계</a:t>
            </a:r>
          </a:p>
          <a:p>
            <a:pPr algn="l">
              <a:spcAft>
                <a:spcPts val="500"/>
              </a:spcAft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  TreeExplainer → 채널별 기여도 해석
   (본 연구 RQ의 핵심)</a:t>
            </a:r>
          </a:p>
          <a:p>
            <a:pPr algn="l"/>
            <a:r>
              <a:rPr sz="1000" b="1">
                <a:solidFill>
                  <a:srgbClr val="185FA5"/>
                </a:solidFill>
                <a:latin typeface="Calibri"/>
                <a:ea typeface="Malgun Gothic"/>
                <a:cs typeface="Calibri"/>
              </a:rPr>
              <a:t>② 수치 차이 ≠ 통계적 우열</a:t>
            </a:r>
          </a:p>
          <a:p>
            <a:pPr algn="l"/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  CatBoost vs XGBoost DM 검정 미실시
   → 우열 주장 불가, robustness check로만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18888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818888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CatBoost(default)≥tuned XGBoost → </a:t>
            </a:r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예측 신호가 모델 선택에 무관한 구조적 신호임을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결론 — 자산마다 미디어 신호가 다르게 작동한다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3개 집단별 실무 시사점 · 일괄 적용 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2715768" cy="30906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2715768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27157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투자자·수집가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591056"/>
            <a:ext cx="242316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카드: Google Trends를 1~2개월 선행 보조지표로 활용
• 스니커즈: 뉴스 감성·YT 댓글 모니터링 가치 높음
• 레고: 미디어보다 단종·재고 정보 우선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051560"/>
            <a:ext cx="2715768" cy="30906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18688" y="1051560"/>
            <a:ext cx="2715768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18688" y="1051560"/>
            <a:ext cx="27157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플랫폼 운영자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591056"/>
            <a:ext cx="242316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자산 유형별 맞춤 피처 구성 권장
• Granger 선별 채널로 73% 아이템 예측력 유지
• 채널 축소해도 성능 손실 없음 → 비용 효율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051560"/>
            <a:ext cx="2715768" cy="30906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25896" y="1051560"/>
            <a:ext cx="2715768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25896" y="1051560"/>
            <a:ext cx="27157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학술 연구자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591056"/>
            <a:ext cx="242316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공개 데이터 → Granger 선별 → XGBoost+SHAP+DM
  파이프라인은 명품·시계 등으로 확장 가능
• Granger 선행성 ≠ ML 예측력 — 두 개념 구분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핵심: 미디어 선행성은 자산 유형마다 다름 — </a:t>
            </a:r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cards CH1이 3종 검정 모두 통과한 유일하고 견고한 신호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한계 &amp; 후속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탐색적 발견으로 한정 · 확증 연구를 위한 발전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024128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1556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소표본 (N=48)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63040"/>
            <a:ext cx="22860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2022년부터 확보 가능한 월별 체결가
→ 결과는 탐색적, 확증 해석 지양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024128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54680" y="1024128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9272" y="111556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Google Trends 결측
(레고 2종)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463040"/>
            <a:ext cx="22860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porsche·bugatti: 21~25/48 zero
→ 레고 CH1 신호 품질 제한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024128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97880" y="1024128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62472" y="111556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GDELT 감성 (CH3)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1463040"/>
            <a:ext cx="22860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NewsAPI 30일 제한으로 대체 사용
→ FinBERT 대비 도메인 특화도 낮음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33472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2633472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72491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가격 모멘텀 압도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072384"/>
            <a:ext cx="22860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SHAP에서 price_vs_ma3가 채널의
20~30배 → 채널 기여 과소 측정 위험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2633472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54680" y="2633472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9272" y="272491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단위 불일치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3072384"/>
            <a:ext cx="22860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Granger=자산, XGBoost=아이템
→ 선별 채널 일반화 시 정보 손실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2633472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2633472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62472" y="272491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sneakers_yeezy 보간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3072384"/>
            <a:ext cx="22860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4개월 선형보간 처리
→ 논문 limitation 명시됨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261104"/>
            <a:ext cx="8321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향후:  ① 5년+ 패널  ② FinBERT CH3 교체  ③ CatBoost-XGBoost DM 검정  ④ 사전 등록(pre-registration) 확증 연구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한계를 투명하게 밝히고 BH·DH·VAR 삼각검증으로 스스로 검증 — 탐색적 발견으로 한정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3255</TotalTime>
  <Words>1631</Words>
  <Application>Microsoft Office PowerPoint</Application>
  <PresentationFormat>화면 슬라이드 쇼(16:9)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리셀 시장 미디어 선행 지표 연구</dc:title>
  <dc:subject>PptxGenJS Presentation</dc:subject>
  <dc:creator>PptxGenJS</dc:creator>
  <cp:lastModifiedBy>이승현(2022314025)</cp:lastModifiedBy>
  <cp:revision>66</cp:revision>
  <dcterms:created xsi:type="dcterms:W3CDTF">2026-04-09T08:16:19Z</dcterms:created>
  <dcterms:modified xsi:type="dcterms:W3CDTF">2026-06-02T05:01:12Z</dcterms:modified>
</cp:coreProperties>
</file>