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585216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  <a:latin typeface="Calibri"/>
              </a:rPr>
              <a:t>  참고문헌  (References)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85216"/>
            <a:ext cx="12188952" cy="2011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64592" y="658368"/>
            <a:ext cx="5852160" cy="6126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b="1" sz="950">
                <a:solidFill>
                  <a:srgbClr val="2E6DA4"/>
                </a:solidFill>
                <a:latin typeface="Calibri"/>
              </a:rPr>
              <a:t>계량경제 · 통계 방법론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[1]  </a:t>
            </a:r>
            <a:r>
              <a:rPr b="0" sz="750">
                <a:solidFill>
                  <a:srgbClr val="333333"/>
                </a:solidFill>
                <a:latin typeface="Calibri"/>
              </a:rPr>
              <a:t>Granger, C.W.J. (1969). Investigating Causal Relations by Econometric Models. Econometrica, 37(3), 424–438.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[2]  </a:t>
            </a:r>
            <a:r>
              <a:rPr b="0" sz="750">
                <a:solidFill>
                  <a:srgbClr val="333333"/>
                </a:solidFill>
                <a:latin typeface="Calibri"/>
              </a:rPr>
              <a:t>Dickey, D.A. &amp; Fuller, W.A. (1979). Distribution of Estimators for AR Time Series With a Unit Root. JASA, 74, 427–431.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[3]  </a:t>
            </a:r>
            <a:r>
              <a:rPr b="0" sz="750">
                <a:solidFill>
                  <a:srgbClr val="333333"/>
                </a:solidFill>
                <a:latin typeface="Calibri"/>
              </a:rPr>
              <a:t>Schwarz, G. (1978). Estimating the Dimension of a Model. Annals of Statistics, 6(2), 461–464.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[4]  </a:t>
            </a:r>
            <a:r>
              <a:rPr b="0" sz="750">
                <a:solidFill>
                  <a:srgbClr val="333333"/>
                </a:solidFill>
                <a:latin typeface="Calibri"/>
              </a:rPr>
              <a:t>Diebold, F.X. &amp; Mariano, R.S. (1995). Comparing Predictive Accuracy. JBES, 13(3), 253–263.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[5]  </a:t>
            </a:r>
            <a:r>
              <a:rPr b="0" sz="750">
                <a:solidFill>
                  <a:srgbClr val="333333"/>
                </a:solidFill>
                <a:latin typeface="Calibri"/>
              </a:rPr>
              <a:t>Benjamini, Y. &amp; Hochberg, Y. (1995). Controlling the False Discovery Rate. JRSS-B, 57(1), 289–300.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[6]  </a:t>
            </a:r>
            <a:r>
              <a:rPr b="0" sz="750">
                <a:solidFill>
                  <a:srgbClr val="333333"/>
                </a:solidFill>
                <a:latin typeface="Calibri"/>
              </a:rPr>
              <a:t>Lütkepohl, H. (2005). New Introduction to Multiple Time Series Analysis. Springer.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[7]  </a:t>
            </a:r>
            <a:r>
              <a:rPr b="0" sz="750">
                <a:solidFill>
                  <a:srgbClr val="333333"/>
                </a:solidFill>
                <a:latin typeface="Calibri"/>
              </a:rPr>
              <a:t>West, K.D. (1996). Asymptotic Inference About Predictive Ability. Econometrica, 64(5), 1067–1084.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[8]  </a:t>
            </a:r>
            <a:r>
              <a:rPr b="0" sz="750">
                <a:solidFill>
                  <a:srgbClr val="333333"/>
                </a:solidFill>
                <a:latin typeface="Calibri"/>
              </a:rPr>
              <a:t>Hansen, P.R. (2005). A Test for Superior Predictive Ability. JBES, 23(4), 365–380.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4768" y="658368"/>
            <a:ext cx="5852160" cy="6126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[9]  </a:t>
            </a:r>
            <a:r>
              <a:rPr b="0" sz="750">
                <a:solidFill>
                  <a:srgbClr val="333333"/>
                </a:solidFill>
                <a:latin typeface="Calibri"/>
              </a:rPr>
              <a:t>Hansen, P.R., Lunde, A. &amp; Nason, J.M. (2011). The Model Confidence Set. Econometrica, 79(2), 453–497.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[10]  </a:t>
            </a:r>
            <a:r>
              <a:rPr b="0" sz="750">
                <a:solidFill>
                  <a:srgbClr val="333333"/>
                </a:solidFill>
                <a:latin typeface="Calibri"/>
              </a:rPr>
              <a:t>Holtz-Eakin, D., Newey, W. &amp; Rosen, H.S. (1988). Estimating Vector Autoregressions with Panel Data. Econometrica, 56(6), 1371–1395.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[11]  </a:t>
            </a:r>
            <a:r>
              <a:rPr b="0" sz="750">
                <a:solidFill>
                  <a:srgbClr val="333333"/>
                </a:solidFill>
                <a:latin typeface="Calibri"/>
              </a:rPr>
              <a:t>Dumitrescu, E.-I. &amp; Hurlin, C. (2012). Testing for Granger Non-causality in Heterogeneous Panels. Economic Modelling, 29(4), 1450–1460.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b="1" sz="950">
                <a:solidFill>
                  <a:srgbClr val="2E6DA4"/>
                </a:solidFill>
                <a:latin typeface="Calibri"/>
              </a:rPr>
              <a:t>대안 자산 · 수집품 시장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[12]  </a:t>
            </a:r>
            <a:r>
              <a:rPr b="0" sz="750">
                <a:solidFill>
                  <a:srgbClr val="333333"/>
                </a:solidFill>
                <a:latin typeface="Calibri"/>
              </a:rPr>
              <a:t>Burton, B.J. &amp; Jacobsen, J.P. (1999). Measuring Returns on Investments in Collectibles. JEP, 13(4), 193–212.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[13]  </a:t>
            </a:r>
            <a:r>
              <a:rPr b="0" sz="750">
                <a:solidFill>
                  <a:srgbClr val="333333"/>
                </a:solidFill>
                <a:latin typeface="Calibri"/>
              </a:rPr>
              <a:t>Mei, J. &amp; Moses, M. (2002). Art as an Investment and the Underperformance of Masterpieces. AER, 92(5), 1656–1668.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[14]  </a:t>
            </a:r>
            <a:r>
              <a:rPr b="0" sz="750">
                <a:solidFill>
                  <a:srgbClr val="333333"/>
                </a:solidFill>
                <a:latin typeface="Calibri"/>
              </a:rPr>
              <a:t>Renneboog, L. &amp; Spaenjers, C. (2013). Buying Beauty: On Prices and Returns in the Art Market. Management Science, 59(1), 36–53.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[15]  </a:t>
            </a:r>
            <a:r>
              <a:rPr b="0" sz="750">
                <a:solidFill>
                  <a:srgbClr val="333333"/>
                </a:solidFill>
                <a:latin typeface="Calibri"/>
              </a:rPr>
              <a:t>Dimson, E., Rousseau, P.L. &amp; Spaenjers, C. (2015). The Price of Wine. Journal of Financial Economics, 118(2), 431–449.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[16]  </a:t>
            </a:r>
            <a:r>
              <a:rPr b="0" sz="750">
                <a:solidFill>
                  <a:srgbClr val="333333"/>
                </a:solidFill>
                <a:latin typeface="Calibri"/>
              </a:rPr>
              <a:t>Dobrynskaya, V. &amp; Kishilova, J. (2022). LEGO: The Toy of Smart Investors. Research in International Business and Finance, 59, 101539.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[17]  </a:t>
            </a:r>
            <a:r>
              <a:rPr b="0" sz="750">
                <a:solidFill>
                  <a:srgbClr val="333333"/>
                </a:solidFill>
                <a:latin typeface="Calibri"/>
              </a:rPr>
              <a:t>Raditya, D. et al. (2021). Predicting Sneaker Resale Prices Using Machine Learning. Procedia Computer Science, 179, 533–540.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b="1" sz="950">
                <a:solidFill>
                  <a:srgbClr val="2E6DA4"/>
                </a:solidFill>
                <a:latin typeface="Calibri"/>
              </a:rPr>
              <a:t>미디어 · 정보 수요 → 자산 가격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[18]  </a:t>
            </a:r>
            <a:r>
              <a:rPr b="0" sz="750">
                <a:solidFill>
                  <a:srgbClr val="333333"/>
                </a:solidFill>
                <a:latin typeface="Calibri"/>
              </a:rPr>
              <a:t>Tetlock, P.C. (2007). Giving Content to Investor Sentiment: The Role of Media in the Stock Market. Journal of Finance, 62(3), 1139–1168.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[19]  </a:t>
            </a:r>
            <a:r>
              <a:rPr b="0" sz="750">
                <a:solidFill>
                  <a:srgbClr val="333333"/>
                </a:solidFill>
                <a:latin typeface="Calibri"/>
              </a:rPr>
              <a:t>Antweiler, W. &amp; Frank, M.Z. (2004). Is All That Talk Just Noise? JF, 59(3), 1259–1294.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[20]  </a:t>
            </a:r>
            <a:r>
              <a:rPr b="0" sz="750">
                <a:solidFill>
                  <a:srgbClr val="333333"/>
                </a:solidFill>
                <a:latin typeface="Calibri"/>
              </a:rPr>
              <a:t>Tetlock, P.C., Saar-Tsechansky, M. &amp; Macskassy, S. (2008). More Than Words. JF, 63(3), 1437–1467.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[21]  </a:t>
            </a:r>
            <a:r>
              <a:rPr b="0" sz="750">
                <a:solidFill>
                  <a:srgbClr val="333333"/>
                </a:solidFill>
                <a:latin typeface="Calibri"/>
              </a:rPr>
              <a:t>Engelberg, J.E. &amp; Parsons, C.A. (2011). The Causal Impact of Media in Financial Markets. JF, 66(1), 67–97.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[22]  </a:t>
            </a:r>
            <a:r>
              <a:rPr b="0" sz="750">
                <a:solidFill>
                  <a:srgbClr val="333333"/>
                </a:solidFill>
                <a:latin typeface="Calibri"/>
              </a:rPr>
              <a:t>Loughran, T. &amp; McDonald, B. (2011). When Is a Liability Not a Liability? JF, 66(1), 35–65.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[23]  </a:t>
            </a:r>
            <a:r>
              <a:rPr b="0" sz="750">
                <a:solidFill>
                  <a:srgbClr val="333333"/>
                </a:solidFill>
                <a:latin typeface="Calibri"/>
              </a:rPr>
              <a:t>García, D. (2013). Sentiment During Recessions. JF, 68(3), 1267–1300.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[24]  </a:t>
            </a:r>
            <a:r>
              <a:rPr b="0" sz="750">
                <a:solidFill>
                  <a:srgbClr val="333333"/>
                </a:solidFill>
                <a:latin typeface="Calibri"/>
              </a:rPr>
              <a:t>Kearney, C. &amp; Liu, S. (2014). Textual Sentiment in Finance: A Survey. IRFA, 33, 171–185.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[25]  </a:t>
            </a:r>
            <a:r>
              <a:rPr b="0" sz="750">
                <a:solidFill>
                  <a:srgbClr val="333333"/>
                </a:solidFill>
                <a:latin typeface="Calibri"/>
              </a:rPr>
              <a:t>Heston, S.L. &amp; Sinha, N.R. (2017). News vs. Sentiment: Predicting Stock Returns. Financial Analysts Journal, 73(3), 67–83.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[26]  </a:t>
            </a:r>
            <a:r>
              <a:rPr b="0" sz="750">
                <a:solidFill>
                  <a:srgbClr val="333333"/>
                </a:solidFill>
                <a:latin typeface="Calibri"/>
              </a:rPr>
              <a:t>Da, Z., Engelberg, J. &amp; Gao, P. (2011). In Search of Attention. JF, 66(5), 1461–1499.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[27]  </a:t>
            </a:r>
            <a:r>
              <a:rPr b="0" sz="750">
                <a:solidFill>
                  <a:srgbClr val="333333"/>
                </a:solidFill>
                <a:latin typeface="Calibri"/>
              </a:rPr>
              <a:t>Preis, T., Moat, H.S. &amp; Stanley, H.E. (2013). Quantifying Trading Behavior Using Google Trends. Scientific Reports, 3, 1684.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[28]  </a:t>
            </a:r>
            <a:r>
              <a:rPr b="0" sz="750">
                <a:solidFill>
                  <a:srgbClr val="333333"/>
                </a:solidFill>
                <a:latin typeface="Calibri"/>
              </a:rPr>
              <a:t>Bollen, J., Mao, H. &amp; Zeng, X. (2011). Twitter Mood Predicts the Stock Market. J. Computational Science, 2(1), 1–8.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[29]  </a:t>
            </a:r>
            <a:r>
              <a:rPr b="0" sz="750">
                <a:solidFill>
                  <a:srgbClr val="333333"/>
                </a:solidFill>
                <a:latin typeface="Calibri"/>
              </a:rPr>
              <a:t>Vlastakis, N. &amp; Markellos, R.N. (2012). Information Demand and Stock Market Volatility. J. Banking &amp; Finance, 36(6), 1808–1821.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[30]  </a:t>
            </a:r>
            <a:r>
              <a:rPr b="0" sz="750">
                <a:solidFill>
                  <a:srgbClr val="333333"/>
                </a:solidFill>
                <a:latin typeface="Calibri"/>
              </a:rPr>
              <a:t>Vozlyublennaia, N. (2014). Investor Attention, Index Performance, and Return Predictability. J. Banking &amp; Finance, 41, 17–35.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[31]  </a:t>
            </a:r>
            <a:r>
              <a:rPr b="0" sz="750">
                <a:solidFill>
                  <a:srgbClr val="333333"/>
                </a:solidFill>
                <a:latin typeface="Calibri"/>
              </a:rPr>
              <a:t>Bordino, I. et al. (2012). Web Search Queries Can Predict Stock Market Volumes. PLoS One, 7(7), e40014.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[32]  </a:t>
            </a:r>
            <a:r>
              <a:rPr b="0" sz="750">
                <a:solidFill>
                  <a:srgbClr val="333333"/>
                </a:solidFill>
                <a:latin typeface="Calibri"/>
              </a:rPr>
              <a:t>Moat, H.S. et al. (2013). Quantifying Wikipedia Usage Patterns Before Stock Market Moves. Scientific Reports, 3, 1801.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[33]  </a:t>
            </a:r>
            <a:r>
              <a:rPr b="0" sz="750">
                <a:solidFill>
                  <a:srgbClr val="333333"/>
                </a:solidFill>
                <a:latin typeface="Calibri"/>
              </a:rPr>
              <a:t>Joseph, K., Wintoki, M.B. &amp; Zhang, Z. (2011). Forecasting Abnormal Returns Using Investor Sentiment: Evidence from Online Search. IJF, 27(4), 1116–1127.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[34]  </a:t>
            </a:r>
            <a:r>
              <a:rPr b="0" sz="750">
                <a:solidFill>
                  <a:srgbClr val="333333"/>
                </a:solidFill>
                <a:latin typeface="Calibri"/>
              </a:rPr>
              <a:t>Sprenger, T.O. et al. (2014). Tweets and Trades: The Information Content of Stock Microblogs. EFM, 20(5), 926–957.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[35]  </a:t>
            </a:r>
            <a:r>
              <a:rPr b="0" sz="750">
                <a:solidFill>
                  <a:srgbClr val="333333"/>
                </a:solidFill>
                <a:latin typeface="Calibri"/>
              </a:rPr>
              <a:t>Loughran, T. &amp; McDonald, B. (2016). Textual Analysis in Accounting and Finance: A Survey. JAR, 54(4), 1187–1230.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b="1" sz="950">
                <a:solidFill>
                  <a:srgbClr val="2E6DA4"/>
                </a:solidFill>
                <a:latin typeface="Calibri"/>
              </a:rPr>
              <a:t>머신러닝 · NLP · 데이터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[36]  </a:t>
            </a:r>
            <a:r>
              <a:rPr b="0" sz="750">
                <a:solidFill>
                  <a:srgbClr val="333333"/>
                </a:solidFill>
                <a:latin typeface="Calibri"/>
              </a:rPr>
              <a:t>Chen, T. &amp; Guestrin, C. (2016). XGBoost: A Scalable Tree Boosting System. KDD 2016, 785–794.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[37]  </a:t>
            </a:r>
            <a:r>
              <a:rPr b="0" sz="750">
                <a:solidFill>
                  <a:srgbClr val="333333"/>
                </a:solidFill>
                <a:latin typeface="Calibri"/>
              </a:rPr>
              <a:t>Lundberg, S.M. &amp; Lee, S.-I. (2017). A Unified Approach to Interpreting Model Predictions. NeurIPS 30, 4765–4774.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[38]  </a:t>
            </a:r>
            <a:r>
              <a:rPr b="0" sz="750">
                <a:solidFill>
                  <a:srgbClr val="333333"/>
                </a:solidFill>
                <a:latin typeface="Calibri"/>
              </a:rPr>
              <a:t>Araci, D. (2019). FinBERT: Financial Sentiment Analysis with Pre-trained Language Models. arXiv:1908.10063.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[39]  </a:t>
            </a:r>
            <a:r>
              <a:rPr b="0" sz="750">
                <a:solidFill>
                  <a:srgbClr val="333333"/>
                </a:solidFill>
                <a:latin typeface="Calibri"/>
              </a:rPr>
              <a:t>Devlin, J. et al. (2019). BERT: Pre-training of Deep Bidirectional Transformers. NAACL-HLT 2019, 4171–4186.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[40]  </a:t>
            </a:r>
            <a:r>
              <a:rPr b="0" sz="750">
                <a:solidFill>
                  <a:srgbClr val="333333"/>
                </a:solidFill>
                <a:latin typeface="Calibri"/>
              </a:rPr>
              <a:t>Gu, S., Kelly, B. &amp; Xiu, D. (2020). Empirical Asset Pricing via Machine Learning. RFS, 33(5), 2223–2273.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[41]  </a:t>
            </a:r>
            <a:r>
              <a:rPr b="0" sz="750">
                <a:solidFill>
                  <a:srgbClr val="333333"/>
                </a:solidFill>
                <a:latin typeface="Calibri"/>
              </a:rPr>
              <a:t>Akiba, T. et al. (2019). Optuna: A Next-Generation Hyperparameter Optimization Framework. KDD 2019, 2623–2631.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[42]  </a:t>
            </a:r>
            <a:r>
              <a:rPr b="0" sz="750">
                <a:solidFill>
                  <a:srgbClr val="333333"/>
                </a:solidFill>
                <a:latin typeface="Calibri"/>
              </a:rPr>
              <a:t>Welch, I. &amp; Goyal, A. (2008). A Comprehensive Look at Equity Premium Prediction. RFS, 21(4), 1455–1508.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b="1" sz="750">
                <a:solidFill>
                  <a:srgbClr val="1F2D4E"/>
                </a:solidFill>
                <a:latin typeface="Calibri"/>
              </a:rPr>
              <a:t>[43]  </a:t>
            </a:r>
            <a:r>
              <a:rPr b="0" sz="750">
                <a:solidFill>
                  <a:srgbClr val="333333"/>
                </a:solidFill>
                <a:latin typeface="Calibri"/>
              </a:rPr>
              <a:t>Leetaru, K. &amp; Schrodt, P.A. (2013). GDELT: Global Data on Events, Location and Tone, 1979–2012. ISA Annual Convention.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