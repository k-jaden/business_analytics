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466344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FFFFFF"/>
                </a:solidFill>
                <a:latin typeface="Calibri"/>
              </a:rPr>
              <a:t>Media Channels as Leading Indicators in Resale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700">
                <a:solidFill>
                  <a:srgbClr val="9BC4E2"/>
                </a:solidFill>
                <a:latin typeface="Calibri"/>
              </a:rPr>
              <a:t>A Multi-Asset Granger Causality Analysis with XGBoost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CCDDEE"/>
                </a:solidFill>
                <a:latin typeface="Calibri"/>
              </a:rPr>
              <a:t>Sneakers  ·  Trading Cards  ·  LEGO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AABBCC"/>
                </a:solidFill>
                <a:latin typeface="Calibri"/>
              </a:rPr>
              <a:t>2022.01 – 2025.12   ·   N = 48 months × 15 items × 5 media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7799BB"/>
                </a:solidFill>
                <a:latin typeface="Calibri"/>
              </a:rPr>
              <a:t>K-Jaden  |  Department of Finance  |  2026.06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Research Background &amp;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Prior work addresses media→stock OR resale prices — no study combines multi-channel analysis across resale asset classes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0881360" cy="5349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2011680"/>
                <a:gridCol w="2011680"/>
                <a:gridCol w="3108960"/>
              </a:tblGrid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 Domain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Media Input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Gap for This Study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Tetlock (2007)
J. Finance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S&amp;P 500 stocks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News pessimism (WSJ)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VAR / OLS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Single channel; traditional assets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Da, Engelberg &amp; Gao (2011)
J. Finance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Individual stocks
(CRSP universe)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Google SVI (1 query/stock)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Granger causality;
return prediction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Single channel; traditional assets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Bollen et al. (2011)
J. Comp. Sci.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DJIA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Twitter mood
(6 emotion dims.)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Granger causality; SVM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Single asset class; single platform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Zhang et al. (2018)
Knowledge-Based Sys.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Stock market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News + events + price
(multi-source)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Multi-source instance
learning (ML)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No Granger test; no resale market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Campello et al. (2021)
Procedia Comp. Sci.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 (StockX)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No media channels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Random Forest,
XGBoost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No media signals; single asset class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4177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► This Study (2026)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 · Cards · LEGO
(3 resale classes)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5 channels: Google Trends
+ News Vol/Sent + YouTube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Granger + SHAP +
DM test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← Fills all three gaps simultaneously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Dataset: 15 Items × 3 Asset Classes  (2022.01 – 2025.12, N = 48 months/item)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Prices collected from StockX (sneakers), PriceCharting (trading cards), BrickRanker (LEGO)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0515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1188720"/>
                <a:gridCol w="1554480"/>
                <a:gridCol w="2011680"/>
                <a:gridCol w="1097280"/>
              </a:tblGrid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 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 Name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 Metric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sneakers_jordan1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Jordan 1 Retro High OG Bordeaux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Mean price,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Nike Dunk Low 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Mean price,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sneakers_yeezy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Yeezy 350 V2 Zebra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Mean price,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*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sneakers_travis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Travis Scott Jordan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Mean price,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sneakers_nb550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Balance 550 White Green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Mean price,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cards_charizard1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Charizard VMAX Shining Fates SV107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cards_umbreon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Umbreon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cards_rayquaza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Rayquaza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cards_pikachu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Pikachu VMAX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cards_charizard2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Charizard GX Hidden Fates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lego_falcon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Millennium Falcon 75192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sealed price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lego_hogwarts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Hogwarts Castle 71043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sealed price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lego_titanic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Titanic 10294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sealed price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lego_porsche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Porsche 911 42096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sealed price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37185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lego_bugatti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Bugatti Chiron 42083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sealed price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750">
                <a:solidFill>
                  <a:srgbClr val="555555"/>
                </a:solidFill>
                <a:latin typeface="Calibri"/>
              </a:rPr>
              <a:t>* Yeezy: 4 months imputed (linear interpolation) due to StockX 100-interval sampling artifact   † LEGO Porsche (21/48) &amp; Bugatti (25/48): high Google Trends zero-week rate — noted as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Five Media Channels (CH1–CH5)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Raw signals transformed before Granger analysis; z-score applied separately for XGBoost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0607040" cy="4389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645920"/>
                <a:gridCol w="2377440"/>
                <a:gridCol w="2286000"/>
                <a:gridCol w="1097280"/>
                <a:gridCol w="2560320"/>
              </a:tblGrid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 Name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Raw Data Source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Conceptual Proxy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pytrends API
(monthly average, geo='')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Direct — no rescaling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 – 100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Search attention /
consumer interest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News Volume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GDELT timelinevolnorm
(daily → monthly avg)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Max-norm within item → 0–1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 – 1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Media exposure /
coverage intensity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</a:tr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News Sentiment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GDELT timelinetone
(daily → monthly avg)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÷10 normalization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−1 to 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Media tone /
market sentiment proxy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YouTube Views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YouTube Data API v3
(relevance search, per month)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log1p → z-score within item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Information-seeking
intent (resell/review)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731519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YT Comment Sentiment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FinBERT P(pos) – P(neg)
top-15 videos × 30 comments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Monthly average of
P(pos) – P(neg) scores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−1 to +1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Retail investor
sentiment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55321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50">
                <a:solidFill>
                  <a:srgbClr val="555555"/>
                </a:solidFill>
                <a:latin typeface="Calibri"/>
              </a:rPr>
              <a:t>⚠  CH3 limitation: GDELT tone is auto-computed (not FinBERT) — lower domain specificity.  ⚠  CH4 limitation: 'resell+review' keyword may undercount general hype.  Both discussed in §5.3.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Three testable hypotheses spanning temporal causality, channel heterogeneity, and predictive parsimony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108960"/>
                <a:gridCol w="3017520"/>
                <a:gridCol w="2011680"/>
                <a:gridCol w="2560320"/>
              </a:tblGrid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Statistical Test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Metric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H₀ / Expected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Do media channels Granger-cause
resale prices in any asset class?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Bivariate Granger causality
(15 tests: 3 assets × 5 channels)
BH-FDR correction at q = 0.05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F-statistic
Raw p-value
BH-adjusted p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H₀: no Granger causality
Expected: ≥1 channel sig.
per asset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Does the set of leading channels
differ across asset classes?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similarity on
Granger-significant channel sets
from RQ1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index
(0 = fully different
1 = identical sets)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H₀: identical channel sets
Expected: J &lt; 0.5
(asset-specific channels)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Do Granger-selected channels
achieve accuracy ≥ all-channel model?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XGBoost: Model A (all CH)
vs Model C (top CH)
Diebold-Mariano test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AUC-ROC
ΔAUC
DM p-value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H₀: equal accuracy
Expected: fail to reject
→ parsimony confirmed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Preprocessing: ADF Stationarity Test  (n = 48 obs per series)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All series tested at 5% significance; non-stationary series first-differenced before Granger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9464040" cy="5349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08760"/>
                <a:gridCol w="1554480"/>
                <a:gridCol w="1280160"/>
                <a:gridCol w="822960"/>
                <a:gridCol w="3017520"/>
              </a:tblGrid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ADF Stat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I(0)?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 Taken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−2.131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−0.297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0.926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0.120  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−5.646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−3.558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−3.973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−4.361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−2.046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0.007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−2.175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−4.879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−1.834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−1.958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−3.902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−2.511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−1.154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1st diff → p = 0.000  ✓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−5.919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−5.817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−6.595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  <a:tr h="281538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−3.001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  (stationary)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73952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■ Green = I(0): already stationary   ■ Orange = I(1): first-differenced before Granger   ⚠ Sneakers CH1: p = 0.120 after differencing (borderline non-stationary — noted as limitation)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RQ1: Granger Causality — All 15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Bivariate VAR; lag selected by AIC (range 1–4); Benjamini-Hochberg FDR correction at q = 0.05 (m = 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088135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48840"/>
                <a:gridCol w="502920"/>
                <a:gridCol w="1051560"/>
                <a:gridCol w="960120"/>
                <a:gridCol w="1188720"/>
                <a:gridCol w="1783080"/>
                <a:gridCol w="1874519"/>
              </a:tblGrid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Lag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F-stat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Raw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BH adj.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Raw Verdict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BH Verdict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News Sentiment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13.385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SIGNIFICANT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Google Trends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8.417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0.0058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SIGNIFICANT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YouTube Views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4.729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 (BH)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Google Trends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 (BH)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Google Trends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3.922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 (BH)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News Volume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YT Sentiment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News Volume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0.398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News Sentiment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1.409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YouTube 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YT Sentiment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News Volume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News Sentiment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YouTube 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1.833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575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YT Sentiment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n.s.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30936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■ Dark green = BH-significant (2/15)   ■ Pale gold = significant before BH, fails after (2/15)   ■ Yellow = marginal p&lt;0.10 (1/15)   ■ Gray = not significant (10/15)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RQ1: Granger Causality — Heatmap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F-statistic heatmap across all 15 tests; significant pairs highlighted</a:t>
            </a:r>
          </a:p>
        </p:txBody>
      </p:sp>
      <p:pic>
        <p:nvPicPr>
          <p:cNvPr id="5" name="Picture 4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1175004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971032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F-statistic heatmap (3 assets × 5 channels). Color intensity = F-value. Bold border = BH-significant (q &lt; 0.05). Only 2 cells survive FDR correction: Sneakers←CH3 and Cards←CH1.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080760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1F2D4E"/>
                </a:solidFill>
                <a:latin typeface="Calibri"/>
              </a:rPr>
              <a:t>RQ1 Answer: Media channels Granger-cause resale prices in 2 of 15 tests (BH q&lt;0.05). Effect is asset- and channel-specific — not universal across all resale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RQ2: Channel Heterogeneity — Jaccard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Comparing significant channel sets across asset classes; J=0 (fully different) to J=1 (identical)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8138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56032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Raw Sig. Channels
(p &lt; 0.05)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BH-Sig. Channels
(q &lt; 0.05)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Set Size (BH)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CH1, CH3, CH4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— (none)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— (none)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58200" y="100584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Jaccard Index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71800"/>
            <a:ext cx="117500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199632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Left: Jaccard similarity matrix.  Right: Venn diagram of BH-significant channel sets. Partial overlap between Sneakers and Cards (CH1 shared), zero overlap with LEGO.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236208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1F2D4E"/>
                </a:solidFill>
                <a:latin typeface="Calibri"/>
              </a:rPr>
              <a:t>RQ2 Answer: J(Sneakers, Cards) = 0.333 — partial overlap. J(*,LEGO) = 0.000. Channel composition differs across asset classes → supports asset-specific media channel hypothesis.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RQ3: XGBoost Model Design &amp; 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Model A (all channels) vs. Model C (top channels); TimeSeriesSplit prevents look-ahead bias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1704320" cy="5074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0400"/>
                <a:gridCol w="3200400"/>
                <a:gridCol w="3200400"/>
              </a:tblGrid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A  — Full Channels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C  — Top Channels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This Matters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Input channels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Control + CH1 + CH2 + CH3 + CH4 + CH5
(all 5 media channels)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Control + Granger-/SHAP-selected
top channels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Test parsimony:
fewer channels, same accuracy?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Control features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price_vs_ma3
price_chg_lag1, lag2, lag3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Remove price autocorrelation
and trend confounding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Target variable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price_direction  (0/1)
month-over-month binary change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Classification task;
threshold-free eval via AUC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Cross-validation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TimeSeriesSplit(n_splits=5)
No shuffle — maintains temporal order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No data leakage into
future time windows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Primary metric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AUC-ROC  (fold average ± σ)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AUC-ROC  (fold average ± σ)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Standard binary classification;
insensitive to class imbalance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Comparison 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Diebold-Mariano test
H₀: equal predictive 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DM p &gt; 0.05 → parsimony confirmed
(top-CH matches full-CH)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2179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TimeSeriesSplit(n_splits=5)  →  Fold 1: [1–10]→[11–12]  |  Fold 2: [1–20]→[21–22]  |  ...  |  Fold 5: [1–40]→[41–48]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RQ3: Multi-Model AUC Comparison  (TimeSeriesSplit CV, AUC-ROC)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XGBoost · CatBoost · Random Forest · ElasticNet across 3 asset classes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828800"/>
                <a:gridCol w="16459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Asset Class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Best Tree Model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(0.960)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(0.975)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0.706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XGBoost  (0.960)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0.657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(overall)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63240"/>
            <a:ext cx="117500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108192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AUC-ROC by model and asset class. Dashed line = 0.5 (random baseline). Tree-based models (CatBoost ≈ RF &gt; XGBoost) substantially outperform ElasticNet, confirming that nonlinear channel interactions matter for resale price direction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RQ3: Diebold-Mariano Test — Model A vs. Model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H₀: equal predictive accuracy (two-sided); DM ~ N(0,1); comparing XGBoost all-channel vs top-channel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24358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737360"/>
                <a:gridCol w="1097280"/>
                <a:gridCol w="1463040"/>
                <a:gridCol w="1371600"/>
                <a:gridCol w="1828800"/>
                <a:gridCol w="1828800"/>
              </a:tblGrid>
              <a:tr h="53721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AUC — Model A
(All Channels)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AUC — Model C
(Top Channels)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ΔAUC
(C −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Statistic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p-value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−0.417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Fail to reject H₀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Parsimony confirmed ✓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−0.670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Fail to reject H₀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Parsimony confirmed ✓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Fail to reject H₀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Parsimony confirmed ✓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46120"/>
            <a:ext cx="1175004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062472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DM test statistics with 95% confidence band (dashed: ±1.96). All three assets fall within |DM| &lt; 1.96, confirming no significant accuracy difference between full-channel and top-channel models across all folds.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153912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1F2D4E"/>
                </a:solidFill>
                <a:latin typeface="Calibri"/>
              </a:rPr>
              <a:t>RQ3 Answer: Top-channel model matches full-channel accuracy for all 3 assets (DM p &gt; 0.50). Granger-selected channels achieve parsimony without sacrificing predictive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SHAP Feature Importance — Channel Contributions by Asset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TreeSHAP mean |SHAP| from XGBoost Model A (classification). Higher = larger contribution to predictions.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1841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08760"/>
                <a:gridCol w="1508760"/>
                <a:gridCol w="1508760"/>
                <a:gridCol w="1508760"/>
                <a:gridCol w="1508760"/>
                <a:gridCol w="301752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SHAP Rank 1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SHAP Rank 2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SHAP Rank 3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SHAP Rank 4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SHAP Rank 5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Granger vs. SHAP Alignment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Sneakers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 (0.125)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 (0.124)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 (0.080)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 (0.011)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 (~0)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= top Granger (F=13.4)
but rank 4 in SHAP
→ Temporal lead ≠ feature importance
(Granger: causal precedence;
SHAP: cross-sectional weight)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Cards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 (0.091)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 (0.048)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 (0.031)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 (~0)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 (~0)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= top Granger (F=8.4)
&amp; rank 2 in SHAP  ✓
→ Consistent across both tests
(robust leading indicator)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LEGO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  (0.070)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  (0.036)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  (0.021)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  (~0)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  (~0)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No Granger-significant channel
but CH4 top in SHAP
→ Contemporaneous association
without temporal precedence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657600"/>
            <a:ext cx="1175004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199632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Mean |SHAP| value per channel per asset class (XGBoost Model A). SHAP captures within-model feature relevance; Granger tests temporal precedence — the two are complementary. Divergence (Sneakers CH3) reflects short-lag causal lead that has modest cross-sectional weight.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Robustness Check: Impulse Response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Shock to media channel → dynamic price response over 6 months  (95% bootstrap CI, 1,000 replications)</a:t>
            </a:r>
          </a:p>
        </p:txBody>
      </p:sp>
      <p:pic>
        <p:nvPicPr>
          <p:cNvPr id="5" name="Picture 4" descr="irf_sneakers_c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57607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05663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Sneakers ← CH3 (News Sentiment). Negative price response at lag 1–2 (bearish news leads price drop); effect decays by lag 4. Consistent with short-lived sentiment lead.</a:t>
            </a:r>
          </a:p>
        </p:txBody>
      </p:sp>
      <p:pic>
        <p:nvPicPr>
          <p:cNvPr id="7" name="Picture 6" descr="irf_cards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73328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056632"/>
            <a:ext cx="5733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800">
                <a:solidFill>
                  <a:srgbClr val="555555"/>
                </a:solidFill>
                <a:latin typeface="Calibri"/>
              </a:rPr>
              <a:t>Note. Cards ← CH1 (Google Trends). Positive price response at lag 1 (demand signal); dampening by lag 3. Consistent with Granger F=8.4 and SHAP rank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166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1F2D4E"/>
                </a:solidFill>
                <a:latin typeface="Calibri"/>
              </a:rPr>
              <a:t>Both IRFs confirm direction, sign, and decay profile of the two BH-significant Granger pairs. Results are consistent with Granger F-statistics, SHAP rankings, and economic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Methodological constraints and data quality issues; all discussed in paper §5.3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05613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737360"/>
                <a:gridCol w="3200400"/>
                <a:gridCol w="1097280"/>
                <a:gridCol w="4114800"/>
              </a:tblGrid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Small N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N=48 monthly obs per asset; under-powered
for complex VAR structures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Report raw + BH p; note power limitation explicitly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Weak stationarity
(Sneakers CH1)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ADF p=0.120 after 1st diff — borderline
non-stationary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Treat CH1 Granger result cautiously;
included in paper limitation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domain
specificity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GDELT tone = auto-extracted (not FinBERT);
lower domain precision than NewsAPI+FinBERT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Noted; sensitivity analysis in appendix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keyword bias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resell+review filter may undercount
general hype or fan content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Consistent keyword protocol across items;
noted as limitation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LEGO GT
zero-weeks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Porsche 21/48, Bugatti 25/48
have zero GT weeks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Report zero proportion in table;
exclude from strong conclusions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z-score data
leakage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StandardScaler fit on full panel
before TimeSeriesSplit folds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N=48 → practical impact minimal;
noted in §5.3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Single-platform
bias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YouTube only — excludes TikTok,
Reddit, Twitter/X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Noted as future work opportunity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Yeezy imputation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4 months linearly interpolated due
to StockX sampling artifact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tx_count=0 flagged; interpolation noted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Conclusion &amp;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555555"/>
                </a:solidFill>
                <a:latin typeface="Calibri"/>
              </a:rPr>
              <a:t>Summary of empirical findings (RQ1–RQ3) and scholarly contributions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05840"/>
          <a:ext cx="113842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011680"/>
                <a:gridCol w="5486400"/>
                <a:gridCol w="3200400"/>
              </a:tblGrid>
              <a:tr h="74295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Question (short)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Empirical Finding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Evidence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Media channels
Granger-cause
resale prices?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YES — 2 of 15 tests survive BH-FDR:
• Sneakers ← CH3 News Sentiment  (F=13.4, p=0.001)
• Cards ← CH1 Google Trends  (F=8.4, p=0.006)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Granger causality test;
BH correction (q=0.05, m=15)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Channel sets
differ across
assets?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YES — low Jaccard similarity:
• J(Sneakers, Cards) = 0.333  (partial overlap via CH1)
• J(*, LEGO) = 0.000  (LEGO: no significant channel)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index;
channel set comparison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Top-channel model
≥ full-channel
accuracy?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YES — DM test fails to reject H₀ for all 3 assets:
• DM p = 0.678 / 0.504 / 0.646  (all &gt; 0.50)
→ Parsimony confirmed without accuracy loss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Diebold-Mariano test;
AUC-ROC comparison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4114800"/>
          <a:ext cx="115214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052560"/>
              </a:tblGrid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Scholarly Contribution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Novel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First systematic multi-channel Granger analysis applied to resale / alternative asset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Multi-asset comparison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Demonstrates channel heterogeneity: no single channel universally leads all asset classes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Methodological triangulation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Combines Granger causality (temporal precedence) + SHAP (feature contribution) + DM test (forecast comparison)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Practical implication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CH3 (news sentiment) for sneakers, CH1 (Google Trends) for trading cards: actionable leading indicators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6473952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1F2D4E"/>
                </a:solidFill>
                <a:latin typeface="Calibri"/>
              </a:rPr>
              <a:t>Thank you  ·  Questions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800">
                <a:solidFill>
                  <a:srgbClr val="555555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