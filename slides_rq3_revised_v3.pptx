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579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왜 채널을 골라도 예측력이 좋아지지 않을까? — 비교 논문과 다른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 err="1">
                <a:solidFill>
                  <a:srgbClr val="444444"/>
                </a:solidFill>
                <a:latin typeface="맑은 고딕"/>
              </a:rPr>
              <a:t>그랜저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검정으로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1" dirty="0">
                <a:solidFill>
                  <a:srgbClr val="2E6DA4"/>
                </a:solidFill>
                <a:latin typeface="맑은 고딕"/>
              </a:rPr>
              <a:t>'</a:t>
            </a:r>
            <a:r>
              <a:rPr sz="1300" b="1" dirty="0" err="1">
                <a:solidFill>
                  <a:srgbClr val="2E6DA4"/>
                </a:solidFill>
                <a:latin typeface="맑은 고딕"/>
              </a:rPr>
              <a:t>무엇을</a:t>
            </a:r>
            <a:r>
              <a:rPr sz="1300" b="1" dirty="0">
                <a:solidFill>
                  <a:srgbClr val="2E6DA4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2E6DA4"/>
                </a:solidFill>
                <a:latin typeface="맑은 고딕"/>
              </a:rPr>
              <a:t>고르느냐'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에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따라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결과가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달라짐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— 본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연구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데이터로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직접</a:t>
            </a:r>
            <a:r>
              <a:rPr sz="1300" b="0" dirty="0">
                <a:solidFill>
                  <a:srgbClr val="44444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맑은 고딕"/>
              </a:rPr>
              <a:t>확인</a:t>
            </a:r>
            <a:endParaRPr sz="1300" b="0" dirty="0">
              <a:solidFill>
                <a:srgbClr val="444444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2880" y="1449324"/>
            <a:ext cx="11640312" cy="877824"/>
          </a:xfrm>
          <a:prstGeom prst="roundRect">
            <a:avLst/>
          </a:prstGeom>
          <a:solidFill>
            <a:srgbClr val="FCF0E6"/>
          </a:solidFill>
          <a:ln w="1905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" y="1582076"/>
            <a:ext cx="11338560" cy="648896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E87722"/>
                </a:solidFill>
                <a:latin typeface="맑은 고딕"/>
              </a:rPr>
              <a:t>비교</a:t>
            </a:r>
            <a:r>
              <a:rPr sz="120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E87722"/>
                </a:solidFill>
                <a:latin typeface="맑은 고딕"/>
              </a:rPr>
              <a:t>논문</a:t>
            </a:r>
            <a:r>
              <a:rPr sz="1200" b="1" dirty="0">
                <a:solidFill>
                  <a:srgbClr val="E87722"/>
                </a:solidFill>
                <a:latin typeface="맑은 고딕"/>
              </a:rPr>
              <a:t> (Olaniyan, 2024)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그랜저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검정으로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가격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데이터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시가·고가·저가·종가·거래량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) 중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중요한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것만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골라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모델에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넣음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예측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오차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감소</a:t>
            </a:r>
            <a:endParaRPr sz="11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E87722"/>
                </a:solidFill>
                <a:latin typeface="맑은 고딕"/>
              </a:rPr>
              <a:t>본 </a:t>
            </a:r>
            <a:r>
              <a:rPr sz="1200" b="1" dirty="0" err="1">
                <a:solidFill>
                  <a:srgbClr val="E87722"/>
                </a:solidFill>
                <a:latin typeface="맑은 고딕"/>
              </a:rPr>
              <a:t>연구</a:t>
            </a:r>
            <a:r>
              <a:rPr sz="1200" b="1" dirty="0">
                <a:solidFill>
                  <a:srgbClr val="E87722"/>
                </a:solidFill>
                <a:latin typeface="맑은 고딕"/>
              </a:rPr>
              <a:t> 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그랜저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검정으로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미디어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신호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검색량·뉴스·유튜브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등) 중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먼저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움직이는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것만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골라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모델에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넣음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예측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정확도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변화</a:t>
            </a:r>
            <a:r>
              <a:rPr sz="11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0A0A0A"/>
                </a:solidFill>
                <a:latin typeface="맑은 고딕"/>
              </a:rPr>
              <a:t>없음</a:t>
            </a:r>
            <a:endParaRPr sz="115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sz="1150" b="0" dirty="0">
                <a:solidFill>
                  <a:srgbClr val="0A0A0A"/>
                </a:solidFill>
                <a:latin typeface="맑은 고딕"/>
              </a:rPr>
              <a:t>→  </a:t>
            </a:r>
            <a:r>
              <a:rPr lang="ko-KR" altLang="en-US" sz="1150" dirty="0">
                <a:solidFill>
                  <a:srgbClr val="0A0A0A"/>
                </a:solidFill>
                <a:latin typeface="맑은 고딕"/>
              </a:rPr>
              <a:t>차이는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고른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대상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자체가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다르기</a:t>
            </a:r>
            <a:r>
              <a:rPr sz="1150" b="1" dirty="0">
                <a:solidFill>
                  <a:srgbClr val="E87722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E87722"/>
                </a:solidFill>
                <a:latin typeface="맑은 고딕"/>
              </a:rPr>
              <a:t>때문</a:t>
            </a:r>
            <a:endParaRPr sz="1150" b="1" dirty="0">
              <a:solidFill>
                <a:srgbClr val="E87722"/>
              </a:solidFill>
              <a:latin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64592" y="2482596"/>
            <a:ext cx="5632704" cy="1965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4592" y="2482596"/>
            <a:ext cx="563270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" y="2500884"/>
            <a:ext cx="563270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비교 논문이 고른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2939796"/>
            <a:ext cx="5449824" cy="329184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가격·거래량 데이터 자체 (시가·고가·저가·종가·거래량)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23844"/>
            <a:ext cx="5413248" cy="105156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가격은 원래부터 예측의 핵심 재료 — 어제 가격으로 오늘 가격을 짐작 가능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그랜저 검정은 '이 핵심 재료 중 어떤 걸 쓸지'만 정리한 것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→ 핵심 정보는 그대로 모델에 남아서 예측이 좋아짐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482596"/>
            <a:ext cx="5632704" cy="1965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80760" y="2482596"/>
            <a:ext cx="5632704" cy="384048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2500884"/>
            <a:ext cx="563270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본 연구가 고른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2939796"/>
            <a:ext cx="5449824" cy="329184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1F2D4E"/>
                </a:solidFill>
                <a:latin typeface="맑은 고딕"/>
              </a:rPr>
              <a:t>검색량·뉴스·유튜브</a:t>
            </a:r>
            <a:r>
              <a:rPr sz="12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맑은 고딕"/>
              </a:rPr>
              <a:t>같은</a:t>
            </a:r>
            <a:r>
              <a:rPr sz="12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맑은 고딕"/>
              </a:rPr>
              <a:t>미디어</a:t>
            </a:r>
            <a:r>
              <a:rPr sz="120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맑은 고딕"/>
              </a:rPr>
              <a:t>신호</a:t>
            </a:r>
            <a:r>
              <a:rPr sz="1200" b="1" dirty="0">
                <a:solidFill>
                  <a:srgbClr val="1F2D4E"/>
                </a:solidFill>
                <a:latin typeface="맑은 고딕"/>
              </a:rPr>
              <a:t> (CH1~5)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323844"/>
            <a:ext cx="5413248" cy="1051560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가격의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최근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흐름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상승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하락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추세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)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정보는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모든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모델에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이미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들어있음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미디어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신호는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그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위에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'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추가'로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얹는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보조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정보일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뿐</a:t>
            </a:r>
          </a:p>
          <a:p>
            <a:pPr algn="l">
              <a:spcAft>
                <a:spcPts val="7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그랜저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검정은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'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어떤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신호가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가격보다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먼저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움직이는가'를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찾은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" y="4969764"/>
            <a:ext cx="11640312" cy="73152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1752" y="5218992"/>
            <a:ext cx="11338560" cy="251351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dirty="0" err="1">
                <a:solidFill>
                  <a:srgbClr val="FFFFFF"/>
                </a:solidFill>
                <a:latin typeface="맑은 고딕"/>
              </a:rPr>
              <a:t>결론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가격의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최근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흐름이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예측력의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거의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전부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—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미디어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맑은 고딕"/>
              </a:rPr>
              <a:t>신호는</a:t>
            </a:r>
            <a:r>
              <a:rPr sz="1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'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먼저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움직인다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선행성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)'는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맞지만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예측에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추가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도움은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거의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없</a:t>
            </a:r>
            <a:r>
              <a:rPr lang="ko-KR" altLang="en-US" sz="1200" b="1" dirty="0" err="1">
                <a:solidFill>
                  <a:srgbClr val="FFFFFF"/>
                </a:solidFill>
                <a:latin typeface="맑은 고딕"/>
              </a:rPr>
              <a:t>었음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연구의 한계 — 솔직하게 짚어두는 6가지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과장된 결론을 막기 위해 한계를 투명하게 밝힘 —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탐색적 발견으로 한정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69848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1.  표본이 적음 (48개월)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자산마다 4년치(48개월) 데이터만 사용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이 정도로는 '확실한 증거'라고 말하기엔 부족함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926079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2944368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단정적 결론 대신 '탐색적 발견'으로 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4" y="1051560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15384" y="1051560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5384" y="1069848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2.  스니커즈 검색량 데이터의 불안정함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508760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스니커즈의 구글 검색량 데이터는 시간이 지나도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패턴이 들쭉날쭉함 (경계선 수준)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926079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79976" y="2944368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해석 시 주의가 필요하다고 명시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051560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56448" y="1051560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1069848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3.  뉴스 감성 분석의 정밀도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08760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원래는 금융 전문 AI로 뉴스 감성을 분석할 계획이었으나,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범용 자동분석 도구로 대체 → 금융 특화도가 다소 낮음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6" y="2926079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944368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한계로 명시 + 추가 검증(민감도 분석) 수행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547872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" y="3547872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3566160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4.  레고 일부 모델의 검색량 부족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005072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레고 중 포르쉐·부가티 모델은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구글 검색량이 0인 달이 많아 신호가 약함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5422392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5440679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이 모델들에는 강한 결론을 내리지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15384" y="3547872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215384" y="3547872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15384" y="3566160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5.  유튜브만 분석함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4005072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미디어 채널 중 유튜브만 분석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틱톡·트위터(X) 같은 다른 플랫폼은 포함 안 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5112" y="5422392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79976" y="5440679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향후 연구에서 다른 플랫폼으로 확장 가능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6448" y="3547872"/>
            <a:ext cx="3758184" cy="2331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56448" y="3547872"/>
            <a:ext cx="375818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56448" y="3566160"/>
            <a:ext cx="3758184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6.  데이터 표준화 방식의 한계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4005072"/>
            <a:ext cx="3538728" cy="1417319"/>
          </a:xfrm>
          <a:prstGeom prst="rect">
            <a:avLst/>
          </a:prstGeom>
          <a:noFill/>
        </p:spPr>
        <p:txBody>
          <a:bodyPr wrap="square" lIns="63500" tIns="25400" rIns="635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머신러닝에 넣기 전 데이터를 표준화할 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A0A0A"/>
                </a:solidFill>
                <a:latin typeface="맑은 고딕"/>
              </a:rPr>
              <a:t>•  전체 기간을 한 번에 사용함 (정확히는 학습 구간만 써야 함)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6176" y="5422392"/>
            <a:ext cx="3538728" cy="384048"/>
          </a:xfrm>
          <a:prstGeom prst="roundRect">
            <a:avLst/>
          </a:prstGeom>
          <a:solidFill>
            <a:srgbClr val="FCF0E6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5440679"/>
            <a:ext cx="3429000" cy="347472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7722"/>
                </a:solidFill>
                <a:latin typeface="맑은 고딕"/>
              </a:rPr>
              <a:t>→  표본이 적어 영향은 작지만 한계로 명시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6044183"/>
            <a:ext cx="11640312" cy="603504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6062471"/>
            <a:ext cx="11338560" cy="566928"/>
          </a:xfrm>
          <a:prstGeom prst="rect">
            <a:avLst/>
          </a:prstGeom>
          <a:noFill/>
        </p:spPr>
        <p:txBody>
          <a:bodyPr wrap="square" lIns="63500" tIns="25400" rIns="635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그래도  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자산별·기간별로 나눠 다시 검증해봐도 같은 결과 → </a:t>
            </a:r>
            <a:r>
              <a:rPr sz="1200" b="1">
                <a:solidFill>
                  <a:srgbClr val="FFFFFF"/>
                </a:solidFill>
                <a:latin typeface="맑은 고딕"/>
              </a:rPr>
              <a:t>'확정된 결론'이 아닌 '앞으로 더 검증해볼 가설'로 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467</Words>
  <Application>Microsoft Office PowerPoint</Application>
  <PresentationFormat>사용자 지정</PresentationFormat>
  <Paragraphs>43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2026-06-13T12:44:39Z</dcterms:modified>
  <cp:category/>
</cp:coreProperties>
</file>