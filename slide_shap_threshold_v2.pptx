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54864"/>
            <a:ext cx="11704320" cy="640080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맑은 고딕"/>
              </a:rPr>
              <a:t>채널 선택 기준 = '평균 중요도 임계값' (기준 점선)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4114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841248"/>
            <a:ext cx="11704320" cy="365760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44444"/>
                </a:solidFill>
                <a:latin typeface="맑은 고딕"/>
              </a:rPr>
              <a:t>채널 5개 SHAP의 </a:t>
            </a:r>
            <a:r>
              <a:rPr sz="1300" b="1">
                <a:solidFill>
                  <a:srgbClr val="E87722"/>
                </a:solidFill>
                <a:latin typeface="맑은 고딕"/>
              </a:rPr>
              <a:t>평균에 점선을 긋고, 그 위만 선택</a:t>
            </a:r>
            <a:r>
              <a:rPr sz="1300" b="0">
                <a:solidFill>
                  <a:srgbClr val="444444"/>
                </a:solidFill>
                <a:latin typeface="맑은 고딕"/>
              </a:rPr>
              <a:t> — 반 평균 점수와 같은 원리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3931920" cy="3493008"/>
          </a:xfrm>
          <a:prstGeom prst="roundRect">
            <a:avLst/>
          </a:prstGeom>
          <a:solidFill>
            <a:srgbClr val="EAF1FA"/>
          </a:solidFill>
          <a:ln w="1270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298448"/>
            <a:ext cx="3602736" cy="365760"/>
          </a:xfrm>
          <a:prstGeom prst="rect">
            <a:avLst/>
          </a:prstGeom>
          <a:noFill/>
        </p:spPr>
        <p:txBody>
          <a:bodyPr wrap="square" anchor="t" lIns="50800" rIns="508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E6DA4"/>
                </a:solidFill>
                <a:latin typeface="맑은 고딕"/>
              </a:rPr>
              <a:t>'평균 중요도 임계값'이란?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737360"/>
            <a:ext cx="3602736" cy="2834639"/>
          </a:xfrm>
          <a:prstGeom prst="rect">
            <a:avLst/>
          </a:prstGeom>
          <a:noFill/>
        </p:spPr>
        <p:txBody>
          <a:bodyPr wrap="square" anchor="t" lIns="50800" rIns="508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7722"/>
                </a:solidFill>
                <a:latin typeface="맑은 고딕"/>
              </a:rPr>
              <a:t>반 평균 점수와 똑같은 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084832"/>
            <a:ext cx="3602736" cy="2487168"/>
          </a:xfrm>
          <a:prstGeom prst="rect">
            <a:avLst/>
          </a:prstGeom>
          <a:noFill/>
        </p:spPr>
        <p:txBody>
          <a:bodyPr wrap="square" anchor="t" lIns="50800" rIns="508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0A0A0A"/>
                </a:solidFill>
                <a:latin typeface="맑은 고딕"/>
              </a:rPr>
              <a:t>①  채널 5개의 SHAP(기여도) 점수를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0A0A0A"/>
                </a:solidFill>
                <a:latin typeface="맑은 고딕"/>
              </a:rPr>
              <a:t>     모두 더해 5로 나눔 → </a:t>
            </a:r>
            <a:r>
              <a:rPr sz="1150" b="1">
                <a:solidFill>
                  <a:srgbClr val="1E7E34"/>
                </a:solidFill>
                <a:latin typeface="맑은 고딕"/>
              </a:rPr>
              <a:t>평균</a:t>
            </a:r>
          </a:p>
          <a:p>
            <a:pPr algn="l">
              <a:spcAft>
                <a:spcPts val="300"/>
              </a:spcAft>
            </a:pPr>
            <a:r>
              <a:rPr sz="500" b="0">
                <a:solidFill>
                  <a:srgbClr val="0A0A0A"/>
                </a:solidFill>
                <a:latin typeface="맑은 고딕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0A0A0A"/>
                </a:solidFill>
                <a:latin typeface="맑은 고딕"/>
              </a:rPr>
              <a:t>②  그 평균값에 </a:t>
            </a:r>
            <a:r>
              <a:rPr sz="1150" b="1">
                <a:solidFill>
                  <a:srgbClr val="E87722"/>
                </a:solidFill>
                <a:latin typeface="맑은 고딕"/>
              </a:rPr>
              <a:t>기준 점선</a:t>
            </a:r>
            <a:r>
              <a:rPr sz="1150" b="0">
                <a:solidFill>
                  <a:srgbClr val="0A0A0A"/>
                </a:solidFill>
                <a:latin typeface="맑은 고딕"/>
              </a:rPr>
              <a:t>을 그음</a:t>
            </a:r>
          </a:p>
          <a:p>
            <a:pPr algn="l">
              <a:spcAft>
                <a:spcPts val="300"/>
              </a:spcAft>
            </a:pPr>
            <a:r>
              <a:rPr sz="500" b="0">
                <a:solidFill>
                  <a:srgbClr val="0A0A0A"/>
                </a:solidFill>
                <a:latin typeface="맑은 고딕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0A0A0A"/>
                </a:solidFill>
                <a:latin typeface="맑은 고딕"/>
              </a:rPr>
              <a:t>③  점선보다 </a:t>
            </a:r>
            <a:r>
              <a:rPr sz="1150" b="1">
                <a:solidFill>
                  <a:srgbClr val="1E7E34"/>
                </a:solidFill>
                <a:latin typeface="맑은 고딕"/>
              </a:rPr>
              <a:t>위 = 선택</a:t>
            </a:r>
            <a:r>
              <a:rPr sz="1150" b="0">
                <a:solidFill>
                  <a:srgbClr val="0A0A0A"/>
                </a:solidFill>
                <a:latin typeface="맑은 고딕"/>
              </a:rPr>
              <a:t> / </a:t>
            </a:r>
            <a:r>
              <a:rPr sz="1150" b="1">
                <a:solidFill>
                  <a:srgbClr val="999999"/>
                </a:solidFill>
                <a:latin typeface="맑은 고딕"/>
              </a:rPr>
              <a:t>아래 = 탈락</a:t>
            </a:r>
          </a:p>
          <a:p>
            <a:pPr algn="l">
              <a:spcAft>
                <a:spcPts val="300"/>
              </a:spcAft>
            </a:pPr>
            <a:r>
              <a:rPr sz="700" b="0">
                <a:solidFill>
                  <a:srgbClr val="0A0A0A"/>
                </a:solidFill>
                <a:latin typeface="맑은 고딕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1F2D4E"/>
                </a:solidFill>
                <a:latin typeface="맑은 고딕"/>
              </a:rPr>
              <a:t>핵심: 내가 '2개'라고 정하는 게 아니라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1F2D4E"/>
                </a:solidFill>
                <a:latin typeface="맑은 고딕"/>
              </a:rPr>
              <a:t>점선(평균)이 개수를 자동으로 정함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44444"/>
                </a:solidFill>
                <a:latin typeface="맑은 고딕"/>
              </a:rPr>
              <a:t>→ 임의성 없는 객관적 기준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188720"/>
            <a:ext cx="7488936" cy="349300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1298448"/>
            <a:ext cx="7251192" cy="271012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74320" y="4846320"/>
            <a:ext cx="11640312" cy="1444752"/>
          </a:xfrm>
          <a:prstGeom prst="roundRect">
            <a:avLst/>
          </a:prstGeom>
          <a:solidFill>
            <a:srgbClr val="E7F2E9"/>
          </a:solidFill>
          <a:ln w="12700">
            <a:solidFill>
              <a:srgbClr val="1E7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4919472"/>
            <a:ext cx="11311128" cy="292608"/>
          </a:xfrm>
          <a:prstGeom prst="rect">
            <a:avLst/>
          </a:prstGeom>
          <a:noFill/>
        </p:spPr>
        <p:txBody>
          <a:bodyPr wrap="square" anchor="t" lIns="50800" rIns="508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E7E34"/>
                </a:solidFill>
                <a:latin typeface="맑은 고딕"/>
              </a:rPr>
              <a:t>기준선을 적용한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5230368"/>
            <a:ext cx="11311128" cy="987552"/>
          </a:xfrm>
          <a:prstGeom prst="rect">
            <a:avLst/>
          </a:prstGeom>
          <a:noFill/>
        </p:spPr>
        <p:txBody>
          <a:bodyPr wrap="square" anchor="t" lIns="50800" rIns="508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0A0A0A"/>
                </a:solidFill>
                <a:latin typeface="맑은 고딕"/>
              </a:rPr>
              <a:t>•  세 자산 모두 </a:t>
            </a:r>
            <a:r>
              <a:rPr sz="1150" b="1">
                <a:solidFill>
                  <a:srgbClr val="1E7E34"/>
                </a:solidFill>
                <a:latin typeface="맑은 고딕"/>
              </a:rPr>
              <a:t>기준선 위 채널이 정확히 2개씩</a:t>
            </a:r>
            <a:r>
              <a:rPr sz="1150" b="0">
                <a:solidFill>
                  <a:srgbClr val="0A0A0A"/>
                </a:solidFill>
                <a:latin typeface="맑은 고딕"/>
              </a:rPr>
              <a:t> 선택됨  —  스니커즈 CH1+CH5 · 카드 CH4+CH5 · 레고 CH4+CH5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A0A0A"/>
                </a:solidFill>
                <a:latin typeface="맑은 고딕"/>
              </a:rPr>
              <a:t>•  선택 모델(2채널)을 전채널(5채널) 모델과 DM 검정 비교 → </a:t>
            </a:r>
            <a:r>
              <a:rPr sz="1150" b="1">
                <a:solidFill>
                  <a:srgbClr val="1E7E34"/>
                </a:solidFill>
                <a:latin typeface="맑은 고딕"/>
              </a:rPr>
              <a:t>셋 다 동등</a:t>
            </a:r>
            <a:r>
              <a:rPr sz="1150" b="0">
                <a:solidFill>
                  <a:srgbClr val="0A0A0A"/>
                </a:solidFill>
                <a:latin typeface="맑은 고딕"/>
              </a:rPr>
              <a:t>  (스니커즈 p=0.678 · 카드 p=0.254 · 레고 p=0.646)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444444"/>
                </a:solidFill>
                <a:latin typeface="맑은 고딕"/>
              </a:rPr>
              <a:t>※ 방법 출처: </a:t>
            </a:r>
            <a:r>
              <a:rPr sz="950" b="1">
                <a:solidFill>
                  <a:srgbClr val="2E6DA4"/>
                </a:solidFill>
                <a:latin typeface="맑은 고딕"/>
              </a:rPr>
              <a:t>scikit-learn SelectFromModel 기본 기준(threshold='mean')</a:t>
            </a:r>
            <a:r>
              <a:rPr sz="950" b="0">
                <a:solidFill>
                  <a:srgbClr val="444444"/>
                </a:solidFill>
                <a:latin typeface="맑은 고딕"/>
              </a:rPr>
              <a:t>  ·  Wang, Liang, Hancock &amp; Khoshgoftaar (2024), Journal of Big Data 11(1):44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6382512"/>
            <a:ext cx="11640312" cy="36576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6382512"/>
            <a:ext cx="11365992" cy="365760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결론  </a:t>
            </a:r>
            <a:r>
              <a:rPr sz="1150" b="1">
                <a:solidFill>
                  <a:srgbClr val="FFFFFF"/>
                </a:solidFill>
                <a:latin typeface="맑은 고딕"/>
              </a:rPr>
              <a:t>'평균(기준 점선)보다 기여가 큰 채널만 남긴다'</a:t>
            </a:r>
            <a:r>
              <a:rPr sz="1150" b="0">
                <a:solidFill>
                  <a:srgbClr val="FFFFFF"/>
                </a:solidFill>
                <a:latin typeface="맑은 고딕"/>
              </a:rPr>
              <a:t>는 객관적 규칙 → 자산별 2채널로도 전채널과 동등 → 간결성 입증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