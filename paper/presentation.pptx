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9D6E3"/>
                </a:solidFill>
                <a:latin typeface="맑은 고딕"/>
              </a:rPr>
              <a:t>Empirical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미디어 채널은 리셀 시장 가격을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선행하는가?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0E8F0"/>
                </a:solidFill>
                <a:latin typeface="맑은 고딕"/>
              </a:rPr>
              <a:t>자산 유형별 Granger 인과성 분석과 머신러닝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7C4D2"/>
                </a:solidFill>
                <a:latin typeface="맑은 고딕"/>
              </a:rPr>
              <a:t>스니커즈 · 트레이딩 카드 · 레고  |  2022.01 – 2025.12  |  N=48 months × 15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7C4D2"/>
                </a:solidFill>
                <a:latin typeface="맑은 고딕"/>
              </a:rPr>
              <a:t>발표자: [저자명]    |    2026.05.19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연구 동기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리셀 시장은 정보 비대칭과 ‘관심(attention)’에 민감한 대안 자산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B2E4F"/>
                </a:solidFill>
                <a:latin typeface="맑은 고딕"/>
              </a:rPr>
              <a:t>• 스니커즈(StockX), PSA 카드, 단종 LEGO — 표준화된 디지털 거래 인프라로 빠른 성장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2E4F"/>
                </a:solidFill>
                <a:latin typeface="맑은 고딕"/>
              </a:rPr>
              <a:t>• 주식 시장 대비 </a:t>
            </a:r>
            <a:r>
              <a:rPr sz="1600" b="1">
                <a:solidFill>
                  <a:srgbClr val="0B2E4F"/>
                </a:solidFill>
                <a:latin typeface="맑은 고딕"/>
              </a:rPr>
              <a:t>거래량은 작지만</a:t>
            </a:r>
            <a:r>
              <a:rPr sz="1600" b="0">
                <a:solidFill>
                  <a:srgbClr val="0B2E4F"/>
                </a:solidFill>
                <a:latin typeface="맑은 고딕"/>
              </a:rPr>
              <a:t>, 정보·관심에 의한 가격 결정 메커니즘은 유사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2E4F"/>
                </a:solidFill>
                <a:latin typeface="맑은 고딕"/>
              </a:rPr>
              <a:t>• 기존 금융 연구: 검색·뉴스·SNS 무드가 자산 가격을 선행 (Da et al. 2011; Tetlock 2007; Bollen et al. 2011)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E4F"/>
                </a:solidFill>
                <a:latin typeface="맑은 고딕"/>
              </a:rPr>
              <a:t>❓ 연구 공백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B2E4F"/>
                </a:solidFill>
                <a:latin typeface="맑은 고딕"/>
              </a:rPr>
              <a:t>• 리셀 시장에 동일 직관이 작동하는지에 대한 </a:t>
            </a:r>
            <a:r>
              <a:rPr sz="1500" b="1">
                <a:solidFill>
                  <a:srgbClr val="0B2E4F"/>
                </a:solidFill>
                <a:latin typeface="맑은 고딕"/>
              </a:rPr>
              <a:t>실증 연구가 거의 부재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B2E4F"/>
                </a:solidFill>
                <a:latin typeface="맑은 고딕"/>
              </a:rPr>
              <a:t>• 자산 유형별로 </a:t>
            </a:r>
            <a:r>
              <a:rPr sz="1500" b="1">
                <a:solidFill>
                  <a:srgbClr val="0B2E4F"/>
                </a:solidFill>
                <a:latin typeface="맑은 고딕"/>
              </a:rPr>
              <a:t>어떤 미디어 채널이 선행하는지</a:t>
            </a:r>
            <a:r>
              <a:rPr sz="1500" b="0">
                <a:solidFill>
                  <a:srgbClr val="0B2E4F"/>
                </a:solidFill>
                <a:latin typeface="맑은 고딕"/>
              </a:rPr>
              <a:t> 비교 가능한 설계가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연구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3703320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RQ1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370332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채널의 선행성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다섯 가지 미디어 채널은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각 리셀 자산의 가격을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Granger 의미에서 선행하는가?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754880"/>
            <a:ext cx="3337560" cy="457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920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맑은 고딕"/>
              </a:rPr>
              <a:t>검증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5780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자산별 단독 Granger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3 자산 × 5 채널 = 15회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703320" cy="640080"/>
          </a:xfrm>
          <a:prstGeom prst="rect">
            <a:avLst/>
          </a:prstGeom>
          <a:solidFill>
            <a:srgbClr val="3B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7160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RQ2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370332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채널 구성의 이질성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8892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유의한 채널 구성이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자산 유형(스니커즈·카드·레고)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마다 다른가?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754880"/>
            <a:ext cx="3337560" cy="457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8920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맑은 고딕"/>
              </a:rPr>
              <a:t>검증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25780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유의 채널 집합 간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Jaccard 유사도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1371600"/>
            <a:ext cx="370332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37160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RQ3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011680"/>
            <a:ext cx="370332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1945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예측력 등가성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78892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Granger로 선별한 채널만으로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학습한 모형(B)이 전 채널 모형(A)과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동등 또는 더 우수한가?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4754880"/>
            <a:ext cx="3337560" cy="457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8920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맑은 고딕"/>
              </a:rPr>
              <a:t>검증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25780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XGBoost + SHAP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Diebold–Mariano 검정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데이터 패널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2022.01 – 2025.12 (48개월) | 3 자산군 × 5 아이템 = 15 아이템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749039" cy="5486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Sneakers (StockX)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749039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US Size 10, 월별 평균 가격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347471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Jordan 1 Bordeaux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Nike Dunk Low Panda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Yeezy 350 V2 Zebra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Travis Scott Jordan 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New Balance 550 White/Green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399" y="1417320"/>
            <a:ext cx="3749039" cy="548640"/>
          </a:xfrm>
          <a:prstGeom prst="rect">
            <a:avLst/>
          </a:prstGeom>
          <a:solidFill>
            <a:srgbClr val="3B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41732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Cards (PriceCharting)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965960"/>
            <a:ext cx="3749039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116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PSA 10, 월별 평균 가격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377440"/>
            <a:ext cx="347471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Charizard VMAX SV107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Charizard GX Hidden Fates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Umbreon VMAX Alt Art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Rayquaza VMAX Alt Art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Pikachu VMAX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417320"/>
            <a:ext cx="3749039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8" y="141732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LEGO (BrickRanker)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965960"/>
            <a:ext cx="3749039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8" y="20116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New Sealed, 월별 가격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2377440"/>
            <a:ext cx="347471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Millennium Falcon 75192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Hogwarts Castle 71043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Titanic 10294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Porsche 911 42096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– Bugatti Chiron 42083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E4F"/>
                </a:solidFill>
                <a:latin typeface="맑은 고딕"/>
              </a:rPr>
              <a:t>패널 규모 및 한계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총 관측치: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15 아이템 × 48 개월 = 720 아이템-월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tx_count&lt;3 월은 선형보간 / 연속 3개월 이상 결측은 한계 명시 (예: yeezy 4개월 보간)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LEGO porsche·bugatti: CH1 zero값 비율 다소 높음 → 한계 절 기재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미디어 채널 (5개)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원시 데이터 → 점수 변환 후 분석 투입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240280" cy="7315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CH1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Google Trends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4884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변환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965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4F"/>
                </a:solidFill>
                <a:latin typeface="맑은 고딕"/>
              </a:rPr>
              <a:t>pytrends 월평균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0 – 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1417320"/>
            <a:ext cx="2240280" cy="731520"/>
          </a:xfrm>
          <a:prstGeom prst="rect">
            <a:avLst/>
          </a:prstGeom>
          <a:solidFill>
            <a:srgbClr val="3B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417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CH2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7830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뉴스 보도량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14884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23317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변환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651760"/>
            <a:ext cx="1965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4F"/>
                </a:solidFill>
                <a:latin typeface="맑은 고딕"/>
              </a:rPr>
              <a:t>GDELT timelinevolnorm 월평균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8862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0 –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11496" y="1417320"/>
            <a:ext cx="2240280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1496" y="1417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CH3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17830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뉴스 감성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11496" y="214884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8656" y="23317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변환 방식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6" y="2651760"/>
            <a:ext cx="1965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4F"/>
                </a:solidFill>
                <a:latin typeface="맑은 고딕"/>
              </a:rPr>
              <a:t>GDELT timelinetone ÷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6" y="38862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-1 ~ +1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61504" y="1417320"/>
            <a:ext cx="2240280" cy="731520"/>
          </a:xfrm>
          <a:prstGeom prst="rect">
            <a:avLst/>
          </a:prstGeom>
          <a:solidFill>
            <a:srgbClr val="1E8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1417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CH4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17830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YouTube 조회수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61504" y="214884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23317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변환 방식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8664" y="2651760"/>
            <a:ext cx="1965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4F"/>
                </a:solidFill>
                <a:latin typeface="맑은 고딕"/>
              </a:rPr>
              <a:t>월별 합산 → log1p → z-score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8664" y="38862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범위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8664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z-score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11512" y="1417320"/>
            <a:ext cx="2240280" cy="73152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1512" y="1417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CH5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1512" y="17830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YouTube 댓글 감성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11512" y="2148840"/>
            <a:ext cx="224028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48672" y="23317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변환 방식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48672" y="2651760"/>
            <a:ext cx="1965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4F"/>
                </a:solidFill>
                <a:latin typeface="맑은 고딕"/>
              </a:rPr>
              <a:t>FinBERT  P(pos) − P(neg)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48672" y="38862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맑은 고딕"/>
              </a:rPr>
              <a:t>범위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8672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-1 ~ +1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937760"/>
            <a:ext cx="11384280" cy="1280160"/>
          </a:xfrm>
          <a:prstGeom prst="rect">
            <a:avLst/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⚠ CH3 한계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394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당초 NewsAPI + FinBERT 설계였으나, 무료 플랜의 30일 역사 자료 제한으로 GDELT timelinetone 대체.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GDELT 톤은 일반 어휘 자동 산출 점수 → 도메인 특화도 낮음 (논문 한계 명시).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분석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26974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42316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StockX · PriceCharting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BrickRanker · pytrends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GDELT · YouTube API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2263139"/>
            <a:ext cx="137160" cy="182880"/>
          </a:xfrm>
          <a:prstGeom prst="rightArrow">
            <a:avLst/>
          </a:prstGeom>
          <a:solidFill>
            <a:srgbClr val="3B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26974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155448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600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점수 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94560"/>
            <a:ext cx="242316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CH1~CH5 표준화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FinBERT(영어 댓글)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2263139"/>
            <a:ext cx="137160" cy="182880"/>
          </a:xfrm>
          <a:prstGeom prst="rightArrow">
            <a:avLst/>
          </a:prstGeom>
          <a:solidFill>
            <a:srgbClr val="3B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417320"/>
            <a:ext cx="26974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패널 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94560"/>
            <a:ext cx="242316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panel_monthly.csv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asset_series.csv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78240" y="2263139"/>
            <a:ext cx="137160" cy="182880"/>
          </a:xfrm>
          <a:prstGeom prst="rightArrow">
            <a:avLst/>
          </a:prstGeom>
          <a:solidFill>
            <a:srgbClr val="3B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417320"/>
            <a:ext cx="26974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52560" y="155448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600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ADF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194560"/>
            <a:ext cx="242316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정상성 검정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비정상 → 1차 차분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11879"/>
            <a:ext cx="26974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8640" y="3749039"/>
            <a:ext cx="502920" cy="502920"/>
          </a:xfrm>
          <a:prstGeom prst="ellipse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79475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Granger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89119"/>
            <a:ext cx="242316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15회 단독 검정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Lag = BIC 선택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08960" y="4457698"/>
            <a:ext cx="137160" cy="182880"/>
          </a:xfrm>
          <a:prstGeom prst="rightArrow">
            <a:avLst/>
          </a:prstGeom>
          <a:solidFill>
            <a:srgbClr val="3B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6120" y="3611879"/>
            <a:ext cx="26974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383280" y="3749039"/>
            <a:ext cx="502920" cy="502920"/>
          </a:xfrm>
          <a:prstGeom prst="ellipse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79475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Jaccard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389119"/>
            <a:ext cx="242316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자산쌍 채널 집합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유사도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43600" y="4457698"/>
            <a:ext cx="137160" cy="182880"/>
          </a:xfrm>
          <a:prstGeom prst="rightArrow">
            <a:avLst/>
          </a:prstGeom>
          <a:solidFill>
            <a:srgbClr val="3B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3611879"/>
            <a:ext cx="26974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17920" y="3749039"/>
            <a:ext cx="502920" cy="502920"/>
          </a:xfrm>
          <a:prstGeom prst="ellipse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79475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XGBoost+SHAP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389119"/>
            <a:ext cx="242316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Model A vs B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TimeSeriesSplit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778240" y="4457698"/>
            <a:ext cx="137160" cy="182880"/>
          </a:xfrm>
          <a:prstGeom prst="rightArrow">
            <a:avLst/>
          </a:prstGeom>
          <a:solidFill>
            <a:srgbClr val="3B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15400" y="3611879"/>
            <a:ext cx="26974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52560" y="3749039"/>
            <a:ext cx="502920" cy="502920"/>
          </a:xfrm>
          <a:prstGeom prst="ellipse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79475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맑은 고딕"/>
              </a:rPr>
              <a:t>DM 검정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389119"/>
            <a:ext cx="242316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RMSE 등가성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(T=24/아이템)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RQ1 — Granger 인과성 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15회 검정: 유의 4 · 경계 1 · 비유의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46304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자산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417320"/>
            <a:ext cx="237744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417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채널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82296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173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417320"/>
            <a:ext cx="100584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417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100584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17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417320"/>
            <a:ext cx="173736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4173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83080"/>
            <a:ext cx="14630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83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783080"/>
            <a:ext cx="23774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1783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CH3 뉴스 감성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783080"/>
            <a:ext cx="8229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783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783080"/>
            <a:ext cx="10058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7830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13.38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783080"/>
            <a:ext cx="10058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7830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0.001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783080"/>
            <a:ext cx="17373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1783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SIGNIFICANT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148840"/>
            <a:ext cx="1463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1488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214884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2148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CH4 YT 조회수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14884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488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2148840"/>
            <a:ext cx="10058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21488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4.73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148840"/>
            <a:ext cx="10058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1488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0.035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2148840"/>
            <a:ext cx="17373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21488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SIGNIFICANT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514600"/>
            <a:ext cx="14630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5146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20240" y="2514600"/>
            <a:ext cx="23774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20240" y="2514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CH1 Google Trends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2514600"/>
            <a:ext cx="8229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5146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2514600"/>
            <a:ext cx="10058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0" y="25146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3.47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2514600"/>
            <a:ext cx="10058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25146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0.041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2514600"/>
            <a:ext cx="17373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2514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SIGNIFICANT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880360"/>
            <a:ext cx="1463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28803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cards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288036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0240" y="2880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CH1 Google Trends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288036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28803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2880360"/>
            <a:ext cx="10058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640" y="28803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8.42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2880360"/>
            <a:ext cx="10058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28803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0.006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2880360"/>
            <a:ext cx="17373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0" y="28803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SIGNIFICANT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246120"/>
            <a:ext cx="14630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32461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20240" y="3246120"/>
            <a:ext cx="23774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20240" y="3246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CH1 Google Trends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3246120"/>
            <a:ext cx="8229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2461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3246120"/>
            <a:ext cx="10058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0" y="32461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3.92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3246120"/>
            <a:ext cx="10058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32461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0.054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32320" y="3246120"/>
            <a:ext cx="17373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32320" y="32461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28612"/>
                </a:solidFill>
                <a:latin typeface="맑은 고딕"/>
              </a:rPr>
              <a:t>MARGINAL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3611880"/>
            <a:ext cx="14630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36118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(나머지 10개 조합)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361188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20240" y="3611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97680" y="361188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36118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20640" y="3611880"/>
            <a:ext cx="10058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20640" y="36118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&lt;2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3611880"/>
            <a:ext cx="10058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26480" y="36118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&gt;0.18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132320" y="3611880"/>
            <a:ext cx="17373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20" y="36118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NOT_SIG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44000" y="1417320"/>
            <a:ext cx="2681935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26880" y="1554480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E4F"/>
                </a:solidFill>
                <a:latin typeface="맑은 고딕"/>
              </a:rPr>
              <a:t>핵심 발견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26880" y="1965960"/>
            <a:ext cx="231617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sneakers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: 3개 채널 유의
(CH1·CH3·CH4)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cards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: CH1만 유의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lego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: 모두 비유의 (CH1 경계)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CH3 sneakers F=13.38 — 15회 검정 최대 효과 크기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BH 보정 후: 4 → 2개 유의
(sneakers CH3, cards CH1)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57607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맑은 고딕"/>
              </a:rPr>
              <a:t>✔ 일부 채널이 자산별로 가격을 선행하는 ‘잠정적’ 증거 — 탐색적(exploratory) 해석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RQ1 견고성 — Lag 1·2·3 고정 재검정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BIC 단일 lag 의존성을 보완: 다중 lag 일관성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37160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자산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417320"/>
            <a:ext cx="219456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채널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40" y="1417320"/>
            <a:ext cx="182880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14173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L=1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417320"/>
            <a:ext cx="182880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4173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L=2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417320"/>
            <a:ext cx="182880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4173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L=3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417320"/>
            <a:ext cx="182880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14173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견고성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01368"/>
            <a:ext cx="13716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801368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1801368"/>
            <a:ext cx="219456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180136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CH3 뉴스 감성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40" y="1801368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18013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13.38 [&lt;.001]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801368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8013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7.02 [.002]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1801368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18013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6.65 [.001]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40" y="1801368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18013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824C"/>
                </a:solidFill>
                <a:latin typeface="맑은 고딕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185416"/>
            <a:ext cx="1371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185416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3080" y="2185416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218541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CH1 Google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7640" y="2185416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40" y="21854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0.50 [.483]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2185416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21854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3.47 [.041]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2185416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21854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2.30 [.093]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40" y="2185416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21854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28612"/>
                </a:solidFill>
                <a:latin typeface="맑은 고딕"/>
              </a:rPr>
              <a:t>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569464"/>
            <a:ext cx="13716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569464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83080" y="2569464"/>
            <a:ext cx="219456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83080" y="256946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CH4 YT 조회수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7640" y="2569464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40" y="256946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4.73 [.035]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2569464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6440" y="256946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2.79 [.073]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35240" y="2569464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256946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1.45 [.245]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64040" y="2569464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256946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28612"/>
                </a:solidFill>
                <a:latin typeface="맑은 고딕"/>
              </a:rPr>
              <a:t>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2953512"/>
            <a:ext cx="1371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295351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83080" y="2953512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83080" y="2953512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CH5 댓글감성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77640" y="2953512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77640" y="295351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0.09 [.764]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2953512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06440" y="295351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4.58 [.016]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35240" y="2953512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295351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4.47 [.009]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64040" y="2953512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64040" y="295351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824C"/>
                </a:solidFill>
                <a:latin typeface="맑은 고딕"/>
              </a:rPr>
              <a:t>✓ (지연 효과)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3337560"/>
            <a:ext cx="13716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333756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cards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83080" y="3337560"/>
            <a:ext cx="219456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83080" y="33375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CH1 Google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77640" y="3337560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77640" y="33375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8.42 [.006]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06440" y="3337560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06440" y="33375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4.56 [.016]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35240" y="3337560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35240" y="33375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2.44 [.080]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64040" y="3337560"/>
            <a:ext cx="182880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33375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824C"/>
                </a:solidFill>
                <a:latin typeface="맑은 고딕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" y="3721608"/>
            <a:ext cx="1371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3721608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83080" y="3721608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83080" y="372160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(모든 채널)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77640" y="3721608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77640" y="372160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비유의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06440" y="3721608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06440" y="372160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비유의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35240" y="3721608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35240" y="372160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비유의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64040" y="3721608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64040" y="372160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5029200"/>
            <a:ext cx="11384280" cy="128016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맑은 고딕"/>
              </a:rPr>
              <a:t>관찰점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5440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sneakers CH3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 모든 lag에서 p&lt;0.01 — 가장 견고한 발견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sneakers CH5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 BIC=1에선 비유의나 L=2,3에서 유의 —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댓글 감성의 2~3개월 지연 효과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 가능성 (신규 발견)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sneakers CH1·CH4: 단일 lag에서만 유의 → lag 민감, 신뢰도 낮음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RQ2 — 자산별 유의 채널 구성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Jaccard 유사도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5760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164592" cy="11887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{CH1, CH3, CH4}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365760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164592" cy="1188720"/>
          </a:xfrm>
          <a:prstGeom prst="rect">
            <a:avLst/>
          </a:prstGeom>
          <a:solidFill>
            <a:srgbClr val="3B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E4F"/>
                </a:solidFill>
                <a:latin typeface="맑은 고딕"/>
              </a:rPr>
              <a:t>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{CH1}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60520"/>
            <a:ext cx="365760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160520"/>
            <a:ext cx="164592" cy="118872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∅ (없음)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508760"/>
            <a:ext cx="210312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508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자산쌍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508760"/>
            <a:ext cx="338328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5087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비교 집합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1508760"/>
            <a:ext cx="164592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5087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J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965960"/>
            <a:ext cx="2103120" cy="45720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9659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F"/>
                </a:solidFill>
                <a:latin typeface="맑은 고딕"/>
              </a:rPr>
              <a:t>sneakers – cards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965960"/>
            <a:ext cx="3383280" cy="45720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965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F"/>
                </a:solidFill>
                <a:latin typeface="맑은 고딕"/>
              </a:rPr>
              <a:t>{CH1,CH3,CH4} vs {CH1}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1965960"/>
            <a:ext cx="1645920" cy="45720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9659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맑은 고딕"/>
              </a:rPr>
              <a:t>0.333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423160"/>
            <a:ext cx="21031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423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F"/>
                </a:solidFill>
                <a:latin typeface="맑은 고딕"/>
              </a:rPr>
              <a:t>sneakers – lego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423160"/>
            <a:ext cx="33832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423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F"/>
                </a:solidFill>
                <a:latin typeface="맑은 고딕"/>
              </a:rPr>
              <a:t>{CH1,CH3,CH4} vs 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2423160"/>
            <a:ext cx="1645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24231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맑은 고딕"/>
              </a:rPr>
              <a:t>0.000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880360"/>
            <a:ext cx="2103120" cy="45720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28803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F"/>
                </a:solidFill>
                <a:latin typeface="맑은 고딕"/>
              </a:rPr>
              <a:t>cards – lego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2880360"/>
            <a:ext cx="3383280" cy="45720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2880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0B2E4F"/>
                </a:solidFill>
                <a:latin typeface="맑은 고딕"/>
              </a:rPr>
              <a:t>{CH1} vs 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2880360"/>
            <a:ext cx="1645920" cy="45720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0" y="28803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맑은 고딕"/>
              </a:rPr>
              <a:t>0.000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794760"/>
            <a:ext cx="713232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3840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맑은 고딕"/>
              </a:rPr>
              <a:t>임계 기준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16052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J&lt;0.3 : 구성 다름 (RQ2 지지)    |   0.3≤J≤0.6 : 부분적 차이    |   J&gt;0.6 : 유사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440680"/>
            <a:ext cx="11247120" cy="411480"/>
          </a:xfrm>
          <a:prstGeom prst="rect">
            <a:avLst/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4406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맑은 고딕"/>
              </a:rPr>
              <a:t>📌 Jaccard 유사도 = |A ∩ B| / |A ∪ B|  ·  두 집합의 겹침을 0~1로 표현 (1=완전히 같음, 0=완전히 다름)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맑은 고딕"/>
              </a:rPr>
              <a:t>✔ RQ2 대체로 지지: 자산 유형별 유의 채널 구성 상이. 다만 sneakers ↔ cards는 CH1을 공유 — 검색 트렌드는 ‘공통 선행 신호’ 후보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RQ3 — XGBoost + Diebold–Mariano 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Model A (전채널) vs Model B (Granger 선별) | TimeSeriesSplit, T=24/아이템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280160" cy="32918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자산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417320"/>
            <a:ext cx="1554480" cy="32918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41732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아이템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914400" cy="32918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17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DM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914400" cy="32918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417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417320"/>
            <a:ext cx="2194560" cy="32918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4173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746504"/>
            <a:ext cx="12801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746504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1746504"/>
            <a:ext cx="15544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1746504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jordan1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746504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174650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−4.29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746504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174650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&lt;.001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1746504"/>
            <a:ext cx="21945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174650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</a:rPr>
              <a:t>Model A 우수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075688"/>
            <a:ext cx="12801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07568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2075688"/>
            <a:ext cx="1554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207568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panda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2075688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20756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−1.47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075688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20756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.155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20" y="2075688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207568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차이 없음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2404872"/>
            <a:ext cx="12801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404872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91640" y="2404872"/>
            <a:ext cx="15544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91640" y="240487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yeezy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2404872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240487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−1.09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2404872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240487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.288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2404872"/>
            <a:ext cx="21945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240487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차이 없음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734056"/>
            <a:ext cx="12801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273405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91640" y="2734056"/>
            <a:ext cx="1554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91640" y="2734056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travis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2734056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46120" y="273405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+0.38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0520" y="2734056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0520" y="273405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.705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74920" y="2734056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74920" y="273405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차이 없음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3063240"/>
            <a:ext cx="12801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06324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91640" y="3063240"/>
            <a:ext cx="15544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91640" y="306324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nb550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46120" y="3063240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46120" y="306324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+1.96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3063240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60520" y="306324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.062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4920" y="3063240"/>
            <a:ext cx="21945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74920" y="30632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824C"/>
                </a:solidFill>
                <a:latin typeface="맑은 고딕"/>
              </a:rPr>
              <a:t>B 우세(경계)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3392424"/>
            <a:ext cx="12801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3392424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cards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91640" y="3392424"/>
            <a:ext cx="1554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91640" y="3392424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(5개 모두)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6120" y="3392424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6120" y="339242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60520" y="3392424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60520" y="339242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≥.150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74920" y="3392424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74920" y="339242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차이 없음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3721608"/>
            <a:ext cx="12801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372160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91640" y="3721608"/>
            <a:ext cx="15544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91640" y="372160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falcon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46120" y="3721608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46120" y="372160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−2.28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60520" y="3721608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60520" y="372160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.032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74920" y="3721608"/>
            <a:ext cx="21945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74920" y="372160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</a:rPr>
              <a:t>Model A 우수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4050792"/>
            <a:ext cx="12801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4050792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91640" y="4050792"/>
            <a:ext cx="1554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691640" y="405079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hogwarts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46120" y="4050792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46120" y="405079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+1.27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60520" y="4050792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60520" y="405079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.217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74920" y="4050792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74920" y="405079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차이 없음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4379976"/>
            <a:ext cx="12801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" y="437997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91640" y="4379976"/>
            <a:ext cx="15544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691640" y="4379976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titanic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46120" y="4379976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46120" y="437997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−0.56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60520" y="4379976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60520" y="437997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.579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74920" y="4379976"/>
            <a:ext cx="21945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437997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차이 없음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1480" y="4709160"/>
            <a:ext cx="12801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11480" y="470916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691640" y="4709160"/>
            <a:ext cx="1554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691640" y="470916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porsche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46120" y="4709160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46120" y="470916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−1.75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60520" y="4709160"/>
            <a:ext cx="914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60520" y="470916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.094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074920" y="4709160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074920" y="47091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28612"/>
                </a:solidFill>
                <a:latin typeface="맑은 고딕"/>
              </a:rPr>
              <a:t>A 우세(경계)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11480" y="5038344"/>
            <a:ext cx="12801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11480" y="5038344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91640" y="5038344"/>
            <a:ext cx="15544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691640" y="5038344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bugatti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46120" y="5038344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46120" y="503834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+0.42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160520" y="5038344"/>
            <a:ext cx="914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160520" y="503834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B2E4F"/>
                </a:solidFill>
                <a:latin typeface="맑은 고딕"/>
              </a:rPr>
              <a:t>.677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074920" y="5038344"/>
            <a:ext cx="21945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074920" y="503834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맑은 고딕"/>
              </a:rPr>
              <a:t>차이 없음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498080" y="1417320"/>
            <a:ext cx="4327855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680960" y="1554480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맑은 고딕"/>
              </a:rPr>
              <a:t>DM 등가성 비율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80960" y="1965960"/>
            <a:ext cx="396209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맑은 고딕"/>
              </a:rPr>
              <a:t>11 / 15  (73%)</a:t>
            </a:r>
          </a:p>
          <a:p>
            <a:pPr algn="ctr"/>
            <a:r>
              <a:rPr sz="2800" b="1">
                <a:solidFill>
                  <a:srgbClr val="C0392B"/>
                </a:solidFill>
                <a:latin typeface="맑은 고딕"/>
              </a:rPr>
              <a:t>차이 없음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498080" y="3154680"/>
            <a:ext cx="4327855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680960" y="3246120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맑은 고딕"/>
              </a:rPr>
              <a:t>자산별 평균 RMSE  (A vs B)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80960" y="37033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61120" y="370332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452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784080" y="370332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vs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058400" y="370332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맑은 고딕"/>
              </a:rPr>
              <a:t>569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80960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맑은 고딕"/>
              </a:rPr>
              <a:t>cards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961120" y="420624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334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784080" y="420624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vs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058400" y="420624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맑은 고딕"/>
              </a:rPr>
              <a:t>329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680960" y="470916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961120" y="470916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맑은 고딕"/>
              </a:rPr>
              <a:t>176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84080" y="470916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vs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58400" y="470916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맑은 고딕"/>
              </a:rPr>
              <a:t>199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맑은 고딕"/>
              </a:rPr>
              <a:t>📌 Diebold–Mariano 검정  ·  두 모형(A·B)의 예측 오차 시계열이 통계적으로 다른지 평가 (p&lt;0.05 → 차이 있음)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맑은 고딕"/>
              </a:rPr>
              <a:t>절제된 해석: ‘B가 A보다 우수’ 아님 → ‘대다수 아이템에서 큰 손해 없이 채널 수 축소 가능’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RQ3 — 자산별 RMSE 비교 (Figure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Model A (전채널) vs Model B (Granger 선별) · 낮을수록 정확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73152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g_rmse_bar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324"/>
            <a:ext cx="7132320" cy="42548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09560" y="1417320"/>
            <a:ext cx="3931920" cy="4754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087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E4F"/>
                </a:solidFill>
                <a:latin typeface="맑은 고딕"/>
              </a:rPr>
              <a:t>관찰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874519"/>
            <a:ext cx="3566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sneakers</a:t>
            </a:r>
            <a:r>
              <a:rPr sz="1300" b="0">
                <a:solidFill>
                  <a:srgbClr val="0B2E4F"/>
                </a:solidFill>
                <a:latin typeface="맑은 고딕"/>
              </a:rPr>
              <a:t> : A 452  &lt;  B 569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cards</a:t>
            </a:r>
            <a:r>
              <a:rPr sz="1300" b="0">
                <a:solidFill>
                  <a:srgbClr val="0B2E4F"/>
                </a:solidFill>
                <a:latin typeface="맑은 고딕"/>
              </a:rPr>
              <a:t>    : A 334  ≈  B 329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lego</a:t>
            </a:r>
            <a:r>
              <a:rPr sz="1300" b="0">
                <a:solidFill>
                  <a:srgbClr val="0B2E4F"/>
                </a:solidFill>
                <a:latin typeface="맑은 고딕"/>
              </a:rPr>
              <a:t>     : A 176  &lt;  B 199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657600"/>
            <a:ext cx="3566160" cy="457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7947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E4F"/>
                </a:solidFill>
                <a:latin typeface="맑은 고딕"/>
              </a:rPr>
              <a:t>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160520"/>
            <a:ext cx="3566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sneakers · lego는 Model A 평균이 일관되게 낮음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cards는 양 모형 사실상 동등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DM ‘차이 없음’ 판정과 RMSE 평균은 측정 대상이 달라 함께 보고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SHAP vs Granger — 측정 대상의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Model A 평균 |SHAP|  &amp;  Granger 판정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417320"/>
            <a:ext cx="118872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자산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417320"/>
            <a:ext cx="128016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41732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지표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100584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173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CH1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100584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CH2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417320"/>
            <a:ext cx="100584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4173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CH3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417320"/>
            <a:ext cx="100584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173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CH4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417320"/>
            <a:ext cx="1005840" cy="38404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4173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CH5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1801368"/>
            <a:ext cx="118872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180136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801368"/>
            <a:ext cx="128016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180136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|SHAP|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801368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180136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0.125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801368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80136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1801368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180136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1801368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80136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1801368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180136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0.124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2185416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218541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2185416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48840" y="218541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Granger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2185416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218541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SIG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2185416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218541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2185416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218541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SIG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2185416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18541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SIG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2185416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60" y="218541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" y="2569464"/>
            <a:ext cx="118872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256946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cards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8840" y="2569464"/>
            <a:ext cx="128016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48840" y="256946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|SHAP|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2569464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29000" y="256946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0.048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34840" y="2569464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256946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0.031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2569464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40680" y="256946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0.025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2569464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256946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0.091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52360" y="2569464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256946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0120" y="2953512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" y="295351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cards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48840" y="2953512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48840" y="2953512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Granger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29000" y="2953512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29000" y="295351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SIG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34840" y="2953512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295351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953512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40680" y="295351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2953512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295351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52360" y="2953512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52360" y="295351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" y="3337560"/>
            <a:ext cx="118872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0120" y="333756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48840" y="3337560"/>
            <a:ext cx="128016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48840" y="333756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|SHAP|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29000" y="3337560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29000" y="333756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0.036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34840" y="3337560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34840" y="333756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0.003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40680" y="3337560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40680" y="333756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46520" y="3337560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46520" y="333756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0.070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52360" y="3337560"/>
            <a:ext cx="1005840" cy="384048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52360" y="333756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E4F"/>
                </a:solidFill>
                <a:latin typeface="맑은 고딕"/>
              </a:rPr>
              <a:t>0.021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0120" y="372160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0120" y="372160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48840" y="3721608"/>
            <a:ext cx="1280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48840" y="372160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Granger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29000" y="372160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29000" y="372160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28612"/>
                </a:solidFill>
                <a:latin typeface="맑은 고딕"/>
              </a:rPr>
              <a:t>MARG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34840" y="372160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34840" y="372160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40680" y="372160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40680" y="372160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46520" y="372160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46520" y="372160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52360" y="372160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52360" y="372160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NOT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4617720"/>
            <a:ext cx="11247120" cy="1691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E4F"/>
                </a:solidFill>
                <a:latin typeface="맑은 고딕"/>
              </a:rPr>
              <a:t>왜 불일치하는가?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50749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Granger</a:t>
            </a:r>
            <a:r>
              <a:rPr sz="1300" b="0">
                <a:solidFill>
                  <a:srgbClr val="0B2E4F"/>
                </a:solidFill>
                <a:latin typeface="맑은 고딕"/>
              </a:rPr>
              <a:t>: 채널 단독 · 가격 라그만 통제 ·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선형 선행성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SHAP</a:t>
            </a:r>
            <a:r>
              <a:rPr sz="1300" b="0">
                <a:solidFill>
                  <a:srgbClr val="0B2E4F"/>
                </a:solidFill>
                <a:latin typeface="맑은 고딕"/>
              </a:rPr>
              <a:t>: 모든 변수 동시 투입 · 비선형 트리 모형 ·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한계 기여도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가격 모멘텀(price_vs_ma3, lag1)이 분산을 흡수 → 선형 선행 채널의 SHAP 잠식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특히 sneakers CH3: Granger F 1위 ↔ SHAP 최하위 — 두 지표 차이가 가장 큰 사례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SHAP Summary — Sneakers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Model A (분류) · 좌: Gain Importance · 우: SHAP Summary 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38428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f_shap_asset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901" y="1508760"/>
            <a:ext cx="6249438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5532120"/>
            <a:ext cx="11384280" cy="777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맑은 고딕"/>
              </a:rPr>
              <a:t>관찰: CH1(0.125) ≈ CH5(0.124) &gt; CH4(0.080) &gt; CH3(0.011) &gt; CH2(0.000)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Granger F 1위 CH3(뉴스 감성)가 SHAP에선 최하위 — 가격 모멘텀이 선형 신호를 흡수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SHAP Summary —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Model A (분류) · 좌: Gain Importance · 우: SHAP Summary 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38428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f_shap_asse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472" y="1508760"/>
            <a:ext cx="6126296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5532120"/>
            <a:ext cx="11384280" cy="777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맑은 고딕"/>
              </a:rPr>
              <a:t>관찰: CH4(0.091) &gt; CH1(0.048) &gt; CH2(0.031) &gt; CH3(0.025) &gt; CH5(0.004)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Granger 유일 유의 CH1은 SHAP 2위 — 선형 인과·비선형 기여가 비교적 일관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SHAP Summary — LEGO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Model A (분류) · 좌: Gain Importance · 우: SHAP Summary 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38428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f_shap_asse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713" y="1508760"/>
            <a:ext cx="6087814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5532120"/>
            <a:ext cx="11384280" cy="777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E4F"/>
                </a:solidFill>
                <a:latin typeface="맑은 고딕"/>
              </a:rPr>
              <a:t>관찰: CH4(0.070) &gt; CH1(0.036) &gt; CH5(0.021) &gt; CH2(0.003) &gt; CH3(0.000)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Granger 비유의 CH4가 SHAP 1위 — falcon Star Wars 이벤트 등 비선형 관심 충격 시사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4개 태스크 종합 — 견고한 채널 후보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Granger · Model B · SHAP · DM 4개 신호의 일관성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맑은 고딕"/>
              </a:rPr>
              <a:t>‘다수 태스크에서 일관된 양의 신호’를 보이는 조합이 실용적으로 유용한 선행 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28016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자산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783080"/>
            <a:ext cx="237744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783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783080"/>
            <a:ext cx="18288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Granger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783080"/>
            <a:ext cx="13716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783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Model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783080"/>
            <a:ext cx="109728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783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SHAP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783080"/>
            <a:ext cx="182880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DM 단서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48840"/>
            <a:ext cx="12801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1488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2148840"/>
            <a:ext cx="23774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2148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CH1 Google Trends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148840"/>
            <a:ext cx="18288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✓ SIG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148840"/>
            <a:ext cx="13716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148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포함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2148840"/>
            <a:ext cx="109728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21488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1위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148840"/>
            <a:ext cx="18288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514600"/>
            <a:ext cx="12801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514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251460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2514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CH3 뉴스 감성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2514600"/>
            <a:ext cx="1828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✓ SIG (F최대)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51460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2514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포함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20" y="2514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2514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4위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2514600"/>
            <a:ext cx="1828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880360"/>
            <a:ext cx="12801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8803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83080" y="2880360"/>
            <a:ext cx="23774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83080" y="2880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CH4 YT 조회수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2880360"/>
            <a:ext cx="18288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60520" y="2880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✓ SIG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2880360"/>
            <a:ext cx="13716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2880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포함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20" y="2880360"/>
            <a:ext cx="109728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2880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3위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2880360"/>
            <a:ext cx="18288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2880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246120"/>
            <a:ext cx="12801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2461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sneakers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83080" y="324612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83080" y="3246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CH5 댓글 감성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3246120"/>
            <a:ext cx="1828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052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28612"/>
                </a:solidFill>
                <a:latin typeface="맑은 고딕"/>
              </a:rPr>
              <a:t>지연 효과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324612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3246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제외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60920" y="324612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60920" y="3246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2위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58200" y="3246120"/>
            <a:ext cx="1828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5820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611880"/>
            <a:ext cx="12801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3611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cards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83080" y="3611880"/>
            <a:ext cx="23774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83080" y="3611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CH1 Google Trends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60520" y="3611880"/>
            <a:ext cx="18288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6052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✓ SIG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89320" y="3611880"/>
            <a:ext cx="13716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89320" y="3611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포함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60920" y="3611880"/>
            <a:ext cx="109728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60920" y="3611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2위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58200" y="3611880"/>
            <a:ext cx="18288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5820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차이 없음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3977640"/>
            <a:ext cx="12801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3977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783080" y="397764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83080" y="3977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CH1 Google Trends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60520" y="3977640"/>
            <a:ext cx="1828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6052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28612"/>
                </a:solidFill>
                <a:latin typeface="맑은 고딕"/>
              </a:rPr>
              <a:t>△ MARG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89320" y="397764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89320" y="3977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포함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60920" y="397764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60920" y="3977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2위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58200" y="3977640"/>
            <a:ext cx="1828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5820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4343400"/>
            <a:ext cx="12801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43434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lego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83080" y="4343400"/>
            <a:ext cx="237744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83080" y="4343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CH4 YT 조회수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60520" y="4343400"/>
            <a:ext cx="18288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6052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비유의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89320" y="4343400"/>
            <a:ext cx="13716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89320" y="4343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맑은 고딕"/>
              </a:rPr>
              <a:t>제외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60920" y="4343400"/>
            <a:ext cx="109728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60920" y="4343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맑은 고딕"/>
              </a:rPr>
              <a:t>1위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58200" y="4343400"/>
            <a:ext cx="1828800" cy="365760"/>
          </a:xfrm>
          <a:prstGeom prst="rect">
            <a:avLst/>
          </a:prstGeom>
          <a:solidFill>
            <a:srgbClr val="F2F2F2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5820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0B2E4F"/>
                </a:solidFill>
                <a:latin typeface="맑은 고딕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E4F"/>
                </a:solidFill>
                <a:latin typeface="맑은 고딕"/>
              </a:rPr>
              <a:t>★ 가장 견고한 선행 지표 후보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B2E4F"/>
                </a:solidFill>
                <a:latin typeface="맑은 고딕"/>
              </a:rPr>
              <a:t>① sneakers의 CH1 (Granger 유의 + Model B + SHAP 1위)</a:t>
            </a:r>
          </a:p>
          <a:p>
            <a:pPr algn="l"/>
            <a:r>
              <a:rPr sz="1200" b="0">
                <a:solidFill>
                  <a:srgbClr val="0B2E4F"/>
                </a:solidFill>
                <a:latin typeface="맑은 고딕"/>
              </a:rPr>
              <a:t>② cards의 CH1     (Granger 유의 + Model B + SHAP 2위)  →  검색 트렌드(CH1)가 공통 후보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한계 및 향후 연구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5760720" cy="4846320"/>
          </a:xfrm>
          <a:prstGeom prst="rect">
            <a:avLst/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맑은 고딕"/>
              </a:rPr>
              <a:t>한계 (Limitations)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4864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• </a:t>
            </a:r>
            <a:r>
              <a:rPr sz="1200" b="1">
                <a:solidFill>
                  <a:srgbClr val="555555"/>
                </a:solidFill>
                <a:latin typeface="맑은 고딕"/>
              </a:rPr>
              <a:t>소표본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 N=48 — 다중 검정 검정력 제약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• ADF: sneakers CH1 차분 후 p=0.120 잔존 비정상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• </a:t>
            </a:r>
            <a:r>
              <a:rPr sz="1200" b="1">
                <a:solidFill>
                  <a:srgbClr val="555555"/>
                </a:solidFill>
                <a:latin typeface="맑은 고딕"/>
              </a:rPr>
              <a:t>분석 단위 불일치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: 자산 Granger vs 아이템 XGBoost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• </a:t>
            </a:r>
            <a:r>
              <a:rPr sz="1200" b="1">
                <a:solidFill>
                  <a:srgbClr val="555555"/>
                </a:solidFill>
                <a:latin typeface="맑은 고딕"/>
              </a:rPr>
              <a:t>CH3 대리변수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 GDELT tone (FinBERT 대체) — 도메인 특화도 낮음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• yeezy 4개월 선형보간 / lego porsche·bugatti CH1 zero값 다수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• </a:t>
            </a:r>
            <a:r>
              <a:rPr sz="1200" b="1">
                <a:solidFill>
                  <a:srgbClr val="555555"/>
                </a:solidFill>
                <a:latin typeface="맑은 고딕"/>
              </a:rPr>
              <a:t>z-score 전역 적합</a:t>
            </a:r>
            <a:r>
              <a:rPr sz="1200" b="0">
                <a:solidFill>
                  <a:srgbClr val="555555"/>
                </a:solidFill>
                <a:latin typeface="맑은 고딕"/>
              </a:rPr>
              <a:t> — 미미한 정보 누설 가능성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• DM 검정 태스크 불일치 (회귀 RMSE vs 분류 모형)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• RMSE 평균 ↔ DM 등가의 괴리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맑은 고딕"/>
              </a:rPr>
              <a:t>• 탐색적 연구 — 직접 비교 가능 기준선 부재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49240" cy="484632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2E4F"/>
                </a:solidFill>
                <a:latin typeface="맑은 고딕"/>
              </a:rPr>
              <a:t>향후 연구 (Future Work)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더 긴 패널(5년+) · 아이템 확대 → 검정력 강화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CH3를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도메인 특화 FinBERT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로 대체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패널 Granger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 (Dumitrescu–Hurlin) 또는 아이템별 단독 Granger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SPA / MCS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 등 다중 모형 비교 절차 도입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</a:t>
            </a:r>
            <a:r>
              <a:rPr sz="1200" b="1">
                <a:solidFill>
                  <a:srgbClr val="0B2E4F"/>
                </a:solidFill>
                <a:latin typeface="맑은 고딕"/>
              </a:rPr>
              <a:t>사전 등록 설계</a:t>
            </a:r>
            <a:r>
              <a:rPr sz="1200" b="0">
                <a:solidFill>
                  <a:srgbClr val="0B2E4F"/>
                </a:solidFill>
                <a:latin typeface="맑은 고딕"/>
              </a:rPr>
              <a:t>로 확증적(confirmatory) 연구 확장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lag 범위 확장 — 댓글 감성 지연 효과 정밀 검증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B2E4F"/>
                </a:solidFill>
                <a:latin typeface="맑은 고딕"/>
              </a:rPr>
              <a:t>• 명품·시계·예술품 등 타 리셀 자산군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실무 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B7E"/>
                </a:solidFill>
                <a:latin typeface="맑은 고딕"/>
              </a:rPr>
              <a:t>세 집단별 함의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703320" cy="640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리셀 투자자 · 수집가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3703320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sneakers · cards에서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CH1 (Google Trends)</a:t>
            </a:r>
            <a:r>
              <a:rPr sz="1300" b="0">
                <a:solidFill>
                  <a:srgbClr val="0B2E4F"/>
                </a:solidFill>
                <a:latin typeface="맑은 고딕"/>
              </a:rPr>
              <a:t> 는 lag 견고성이 확인된 선행 채널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검색 관심도를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1–2개월 선행 지표</a:t>
            </a:r>
            <a:r>
              <a:rPr sz="1300" b="0">
                <a:solidFill>
                  <a:srgbClr val="0B2E4F"/>
                </a:solidFill>
                <a:latin typeface="맑은 고딕"/>
              </a:rPr>
              <a:t>로 활용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기계적 매매 신호 ✗ —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보조 지표</a:t>
            </a:r>
            <a:r>
              <a:rPr sz="1300" b="0">
                <a:solidFill>
                  <a:srgbClr val="0B2E4F"/>
                </a:solidFill>
                <a:latin typeface="맑은 고딕"/>
              </a:rPr>
              <a:t>로 종합 판단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3703320" cy="640080"/>
          </a:xfrm>
          <a:prstGeom prst="rect">
            <a:avLst/>
          </a:prstGeom>
          <a:solidFill>
            <a:srgbClr val="3B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1732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리셀 플랫폼 운영자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057400"/>
            <a:ext cx="3703320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가격 이상 탐지 · 수요 예측에 채널 신호 통합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자산별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유효 채널이 다름</a:t>
            </a:r>
            <a:r>
              <a:rPr sz="1300" b="0">
                <a:solidFill>
                  <a:srgbClr val="0B2E4F"/>
                </a:solidFill>
                <a:latin typeface="맑은 고딕"/>
              </a:rPr>
              <a:t> → 맞춤형 피처 집합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Granger 선별 채널로 파이프라인 유지비 절감 (73% 등가)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370332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학술 연구자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057400"/>
            <a:ext cx="3703320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공개 무료 데이터 → Granger → XGBoost+SHAP+DM 파이프라인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수집 비용 낮음 → 명품·시계·예술품 등 타 자산군 확장 용이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B2E4F"/>
                </a:solidFill>
                <a:latin typeface="맑은 고딕"/>
              </a:rPr>
              <a:t>• 탐색적 비교 연구의 </a:t>
            </a:r>
            <a:r>
              <a:rPr sz="1300" b="1">
                <a:solidFill>
                  <a:srgbClr val="0B2E4F"/>
                </a:solidFill>
                <a:latin typeface="맑은 고딕"/>
              </a:rPr>
              <a:t>재현 가능한 설계 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리셀 시장 미디어 선행 지표 연구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9D6E3"/>
                </a:solidFill>
                <a:latin typeface="맑은 고딕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검색 트렌드(CH1)가 가장 견고한 공통 선행 신호 후보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3657600" cy="2468880"/>
          </a:xfrm>
          <a:prstGeom prst="rect">
            <a:avLst/>
          </a:prstGeom>
          <a:solidFill>
            <a:srgbClr val="12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  <a:latin typeface="맑은 고딕"/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15회 중 4 SIG · 1 MARG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— 탐색적 발견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246120"/>
            <a:ext cx="3657600" cy="2468880"/>
          </a:xfrm>
          <a:prstGeom prst="rect">
            <a:avLst/>
          </a:prstGeom>
          <a:solidFill>
            <a:srgbClr val="12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4290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  <a:latin typeface="맑은 고딕"/>
              </a:rP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11480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Jaccard &lt; 0.34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— 자산별 채널 구성 상이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246120"/>
            <a:ext cx="3657600" cy="2468880"/>
          </a:xfrm>
          <a:prstGeom prst="rect">
            <a:avLst/>
          </a:prstGeom>
          <a:solidFill>
            <a:srgbClr val="12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4290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  <a:latin typeface="맑은 고딕"/>
              </a:rPr>
              <a:t>RQ3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73% 아이템에서 DM 등가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— ‘큰 손해 없이 간결화’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E8F0"/>
                </a:solidFill>
                <a:latin typeface="맑은 고딕"/>
              </a:rPr>
              <a:t>Thank you. 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