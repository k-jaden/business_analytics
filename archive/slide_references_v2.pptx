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01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57C74-A4BD-4D35-8E98-F5DA7C7B4CE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552D1-CF0E-45E4-8190-7C6B7D5134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85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06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athletic/1800120/2020/05/07/air-jordan-sales-soar-on-resale-sites-as-espn-airs-the-last-dance/" TargetMode="External"/><Relationship Id="rId7" Type="http://schemas.openxmlformats.org/officeDocument/2006/relationships/hyperlink" Target="https://capitaloneshopping.com/research/thrifting-statisti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stockx.com/about/stockxs-current-culture-index-highlights-2025s-biggest-winners-reveals-predictions-for-2026/" TargetMode="External"/><Relationship Id="rId5" Type="http://schemas.openxmlformats.org/officeDocument/2006/relationships/hyperlink" Target="https://biz.chosun.com/stock/finance/2022/01/30/LU2U6SU5DBDNXB4RIWSFNSJSH4/" TargetMode="External"/><Relationship Id="rId4" Type="http://schemas.openxmlformats.org/officeDocument/2006/relationships/hyperlink" Target="https://magazine.hankyung.com/business/article/202602106584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  References  (실제 인용 43개 — draft.tex 기준)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0352"/>
            <a:ext cx="12188952" cy="1828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576072"/>
            <a:ext cx="3913632" cy="6217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계량경제 · 통계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[1] </a:t>
            </a:r>
            <a:r>
              <a:rPr sz="750" b="1">
                <a:solidFill>
                  <a:srgbClr val="222222"/>
                </a:solidFill>
                <a:latin typeface="Calibri"/>
              </a:rPr>
              <a:t>Granger (1969)</a:t>
            </a:r>
            <a:r>
              <a:rPr sz="750" b="0">
                <a:solidFill>
                  <a:srgbClr val="555555"/>
                </a:solidFill>
                <a:latin typeface="Calibri"/>
              </a:rPr>
              <a:t>. Econometrica 37(3)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[2] </a:t>
            </a:r>
            <a:r>
              <a:rPr sz="750" b="1">
                <a:solidFill>
                  <a:srgbClr val="222222"/>
                </a:solidFill>
                <a:latin typeface="Calibri"/>
              </a:rPr>
              <a:t>Dickey &amp; Fuller (1979)</a:t>
            </a:r>
            <a:r>
              <a:rPr sz="750" b="0">
                <a:solidFill>
                  <a:srgbClr val="555555"/>
                </a:solidFill>
                <a:latin typeface="Calibri"/>
              </a:rPr>
              <a:t>. JASA 74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[3] </a:t>
            </a:r>
            <a:r>
              <a:rPr sz="750" b="1">
                <a:solidFill>
                  <a:srgbClr val="222222"/>
                </a:solidFill>
                <a:latin typeface="Calibri"/>
              </a:rPr>
              <a:t>Schwarz (1978)</a:t>
            </a:r>
            <a:r>
              <a:rPr sz="750" b="0">
                <a:solidFill>
                  <a:srgbClr val="555555"/>
                </a:solidFill>
                <a:latin typeface="Calibri"/>
              </a:rPr>
              <a:t>. Ann. Stat. 6(2)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[4] </a:t>
            </a:r>
            <a:r>
              <a:rPr sz="750" b="1">
                <a:solidFill>
                  <a:srgbClr val="222222"/>
                </a:solidFill>
                <a:latin typeface="Calibri"/>
              </a:rPr>
              <a:t>Diebold &amp; Mariano (1995)</a:t>
            </a:r>
            <a:r>
              <a:rPr sz="750" b="0">
                <a:solidFill>
                  <a:srgbClr val="555555"/>
                </a:solidFill>
                <a:latin typeface="Calibri"/>
              </a:rPr>
              <a:t>. JBES 13(3)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[5] </a:t>
            </a:r>
            <a:r>
              <a:rPr sz="750" b="1">
                <a:solidFill>
                  <a:srgbClr val="222222"/>
                </a:solidFill>
                <a:latin typeface="Calibri"/>
              </a:rPr>
              <a:t>Benjamini &amp; Hochberg (1995)</a:t>
            </a:r>
            <a:r>
              <a:rPr sz="750" b="0">
                <a:solidFill>
                  <a:srgbClr val="555555"/>
                </a:solidFill>
                <a:latin typeface="Calibri"/>
              </a:rPr>
              <a:t>. JRSS-B 57(1)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[6] </a:t>
            </a:r>
            <a:r>
              <a:rPr sz="750" b="1">
                <a:solidFill>
                  <a:srgbClr val="222222"/>
                </a:solidFill>
                <a:latin typeface="Calibri"/>
              </a:rPr>
              <a:t>West (1996)</a:t>
            </a:r>
            <a:r>
              <a:rPr sz="750" b="0">
                <a:solidFill>
                  <a:srgbClr val="555555"/>
                </a:solidFill>
                <a:latin typeface="Calibri"/>
              </a:rPr>
              <a:t>. Econometrica 64(5)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[7] </a:t>
            </a:r>
            <a:r>
              <a:rPr sz="750" b="1">
                <a:solidFill>
                  <a:srgbClr val="222222"/>
                </a:solidFill>
                <a:latin typeface="Calibri"/>
              </a:rPr>
              <a:t>Hansen (2005)</a:t>
            </a:r>
            <a:r>
              <a:rPr sz="750" b="0">
                <a:solidFill>
                  <a:srgbClr val="555555"/>
                </a:solidFill>
                <a:latin typeface="Calibri"/>
              </a:rPr>
              <a:t>. JBES 23(4)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[8] </a:t>
            </a:r>
            <a:r>
              <a:rPr sz="750" b="1">
                <a:solidFill>
                  <a:srgbClr val="222222"/>
                </a:solidFill>
                <a:latin typeface="Calibri"/>
              </a:rPr>
              <a:t>Hansen et al.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Econometrica 79(2)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[9] </a:t>
            </a:r>
            <a:r>
              <a:rPr sz="750" b="1">
                <a:solidFill>
                  <a:srgbClr val="222222"/>
                </a:solidFill>
                <a:latin typeface="Calibri"/>
              </a:rPr>
              <a:t>Holtz-Eakin et al. (1988)</a:t>
            </a:r>
            <a:r>
              <a:rPr sz="750" b="0">
                <a:solidFill>
                  <a:srgbClr val="555555"/>
                </a:solidFill>
                <a:latin typeface="Calibri"/>
              </a:rPr>
              <a:t>. Econometrica 56(6)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[10] </a:t>
            </a:r>
            <a:r>
              <a:rPr sz="750" b="1">
                <a:solidFill>
                  <a:srgbClr val="222222"/>
                </a:solidFill>
                <a:latin typeface="Calibri"/>
              </a:rPr>
              <a:t>Dumitrescu &amp; Hurlin (2012)</a:t>
            </a:r>
            <a:r>
              <a:rPr sz="750" b="0">
                <a:solidFill>
                  <a:srgbClr val="555555"/>
                </a:solidFill>
                <a:latin typeface="Calibri"/>
              </a:rPr>
              <a:t>. Econ. Modelling 29(4)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[11] </a:t>
            </a:r>
            <a:r>
              <a:rPr sz="750" b="1">
                <a:solidFill>
                  <a:srgbClr val="222222"/>
                </a:solidFill>
                <a:latin typeface="Calibri"/>
              </a:rPr>
              <a:t>Welch &amp; Goyal (2008)</a:t>
            </a:r>
            <a:r>
              <a:rPr sz="750" b="0">
                <a:solidFill>
                  <a:srgbClr val="555555"/>
                </a:solidFill>
                <a:latin typeface="Calibri"/>
              </a:rPr>
              <a:t>. RFS 21(4)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576072"/>
            <a:ext cx="3913632" cy="6217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머신러닝 · NLP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[12] </a:t>
            </a:r>
            <a:r>
              <a:rPr sz="750" b="1">
                <a:solidFill>
                  <a:srgbClr val="222222"/>
                </a:solidFill>
                <a:latin typeface="Calibri"/>
              </a:rPr>
              <a:t>Chen &amp; Guestrin (2016)</a:t>
            </a:r>
            <a:r>
              <a:rPr sz="750" b="0">
                <a:solidFill>
                  <a:srgbClr val="555555"/>
                </a:solidFill>
                <a:latin typeface="Calibri"/>
              </a:rPr>
              <a:t>. KDD 2016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[13] </a:t>
            </a:r>
            <a:r>
              <a:rPr sz="750" b="1">
                <a:solidFill>
                  <a:srgbClr val="222222"/>
                </a:solidFill>
                <a:latin typeface="Calibri"/>
              </a:rPr>
              <a:t>Lundberg &amp; Lee (2017)</a:t>
            </a:r>
            <a:r>
              <a:rPr sz="750" b="0">
                <a:solidFill>
                  <a:srgbClr val="555555"/>
                </a:solidFill>
                <a:latin typeface="Calibri"/>
              </a:rPr>
              <a:t>. NeurIPS 30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[14] </a:t>
            </a:r>
            <a:r>
              <a:rPr sz="750" b="1">
                <a:solidFill>
                  <a:srgbClr val="222222"/>
                </a:solidFill>
                <a:latin typeface="Calibri"/>
              </a:rPr>
              <a:t>Araci (2019) FinBERT</a:t>
            </a:r>
            <a:r>
              <a:rPr sz="750" b="0">
                <a:solidFill>
                  <a:srgbClr val="555555"/>
                </a:solidFill>
                <a:latin typeface="Calibri"/>
              </a:rPr>
              <a:t>. arXiv:1908.10063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[15] </a:t>
            </a:r>
            <a:r>
              <a:rPr sz="750" b="1">
                <a:solidFill>
                  <a:srgbClr val="222222"/>
                </a:solidFill>
                <a:latin typeface="Calibri"/>
              </a:rPr>
              <a:t>Devlin et al. (2019)</a:t>
            </a:r>
            <a:r>
              <a:rPr sz="750" b="0">
                <a:solidFill>
                  <a:srgbClr val="555555"/>
                </a:solidFill>
                <a:latin typeface="Calibri"/>
              </a:rPr>
              <a:t>. NAACL-HLT 2019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[16] </a:t>
            </a:r>
            <a:r>
              <a:rPr sz="750" b="1">
                <a:solidFill>
                  <a:srgbClr val="222222"/>
                </a:solidFill>
                <a:latin typeface="Calibri"/>
              </a:rPr>
              <a:t>Gu et al. (2020)</a:t>
            </a:r>
            <a:r>
              <a:rPr sz="750" b="0">
                <a:solidFill>
                  <a:srgbClr val="555555"/>
                </a:solidFill>
                <a:latin typeface="Calibri"/>
              </a:rPr>
              <a:t>. RFS 33(5)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[17] </a:t>
            </a:r>
            <a:r>
              <a:rPr sz="750" b="1">
                <a:solidFill>
                  <a:srgbClr val="222222"/>
                </a:solidFill>
                <a:latin typeface="Calibri"/>
              </a:rPr>
              <a:t>Akiba et al. (2019)</a:t>
            </a:r>
            <a:r>
              <a:rPr sz="750" b="0">
                <a:solidFill>
                  <a:srgbClr val="555555"/>
                </a:solidFill>
                <a:latin typeface="Calibri"/>
              </a:rPr>
              <a:t>. KDD 2019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대안 자산 · 수집품 시장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[18] </a:t>
            </a:r>
            <a:r>
              <a:rPr sz="750" b="1">
                <a:solidFill>
                  <a:srgbClr val="222222"/>
                </a:solidFill>
                <a:latin typeface="Calibri"/>
              </a:rPr>
              <a:t>Burton &amp; Jacobsen (1999)</a:t>
            </a:r>
            <a:r>
              <a:rPr sz="750" b="0">
                <a:solidFill>
                  <a:srgbClr val="555555"/>
                </a:solidFill>
                <a:latin typeface="Calibri"/>
              </a:rPr>
              <a:t>. JEP 13(4)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[19] </a:t>
            </a:r>
            <a:r>
              <a:rPr sz="750" b="1">
                <a:solidFill>
                  <a:srgbClr val="222222"/>
                </a:solidFill>
                <a:latin typeface="Calibri"/>
              </a:rPr>
              <a:t>Mei &amp; Moses (2002)</a:t>
            </a:r>
            <a:r>
              <a:rPr sz="750" b="0">
                <a:solidFill>
                  <a:srgbClr val="555555"/>
                </a:solidFill>
                <a:latin typeface="Calibri"/>
              </a:rPr>
              <a:t>. AER 92(5)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[20] </a:t>
            </a:r>
            <a:r>
              <a:rPr sz="750" b="1">
                <a:solidFill>
                  <a:srgbClr val="222222"/>
                </a:solidFill>
                <a:latin typeface="Calibri"/>
              </a:rPr>
              <a:t>Renneboog &amp; Spaenjers (2013)</a:t>
            </a:r>
            <a:r>
              <a:rPr sz="750" b="0">
                <a:solidFill>
                  <a:srgbClr val="555555"/>
                </a:solidFill>
                <a:latin typeface="Calibri"/>
              </a:rPr>
              <a:t>. Mgmt. Sci. 59(1)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[21] </a:t>
            </a:r>
            <a:r>
              <a:rPr sz="750" b="1">
                <a:solidFill>
                  <a:srgbClr val="222222"/>
                </a:solidFill>
                <a:latin typeface="Calibri"/>
              </a:rPr>
              <a:t>Dimson et al. (2015)</a:t>
            </a:r>
            <a:r>
              <a:rPr sz="750" b="0">
                <a:solidFill>
                  <a:srgbClr val="555555"/>
                </a:solidFill>
                <a:latin typeface="Calibri"/>
              </a:rPr>
              <a:t>. JFE 118(2)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576072"/>
            <a:ext cx="3913632" cy="6217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[22] </a:t>
            </a:r>
            <a:r>
              <a:rPr sz="750" b="1">
                <a:solidFill>
                  <a:srgbClr val="222222"/>
                </a:solidFill>
                <a:latin typeface="Calibri"/>
              </a:rPr>
              <a:t>Dobrynskaya &amp; Kishilova (2022)</a:t>
            </a:r>
            <a:r>
              <a:rPr sz="750" b="0">
                <a:solidFill>
                  <a:srgbClr val="555555"/>
                </a:solidFill>
                <a:latin typeface="Calibri"/>
              </a:rPr>
              <a:t>. RIBF 59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[23] </a:t>
            </a:r>
            <a:r>
              <a:rPr sz="750" b="1">
                <a:solidFill>
                  <a:srgbClr val="222222"/>
                </a:solidFill>
                <a:latin typeface="Calibri"/>
              </a:rPr>
              <a:t>Raditya et al. (2021)</a:t>
            </a:r>
            <a:r>
              <a:rPr sz="750" b="0">
                <a:solidFill>
                  <a:srgbClr val="555555"/>
                </a:solidFill>
                <a:latin typeface="Calibri"/>
              </a:rPr>
              <a:t>. Procedia CS 179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미디어 · 검색 → 자산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[24] </a:t>
            </a:r>
            <a:r>
              <a:rPr sz="750" b="1">
                <a:solidFill>
                  <a:srgbClr val="222222"/>
                </a:solidFill>
                <a:latin typeface="Calibri"/>
              </a:rPr>
              <a:t>Tetlock (2007)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62(3)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[25] </a:t>
            </a:r>
            <a:r>
              <a:rPr sz="750" b="1">
                <a:solidFill>
                  <a:srgbClr val="222222"/>
                </a:solidFill>
                <a:latin typeface="Calibri"/>
              </a:rPr>
              <a:t>Tetlock et al. (2008)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63(3)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[26] </a:t>
            </a:r>
            <a:r>
              <a:rPr sz="750" b="1">
                <a:solidFill>
                  <a:srgbClr val="222222"/>
                </a:solidFill>
                <a:latin typeface="Calibri"/>
              </a:rPr>
              <a:t>Antweiler &amp; Frank (2004)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59(3)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[27] </a:t>
            </a:r>
            <a:r>
              <a:rPr sz="750" b="1">
                <a:solidFill>
                  <a:srgbClr val="222222"/>
                </a:solidFill>
                <a:latin typeface="Calibri"/>
              </a:rPr>
              <a:t>Engelberg &amp; Parsons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66(1)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[28] </a:t>
            </a:r>
            <a:r>
              <a:rPr sz="750" b="1">
                <a:solidFill>
                  <a:srgbClr val="222222"/>
                </a:solidFill>
                <a:latin typeface="Calibri"/>
              </a:rPr>
              <a:t>Loughran &amp; McDonald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66(1)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[29] </a:t>
            </a:r>
            <a:r>
              <a:rPr sz="750" b="1">
                <a:solidFill>
                  <a:srgbClr val="222222"/>
                </a:solidFill>
                <a:latin typeface="Calibri"/>
              </a:rPr>
              <a:t>Loughran &amp; McDonald (2016)</a:t>
            </a:r>
            <a:r>
              <a:rPr sz="750" b="0">
                <a:solidFill>
                  <a:srgbClr val="555555"/>
                </a:solidFill>
                <a:latin typeface="Calibri"/>
              </a:rPr>
              <a:t>. JAR 54(4)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[30] </a:t>
            </a:r>
            <a:r>
              <a:rPr sz="750" b="1">
                <a:solidFill>
                  <a:srgbClr val="222222"/>
                </a:solidFill>
                <a:latin typeface="Calibri"/>
              </a:rPr>
              <a:t>García (2013)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68(3)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[31] </a:t>
            </a:r>
            <a:r>
              <a:rPr sz="750" b="1">
                <a:solidFill>
                  <a:srgbClr val="222222"/>
                </a:solidFill>
                <a:latin typeface="Calibri"/>
              </a:rPr>
              <a:t>Kearney &amp; Liu (2014)</a:t>
            </a:r>
            <a:r>
              <a:rPr sz="750" b="0">
                <a:solidFill>
                  <a:srgbClr val="555555"/>
                </a:solidFill>
                <a:latin typeface="Calibri"/>
              </a:rPr>
              <a:t>. IRFA 33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[32] </a:t>
            </a:r>
            <a:r>
              <a:rPr sz="750" b="1">
                <a:solidFill>
                  <a:srgbClr val="222222"/>
                </a:solidFill>
                <a:latin typeface="Calibri"/>
              </a:rPr>
              <a:t>Heston &amp; Sinha (2017)</a:t>
            </a:r>
            <a:r>
              <a:rPr sz="750" b="0">
                <a:solidFill>
                  <a:srgbClr val="555555"/>
                </a:solidFill>
                <a:latin typeface="Calibri"/>
              </a:rPr>
              <a:t>. FAJ 73(3)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[33] </a:t>
            </a:r>
            <a:r>
              <a:rPr sz="750" b="1">
                <a:solidFill>
                  <a:srgbClr val="222222"/>
                </a:solidFill>
                <a:latin typeface="Calibri"/>
              </a:rPr>
              <a:t>Bollen et al.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J. Comput. Sci. 2(1)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[34] </a:t>
            </a:r>
            <a:r>
              <a:rPr sz="750" b="1">
                <a:solidFill>
                  <a:srgbClr val="222222"/>
                </a:solidFill>
                <a:latin typeface="Calibri"/>
              </a:rPr>
              <a:t>Sprenger et al. (2014)</a:t>
            </a:r>
            <a:r>
              <a:rPr sz="750" b="0">
                <a:solidFill>
                  <a:srgbClr val="555555"/>
                </a:solidFill>
                <a:latin typeface="Calibri"/>
              </a:rPr>
              <a:t>. EFM 20(5)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검색 · 디지털 흔적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[35] </a:t>
            </a:r>
            <a:r>
              <a:rPr sz="750" b="1">
                <a:solidFill>
                  <a:srgbClr val="222222"/>
                </a:solidFill>
                <a:latin typeface="Calibri"/>
              </a:rPr>
              <a:t>Da et al.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JF 66(5)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[36] </a:t>
            </a:r>
            <a:r>
              <a:rPr sz="750" b="1">
                <a:solidFill>
                  <a:srgbClr val="222222"/>
                </a:solidFill>
                <a:latin typeface="Calibri"/>
              </a:rPr>
              <a:t>Preis et al. (2013)</a:t>
            </a:r>
            <a:r>
              <a:rPr sz="750" b="0">
                <a:solidFill>
                  <a:srgbClr val="555555"/>
                </a:solidFill>
                <a:latin typeface="Calibri"/>
              </a:rPr>
              <a:t>. Sci. Rep. 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[37] </a:t>
            </a:r>
            <a:r>
              <a:rPr sz="750" b="1">
                <a:solidFill>
                  <a:srgbClr val="222222"/>
                </a:solidFill>
                <a:latin typeface="Calibri"/>
              </a:rPr>
              <a:t>Joseph et al. (2011)</a:t>
            </a:r>
            <a:r>
              <a:rPr sz="750" b="0">
                <a:solidFill>
                  <a:srgbClr val="555555"/>
                </a:solidFill>
                <a:latin typeface="Calibri"/>
              </a:rPr>
              <a:t>. IJF 27(4)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[38] </a:t>
            </a:r>
            <a:r>
              <a:rPr sz="750" b="1">
                <a:solidFill>
                  <a:srgbClr val="222222"/>
                </a:solidFill>
                <a:latin typeface="Calibri"/>
              </a:rPr>
              <a:t>Vlastakis &amp; Markellos (2012)</a:t>
            </a:r>
            <a:r>
              <a:rPr sz="750" b="0">
                <a:solidFill>
                  <a:srgbClr val="555555"/>
                </a:solidFill>
                <a:latin typeface="Calibri"/>
              </a:rPr>
              <a:t>. JBF 36(6)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[39] </a:t>
            </a:r>
            <a:r>
              <a:rPr sz="750" b="1">
                <a:solidFill>
                  <a:srgbClr val="222222"/>
                </a:solidFill>
                <a:latin typeface="Calibri"/>
              </a:rPr>
              <a:t>Vozlyublennaia (2014)</a:t>
            </a:r>
            <a:r>
              <a:rPr sz="750" b="0">
                <a:solidFill>
                  <a:srgbClr val="555555"/>
                </a:solidFill>
                <a:latin typeface="Calibri"/>
              </a:rPr>
              <a:t>. JBF 41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[40] </a:t>
            </a:r>
            <a:r>
              <a:rPr sz="750" b="1">
                <a:solidFill>
                  <a:srgbClr val="222222"/>
                </a:solidFill>
                <a:latin typeface="Calibri"/>
              </a:rPr>
              <a:t>Bordino et al. (2012)</a:t>
            </a:r>
            <a:r>
              <a:rPr sz="750" b="0">
                <a:solidFill>
                  <a:srgbClr val="555555"/>
                </a:solidFill>
                <a:latin typeface="Calibri"/>
              </a:rPr>
              <a:t>. PLoS ONE 7(7)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[41] </a:t>
            </a:r>
            <a:r>
              <a:rPr sz="750" b="1">
                <a:solidFill>
                  <a:srgbClr val="222222"/>
                </a:solidFill>
                <a:latin typeface="Calibri"/>
              </a:rPr>
              <a:t>Moat et al. (2013)</a:t>
            </a:r>
            <a:r>
              <a:rPr sz="750" b="0">
                <a:solidFill>
                  <a:srgbClr val="555555"/>
                </a:solidFill>
                <a:latin typeface="Calibri"/>
              </a:rPr>
              <a:t>. Sci. Rep. 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[42] </a:t>
            </a:r>
            <a:r>
              <a:rPr sz="750" b="1">
                <a:solidFill>
                  <a:srgbClr val="222222"/>
                </a:solidFill>
                <a:latin typeface="Calibri"/>
              </a:rPr>
              <a:t>Curme et al. (2014)</a:t>
            </a:r>
            <a:r>
              <a:rPr sz="750" b="0">
                <a:solidFill>
                  <a:srgbClr val="555555"/>
                </a:solidFill>
                <a:latin typeface="Calibri"/>
              </a:rPr>
              <a:t>. PNAS 111(32)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데이터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1F2D4E"/>
                </a:solidFill>
                <a:latin typeface="Calibri"/>
              </a:rPr>
              <a:t>[43] </a:t>
            </a:r>
            <a:r>
              <a:rPr sz="750" b="1">
                <a:solidFill>
                  <a:srgbClr val="222222"/>
                </a:solidFill>
                <a:latin typeface="Calibri"/>
              </a:rPr>
              <a:t>Leetaru &amp; Schrodt (2013) GDELT</a:t>
            </a:r>
            <a:r>
              <a:rPr sz="750" b="0">
                <a:solidFill>
                  <a:srgbClr val="555555"/>
                </a:solidFill>
                <a:latin typeface="Calibri"/>
              </a:rPr>
              <a:t>. ISA Annual Conv.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-1" y="893"/>
            <a:ext cx="12188825" cy="48755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 altLang="en-US" sz="2399"/>
          </a:p>
        </p:txBody>
      </p:sp>
      <p:sp>
        <p:nvSpPr>
          <p:cNvPr id="3" name="Title"/>
          <p:cNvSpPr/>
          <p:nvPr/>
        </p:nvSpPr>
        <p:spPr>
          <a:xfrm>
            <a:off x="670385" y="220292"/>
            <a:ext cx="10360501" cy="533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999" b="1" dirty="0">
                <a:solidFill>
                  <a:srgbClr val="1A1A1A"/>
                </a:solidFill>
                <a:latin typeface="Calibri"/>
                <a:ea typeface="Calibri"/>
              </a:rPr>
              <a:t>참고 문헌 </a:t>
            </a:r>
            <a:r>
              <a:rPr lang="en-US" altLang="ko-KR" sz="3999" b="1" dirty="0">
                <a:solidFill>
                  <a:srgbClr val="1A1A1A"/>
                </a:solidFill>
                <a:latin typeface="Calibri"/>
                <a:ea typeface="Calibri"/>
              </a:rPr>
              <a:t>(References)</a:t>
            </a:r>
          </a:p>
        </p:txBody>
      </p:sp>
      <p:sp>
        <p:nvSpPr>
          <p:cNvPr id="4" name="Div"/>
          <p:cNvSpPr/>
          <p:nvPr/>
        </p:nvSpPr>
        <p:spPr>
          <a:xfrm>
            <a:off x="670385" y="845628"/>
            <a:ext cx="10969943" cy="18283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 altLang="en-US" sz="2399"/>
          </a:p>
        </p:txBody>
      </p:sp>
      <p:sp>
        <p:nvSpPr>
          <p:cNvPr id="5" name="LeftRefs"/>
          <p:cNvSpPr/>
          <p:nvPr/>
        </p:nvSpPr>
        <p:spPr>
          <a:xfrm>
            <a:off x="652102" y="2821517"/>
            <a:ext cx="5398594" cy="3599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미디어 감성 </a:t>
            </a:r>
            <a:r>
              <a:rPr lang="en-US" altLang="ko-KR" sz="1200" b="1" dirty="0">
                <a:solidFill>
                  <a:srgbClr val="185FA5"/>
                </a:solidFill>
                <a:latin typeface="Calibri"/>
                <a:ea typeface="Calibri"/>
              </a:rPr>
              <a:t>&amp; </a:t>
            </a:r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가격 선행성</a:t>
            </a:r>
          </a:p>
          <a:p>
            <a:endParaRPr lang="ko-KR" alt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Bollen, J., Mao, H., &amp; Zeng, X. (2011). Twitter mood predicts the stock market. Journal of Computational Science, 2(1), 1-8.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Da, Z., Engelberg, J., &amp; Gao, P. (2011). In search of attention. Journal of Finance, 66(5), 1461-1499.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Jang, J. &amp; Jun, S. (2025). YouTube view count, investor attention and stock returns. International Review of Financial Analysis, 97.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Mao, H., Counts, S., &amp; Bollen, J. (2011). Predicting financial markets: Comparing survey, news, Twitter and search engine data. arXiv:1112.1051.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Huang, A. H., Wang, H., &amp; Yang, Y. (2023). FinBERT: A large language model for extracting information from financial text. Contemporary Accounting Research, 40(2), 806-841.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Huang, M. Y., Rojas, R. R., &amp; Convery, P. D. (2019). Forecasting stock market movements using Google Trend searches. Empirical Economics, 59(6), 2821-2839.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Raza, S. A., et al. (2022). Google Trends and cryptocurrencies. Research in International Business and Finance.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Granger, C. W. J. (1969). Investigating causal relations by econometric models and cross-spectral methods. Econometrica, 37(3), 424-438.</a:t>
            </a:r>
          </a:p>
        </p:txBody>
      </p:sp>
      <p:sp>
        <p:nvSpPr>
          <p:cNvPr id="6" name="RightRefs"/>
          <p:cNvSpPr/>
          <p:nvPr/>
        </p:nvSpPr>
        <p:spPr>
          <a:xfrm>
            <a:off x="6347194" y="2496481"/>
            <a:ext cx="5465243" cy="49320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리셀 자산</a:t>
            </a:r>
          </a:p>
          <a:p>
            <a:endParaRPr lang="ko-KR" alt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Treiber, M. C., &amp; Ma, K. (2020). Hedonic Pricing in the Sneaker Resale Market. Duke Journal of Economics. [Working Paper]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Dobrynskaya, V., &amp; Kishilova, J. (2022). LEGO — The toy of smart investors. Research in International Business and Finance, 59, 101539.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Ding, X. (2022). The Sneaker Value: A Disquisition Into Sneaker Resale Market. Theses - ALL, 626. Syracuse University.</a:t>
            </a:r>
          </a:p>
          <a:p>
            <a:endParaRPr lang="ko-KR" altLang="en-US" sz="933" dirty="0"/>
          </a:p>
          <a:p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머신러닝 </a:t>
            </a:r>
            <a:r>
              <a:rPr lang="en-US" altLang="ko-KR" sz="1200" b="1" dirty="0">
                <a:solidFill>
                  <a:srgbClr val="185FA5"/>
                </a:solidFill>
                <a:latin typeface="Calibri"/>
                <a:ea typeface="Calibri"/>
              </a:rPr>
              <a:t>&amp; </a:t>
            </a:r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감성 분석</a:t>
            </a:r>
          </a:p>
          <a:p>
            <a:endParaRPr lang="ko-KR" alt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Akyildirim, E., et al. (2021). Prediction of cryptocurrency returns using machine learning. Annals of Operations Research, 297, 3-36.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Araci, D. (2019). FinBERT: Financial sentiment analysis with pre-trained language models. arXiv:1908.10063.</a:t>
            </a:r>
          </a:p>
          <a:p>
            <a:endParaRPr lang="ko-KR" altLang="en-US" sz="933" dirty="0"/>
          </a:p>
          <a:p>
            <a:r>
              <a:rPr lang="ko-KR" altLang="en-US" sz="1200" b="1" dirty="0">
                <a:solidFill>
                  <a:srgbClr val="185FA5"/>
                </a:solidFill>
                <a:latin typeface="Calibri"/>
                <a:ea typeface="Calibri"/>
              </a:rPr>
              <a:t>시장 데이터</a:t>
            </a:r>
          </a:p>
          <a:p>
            <a:endParaRPr lang="ko-KR" alt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ThredUp (2026). 14th Annual Resale Report. GlobalData. thredup.com/resale</a:t>
            </a:r>
          </a:p>
          <a:p>
            <a:endParaRPr lang="en-US" sz="933" dirty="0"/>
          </a:p>
          <a:p>
            <a:r>
              <a:rPr lang="ko-KR" altLang="en-US" sz="933" dirty="0">
                <a:solidFill>
                  <a:srgbClr val="333333"/>
                </a:solidFill>
                <a:latin typeface="Calibri"/>
                <a:ea typeface="Calibri"/>
              </a:rPr>
              <a:t>리셀 시장의 현황과 소비자이슈 </a:t>
            </a:r>
            <a:r>
              <a:rPr lang="en-US" altLang="ko-KR" sz="933" dirty="0">
                <a:solidFill>
                  <a:srgbClr val="333333"/>
                </a:solidFill>
                <a:latin typeface="Calibri"/>
                <a:ea typeface="Calibri"/>
              </a:rPr>
              <a:t>[</a:t>
            </a:r>
            <a:r>
              <a:rPr lang="ko-KR" altLang="en-US" sz="933" dirty="0">
                <a:solidFill>
                  <a:srgbClr val="333333"/>
                </a:solidFill>
                <a:latin typeface="Calibri"/>
                <a:ea typeface="Calibri"/>
              </a:rPr>
              <a:t>한국소비자원 소비자정책동향 </a:t>
            </a:r>
            <a:r>
              <a:rPr lang="en-US" altLang="ko-KR" sz="933" dirty="0">
                <a:solidFill>
                  <a:srgbClr val="333333"/>
                </a:solidFill>
                <a:latin typeface="Calibri"/>
                <a:ea typeface="Calibri"/>
              </a:rPr>
              <a:t>122</a:t>
            </a:r>
            <a:r>
              <a:rPr lang="ko-KR" altLang="en-US" sz="933" dirty="0">
                <a:solidFill>
                  <a:srgbClr val="333333"/>
                </a:solidFill>
                <a:latin typeface="Calibri"/>
                <a:ea typeface="Calibri"/>
              </a:rPr>
              <a:t>호</a:t>
            </a:r>
            <a:r>
              <a:rPr lang="en-US" altLang="ko-KR" sz="933" dirty="0">
                <a:solidFill>
                  <a:srgbClr val="333333"/>
                </a:solidFill>
                <a:latin typeface="Calibri"/>
                <a:ea typeface="Calibri"/>
              </a:rPr>
              <a:t>] (2022)</a:t>
            </a:r>
          </a:p>
          <a:p>
            <a:endParaRPr lang="en-US" sz="933" dirty="0"/>
          </a:p>
          <a:p>
            <a:r>
              <a:rPr lang="en-US" sz="933" dirty="0">
                <a:solidFill>
                  <a:srgbClr val="333333"/>
                </a:solidFill>
                <a:latin typeface="Calibri"/>
              </a:rPr>
              <a:t>Benjamini, Y., &amp; Hochberg, Y. (1995). Controlling the false discovery rate. Journal of the Royal Statistical Society: Series B, 57(1), 289-300.</a:t>
            </a:r>
          </a:p>
        </p:txBody>
      </p:sp>
      <p:sp>
        <p:nvSpPr>
          <p:cNvPr id="7" name="VDiv"/>
          <p:cNvSpPr/>
          <p:nvPr/>
        </p:nvSpPr>
        <p:spPr>
          <a:xfrm>
            <a:off x="6242267" y="893994"/>
            <a:ext cx="18283" cy="5465243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 altLang="en-US" sz="239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220B4-C24C-164E-1AF1-AA4C4AB93EB8}"/>
              </a:ext>
            </a:extLst>
          </p:cNvPr>
          <p:cNvSpPr txBox="1"/>
          <p:nvPr/>
        </p:nvSpPr>
        <p:spPr>
          <a:xfrm>
            <a:off x="684581" y="1057151"/>
            <a:ext cx="5398594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33" b="1" dirty="0" err="1">
                <a:solidFill>
                  <a:srgbClr val="185FA5"/>
                </a:solidFill>
              </a:rPr>
              <a:t>리셀</a:t>
            </a:r>
            <a:r>
              <a:rPr lang="ko-KR" altLang="en-US" sz="1333" b="1" dirty="0">
                <a:solidFill>
                  <a:srgbClr val="185FA5"/>
                </a:solidFill>
              </a:rPr>
              <a:t> 시장 배경 </a:t>
            </a:r>
            <a:r>
              <a:rPr lang="en-US" altLang="ko-KR" sz="1333" b="1" dirty="0">
                <a:solidFill>
                  <a:srgbClr val="185FA5"/>
                </a:solidFill>
              </a:rPr>
              <a:t>&amp; </a:t>
            </a:r>
            <a:r>
              <a:rPr lang="ko-KR" altLang="en-US" sz="1333" b="1" dirty="0">
                <a:solidFill>
                  <a:srgbClr val="185FA5"/>
                </a:solidFill>
              </a:rPr>
              <a:t>적용 이유</a:t>
            </a:r>
            <a:endParaRPr lang="en-US" altLang="ko-KR" sz="1200" b="1" dirty="0">
              <a:solidFill>
                <a:srgbClr val="0070C0"/>
              </a:solidFill>
            </a:endParaRPr>
          </a:p>
          <a:p>
            <a:r>
              <a:rPr lang="ko-KR" altLang="en-US" sz="1066" dirty="0" err="1"/>
              <a:t>리셀</a:t>
            </a:r>
            <a:r>
              <a:rPr lang="ko-KR" altLang="en-US" sz="1066" dirty="0"/>
              <a:t> 시장의 현황과 소비자이슈 </a:t>
            </a:r>
            <a:r>
              <a:rPr lang="en-US" altLang="ko-KR" sz="1066" dirty="0"/>
              <a:t>[</a:t>
            </a:r>
            <a:r>
              <a:rPr lang="ko-KR" altLang="en-US" sz="1066" dirty="0"/>
              <a:t>한국소비자원 소비자정책동향 </a:t>
            </a:r>
            <a:r>
              <a:rPr lang="en-US" altLang="ko-KR" sz="1066" dirty="0"/>
              <a:t>122</a:t>
            </a:r>
            <a:r>
              <a:rPr lang="ko-KR" altLang="en-US" sz="1066" dirty="0"/>
              <a:t>호</a:t>
            </a:r>
            <a:r>
              <a:rPr lang="en-US" altLang="ko-KR" sz="1066" dirty="0"/>
              <a:t>] (2022)</a:t>
            </a:r>
          </a:p>
          <a:p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https://www.nytimes.com/athletic/1800120/2020/05/07/air-jordan-sales-soar-on-resale-sites-as-espn-airs-the-last-dance/</a:t>
            </a:r>
            <a:r>
              <a:rPr lang="en-US" altLang="ko-KR" sz="1000" dirty="0"/>
              <a:t> </a:t>
            </a:r>
          </a:p>
          <a:p>
            <a:r>
              <a:rPr lang="en-US" altLang="ko-KR" sz="10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https://magazine.hankyung.com/business/article/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202602106584b</a:t>
            </a:r>
            <a:r>
              <a:rPr lang="en-US" altLang="ko-KR" sz="1000" dirty="0"/>
              <a:t> </a:t>
            </a:r>
          </a:p>
          <a:p>
            <a:r>
              <a:rPr lang="en-US" altLang="ko-KR" sz="1000" dirty="0">
                <a:hlinkClick r:id="rId5"/>
              </a:rPr>
              <a:t>https://biz.chosun.com/stock/finance/2022/01/30/LU2U6SU5DBDNXB4RIWSFNSJSH4/</a:t>
            </a:r>
            <a:r>
              <a:rPr lang="en-US" altLang="ko-KR" sz="1000" dirty="0"/>
              <a:t> </a:t>
            </a:r>
          </a:p>
          <a:p>
            <a:r>
              <a:rPr lang="ko-KR" altLang="en-US" sz="1000" dirty="0"/>
              <a:t>한국소비자원</a:t>
            </a:r>
            <a:r>
              <a:rPr lang="en-US" altLang="ko-KR" sz="1000" dirty="0"/>
              <a:t>/</a:t>
            </a:r>
            <a:r>
              <a:rPr lang="ko-KR" altLang="en-US" sz="1000" dirty="0"/>
              <a:t>재판매 플랫폼 이용 실태 조사 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6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D0B4C-496C-1EEE-BCB6-281038C95750}"/>
              </a:ext>
            </a:extLst>
          </p:cNvPr>
          <p:cNvSpPr txBox="1"/>
          <p:nvPr/>
        </p:nvSpPr>
        <p:spPr>
          <a:xfrm>
            <a:off x="6396759" y="1021494"/>
            <a:ext cx="5366114" cy="1630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33" b="1" dirty="0">
                <a:solidFill>
                  <a:srgbClr val="185FA5"/>
                </a:solidFill>
              </a:rPr>
              <a:t>기존 연구 </a:t>
            </a:r>
            <a:r>
              <a:rPr lang="en-US" altLang="ko-KR" sz="1333" b="1" dirty="0">
                <a:solidFill>
                  <a:srgbClr val="185FA5"/>
                </a:solidFill>
              </a:rPr>
              <a:t>&amp; </a:t>
            </a:r>
            <a:r>
              <a:rPr lang="ko-KR" altLang="en-US" sz="1333" b="1" dirty="0">
                <a:solidFill>
                  <a:srgbClr val="185FA5"/>
                </a:solidFill>
              </a:rPr>
              <a:t>제안 연구의 필요성 </a:t>
            </a:r>
            <a:endParaRPr lang="en-US" altLang="ko-KR" sz="1333" b="1" dirty="0">
              <a:solidFill>
                <a:srgbClr val="185FA5"/>
              </a:solidFill>
            </a:endParaRPr>
          </a:p>
          <a:p>
            <a:endParaRPr lang="en-US" altLang="ko-KR" sz="1200" b="1" dirty="0">
              <a:solidFill>
                <a:srgbClr val="0070C0"/>
              </a:solidFill>
            </a:endParaRPr>
          </a:p>
          <a:p>
            <a:r>
              <a:rPr lang="en-US" altLang="ko-KR" sz="1066" dirty="0">
                <a:hlinkClick r:id="rId6"/>
              </a:rPr>
              <a:t>https://stockx.com/about/stockxs-current-culture-index-highlights-2025s-biggest-winners-reveals-predictions-for-2026/</a:t>
            </a:r>
            <a:r>
              <a:rPr lang="en-US" altLang="ko-KR" sz="1066" dirty="0"/>
              <a:t> </a:t>
            </a:r>
          </a:p>
          <a:p>
            <a:r>
              <a:rPr lang="en-US" altLang="ko-KR" sz="1066" dirty="0" err="1"/>
              <a:t>ThredUp</a:t>
            </a:r>
            <a:r>
              <a:rPr lang="en-US" altLang="ko-KR" sz="1066" dirty="0"/>
              <a:t>: 2026 Resale Report, 10,13p</a:t>
            </a:r>
          </a:p>
          <a:p>
            <a:r>
              <a:rPr lang="en-US" altLang="ko-KR" sz="1066" dirty="0">
                <a:hlinkClick r:id="rId7"/>
              </a:rPr>
              <a:t>https://capitaloneshopping.com/research/thrifting-statistics/</a:t>
            </a:r>
            <a:endParaRPr lang="en-US" altLang="ko-KR" sz="1066" dirty="0"/>
          </a:p>
          <a:p>
            <a:r>
              <a:rPr lang="en-US" altLang="ko-KR" sz="1066" dirty="0" err="1"/>
              <a:t>Capitalone</a:t>
            </a:r>
            <a:r>
              <a:rPr lang="en-US" altLang="ko-KR" sz="1066" dirty="0"/>
              <a:t> shopping</a:t>
            </a:r>
          </a:p>
          <a:p>
            <a:endParaRPr lang="en-US" altLang="ko-KR" sz="1066" dirty="0"/>
          </a:p>
          <a:p>
            <a:endParaRPr lang="ko-KR" altLang="en-US" sz="10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1139</Words>
  <Application>Microsoft Office PowerPoint</Application>
  <PresentationFormat>사용자 지정</PresentationFormat>
  <Paragraphs>102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2026-06-06T15:59:18Z</dcterms:modified>
  <cp:category/>
</cp:coreProperties>
</file>