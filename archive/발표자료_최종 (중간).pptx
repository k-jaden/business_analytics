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04" r:id="rId3"/>
    <p:sldId id="258" r:id="rId4"/>
    <p:sldId id="294" r:id="rId5"/>
    <p:sldId id="302" r:id="rId6"/>
    <p:sldId id="295" r:id="rId7"/>
    <p:sldId id="303" r:id="rId8"/>
    <p:sldId id="293" r:id="rId9"/>
    <p:sldId id="300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88" r:id="rId19"/>
    <p:sldId id="272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01" r:id="rId34"/>
    <p:sldId id="27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  <a:srgbClr val="185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A5EE2-8ED6-4C88-96F3-CFCEB1F1B20B}" v="6" dt="2026-04-19T04:39:18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8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안녕하세요. 저희 연구는 ‘미디어 채널이 리셀 시장 가격을 미리 움직이는가’를 묻습니다. 스니커즈·트레이딩 카드·레고 세 자산에 대해 Granger 인과성과 머신러닝으로 검증했습니다. 발표는 이승현·윤재은·최형호가 함께 준비했습니다.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연구 배경과 문제의식, 세 가지 연구 질문을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618F-8F8D-E332-314C-069C74C7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7BB6E-A09C-5B71-D6F1-AC92C6BA4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B13E7-6D25-9811-999B-7792A82CC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리셀 가격이 오르기 전에 어떤 미디어 채널이 먼저 반응하는지를 자산별로 비교하는 것이 목적입니다. 질문은 셋입니다 — 채널이 가격을 선행하는가(H1), 선행 채널이 자산마다 다른가(H2), 선별 채널 모형이 전채널과 동등 이상인가(H3).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0811-20BE-D29D-CC06-44674E84F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37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리셀 시장은 최근 5년간 급성장해 2024년 약 490억 달러, 2029년 740억 달러로 전망됩니다. 가격이 관심과 정보에 민감하다는 점에서 금융시장과 본질을 공유하지만, 어떤 정보 채널이 가격을 움직이는지에 대한 실증은 부족했습니다.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9B8D-8526-7A9D-D5F9-43F9428E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0C95CB-DDC4-B534-D1E3-D734B8218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F3328-C8F0-D177-6701-ACAAE779E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다음은 관련 연구, 그리고 기존 연구가 리셀에 그대로 적용되지 않는 지점입니다.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D2479-BBC3-E57F-C7F8-57D575DD7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7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그래서 저희는 리셀 세 자산, 다섯 채널, 볼륨·감성 분리, Granger와 머신러닝 결합이라는 차별점을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분석 대상과 채널 구성입니다.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자산 각 5개, 총 15개 아이템을 48개월 패널로 구축했습니다. 세 자산은 정보 생성 경로가 서로 달라 H2 검증에 이상적입니다.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채널은 검색·뉴스·유튜브 세 정보원을 볼륨과 감성으로 나눠 다섯 개로 구성했습니다. 같은 보도라도 긍정·부정에 따라 가격 방향이 달라지므로 분리가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각 채널은 선행 연구에서 가격 선행성이 검증된 것만 채택했습니다.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분석 방법론입니다.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흐름은 데이터 수집, FinBERT 감성 점수화, Granger 선별, XGBoost 예측 검증의 4단계입니다.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뉴스와 댓글은 금융 특화 모델 FinBERT로 긍정에서 부정을 뺀 감성 점수로 변환했습니다.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A8C45-A992-FA0C-08B7-E7273432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3639A-3931-E8E6-C74E-D295DAA69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1901F-58E1-1B62-6B4B-9D90E7E0D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Granger 검정은 가격 과거값만 쓴 모형과 채널을 더한 모형을 비교해, 채널을 넣었을 때 예측 오차가 유의하게 줄면 선행한다고 판정합니다.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55295-A9D1-0EE7-DCAE-2EA556AC6A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28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예측 검증은 전채널 모형 A와 Granger 선별 모형 B를 XGBoost로 비교하고, DM 검정과 SHAP으로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이상입니다.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ytimes.com/athletic/1800120/2020/05/07/air-jordan-sales-soar-on-resale-sites-as-espn-airs-the-last-dance/" TargetMode="External"/><Relationship Id="rId7" Type="http://schemas.openxmlformats.org/officeDocument/2006/relationships/hyperlink" Target="https://capitaloneshopping.com/research/thrifting-statistics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tockx.com/about/stockxs-current-culture-index-highlights-2025s-biggest-winners-reveals-predictions-for-2026/" TargetMode="External"/><Relationship Id="rId5" Type="http://schemas.openxmlformats.org/officeDocument/2006/relationships/hyperlink" Target="https://biz.chosun.com/stock/finance/2022/01/30/LU2U6SU5DBDNXB4RIWSFNSJSH4/" TargetMode="External"/><Relationship Id="rId4" Type="http://schemas.openxmlformats.org/officeDocument/2006/relationships/hyperlink" Target="https://magazine.hankyung.com/business/article/202602106584b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26610" y="1577817"/>
            <a:ext cx="8925950" cy="74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리셀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시장에서</a:t>
            </a:r>
            <a:r>
              <a:rPr lang="en-US" sz="3000" b="1" dirty="0">
                <a:latin typeface="+mj-ea"/>
                <a:ea typeface="+mj-ea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미디어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채널의</a:t>
            </a:r>
            <a:r>
              <a:rPr lang="en-US" sz="3000" b="1" dirty="0">
                <a:latin typeface="+mj-ea"/>
                <a:ea typeface="+mj-ea"/>
              </a:rPr>
              <a:t> </a:t>
            </a: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가격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선행성</a:t>
            </a:r>
            <a:r>
              <a:rPr lang="en-US" sz="3000" b="1" dirty="0">
                <a:latin typeface="+mj-ea"/>
                <a:ea typeface="+mj-ea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비교</a:t>
            </a:r>
            <a:r>
              <a:rPr lang="en-US" sz="3000" b="1" dirty="0">
                <a:solidFill>
                  <a:srgbClr val="1A1A1A"/>
                </a:solidFill>
                <a:latin typeface="+mj-ea"/>
                <a:ea typeface="+mj-ea"/>
                <a:cs typeface="Calibri" pitchFamily="34" charset="-120"/>
              </a:rPr>
              <a:t> 연구</a:t>
            </a:r>
            <a:endParaRPr lang="en-US" sz="3000" b="1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46560" y="2928745"/>
            <a:ext cx="5650880" cy="30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스니커즈 · 트레이딩 카드 · </a:t>
            </a:r>
            <a:r>
              <a:rPr lang="en-US" sz="1500" b="1" dirty="0" err="1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레고의</a:t>
            </a:r>
            <a:r>
              <a:rPr lang="en-US" sz="1500" b="1" dirty="0">
                <a:latin typeface="+mj-ea"/>
                <a:ea typeface="+mj-ea"/>
              </a:rPr>
              <a:t> </a:t>
            </a:r>
            <a:r>
              <a:rPr lang="en-US" sz="1500" b="1" dirty="0">
                <a:solidFill>
                  <a:srgbClr val="AAAAAA"/>
                </a:solidFill>
                <a:latin typeface="+mj-ea"/>
                <a:ea typeface="+mj-ea"/>
                <a:cs typeface="Calibri" pitchFamily="34" charset="-120"/>
              </a:rPr>
              <a:t>Granger 검정 기반 실증분석</a:t>
            </a:r>
            <a:endParaRPr lang="en-US" sz="1500" b="1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F8ED8-28F2-ED21-540A-57A5B7899E43}"/>
              </a:ext>
            </a:extLst>
          </p:cNvPr>
          <p:cNvSpPr txBox="1"/>
          <p:nvPr/>
        </p:nvSpPr>
        <p:spPr>
          <a:xfrm>
            <a:off x="7508632" y="4616769"/>
            <a:ext cx="15439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chemeClr val="bg2">
                    <a:lumMod val="75000"/>
                  </a:schemeClr>
                </a:solidFill>
              </a:rPr>
              <a:t>이승현</a:t>
            </a:r>
            <a:r>
              <a:rPr lang="en-US" altLang="ko-KR" sz="1000" b="1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b="1" dirty="0" err="1">
                <a:solidFill>
                  <a:schemeClr val="bg2">
                    <a:lumMod val="75000"/>
                  </a:schemeClr>
                </a:solidFill>
              </a:rPr>
              <a:t>윤재은</a:t>
            </a:r>
            <a:r>
              <a:rPr lang="en-US" altLang="ko-KR" sz="1000" b="1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b="1" dirty="0">
                <a:solidFill>
                  <a:schemeClr val="bg2">
                    <a:lumMod val="75000"/>
                  </a:schemeClr>
                </a:solidFill>
              </a:rPr>
              <a:t>최형호</a:t>
            </a:r>
            <a:endParaRPr lang="en-US" altLang="ko-KR" sz="10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발표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60704"/>
            <a:ext cx="813816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6070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060704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170431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9344" y="113385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Introduction · 연구 배경 &amp;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1389888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리셀 시장 성장 · 연구 질문 (RQ1–RQ3)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00784"/>
            <a:ext cx="8138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70078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1700784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1810512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9344" y="177393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Related Works · 기존 연구 &amp; 포지션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344" y="2029967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선행연구 · 공통 한계 · 차별점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340863"/>
            <a:ext cx="813816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2340863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2340863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450591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09344" y="2414015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Proposed Method · 분석 대상 &amp; 채널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2670047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3종 자산 · 5개 미디어 채널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80944"/>
            <a:ext cx="8138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298094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2980944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3090672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09344" y="305409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Proposed Method · 분석 방법론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9344" y="3310127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FinBERT · Granger · 견고성 검정 · XGBoost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21024"/>
            <a:ext cx="813816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62102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3621024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3730752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09344" y="369417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Experiment Results · 실험 결과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9344" y="3950208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정량평가(RQ1–3) · 정성평가(SHAP·IRF·한계)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261104"/>
            <a:ext cx="8138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4261104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4261104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4370832"/>
            <a:ext cx="10972" cy="347472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09344" y="433425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Conclusion · 결론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9344" y="4590288"/>
            <a:ext cx="6949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종합 결론 · 시사점 · 향후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연구 목적 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핵심 가설 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ko-KR" altLang="en-US" sz="1500" dirty="0" err="1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리셀</a:t>
            </a:r>
            <a:r>
              <a:rPr lang="ko-KR" altLang="en-US" sz="1500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 시장 성장</a:t>
            </a:r>
            <a:endParaRPr lang="en-US" altLang="ko-KR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27AA4-A7E2-D83D-2809-858D9940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88DDBF-858A-142C-6E65-DC03CB1C7844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B0B5E5-E08D-ED9E-C78A-5F5F90E34C3F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E8A079-FD4F-7F21-EBA4-94845D6B00FF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H2 (핵심) · H3</a:t>
            </a:r>
            <a:endParaRPr lang="en-US" sz="1300" i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649E74-6324-9244-CC2B-AE42D5EBD600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Div">
            <a:extLst>
              <a:ext uri="{FF2B5EF4-FFF2-40B4-BE49-F238E27FC236}">
                <a16:creationId xmlns:a16="http://schemas.microsoft.com/office/drawing/2014/main" id="{56EE6109-4694-2633-CDED-BEED637F41F5}"/>
              </a:ext>
            </a:extLst>
          </p:cNvPr>
          <p:cNvSpPr/>
          <p:nvPr/>
        </p:nvSpPr>
        <p:spPr>
          <a:xfrm>
            <a:off x="521760" y="1006780"/>
            <a:ext cx="8229600" cy="10000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29" name="PurposeBg">
            <a:extLst>
              <a:ext uri="{FF2B5EF4-FFF2-40B4-BE49-F238E27FC236}">
                <a16:creationId xmlns:a16="http://schemas.microsoft.com/office/drawing/2014/main" id="{2E0F23ED-4283-1404-2022-A05C298450B2}"/>
              </a:ext>
            </a:extLst>
          </p:cNvPr>
          <p:cNvSpPr/>
          <p:nvPr/>
        </p:nvSpPr>
        <p:spPr>
          <a:xfrm>
            <a:off x="521760" y="1056780"/>
            <a:ext cx="8139600" cy="68000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0" name="PurposeText">
            <a:extLst>
              <a:ext uri="{FF2B5EF4-FFF2-40B4-BE49-F238E27FC236}">
                <a16:creationId xmlns:a16="http://schemas.microsoft.com/office/drawing/2014/main" id="{2C5658D5-544E-D815-6E46-9B2328C29F7F}"/>
              </a:ext>
            </a:extLst>
          </p:cNvPr>
          <p:cNvSpPr/>
          <p:nvPr/>
        </p:nvSpPr>
        <p:spPr>
          <a:xfrm>
            <a:off x="678840" y="1086780"/>
            <a:ext cx="796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연구 목적: </a:t>
            </a:r>
            <a:r>
              <a:rPr lang="ko-KR" sz="1300" dirty="0">
                <a:solidFill>
                  <a:srgbClr val="BBBBBB"/>
                </a:solidFill>
                <a:latin typeface="Calibri"/>
                <a:ea typeface="Calibri"/>
              </a:rPr>
              <a:t>스니커즈·트레이딩 카드·레고 리셀 가격이 오르기 전에, 어떤 미디어 채널(</a:t>
            </a:r>
            <a:r>
              <a:rPr lang="ko-KR" sz="1300" dirty="0" err="1">
                <a:solidFill>
                  <a:srgbClr val="BBBBBB"/>
                </a:solidFill>
                <a:latin typeface="Calibri"/>
                <a:ea typeface="Calibri"/>
              </a:rPr>
              <a:t>구글·뉴스·유튜브</a:t>
            </a:r>
            <a:r>
              <a:rPr lang="en-US" altLang="ko-KR" sz="1300" dirty="0">
                <a:solidFill>
                  <a:srgbClr val="BBBBBB"/>
                </a:solidFill>
                <a:latin typeface="Calibri"/>
                <a:ea typeface="Calibri"/>
              </a:rPr>
              <a:t>, </a:t>
            </a:r>
            <a:r>
              <a:rPr lang="ko-KR" altLang="en-US" sz="1300" dirty="0">
                <a:solidFill>
                  <a:srgbClr val="BBBBBB"/>
                </a:solidFill>
                <a:latin typeface="Calibri"/>
                <a:ea typeface="Calibri"/>
              </a:rPr>
              <a:t>감성</a:t>
            </a:r>
            <a:r>
              <a:rPr lang="ko-KR" sz="1300" dirty="0">
                <a:solidFill>
                  <a:srgbClr val="BBBBBB"/>
                </a:solidFill>
                <a:latin typeface="Calibri"/>
                <a:ea typeface="Calibri"/>
              </a:rPr>
              <a:t>)이 먼저 반응하는지를 자산별로 비교 실증한다.</a:t>
            </a:r>
          </a:p>
        </p:txBody>
      </p:sp>
      <p:sp>
        <p:nvSpPr>
          <p:cNvPr id="31" name="H1Bg">
            <a:extLst>
              <a:ext uri="{FF2B5EF4-FFF2-40B4-BE49-F238E27FC236}">
                <a16:creationId xmlns:a16="http://schemas.microsoft.com/office/drawing/2014/main" id="{E7DCE920-3605-F3A0-0B42-ECB5B5FA6030}"/>
              </a:ext>
            </a:extLst>
          </p:cNvPr>
          <p:cNvSpPr/>
          <p:nvPr/>
        </p:nvSpPr>
        <p:spPr>
          <a:xfrm>
            <a:off x="521760" y="1806780"/>
            <a:ext cx="2580000" cy="149146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2" name="H1Bar">
            <a:extLst>
              <a:ext uri="{FF2B5EF4-FFF2-40B4-BE49-F238E27FC236}">
                <a16:creationId xmlns:a16="http://schemas.microsoft.com/office/drawing/2014/main" id="{149419E6-DC2F-42FF-EFC9-078A30C26A26}"/>
              </a:ext>
            </a:extLst>
          </p:cNvPr>
          <p:cNvSpPr/>
          <p:nvPr/>
        </p:nvSpPr>
        <p:spPr>
          <a:xfrm>
            <a:off x="521760" y="1806780"/>
            <a:ext cx="60000" cy="1501748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3" name="H1Text">
            <a:extLst>
              <a:ext uri="{FF2B5EF4-FFF2-40B4-BE49-F238E27FC236}">
                <a16:creationId xmlns:a16="http://schemas.microsoft.com/office/drawing/2014/main" id="{B0445B9B-60FD-6D7F-5F8D-392F9EB82743}"/>
              </a:ext>
            </a:extLst>
          </p:cNvPr>
          <p:cNvSpPr/>
          <p:nvPr/>
        </p:nvSpPr>
        <p:spPr>
          <a:xfrm>
            <a:off x="663220" y="1848117"/>
            <a:ext cx="2457080" cy="1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1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b="1" dirty="0">
                <a:latin typeface="Calibri"/>
                <a:ea typeface="Calibri"/>
              </a:rPr>
              <a:t>H1</a:t>
            </a:r>
          </a:p>
          <a:p>
            <a:pPr marL="0" indent="0" algn="ctr">
              <a:buNone/>
            </a:pPr>
            <a:r>
              <a:rPr lang="ko-KR" sz="2000" b="1" dirty="0">
                <a:solidFill>
                  <a:srgbClr val="1A1A1A"/>
                </a:solidFill>
                <a:latin typeface="Calibri"/>
                <a:ea typeface="Calibri"/>
              </a:rPr>
              <a:t>미디어 채널은 리셀 가격에 선행한다</a:t>
            </a:r>
          </a:p>
          <a:p>
            <a:endParaRPr lang="en-US" altLang="ko-KR" sz="1000" dirty="0"/>
          </a:p>
        </p:txBody>
      </p:sp>
      <p:sp>
        <p:nvSpPr>
          <p:cNvPr id="34" name="H2Bg">
            <a:extLst>
              <a:ext uri="{FF2B5EF4-FFF2-40B4-BE49-F238E27FC236}">
                <a16:creationId xmlns:a16="http://schemas.microsoft.com/office/drawing/2014/main" id="{3FD1F962-52DE-DFDA-A338-70FA45AC0ED5}"/>
              </a:ext>
            </a:extLst>
          </p:cNvPr>
          <p:cNvSpPr/>
          <p:nvPr/>
        </p:nvSpPr>
        <p:spPr>
          <a:xfrm>
            <a:off x="3251760" y="1806779"/>
            <a:ext cx="2580000" cy="1491459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5" name="H2Text">
            <a:extLst>
              <a:ext uri="{FF2B5EF4-FFF2-40B4-BE49-F238E27FC236}">
                <a16:creationId xmlns:a16="http://schemas.microsoft.com/office/drawing/2014/main" id="{2A3EAAFF-E98E-0F0A-925B-D0FBE60888DF}"/>
              </a:ext>
            </a:extLst>
          </p:cNvPr>
          <p:cNvSpPr/>
          <p:nvPr/>
        </p:nvSpPr>
        <p:spPr>
          <a:xfrm>
            <a:off x="3334026" y="1720730"/>
            <a:ext cx="2460000" cy="170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800" b="1" dirty="0">
              <a:solidFill>
                <a:srgbClr val="FFFFFF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800" b="1" dirty="0">
                <a:solidFill>
                  <a:schemeClr val="bg1"/>
                </a:solidFill>
                <a:latin typeface="Calibri"/>
                <a:ea typeface="Calibri"/>
              </a:rPr>
              <a:t>H2</a:t>
            </a:r>
            <a:r>
              <a:rPr lang="ko-KR" sz="1800" b="1" dirty="0">
                <a:latin typeface="Calibri"/>
                <a:ea typeface="Calibri"/>
              </a:rPr>
              <a:t> </a:t>
            </a:r>
          </a:p>
          <a:p>
            <a:pPr marL="0" indent="0" algn="ctr">
              <a:buNone/>
            </a:pPr>
            <a:r>
              <a:rPr lang="ko-KR" sz="2000" b="1" dirty="0">
                <a:solidFill>
                  <a:srgbClr val="FFFFFF"/>
                </a:solidFill>
                <a:latin typeface="Calibri"/>
                <a:ea typeface="Calibri"/>
              </a:rPr>
              <a:t>선행 채널은 자산 유형마다 다르다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endParaRPr lang="ko-KR" sz="1500" dirty="0">
              <a:solidFill>
                <a:srgbClr val="BBBBBB"/>
              </a:solidFill>
              <a:latin typeface="Calibri"/>
              <a:ea typeface="Calibri"/>
            </a:endParaRPr>
          </a:p>
        </p:txBody>
      </p:sp>
      <p:sp>
        <p:nvSpPr>
          <p:cNvPr id="36" name="H3Bg">
            <a:extLst>
              <a:ext uri="{FF2B5EF4-FFF2-40B4-BE49-F238E27FC236}">
                <a16:creationId xmlns:a16="http://schemas.microsoft.com/office/drawing/2014/main" id="{9E93F63E-BE4B-DA5A-BFE6-7B5B15A207C8}"/>
              </a:ext>
            </a:extLst>
          </p:cNvPr>
          <p:cNvSpPr/>
          <p:nvPr/>
        </p:nvSpPr>
        <p:spPr>
          <a:xfrm>
            <a:off x="5981760" y="1806780"/>
            <a:ext cx="2680000" cy="1491458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7" name="H3Bar">
            <a:extLst>
              <a:ext uri="{FF2B5EF4-FFF2-40B4-BE49-F238E27FC236}">
                <a16:creationId xmlns:a16="http://schemas.microsoft.com/office/drawing/2014/main" id="{3F1B2044-236A-16B2-6AB4-ED87885BE554}"/>
              </a:ext>
            </a:extLst>
          </p:cNvPr>
          <p:cNvSpPr/>
          <p:nvPr/>
        </p:nvSpPr>
        <p:spPr>
          <a:xfrm>
            <a:off x="5981760" y="1806780"/>
            <a:ext cx="60000" cy="1491458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8" name="H3Text">
            <a:extLst>
              <a:ext uri="{FF2B5EF4-FFF2-40B4-BE49-F238E27FC236}">
                <a16:creationId xmlns:a16="http://schemas.microsoft.com/office/drawing/2014/main" id="{022BD500-3041-7818-BDE6-28E8CE04EE2E}"/>
              </a:ext>
            </a:extLst>
          </p:cNvPr>
          <p:cNvSpPr/>
          <p:nvPr/>
        </p:nvSpPr>
        <p:spPr>
          <a:xfrm>
            <a:off x="6051760" y="1584668"/>
            <a:ext cx="2540000" cy="1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altLang="ko-KR" sz="18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800" b="1" dirty="0">
                <a:latin typeface="Calibri"/>
                <a:ea typeface="Calibri"/>
              </a:rPr>
              <a:t>H3</a:t>
            </a:r>
            <a:endParaRPr lang="en-US" altLang="ko-KR" b="1" dirty="0">
              <a:latin typeface="Calibri"/>
              <a:ea typeface="Calibri"/>
            </a:endParaRPr>
          </a:p>
          <a:p>
            <a:pPr marL="0" indent="0" algn="ctr">
              <a:buNone/>
            </a:pPr>
            <a:r>
              <a:rPr lang="ko-KR" sz="2000" b="1" dirty="0">
                <a:solidFill>
                  <a:srgbClr val="1A1A1A"/>
                </a:solidFill>
                <a:latin typeface="Calibri"/>
                <a:ea typeface="Calibri"/>
              </a:rPr>
              <a:t>채널 선별 모델이 전채널 모델보다 예측력이 높다</a:t>
            </a: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39" name="FlowLabel">
            <a:extLst>
              <a:ext uri="{FF2B5EF4-FFF2-40B4-BE49-F238E27FC236}">
                <a16:creationId xmlns:a16="http://schemas.microsoft.com/office/drawing/2014/main" id="{5A952EAB-FAA3-7014-3C37-7F00059A18A9}"/>
              </a:ext>
            </a:extLst>
          </p:cNvPr>
          <p:cNvSpPr/>
          <p:nvPr/>
        </p:nvSpPr>
        <p:spPr>
          <a:xfrm>
            <a:off x="4045092" y="3710477"/>
            <a:ext cx="1363936" cy="256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1500" b="1" dirty="0">
                <a:solidFill>
                  <a:srgbClr val="888888"/>
                </a:solidFill>
                <a:latin typeface="Calibri"/>
                <a:ea typeface="Calibri"/>
              </a:rPr>
              <a:t>분석 흐름</a:t>
            </a:r>
          </a:p>
        </p:txBody>
      </p:sp>
      <p:sp>
        <p:nvSpPr>
          <p:cNvPr id="40" name="F1">
            <a:extLst>
              <a:ext uri="{FF2B5EF4-FFF2-40B4-BE49-F238E27FC236}">
                <a16:creationId xmlns:a16="http://schemas.microsoft.com/office/drawing/2014/main" id="{B3B3026D-1143-3323-6DBF-F624D257ED3E}"/>
              </a:ext>
            </a:extLst>
          </p:cNvPr>
          <p:cNvSpPr/>
          <p:nvPr/>
        </p:nvSpPr>
        <p:spPr>
          <a:xfrm>
            <a:off x="476526" y="408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b"/>
          <a:lstStyle/>
          <a:p>
            <a:pPr algn="ctr"/>
            <a:endParaRPr lang="ko-KR" sz="1100" dirty="0">
              <a:solidFill>
                <a:srgbClr val="666666"/>
              </a:solidFill>
              <a:latin typeface="Calibri"/>
              <a:ea typeface="Calibri"/>
            </a:endParaRPr>
          </a:p>
        </p:txBody>
      </p:sp>
      <p:sp>
        <p:nvSpPr>
          <p:cNvPr id="41" name="F2">
            <a:extLst>
              <a:ext uri="{FF2B5EF4-FFF2-40B4-BE49-F238E27FC236}">
                <a16:creationId xmlns:a16="http://schemas.microsoft.com/office/drawing/2014/main" id="{95862516-BA85-1B1C-3FDE-3D91256C5C93}"/>
              </a:ext>
            </a:extLst>
          </p:cNvPr>
          <p:cNvSpPr/>
          <p:nvPr/>
        </p:nvSpPr>
        <p:spPr>
          <a:xfrm>
            <a:off x="2714026" y="408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FinBERT 감성분석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666666"/>
                </a:solidFill>
                <a:latin typeface="Calibri"/>
                <a:ea typeface="Calibri"/>
              </a:rPr>
              <a:t>뉴스·댓글 점수화</a:t>
            </a:r>
          </a:p>
        </p:txBody>
      </p:sp>
      <p:sp>
        <p:nvSpPr>
          <p:cNvPr id="42" name="F3">
            <a:extLst>
              <a:ext uri="{FF2B5EF4-FFF2-40B4-BE49-F238E27FC236}">
                <a16:creationId xmlns:a16="http://schemas.microsoft.com/office/drawing/2014/main" id="{75E4CEA8-2A16-3932-D3FD-55050A61FF16}"/>
              </a:ext>
            </a:extLst>
          </p:cNvPr>
          <p:cNvSpPr/>
          <p:nvPr/>
        </p:nvSpPr>
        <p:spPr>
          <a:xfrm>
            <a:off x="4884026" y="4076720"/>
            <a:ext cx="1820000" cy="780000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</a:ln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Granger 검정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666666"/>
                </a:solidFill>
                <a:latin typeface="Calibri"/>
                <a:ea typeface="Calibri"/>
              </a:rPr>
              <a:t>선행 채널 식별</a:t>
            </a:r>
          </a:p>
        </p:txBody>
      </p:sp>
      <p:sp>
        <p:nvSpPr>
          <p:cNvPr id="43" name="F4">
            <a:extLst>
              <a:ext uri="{FF2B5EF4-FFF2-40B4-BE49-F238E27FC236}">
                <a16:creationId xmlns:a16="http://schemas.microsoft.com/office/drawing/2014/main" id="{D9D6969D-47DE-AE6C-CACB-27E31BBFF965}"/>
              </a:ext>
            </a:extLst>
          </p:cNvPr>
          <p:cNvSpPr/>
          <p:nvPr/>
        </p:nvSpPr>
        <p:spPr>
          <a:xfrm>
            <a:off x="7076526" y="4086720"/>
            <a:ext cx="1540000" cy="780000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0" rIns="0" bIns="0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XGBoost 검증</a:t>
            </a:r>
          </a:p>
          <a:p>
            <a:pPr marL="0" indent="0" algn="ctr">
              <a:buNone/>
            </a:pPr>
            <a:r>
              <a:rPr lang="ko-KR" sz="1100" dirty="0">
                <a:solidFill>
                  <a:srgbClr val="AAAAAA"/>
                </a:solidFill>
                <a:latin typeface="Calibri"/>
                <a:ea typeface="Calibri"/>
              </a:rPr>
              <a:t>AUC·DM검정</a:t>
            </a: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2C1C89B7-F0C8-9012-A753-C703282D2B05}"/>
              </a:ext>
            </a:extLst>
          </p:cNvPr>
          <p:cNvSpPr/>
          <p:nvPr/>
        </p:nvSpPr>
        <p:spPr>
          <a:xfrm>
            <a:off x="2432526" y="4357288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9194B45C-45FC-B116-F6C6-D0A82193E68E}"/>
              </a:ext>
            </a:extLst>
          </p:cNvPr>
          <p:cNvSpPr/>
          <p:nvPr/>
        </p:nvSpPr>
        <p:spPr>
          <a:xfrm>
            <a:off x="4613776" y="4378748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2C979988-8ECC-982D-3F1F-EBE605E0DE29}"/>
              </a:ext>
            </a:extLst>
          </p:cNvPr>
          <p:cNvSpPr/>
          <p:nvPr/>
        </p:nvSpPr>
        <p:spPr>
          <a:xfrm>
            <a:off x="6795026" y="4392740"/>
            <a:ext cx="190500" cy="17594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16B587-B072-C6B4-AC2E-B00E497C90C6}"/>
              </a:ext>
            </a:extLst>
          </p:cNvPr>
          <p:cNvSpPr/>
          <p:nvPr/>
        </p:nvSpPr>
        <p:spPr>
          <a:xfrm>
            <a:off x="419226" y="3609746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H1Bar">
            <a:extLst>
              <a:ext uri="{FF2B5EF4-FFF2-40B4-BE49-F238E27FC236}">
                <a16:creationId xmlns:a16="http://schemas.microsoft.com/office/drawing/2014/main" id="{023EA7B2-1336-6376-153F-8DAEDB1342AB}"/>
              </a:ext>
            </a:extLst>
          </p:cNvPr>
          <p:cNvSpPr/>
          <p:nvPr/>
        </p:nvSpPr>
        <p:spPr>
          <a:xfrm>
            <a:off x="3248902" y="1801634"/>
            <a:ext cx="60000" cy="15017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8BF36-3070-50A8-D989-643577DB940C}"/>
              </a:ext>
            </a:extLst>
          </p:cNvPr>
          <p:cNvSpPr txBox="1"/>
          <p:nvPr/>
        </p:nvSpPr>
        <p:spPr>
          <a:xfrm>
            <a:off x="551760" y="4161249"/>
            <a:ext cx="16811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300" b="1" dirty="0">
                <a:solidFill>
                  <a:srgbClr val="1A1A1A"/>
                </a:solidFill>
                <a:ea typeface="Calibri"/>
              </a:rPr>
              <a:t>데이터 수집</a:t>
            </a:r>
          </a:p>
          <a:p>
            <a:pPr algn="ctr"/>
            <a:r>
              <a:rPr lang="ko-KR" altLang="ko-KR" sz="1100" dirty="0" err="1">
                <a:solidFill>
                  <a:srgbClr val="666666"/>
                </a:solidFill>
                <a:ea typeface="Calibri"/>
              </a:rPr>
              <a:t>StockX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,</a:t>
            </a:r>
            <a:r>
              <a:rPr lang="en-US" altLang="ko-KR" sz="1100" dirty="0" err="1">
                <a:solidFill>
                  <a:srgbClr val="666666"/>
                </a:solidFill>
                <a:ea typeface="Calibri"/>
              </a:rPr>
              <a:t>Prciecharting</a:t>
            </a:r>
            <a:endParaRPr lang="en-US" altLang="ko-KR" sz="1100" dirty="0">
              <a:solidFill>
                <a:srgbClr val="666666"/>
              </a:solidFill>
              <a:ea typeface="Calibri"/>
            </a:endParaRPr>
          </a:p>
          <a:p>
            <a:pPr algn="ctr"/>
            <a:r>
              <a:rPr lang="ko-KR" altLang="ko-KR" sz="1100" dirty="0" err="1">
                <a:solidFill>
                  <a:srgbClr val="666666"/>
                </a:solidFill>
                <a:ea typeface="Calibri"/>
              </a:rPr>
              <a:t>유튜브·뉴스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 (</a:t>
            </a:r>
            <a:r>
              <a:rPr lang="ko-KR" altLang="en-US" sz="1100" dirty="0">
                <a:solidFill>
                  <a:srgbClr val="666666"/>
                </a:solidFill>
                <a:ea typeface="Calibri"/>
              </a:rPr>
              <a:t>볼륨</a:t>
            </a:r>
            <a:r>
              <a:rPr lang="ko-KR" altLang="ko-KR" sz="1100" dirty="0">
                <a:solidFill>
                  <a:srgbClr val="666666"/>
                </a:solidFill>
                <a:ea typeface="Calibri"/>
              </a:rPr>
              <a:t> ·</a:t>
            </a:r>
            <a:r>
              <a:rPr lang="ko-KR" altLang="en-US" sz="1100" dirty="0">
                <a:solidFill>
                  <a:srgbClr val="666666"/>
                </a:solidFill>
                <a:ea typeface="Calibri"/>
              </a:rPr>
              <a:t>감성</a:t>
            </a:r>
            <a:r>
              <a:rPr lang="en-US" altLang="ko-KR" sz="1100" dirty="0">
                <a:solidFill>
                  <a:srgbClr val="666666"/>
                </a:solidFill>
                <a:ea typeface="Calibri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78691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3000" b="1" dirty="0">
                <a:solidFill>
                  <a:srgbClr val="1A1A1A"/>
                </a:solidFill>
                <a:latin typeface="Calibri"/>
                <a:ea typeface="Calibri"/>
              </a:rPr>
              <a:t>연구 배경 - 리셀 시장의 성장</a:t>
            </a:r>
          </a:p>
        </p:txBody>
      </p:sp>
      <p:sp>
        <p:nvSpPr>
          <p:cNvPr id="4" name="Subtitle"/>
          <p:cNvSpPr/>
          <p:nvPr/>
        </p:nvSpPr>
        <p:spPr>
          <a:xfrm>
            <a:off x="502920" y="640080"/>
            <a:ext cx="8461466" cy="232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200" b="1" i="1" dirty="0">
                <a:solidFill>
                  <a:schemeClr val="accent3"/>
                </a:solidFill>
                <a:ea typeface="Calibri"/>
              </a:rPr>
              <a:t>리셀</a:t>
            </a:r>
            <a:r>
              <a:rPr lang="ko-KR" sz="1200" i="1" dirty="0">
                <a:solidFill>
                  <a:schemeClr val="accent3"/>
                </a:solidFill>
                <a:ea typeface="Calibri"/>
              </a:rPr>
              <a:t>: 한정적 공급으로 형성된 희소 가치를 기반으로, 2차 시장에서 프리미엄을 부가하여 재화를 전매하는 수익 창출 행위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Box1Bg"/>
          <p:cNvSpPr/>
          <p:nvPr/>
        </p:nvSpPr>
        <p:spPr>
          <a:xfrm>
            <a:off x="5029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7" name="Stat1Num"/>
          <p:cNvSpPr/>
          <p:nvPr/>
        </p:nvSpPr>
        <p:spPr>
          <a:xfrm>
            <a:off x="502920" y="1100000"/>
            <a:ext cx="25146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약 </a:t>
            </a:r>
            <a:r>
              <a:rPr lang="en-US" altLang="ko-KR" sz="2600" b="1" dirty="0">
                <a:solidFill>
                  <a:srgbClr val="1A1A1A"/>
                </a:solidFill>
                <a:latin typeface="Calibri"/>
                <a:ea typeface="Calibri"/>
              </a:rPr>
              <a:t>490</a:t>
            </a:r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억 달러</a:t>
            </a:r>
          </a:p>
        </p:txBody>
      </p:sp>
      <p:sp>
        <p:nvSpPr>
          <p:cNvPr id="8" name="Stat1Label"/>
          <p:cNvSpPr/>
          <p:nvPr/>
        </p:nvSpPr>
        <p:spPr>
          <a:xfrm>
            <a:off x="432581" y="1820000"/>
            <a:ext cx="269434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</a:t>
            </a:r>
            <a:r>
              <a:rPr lang="en-US" altLang="ko-KR" sz="1300" dirty="0">
                <a:ea typeface="Calibri"/>
              </a:rPr>
              <a:t>4</a:t>
            </a:r>
            <a:r>
              <a:rPr lang="ko-KR" sz="1300" dirty="0">
                <a:ea typeface="Calibri"/>
              </a:rPr>
              <a:t> 미국 중고품 시장 규모</a:t>
            </a:r>
          </a:p>
          <a:p>
            <a:pPr algn="ctr"/>
            <a:r>
              <a:rPr lang="ko-KR" sz="950" i="1" dirty="0">
                <a:ea typeface="Calibri"/>
              </a:rPr>
              <a:t>– ThredUp, Capital One Shopping (2026) –</a:t>
            </a:r>
          </a:p>
        </p:txBody>
      </p:sp>
      <p:sp>
        <p:nvSpPr>
          <p:cNvPr id="9" name="Box2Bg"/>
          <p:cNvSpPr/>
          <p:nvPr/>
        </p:nvSpPr>
        <p:spPr>
          <a:xfrm>
            <a:off x="32461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0" name="Stat2Num"/>
          <p:cNvSpPr/>
          <p:nvPr/>
        </p:nvSpPr>
        <p:spPr>
          <a:xfrm>
            <a:off x="3246120" y="111556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3200" b="1" dirty="0">
                <a:solidFill>
                  <a:srgbClr val="1A1A1A"/>
                </a:solidFill>
                <a:latin typeface="Calibri"/>
                <a:ea typeface="Calibri"/>
              </a:rPr>
              <a:t>14.3%</a:t>
            </a:r>
          </a:p>
        </p:txBody>
      </p:sp>
      <p:sp>
        <p:nvSpPr>
          <p:cNvPr id="11" name="Stat2Label"/>
          <p:cNvSpPr/>
          <p:nvPr/>
        </p:nvSpPr>
        <p:spPr>
          <a:xfrm>
            <a:off x="3246120" y="1722681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</a:t>
            </a:r>
            <a:r>
              <a:rPr lang="en-US" altLang="ko-KR" sz="1300" dirty="0">
                <a:ea typeface="Calibri"/>
              </a:rPr>
              <a:t>5</a:t>
            </a:r>
            <a:r>
              <a:rPr lang="ko-KR" sz="1300" dirty="0">
                <a:ea typeface="Calibri"/>
              </a:rPr>
              <a:t>년 전년 대비 성장률</a:t>
            </a:r>
          </a:p>
          <a:p>
            <a:pPr algn="ctr"/>
            <a:r>
              <a:rPr lang="ko-KR" sz="1300" dirty="0">
                <a:ea typeface="Calibri"/>
              </a:rPr>
              <a:t>미국 중고품 시장</a:t>
            </a:r>
          </a:p>
        </p:txBody>
      </p:sp>
      <p:sp>
        <p:nvSpPr>
          <p:cNvPr id="12" name="Box3Bg"/>
          <p:cNvSpPr/>
          <p:nvPr/>
        </p:nvSpPr>
        <p:spPr>
          <a:xfrm>
            <a:off x="5989320" y="1051560"/>
            <a:ext cx="251460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3" name="Stat3Num"/>
          <p:cNvSpPr/>
          <p:nvPr/>
        </p:nvSpPr>
        <p:spPr>
          <a:xfrm>
            <a:off x="5989320" y="1100000"/>
            <a:ext cx="25146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2600" b="1" dirty="0">
                <a:solidFill>
                  <a:srgbClr val="1A1A1A"/>
                </a:solidFill>
                <a:latin typeface="Calibri"/>
                <a:ea typeface="Calibri"/>
              </a:rPr>
              <a:t>약 740억 달러</a:t>
            </a:r>
          </a:p>
        </p:txBody>
      </p:sp>
      <p:sp>
        <p:nvSpPr>
          <p:cNvPr id="14" name="Stat3Label"/>
          <p:cNvSpPr/>
          <p:nvPr/>
        </p:nvSpPr>
        <p:spPr>
          <a:xfrm>
            <a:off x="5989320" y="1820000"/>
            <a:ext cx="251460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sz="1300" dirty="0">
                <a:ea typeface="Calibri"/>
              </a:rPr>
              <a:t>2029년 예상 미국 시장 규모</a:t>
            </a:r>
          </a:p>
          <a:p>
            <a:pPr algn="ctr"/>
            <a:r>
              <a:rPr lang="ko-KR" sz="1300" dirty="0">
                <a:ea typeface="Calibri"/>
              </a:rPr>
              <a:t>(ThredUp 추정)</a:t>
            </a:r>
          </a:p>
        </p:txBody>
      </p:sp>
      <p:sp>
        <p:nvSpPr>
          <p:cNvPr id="22" name="Arrow2"/>
          <p:cNvSpPr txBox="1"/>
          <p:nvPr/>
        </p:nvSpPr>
        <p:spPr>
          <a:xfrm>
            <a:off x="4914933" y="1259252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b="1" dirty="0">
                <a:solidFill>
                  <a:srgbClr val="00B050"/>
                </a:solidFill>
              </a:rPr>
              <a:t>↑</a:t>
            </a:r>
          </a:p>
        </p:txBody>
      </p:sp>
      <p:sp>
        <p:nvSpPr>
          <p:cNvPr id="17" name="RightBg"/>
          <p:cNvSpPr/>
          <p:nvPr/>
        </p:nvSpPr>
        <p:spPr>
          <a:xfrm>
            <a:off x="5016814" y="2676145"/>
            <a:ext cx="3487106" cy="215376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sp>
        <p:nvSpPr>
          <p:cNvPr id="18" name="RightHeader"/>
          <p:cNvSpPr/>
          <p:nvPr/>
        </p:nvSpPr>
        <p:spPr>
          <a:xfrm>
            <a:off x="5200000" y="2780000"/>
            <a:ext cx="2900000" cy="2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sz="2000" b="1" dirty="0">
                <a:ea typeface="Calibri"/>
              </a:rPr>
              <a:t>"리셀" 거래 증가</a:t>
            </a:r>
          </a:p>
        </p:txBody>
      </p:sp>
      <p:sp>
        <p:nvSpPr>
          <p:cNvPr id="24" name="RightBullets"/>
          <p:cNvSpPr txBox="1"/>
          <p:nvPr/>
        </p:nvSpPr>
        <p:spPr>
          <a:xfrm>
            <a:off x="5120000" y="3090000"/>
            <a:ext cx="325590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ko-KR" sz="1050" dirty="0">
                <a:ea typeface="Calibri"/>
              </a:rPr>
              <a:t>Z세대 소비자 83%가 중고품 구매 경험 또는 희망</a:t>
            </a:r>
          </a:p>
          <a:p>
            <a:pPr marL="171450" indent="-171450">
              <a:buFont typeface="Arial"/>
              <a:buChar char="•"/>
            </a:pPr>
            <a:endParaRPr lang="en-US" altLang="ko-KR" sz="1050" dirty="0"/>
          </a:p>
          <a:p>
            <a:pPr marL="171450" indent="-171450">
              <a:buFont typeface="Arial"/>
              <a:buChar char="•"/>
            </a:pPr>
            <a:r>
              <a:rPr lang="ko-KR" altLang="ko-KR" sz="1050" dirty="0" err="1">
                <a:ea typeface="Calibri"/>
              </a:rPr>
              <a:t>리셀</a:t>
            </a:r>
            <a:r>
              <a:rPr lang="ko-KR" altLang="ko-KR" sz="1050" dirty="0">
                <a:ea typeface="Calibri"/>
              </a:rPr>
              <a:t> 시장, 2018년 대비 650% 성장 (일반 중고매장 36.8% 대비)</a:t>
            </a:r>
          </a:p>
          <a:p>
            <a:pPr marL="171450" indent="-171450">
              <a:buFont typeface="Arial"/>
              <a:buChar char="•"/>
            </a:pPr>
            <a:endParaRPr lang="ko-KR" altLang="ko-KR" sz="1050" dirty="0"/>
          </a:p>
          <a:p>
            <a:pPr marL="171450" indent="-171450">
              <a:buFont typeface="Arial"/>
              <a:buChar char="•"/>
            </a:pPr>
            <a:r>
              <a:rPr lang="ko-KR" altLang="ko-KR" sz="1050" dirty="0">
                <a:ea typeface="Calibri"/>
              </a:rPr>
              <a:t>온라인 </a:t>
            </a:r>
            <a:r>
              <a:rPr lang="ko-KR" altLang="ko-KR" sz="1050" dirty="0" err="1">
                <a:ea typeface="Calibri"/>
              </a:rPr>
              <a:t>리셀</a:t>
            </a:r>
            <a:r>
              <a:rPr lang="ko-KR" altLang="ko-KR" sz="1050" dirty="0">
                <a:ea typeface="Calibri"/>
              </a:rPr>
              <a:t>, 2029년까지 연평균 13% 성장 전망</a:t>
            </a:r>
            <a:endParaRPr lang="en-US" altLang="ko-KR" sz="1050" dirty="0"/>
          </a:p>
          <a:p>
            <a:pPr marL="171450" indent="-171450">
              <a:buFont typeface="Arial"/>
              <a:buChar char="•"/>
            </a:pPr>
            <a:endParaRPr lang="ko-KR" sz="1050" dirty="0"/>
          </a:p>
          <a:p>
            <a:pPr marL="171450" indent="-171450">
              <a:buFont typeface="Arial"/>
              <a:buChar char="•"/>
            </a:pPr>
            <a:r>
              <a:rPr lang="ko-KR" sz="1050" dirty="0">
                <a:ea typeface="Calibri"/>
              </a:rPr>
              <a:t>약 490억 달러(2024) → 약 560억 달러(2025), 전년 대비 14.3% 성장</a:t>
            </a:r>
          </a:p>
          <a:p>
            <a:pPr marL="171450" indent="-171450">
              <a:buFont typeface="Arial"/>
              <a:buChar char="•"/>
            </a:pPr>
            <a:endParaRPr lang="ko-KR" sz="1050" dirty="0"/>
          </a:p>
        </p:txBody>
      </p:sp>
      <p:pic>
        <p:nvPicPr>
          <p:cNvPr id="19" name="ThredUP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86" y="2629084"/>
            <a:ext cx="4600000" cy="21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SourceCaption"/>
          <p:cNvSpPr/>
          <p:nvPr/>
        </p:nvSpPr>
        <p:spPr>
          <a:xfrm>
            <a:off x="267286" y="4750000"/>
            <a:ext cx="4700000" cy="22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ko-KR" sz="800" i="1" dirty="0">
                <a:ea typeface="Calibri"/>
              </a:rPr>
              <a:t>미국 중고품·리셀 시장 규모 (단위: 10억 달러)</a:t>
            </a:r>
            <a:r>
              <a:rPr lang="en-US" altLang="ko-KR" sz="800" i="1" dirty="0">
                <a:ea typeface="Calibri"/>
              </a:rPr>
              <a:t>, 2025</a:t>
            </a:r>
            <a:r>
              <a:rPr lang="ko-KR" altLang="en-US" sz="800" i="1" dirty="0">
                <a:ea typeface="Calibri"/>
              </a:rPr>
              <a:t>년부터 예측치</a:t>
            </a:r>
            <a:r>
              <a:rPr lang="ko-KR" sz="800" i="1" dirty="0">
                <a:ea typeface="Calibri"/>
              </a:rPr>
              <a:t> / 출처: ThredUp, Capital One Shopping Research (2026)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73D2-8A86-605B-1CCA-DAF48D5D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A59B56FF-CFBF-C419-4D36-ED245D83056C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ACCDDD8-2A6A-3B10-231A-11F272EC049F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 err="1">
                <a:solidFill>
                  <a:srgbClr val="1A1A1A"/>
                </a:solidFill>
                <a:latin typeface="Calibri"/>
                <a:ea typeface="Calibri"/>
              </a:rPr>
              <a:t>리셀</a:t>
            </a:r>
            <a:r>
              <a:rPr lang="ko-KR" altLang="en-US" sz="3000" b="1" dirty="0">
                <a:solidFill>
                  <a:srgbClr val="1A1A1A"/>
                </a:solidFill>
                <a:latin typeface="Calibri"/>
                <a:ea typeface="Calibri"/>
              </a:rPr>
              <a:t> 분야 선정 이유</a:t>
            </a:r>
            <a:endParaRPr lang="ko-KR" sz="3000" b="1" dirty="0">
              <a:solidFill>
                <a:srgbClr val="1A1A1A"/>
              </a:solidFill>
              <a:latin typeface="Calibri"/>
              <a:ea typeface="Calibri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4B8D4C8D-781A-317B-DCB7-BAA34439439E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 err="1">
                <a:solidFill>
                  <a:srgbClr val="AAAAAA"/>
                </a:solidFill>
                <a:latin typeface="Calibri"/>
                <a:ea typeface="Calibri"/>
              </a:rPr>
              <a:t>리셀</a:t>
            </a:r>
            <a:r>
              <a:rPr lang="ko-KR" altLang="en-US" sz="1300" i="1" dirty="0">
                <a:solidFill>
                  <a:srgbClr val="AAAAAA"/>
                </a:solidFill>
                <a:latin typeface="Calibri"/>
                <a:ea typeface="Calibri"/>
              </a:rPr>
              <a:t> 분야 선정 이유 </a:t>
            </a:r>
            <a:r>
              <a:rPr lang="en-US" altLang="ko-KR" sz="1300" i="1" dirty="0">
                <a:solidFill>
                  <a:srgbClr val="AAAAAA"/>
                </a:solidFill>
                <a:latin typeface="Calibri"/>
                <a:ea typeface="Calibri"/>
              </a:rPr>
              <a:t>3</a:t>
            </a:r>
            <a:r>
              <a:rPr lang="ko-KR" altLang="en-US" sz="1300" i="1" dirty="0">
                <a:solidFill>
                  <a:srgbClr val="AAAAAA"/>
                </a:solidFill>
                <a:latin typeface="Calibri"/>
                <a:ea typeface="Calibri"/>
              </a:rPr>
              <a:t>가지</a:t>
            </a:r>
            <a:endParaRPr lang="ko-KR" sz="1300" i="1" dirty="0">
              <a:solidFill>
                <a:srgbClr val="AAAAAA"/>
              </a:solidFill>
              <a:latin typeface="Calibri"/>
              <a:ea typeface="Calibri"/>
            </a:endParaRPr>
          </a:p>
        </p:txBody>
      </p:sp>
      <p:sp>
        <p:nvSpPr>
          <p:cNvPr id="5" name="Div">
            <a:extLst>
              <a:ext uri="{FF2B5EF4-FFF2-40B4-BE49-F238E27FC236}">
                <a16:creationId xmlns:a16="http://schemas.microsoft.com/office/drawing/2014/main" id="{F89F44F7-7CD3-28D7-EE23-A1E434DB1509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P1Bg">
            <a:extLst>
              <a:ext uri="{FF2B5EF4-FFF2-40B4-BE49-F238E27FC236}">
                <a16:creationId xmlns:a16="http://schemas.microsoft.com/office/drawing/2014/main" id="{2ABA3D8A-73AB-E19E-E53B-0978F95CE4D6}"/>
              </a:ext>
            </a:extLst>
          </p:cNvPr>
          <p:cNvSpPr/>
          <p:nvPr/>
        </p:nvSpPr>
        <p:spPr>
          <a:xfrm>
            <a:off x="502920" y="1000000"/>
            <a:ext cx="260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9" name="P2Bg">
            <a:extLst>
              <a:ext uri="{FF2B5EF4-FFF2-40B4-BE49-F238E27FC236}">
                <a16:creationId xmlns:a16="http://schemas.microsoft.com/office/drawing/2014/main" id="{EA6BC6E1-5EF6-28BF-EEEA-F0173DA1F3E1}"/>
              </a:ext>
            </a:extLst>
          </p:cNvPr>
          <p:cNvSpPr/>
          <p:nvPr/>
        </p:nvSpPr>
        <p:spPr>
          <a:xfrm>
            <a:off x="3252920" y="1000000"/>
            <a:ext cx="260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" name="P2Bar">
            <a:extLst>
              <a:ext uri="{FF2B5EF4-FFF2-40B4-BE49-F238E27FC236}">
                <a16:creationId xmlns:a16="http://schemas.microsoft.com/office/drawing/2014/main" id="{E8E59110-E24E-E649-4876-036E58305504}"/>
              </a:ext>
            </a:extLst>
          </p:cNvPr>
          <p:cNvSpPr/>
          <p:nvPr/>
        </p:nvSpPr>
        <p:spPr>
          <a:xfrm>
            <a:off x="3252920" y="1000000"/>
            <a:ext cx="45719" cy="38893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7" name="P1Bar">
            <a:extLst>
              <a:ext uri="{FF2B5EF4-FFF2-40B4-BE49-F238E27FC236}">
                <a16:creationId xmlns:a16="http://schemas.microsoft.com/office/drawing/2014/main" id="{45B6188B-0901-1FB5-2D58-75B0E403E042}"/>
              </a:ext>
            </a:extLst>
          </p:cNvPr>
          <p:cNvSpPr/>
          <p:nvPr/>
        </p:nvSpPr>
        <p:spPr>
          <a:xfrm>
            <a:off x="502920" y="1000000"/>
            <a:ext cx="45719" cy="38699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2" name="P3Bg">
            <a:extLst>
              <a:ext uri="{FF2B5EF4-FFF2-40B4-BE49-F238E27FC236}">
                <a16:creationId xmlns:a16="http://schemas.microsoft.com/office/drawing/2014/main" id="{A9D74BD4-DCA0-8E13-82F1-3962EA6E2F00}"/>
              </a:ext>
            </a:extLst>
          </p:cNvPr>
          <p:cNvSpPr/>
          <p:nvPr/>
        </p:nvSpPr>
        <p:spPr>
          <a:xfrm>
            <a:off x="6002920" y="1000000"/>
            <a:ext cx="2640000" cy="3869996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3" name="P3Bar">
            <a:extLst>
              <a:ext uri="{FF2B5EF4-FFF2-40B4-BE49-F238E27FC236}">
                <a16:creationId xmlns:a16="http://schemas.microsoft.com/office/drawing/2014/main" id="{B2F89DFE-99B5-0CB0-F8AD-E46870C6E3CA}"/>
              </a:ext>
            </a:extLst>
          </p:cNvPr>
          <p:cNvSpPr/>
          <p:nvPr/>
        </p:nvSpPr>
        <p:spPr>
          <a:xfrm>
            <a:off x="5997649" y="1000000"/>
            <a:ext cx="45719" cy="385628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DCF9D3-8ABE-9592-D966-CFA96D979351}"/>
              </a:ext>
            </a:extLst>
          </p:cNvPr>
          <p:cNvSpPr txBox="1"/>
          <p:nvPr/>
        </p:nvSpPr>
        <p:spPr>
          <a:xfrm>
            <a:off x="615179" y="1044619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시장 진입 용이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913A3F-4700-95E0-34AB-6190410F078C}"/>
              </a:ext>
            </a:extLst>
          </p:cNvPr>
          <p:cNvSpPr txBox="1"/>
          <p:nvPr/>
        </p:nvSpPr>
        <p:spPr>
          <a:xfrm>
            <a:off x="3419472" y="1093700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미디어 영향이 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CFFCC4-5B07-5138-D9DE-9B268743CAD8}"/>
              </a:ext>
            </a:extLst>
          </p:cNvPr>
          <p:cNvSpPr txBox="1"/>
          <p:nvPr/>
        </p:nvSpPr>
        <p:spPr>
          <a:xfrm>
            <a:off x="6157468" y="1093700"/>
            <a:ext cx="2330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투자 측면 시장 성장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DA8898-A662-7452-C663-D852C21D2268}"/>
              </a:ext>
            </a:extLst>
          </p:cNvPr>
          <p:cNvSpPr txBox="1"/>
          <p:nvPr/>
        </p:nvSpPr>
        <p:spPr>
          <a:xfrm>
            <a:off x="574894" y="1465383"/>
            <a:ext cx="272336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 err="1">
                <a:solidFill>
                  <a:schemeClr val="bg2">
                    <a:lumMod val="25000"/>
                  </a:schemeClr>
                </a:solidFill>
              </a:rPr>
              <a:t>리셀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 전용 플랫폼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크림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300" dirty="0" err="1">
                <a:solidFill>
                  <a:schemeClr val="bg2">
                    <a:lumMod val="25000"/>
                  </a:schemeClr>
                </a:solidFill>
              </a:rPr>
              <a:t>솔드아웃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) 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의 등장으로 거래 품목 확대와     이용 활성화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FF7F65-DADA-4105-76BB-55BAC148AC50}"/>
              </a:ext>
            </a:extLst>
          </p:cNvPr>
          <p:cNvSpPr txBox="1"/>
          <p:nvPr/>
        </p:nvSpPr>
        <p:spPr>
          <a:xfrm>
            <a:off x="3314231" y="1592450"/>
            <a:ext cx="254138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dirty="0"/>
              <a:t>2020</a:t>
            </a:r>
            <a:r>
              <a:rPr lang="ko-KR" altLang="en-US" sz="1300" dirty="0"/>
              <a:t>년 마이클 </a:t>
            </a:r>
            <a:r>
              <a:rPr lang="ko-KR" altLang="en-US" sz="1300" dirty="0" err="1"/>
              <a:t>조던의</a:t>
            </a:r>
            <a:r>
              <a:rPr lang="ko-KR" altLang="en-US" sz="1300" dirty="0"/>
              <a:t> 다큐멘터리 </a:t>
            </a:r>
            <a:r>
              <a:rPr lang="en-US" altLang="ko-KR" sz="1300" dirty="0"/>
              <a:t>&lt;The Last Dance&gt; </a:t>
            </a:r>
            <a:r>
              <a:rPr lang="ko-KR" altLang="en-US" sz="1300" dirty="0"/>
              <a:t>방영 이후  </a:t>
            </a:r>
            <a:r>
              <a:rPr lang="en-US" altLang="ko-KR" sz="1300" dirty="0" err="1"/>
              <a:t>StockX</a:t>
            </a:r>
            <a:r>
              <a:rPr lang="en-US" altLang="ko-KR" sz="1300" dirty="0"/>
              <a:t> </a:t>
            </a:r>
            <a:r>
              <a:rPr lang="ko-KR" altLang="en-US" sz="1300" dirty="0"/>
              <a:t>내 조던 브랜드 </a:t>
            </a:r>
            <a:r>
              <a:rPr lang="ko-KR" altLang="en-US" sz="1300" dirty="0" err="1"/>
              <a:t>검색량</a:t>
            </a:r>
            <a:r>
              <a:rPr lang="ko-KR" altLang="en-US" sz="1300" dirty="0"/>
              <a:t> </a:t>
            </a:r>
            <a:r>
              <a:rPr lang="en-US" altLang="ko-KR" sz="1300" dirty="0"/>
              <a:t>63% , </a:t>
            </a:r>
            <a:r>
              <a:rPr lang="ko-KR" altLang="en-US" sz="1300" dirty="0"/>
              <a:t>전체 판매량 </a:t>
            </a:r>
            <a:r>
              <a:rPr lang="en-US" altLang="ko-KR" sz="1300" dirty="0"/>
              <a:t>40% </a:t>
            </a:r>
            <a:r>
              <a:rPr lang="ko-KR" altLang="en-US" sz="1300" dirty="0"/>
              <a:t>증가 </a:t>
            </a:r>
            <a:r>
              <a:rPr lang="en-US" altLang="ko-KR" sz="1000" i="1" dirty="0"/>
              <a:t>- the athletic -</a:t>
            </a:r>
          </a:p>
          <a:p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 err="1"/>
              <a:t>라부부</a:t>
            </a:r>
            <a:r>
              <a:rPr lang="ko-KR" altLang="en-US" sz="1300" dirty="0"/>
              <a:t> 열풍</a:t>
            </a:r>
            <a:r>
              <a:rPr lang="en-US" altLang="ko-KR" sz="1300"/>
              <a:t>, </a:t>
            </a:r>
            <a:r>
              <a:rPr lang="ko-KR" altLang="en-US" sz="1300" dirty="0"/>
              <a:t>블랙핑크 리사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리한나</a:t>
            </a:r>
            <a:r>
              <a:rPr lang="ko-KR" altLang="en-US" sz="1300" dirty="0"/>
              <a:t> 등 유명 인사들이 </a:t>
            </a:r>
            <a:r>
              <a:rPr lang="en-US" altLang="ko-KR" sz="1300" dirty="0"/>
              <a:t>SNS</a:t>
            </a:r>
            <a:r>
              <a:rPr lang="ko-KR" altLang="en-US" sz="1300" dirty="0"/>
              <a:t>에 제품 노출하면서 글로벌 인지도 급상승 </a:t>
            </a:r>
            <a:r>
              <a:rPr lang="en-US" altLang="ko-KR" sz="1300" dirty="0"/>
              <a:t>2025</a:t>
            </a:r>
            <a:r>
              <a:rPr lang="ko-KR" altLang="en-US" sz="1300" dirty="0"/>
              <a:t>년 기준 전세계 판매량 </a:t>
            </a:r>
            <a:r>
              <a:rPr lang="en-US" altLang="ko-KR" sz="1300" dirty="0"/>
              <a:t>1</a:t>
            </a:r>
            <a:r>
              <a:rPr lang="ko-KR" altLang="en-US" sz="1300" dirty="0"/>
              <a:t>억 개 돌파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nate</a:t>
            </a:r>
            <a:r>
              <a:rPr lang="en-US" altLang="ko-KR" sz="1000" i="1" dirty="0"/>
              <a:t> news -</a:t>
            </a:r>
          </a:p>
        </p:txBody>
      </p:sp>
      <p:pic>
        <p:nvPicPr>
          <p:cNvPr id="2050" name="Picture 2" descr="&quot;딴 데는 다 죽어가는데…&quot; 크림은 어떻게 '성장캐'가 됐나">
            <a:extLst>
              <a:ext uri="{FF2B5EF4-FFF2-40B4-BE49-F238E27FC236}">
                <a16:creationId xmlns:a16="http://schemas.microsoft.com/office/drawing/2014/main" id="{49EF78D0-CF15-E319-5EBE-D16E086061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5" t="3952" r="5312" b="4059"/>
          <a:stretch>
            <a:fillRect/>
          </a:stretch>
        </p:blipFill>
        <p:spPr bwMode="auto">
          <a:xfrm>
            <a:off x="548639" y="2375083"/>
            <a:ext cx="2570434" cy="251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08C8E34-3EF6-A00A-C1E6-F9FE0831BD5C}"/>
              </a:ext>
            </a:extLst>
          </p:cNvPr>
          <p:cNvSpPr txBox="1"/>
          <p:nvPr/>
        </p:nvSpPr>
        <p:spPr>
          <a:xfrm>
            <a:off x="6090928" y="1458624"/>
            <a:ext cx="25790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한정품의 소유를 위한 구매 </a:t>
            </a:r>
            <a:r>
              <a:rPr lang="en-US" altLang="ko-KR" sz="1300" dirty="0">
                <a:solidFill>
                  <a:schemeClr val="bg2">
                    <a:lumMod val="25000"/>
                  </a:schemeClr>
                </a:solidFill>
              </a:rPr>
              <a:t>/ </a:t>
            </a:r>
            <a:r>
              <a:rPr lang="ko-KR" altLang="en-US" sz="1300" dirty="0">
                <a:solidFill>
                  <a:schemeClr val="bg2">
                    <a:lumMod val="25000"/>
                  </a:schemeClr>
                </a:solidFill>
              </a:rPr>
              <a:t>단순 재판매가  아닌 추가적인 금액을 더해 되파는 투자 성향의 시장으로 성장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FCC53-26FB-4985-8F9E-E14E21951499}"/>
              </a:ext>
            </a:extLst>
          </p:cNvPr>
          <p:cNvSpPr txBox="1"/>
          <p:nvPr/>
        </p:nvSpPr>
        <p:spPr>
          <a:xfrm>
            <a:off x="6076845" y="2334673"/>
            <a:ext cx="2532598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 err="1"/>
              <a:t>리셀</a:t>
            </a:r>
            <a:r>
              <a:rPr lang="ko-KR" altLang="en-US" sz="1300" dirty="0"/>
              <a:t> 상품은 주식시장과 별개로 움직여 포트폴리오 안전성이 높음</a:t>
            </a:r>
            <a:r>
              <a:rPr lang="en-US" altLang="ko-KR" sz="1400" i="1" dirty="0"/>
              <a:t>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ChosunbBiz</a:t>
            </a:r>
            <a:r>
              <a:rPr lang="en-US" altLang="ko-KR" sz="1000" i="1" dirty="0"/>
              <a:t> -</a:t>
            </a:r>
            <a:endParaRPr lang="en-US" altLang="ko-KR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/>
              <a:t>한정판 상품 외의 상품을 묵혀두며 가치를 올리는 </a:t>
            </a:r>
            <a:r>
              <a:rPr lang="en-US" altLang="ko-KR" sz="1300" dirty="0"/>
              <a:t>‘</a:t>
            </a:r>
            <a:r>
              <a:rPr lang="ko-KR" altLang="en-US" sz="1300" dirty="0"/>
              <a:t>저축형 </a:t>
            </a:r>
            <a:r>
              <a:rPr lang="ko-KR" altLang="en-US" sz="1300" dirty="0" err="1"/>
              <a:t>리셀</a:t>
            </a:r>
            <a:r>
              <a:rPr lang="en-US" altLang="ko-KR" sz="1300" dirty="0"/>
              <a:t>’ </a:t>
            </a:r>
            <a:r>
              <a:rPr lang="ko-KR" altLang="en-US" sz="1300" dirty="0"/>
              <a:t>등 여러 형태로 성장</a:t>
            </a:r>
            <a:r>
              <a:rPr lang="en-US" altLang="ko-KR" sz="1400" i="1" dirty="0"/>
              <a:t> </a:t>
            </a:r>
            <a:r>
              <a:rPr lang="en-US" altLang="ko-KR" sz="1000" i="1" dirty="0"/>
              <a:t>- </a:t>
            </a:r>
            <a:r>
              <a:rPr lang="en-US" altLang="ko-KR" sz="1000" i="1" dirty="0" err="1"/>
              <a:t>ChosunbBiz</a:t>
            </a:r>
            <a:r>
              <a:rPr lang="en-US" altLang="ko-KR" sz="1000" i="1" dirty="0"/>
              <a:t> -</a:t>
            </a:r>
            <a:endParaRPr lang="en-US" altLang="ko-KR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300" dirty="0"/>
          </a:p>
          <a:p>
            <a:r>
              <a:rPr lang="en-US" altLang="ko-KR" sz="1000" dirty="0"/>
              <a:t>	                        </a:t>
            </a:r>
          </a:p>
          <a:p>
            <a:r>
              <a:rPr lang="en-US" altLang="ko-KR" sz="1000" dirty="0"/>
              <a:t>	</a:t>
            </a:r>
            <a:endParaRPr lang="en-US" altLang="ko-KR" sz="1000" i="1" dirty="0"/>
          </a:p>
        </p:txBody>
      </p:sp>
    </p:spTree>
    <p:extLst>
      <p:ext uri="{BB962C8B-B14F-4D97-AF65-F5344CB8AC3E}">
        <p14:creationId xmlns:p14="http://schemas.microsoft.com/office/powerpoint/2010/main" val="378414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59DCE-8B9F-17CF-8BD6-42326070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CDC463-5CF7-62B9-FC5F-24C08F6FCF7B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14D643-F3CF-BEBE-34C9-8DB91F7C9FB3}"/>
              </a:ext>
            </a:extLst>
          </p:cNvPr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4FAE3B-1BF5-F6A8-C819-C060EBAD90A8}"/>
              </a:ext>
            </a:extLst>
          </p:cNvPr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 한계 </a:t>
            </a:r>
            <a:r>
              <a:rPr lang="en-US" altLang="ko-KR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ko-KR" alt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포지션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23ED3F-CC85-D8C7-4D16-66F6E95C44D4}"/>
              </a:ext>
            </a:extLst>
          </p:cNvPr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블루오션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</a:t>
            </a:r>
            <a:r>
              <a:rPr lang="en-US" altLang="ko-KR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</a:t>
            </a:r>
            <a:r>
              <a:rPr lang="en-US" altLang="ko-KR" sz="15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652070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19E5-E03C-8D25-4CDE-E60C3373D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77B2A34C-B072-C2FA-6B96-FA4948C15D98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5D4412D-85CB-1219-0A1E-5B2DD8BD8255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/>
                <a:ea typeface="Calibri"/>
              </a:rPr>
              <a:t>기존 연구</a:t>
            </a:r>
            <a:endParaRPr lang="ko-KR" sz="3000" b="1" dirty="0">
              <a:solidFill>
                <a:srgbClr val="1A1A1A"/>
              </a:solidFill>
              <a:latin typeface="Calibri"/>
              <a:ea typeface="Calibri"/>
            </a:endParaRP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6392D56-7272-D9F2-1B4B-1B34AF26E443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3가지 적용 한계 상세 분석 —</a:t>
            </a:r>
            <a:r>
              <a:rPr lang="ko-KR" sz="1300" i="1" dirty="0" err="1">
                <a:solidFill>
                  <a:srgbClr val="AAAAAA"/>
                </a:solidFill>
                <a:latin typeface="Calibri"/>
                <a:ea typeface="Calibri"/>
              </a:rPr>
              <a:t>리셀</a:t>
            </a: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 연구의 필요성</a:t>
            </a:r>
          </a:p>
        </p:txBody>
      </p:sp>
      <p:sp>
        <p:nvSpPr>
          <p:cNvPr id="5" name="Div">
            <a:extLst>
              <a:ext uri="{FF2B5EF4-FFF2-40B4-BE49-F238E27FC236}">
                <a16:creationId xmlns:a16="http://schemas.microsoft.com/office/drawing/2014/main" id="{F85A8BC1-5F9D-11CC-87FE-25C143D21CBE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6" name="P1Bg">
            <a:extLst>
              <a:ext uri="{FF2B5EF4-FFF2-40B4-BE49-F238E27FC236}">
                <a16:creationId xmlns:a16="http://schemas.microsoft.com/office/drawing/2014/main" id="{5F51776F-D64F-4350-2E74-AFE2F03D4E68}"/>
              </a:ext>
            </a:extLst>
          </p:cNvPr>
          <p:cNvSpPr/>
          <p:nvPr/>
        </p:nvSpPr>
        <p:spPr>
          <a:xfrm>
            <a:off x="426503" y="1095720"/>
            <a:ext cx="2684906" cy="3713043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7" name="P1Bar">
            <a:extLst>
              <a:ext uri="{FF2B5EF4-FFF2-40B4-BE49-F238E27FC236}">
                <a16:creationId xmlns:a16="http://schemas.microsoft.com/office/drawing/2014/main" id="{734D09A9-3ECB-182C-3B20-EDE13A3E5447}"/>
              </a:ext>
            </a:extLst>
          </p:cNvPr>
          <p:cNvSpPr/>
          <p:nvPr/>
        </p:nvSpPr>
        <p:spPr>
          <a:xfrm>
            <a:off x="426503" y="1095720"/>
            <a:ext cx="45719" cy="371685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8" name="P1Text">
            <a:extLst>
              <a:ext uri="{FF2B5EF4-FFF2-40B4-BE49-F238E27FC236}">
                <a16:creationId xmlns:a16="http://schemas.microsoft.com/office/drawing/2014/main" id="{A05AB476-E750-61AF-E6B8-C8D5910D842D}"/>
              </a:ext>
            </a:extLst>
          </p:cNvPr>
          <p:cNvSpPr/>
          <p:nvPr/>
        </p:nvSpPr>
        <p:spPr>
          <a:xfrm>
            <a:off x="472222" y="1145719"/>
            <a:ext cx="2774090" cy="3662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Bollen et al.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(2011)</a:t>
            </a:r>
          </a:p>
          <a:p>
            <a:pPr marL="0" indent="0">
              <a:buNone/>
            </a:pP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Twitter 감성 → 주가 선행</a:t>
            </a:r>
          </a:p>
          <a:p>
            <a:pPr marL="0" indent="0">
              <a:buNone/>
            </a:pPr>
            <a:endParaRPr lang="ko-KR" sz="1100" dirty="0"/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분석 대상: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DJIA (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다우 존스 산업평균지수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)</a:t>
            </a:r>
            <a:endParaRPr 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채널: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ko-KR" sz="1100" dirty="0" err="1">
                <a:solidFill>
                  <a:srgbClr val="555555"/>
                </a:solidFill>
                <a:latin typeface="Calibri"/>
                <a:ea typeface="Calibri"/>
              </a:rPr>
              <a:t>Twitter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단일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latin typeface="Calibri"/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: granger,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텍스트 감성 추출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(</a:t>
            </a:r>
            <a:r>
              <a:rPr lang="en-US" altLang="ko-KR" sz="1100" dirty="0">
                <a:solidFill>
                  <a:srgbClr val="555555"/>
                </a:solidFill>
              </a:rPr>
              <a:t>GPOMS)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내용</a:t>
            </a: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대규모 트위터 </a:t>
            </a:r>
            <a:r>
              <a:rPr lang="ko-KR" altLang="en-US" sz="1100" dirty="0" err="1">
                <a:solidFill>
                  <a:srgbClr val="555555"/>
                </a:solidFill>
                <a:latin typeface="Calibri"/>
                <a:ea typeface="Calibri"/>
              </a:rPr>
              <a:t>피드에서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 추출한 집단적 감정 상태 측정치가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DJIA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의 시간 경과에 따른 변동과 상관관계가 있는지 조사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긍정적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/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부정적 감정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+ 7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가지 감정 차원으로 나누어 측정 후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2008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년 대선과 추수감사절에 대한 대증의 심리 상태가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DJIA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종가 변동을 예측하는지 검증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solidFill>
                  <a:srgbClr val="555555"/>
                </a:solidFill>
                <a:ea typeface="Calibri"/>
              </a:rPr>
              <a:t>→ </a:t>
            </a:r>
            <a:r>
              <a:rPr lang="ko-KR" altLang="en-US" sz="1500" b="1" dirty="0">
                <a:latin typeface="Calibri"/>
                <a:ea typeface="Calibri"/>
              </a:rPr>
              <a:t>긍정</a:t>
            </a:r>
            <a:r>
              <a:rPr lang="en-US" altLang="ko-KR" sz="1500" b="1" dirty="0">
                <a:latin typeface="Calibri"/>
                <a:ea typeface="Calibri"/>
              </a:rPr>
              <a:t>/</a:t>
            </a:r>
            <a:r>
              <a:rPr lang="ko-KR" altLang="en-US" sz="1500" b="1" dirty="0">
                <a:latin typeface="Calibri"/>
                <a:ea typeface="Calibri"/>
              </a:rPr>
              <a:t>부정의 감성 분석</a:t>
            </a:r>
            <a:endParaRPr lang="ko-KR" sz="1500" b="1" dirty="0">
              <a:latin typeface="Calibri"/>
              <a:ea typeface="Calibri"/>
            </a:endParaRP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20" name="P2Bg">
            <a:extLst>
              <a:ext uri="{FF2B5EF4-FFF2-40B4-BE49-F238E27FC236}">
                <a16:creationId xmlns:a16="http://schemas.microsoft.com/office/drawing/2014/main" id="{48C536BB-A0BC-C64D-5109-85822AD0FD2C}"/>
              </a:ext>
            </a:extLst>
          </p:cNvPr>
          <p:cNvSpPr/>
          <p:nvPr/>
        </p:nvSpPr>
        <p:spPr>
          <a:xfrm>
            <a:off x="3237058" y="1099238"/>
            <a:ext cx="2684906" cy="3713335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21" name="P2Bar">
            <a:extLst>
              <a:ext uri="{FF2B5EF4-FFF2-40B4-BE49-F238E27FC236}">
                <a16:creationId xmlns:a16="http://schemas.microsoft.com/office/drawing/2014/main" id="{9168503D-D12C-7DF4-0085-404B10423342}"/>
              </a:ext>
            </a:extLst>
          </p:cNvPr>
          <p:cNvSpPr/>
          <p:nvPr/>
        </p:nvSpPr>
        <p:spPr>
          <a:xfrm>
            <a:off x="3237058" y="1099239"/>
            <a:ext cx="45719" cy="371685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22" name="P2Text">
            <a:extLst>
              <a:ext uri="{FF2B5EF4-FFF2-40B4-BE49-F238E27FC236}">
                <a16:creationId xmlns:a16="http://schemas.microsoft.com/office/drawing/2014/main" id="{9EFDBEE8-42B4-A7C1-2CED-D46013D5721E}"/>
              </a:ext>
            </a:extLst>
          </p:cNvPr>
          <p:cNvSpPr/>
          <p:nvPr/>
        </p:nvSpPr>
        <p:spPr>
          <a:xfrm>
            <a:off x="3292031" y="1149239"/>
            <a:ext cx="2629933" cy="3659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Da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 </a:t>
            </a: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et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 </a:t>
            </a:r>
            <a:r>
              <a:rPr lang="ko-KR" sz="100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al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. (2011, </a:t>
            </a:r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JF</a:t>
            </a:r>
            <a:r>
              <a:rPr lang="ko-KR" sz="10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</a:rPr>
              <a:t>)</a:t>
            </a:r>
          </a:p>
          <a:p>
            <a:pPr marL="0" indent="0">
              <a:buNone/>
            </a:pP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Google </a:t>
            </a:r>
            <a:r>
              <a:rPr lang="ko-KR" sz="1350" b="1" dirty="0" err="1">
                <a:solidFill>
                  <a:srgbClr val="1A1A1A"/>
                </a:solidFill>
                <a:latin typeface="Calibri"/>
                <a:ea typeface="Calibri"/>
              </a:rPr>
              <a:t>검색량</a:t>
            </a:r>
            <a:r>
              <a:rPr lang="ko-KR" sz="1350" b="1" dirty="0">
                <a:solidFill>
                  <a:srgbClr val="1A1A1A"/>
                </a:solidFill>
                <a:latin typeface="Calibri"/>
                <a:ea typeface="Calibri"/>
              </a:rPr>
              <a:t> → 주가 선행</a:t>
            </a:r>
          </a:p>
          <a:p>
            <a:pPr marL="0" indent="0">
              <a:buNone/>
            </a:pPr>
            <a:endParaRPr lang="ko-KR" sz="900" dirty="0"/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분석 대상: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Russell 3000 개별 주식</a:t>
            </a:r>
          </a:p>
          <a:p>
            <a:pPr marL="0" indent="0">
              <a:buNone/>
            </a:pPr>
            <a:r>
              <a:rPr lang="ko-KR" sz="1100" b="1" dirty="0">
                <a:solidFill>
                  <a:srgbClr val="333333"/>
                </a:solidFill>
                <a:latin typeface="Calibri"/>
                <a:ea typeface="Calibri"/>
              </a:rPr>
              <a:t>채널: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Google </a:t>
            </a:r>
            <a:r>
              <a:rPr lang="ko-KR" sz="1100" dirty="0" err="1">
                <a:solidFill>
                  <a:srgbClr val="555555"/>
                </a:solidFill>
                <a:latin typeface="Calibri"/>
                <a:ea typeface="Calibri"/>
              </a:rPr>
              <a:t>Trends</a:t>
            </a:r>
            <a:r>
              <a:rPr lang="ko-KR" sz="1100" dirty="0">
                <a:solidFill>
                  <a:srgbClr val="555555"/>
                </a:solidFill>
                <a:latin typeface="Calibri"/>
                <a:ea typeface="Calibri"/>
              </a:rPr>
              <a:t> 단일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ea typeface="Calibri"/>
              </a:rPr>
              <a:t>: SVI</a:t>
            </a:r>
            <a:r>
              <a:rPr lang="ko-KR" altLang="en-US" sz="1100" dirty="0">
                <a:solidFill>
                  <a:srgbClr val="555555"/>
                </a:solidFill>
                <a:ea typeface="Calibri"/>
              </a:rPr>
              <a:t>를 통한 패널회귀 분석</a:t>
            </a:r>
            <a:endParaRPr lang="en-US" altLang="ko-KR" sz="1100" dirty="0">
              <a:solidFill>
                <a:srgbClr val="555555"/>
              </a:solidFill>
              <a:ea typeface="Calibri"/>
            </a:endParaRPr>
          </a:p>
          <a:p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latin typeface="Calibri"/>
                <a:ea typeface="Calibri"/>
              </a:rPr>
              <a:t>내용</a:t>
            </a: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en-US" altLang="ko-KR" sz="1100" b="1" dirty="0">
                <a:solidFill>
                  <a:srgbClr val="555555"/>
                </a:solidFill>
                <a:latin typeface="Calibri"/>
                <a:ea typeface="Calibri"/>
              </a:rPr>
              <a:t>: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구글 검색 빈도를 투자자의 관심 지표로 적용하여 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Russell 3000 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지수에 포함된 종목들 대상으로 분석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ea typeface="Calibri"/>
              </a:rPr>
              <a:t>:  </a:t>
            </a:r>
            <a:r>
              <a:rPr lang="ko-KR" altLang="en-US" sz="1100" dirty="0" err="1">
                <a:solidFill>
                  <a:srgbClr val="555555"/>
                </a:solidFill>
                <a:latin typeface="Calibri"/>
                <a:ea typeface="Calibri"/>
              </a:rPr>
              <a:t>검색량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 지수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(SVI)</a:t>
            </a: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가           기존 투자자 관심도 지표들과 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상관관계 존재하나</a:t>
            </a:r>
            <a:r>
              <a:rPr lang="en-US" altLang="ko-KR" sz="1100" dirty="0">
                <a:solidFill>
                  <a:srgbClr val="555555"/>
                </a:solidFill>
                <a:latin typeface="Calibri"/>
                <a:ea typeface="Calibri"/>
              </a:rPr>
              <a:t>,  </a:t>
            </a:r>
          </a:p>
          <a:p>
            <a:pPr marL="0" indent="0">
              <a:buNone/>
            </a:pPr>
            <a:r>
              <a:rPr lang="ko-KR" altLang="en-US" sz="1100" dirty="0">
                <a:solidFill>
                  <a:srgbClr val="555555"/>
                </a:solidFill>
                <a:latin typeface="Calibri"/>
                <a:ea typeface="Calibri"/>
              </a:rPr>
              <a:t>개인 투자자의 관심 측정에 적합하다는 점 발견</a:t>
            </a: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ko-KR" sz="1100" b="1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altLang="en-US" sz="1100" b="1" dirty="0">
                <a:solidFill>
                  <a:srgbClr val="555555"/>
                </a:solidFill>
                <a:latin typeface="Calibri"/>
                <a:ea typeface="Calibri"/>
              </a:rPr>
              <a:t>→ </a:t>
            </a:r>
            <a:r>
              <a:rPr lang="ko-KR" altLang="en-US" sz="1500" b="1" dirty="0" err="1">
                <a:latin typeface="Calibri"/>
                <a:ea typeface="Calibri"/>
              </a:rPr>
              <a:t>검색량</a:t>
            </a:r>
            <a:r>
              <a:rPr lang="ko-KR" altLang="en-US" sz="1500" b="1" dirty="0">
                <a:latin typeface="Calibri"/>
                <a:ea typeface="Calibri"/>
              </a:rPr>
              <a:t> 지수</a:t>
            </a:r>
            <a:endParaRPr lang="ko-KR" sz="1500" b="1" dirty="0">
              <a:latin typeface="Calibri"/>
              <a:ea typeface="Calibri"/>
            </a:endParaRPr>
          </a:p>
          <a:p>
            <a:pPr marL="0" indent="0">
              <a:buNone/>
            </a:pPr>
            <a:endParaRPr lang="ko-KR" sz="900" dirty="0"/>
          </a:p>
        </p:txBody>
      </p:sp>
      <p:sp>
        <p:nvSpPr>
          <p:cNvPr id="11" name="P1Bg">
            <a:extLst>
              <a:ext uri="{FF2B5EF4-FFF2-40B4-BE49-F238E27FC236}">
                <a16:creationId xmlns:a16="http://schemas.microsoft.com/office/drawing/2014/main" id="{450B980E-1359-DF4E-C2F8-661915D7A21E}"/>
              </a:ext>
            </a:extLst>
          </p:cNvPr>
          <p:cNvSpPr/>
          <p:nvPr/>
        </p:nvSpPr>
        <p:spPr>
          <a:xfrm>
            <a:off x="6047614" y="1095427"/>
            <a:ext cx="2684906" cy="3713043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2" name="P1Bar">
            <a:extLst>
              <a:ext uri="{FF2B5EF4-FFF2-40B4-BE49-F238E27FC236}">
                <a16:creationId xmlns:a16="http://schemas.microsoft.com/office/drawing/2014/main" id="{A8198228-E2EE-84B0-952D-6B69E6BA2D5E}"/>
              </a:ext>
            </a:extLst>
          </p:cNvPr>
          <p:cNvSpPr/>
          <p:nvPr/>
        </p:nvSpPr>
        <p:spPr>
          <a:xfrm>
            <a:off x="6047614" y="1095427"/>
            <a:ext cx="45719" cy="371714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endParaRPr lang="ko-KR"/>
          </a:p>
        </p:txBody>
      </p:sp>
      <p:sp>
        <p:nvSpPr>
          <p:cNvPr id="13" name="P1Text">
            <a:extLst>
              <a:ext uri="{FF2B5EF4-FFF2-40B4-BE49-F238E27FC236}">
                <a16:creationId xmlns:a16="http://schemas.microsoft.com/office/drawing/2014/main" id="{A8025A78-1F26-80F6-6F0A-DD934DF4016A}"/>
              </a:ext>
            </a:extLst>
          </p:cNvPr>
          <p:cNvSpPr/>
          <p:nvPr/>
        </p:nvSpPr>
        <p:spPr>
          <a:xfrm>
            <a:off x="6102587" y="1145426"/>
            <a:ext cx="2639186" cy="36630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ko-KR" sz="1000" b="1" dirty="0" err="1">
                <a:solidFill>
                  <a:schemeClr val="bg1">
                    <a:lumMod val="50000"/>
                  </a:schemeClr>
                </a:solidFill>
                <a:ea typeface="Calibri"/>
              </a:rPr>
              <a:t>Jang &amp; Jun (2025, IRFA)</a:t>
            </a:r>
          </a:p>
          <a:p>
            <a:r>
              <a:rPr lang="ko-KR" altLang="ko-KR" sz="1350" b="1" dirty="0" err="1">
                <a:solidFill>
                  <a:srgbClr val="1A1A1A"/>
                </a:solidFill>
                <a:ea typeface="Calibri"/>
              </a:rPr>
              <a:t>YouTube</a:t>
            </a:r>
            <a:r>
              <a:rPr lang="ko-KR" altLang="ko-KR" sz="1350" b="1" dirty="0">
                <a:solidFill>
                  <a:srgbClr val="1A1A1A"/>
                </a:solidFill>
                <a:ea typeface="Calibri"/>
              </a:rPr>
              <a:t> 조회수 → 주가 선행</a:t>
            </a:r>
          </a:p>
          <a:p>
            <a:endParaRPr lang="ko-KR" altLang="ko-KR" sz="900" dirty="0"/>
          </a:p>
          <a:p>
            <a:r>
              <a:rPr lang="ko-KR" altLang="ko-KR" sz="1100" b="1" dirty="0">
                <a:solidFill>
                  <a:srgbClr val="333333"/>
                </a:solidFill>
                <a:ea typeface="Calibri"/>
              </a:rPr>
              <a:t>분석 대상: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나스닥 상장 기업</a:t>
            </a:r>
          </a:p>
          <a:p>
            <a:r>
              <a:rPr lang="ko-KR" altLang="ko-KR" sz="1100" b="1" dirty="0">
                <a:solidFill>
                  <a:srgbClr val="333333"/>
                </a:solidFill>
                <a:ea typeface="Calibri"/>
              </a:rPr>
              <a:t>채널: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</a:t>
            </a:r>
            <a:r>
              <a:rPr lang="ko-KR" altLang="ko-KR" sz="1100" dirty="0" err="1">
                <a:solidFill>
                  <a:srgbClr val="555555"/>
                </a:solidFill>
                <a:ea typeface="Calibri"/>
              </a:rPr>
              <a:t>YouTube</a:t>
            </a:r>
            <a:r>
              <a:rPr lang="ko-KR" altLang="ko-KR" sz="1100" dirty="0">
                <a:solidFill>
                  <a:srgbClr val="555555"/>
                </a:solidFill>
                <a:ea typeface="Calibri"/>
              </a:rPr>
              <a:t> 조회수 단일</a:t>
            </a:r>
            <a:endParaRPr lang="en-US" altLang="ko-KR" sz="1100" dirty="0">
              <a:solidFill>
                <a:srgbClr val="555555"/>
              </a:solidFill>
              <a:ea typeface="Calibri"/>
            </a:endParaRPr>
          </a:p>
          <a:p>
            <a:r>
              <a:rPr lang="ko-KR" altLang="en-US" sz="1100" b="1" dirty="0">
                <a:ea typeface="Calibri"/>
              </a:rPr>
              <a:t>분석 방법</a:t>
            </a:r>
            <a:r>
              <a:rPr lang="en-US" altLang="ko-KR" sz="1100" dirty="0">
                <a:solidFill>
                  <a:srgbClr val="555555"/>
                </a:solidFill>
                <a:ea typeface="Calibri"/>
              </a:rPr>
              <a:t>: SVI</a:t>
            </a:r>
            <a:r>
              <a:rPr lang="ko-KR" altLang="en-US" sz="1100" dirty="0">
                <a:solidFill>
                  <a:srgbClr val="555555"/>
                </a:solidFill>
                <a:ea typeface="Calibri"/>
              </a:rPr>
              <a:t>를 통한 패널회귀 분석</a:t>
            </a:r>
            <a:endParaRPr lang="ko-KR" altLang="ko-KR" sz="1100" dirty="0">
              <a:solidFill>
                <a:srgbClr val="555555"/>
              </a:solidFill>
              <a:ea typeface="Calibri"/>
            </a:endParaRPr>
          </a:p>
          <a:p>
            <a:endParaRPr lang="en-US" altLang="ko-KR" sz="1100" dirty="0"/>
          </a:p>
          <a:p>
            <a:r>
              <a:rPr lang="ko-KR" altLang="en-US" sz="1100" b="1" dirty="0"/>
              <a:t>내용</a:t>
            </a:r>
            <a:r>
              <a:rPr lang="ko-KR" altLang="en-US" sz="1100" dirty="0"/>
              <a:t> </a:t>
            </a:r>
            <a:r>
              <a:rPr lang="en-US" altLang="ko-KR" sz="1100" dirty="0"/>
              <a:t>: </a:t>
            </a:r>
            <a:r>
              <a:rPr lang="ko-KR" altLang="en-US" sz="1100" dirty="0"/>
              <a:t>코로나</a:t>
            </a:r>
            <a:r>
              <a:rPr lang="en-US" altLang="ko-KR" sz="1100" dirty="0"/>
              <a:t>19 </a:t>
            </a:r>
            <a:r>
              <a:rPr lang="ko-KR" altLang="en-US" sz="1100" dirty="0"/>
              <a:t>기간 이후 주식 관련 유튜브 조회수와 영상 수 크게 증가</a:t>
            </a:r>
            <a:endParaRPr lang="en-US" altLang="ko-KR" sz="1100" dirty="0"/>
          </a:p>
          <a:p>
            <a:r>
              <a:rPr lang="ko-KR" altLang="en-US" sz="1100" dirty="0"/>
              <a:t>영상 콘텐츠는 개인 투자자들에게 강력한 정보 전파력 가짐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b="1" dirty="0">
                <a:ea typeface="Calibri"/>
              </a:rPr>
              <a:t>기여한 바</a:t>
            </a:r>
            <a:r>
              <a:rPr lang="en-US" altLang="ko-KR" sz="1100" b="1" dirty="0">
                <a:solidFill>
                  <a:srgbClr val="555555"/>
                </a:solidFill>
                <a:ea typeface="Calibri"/>
              </a:rPr>
              <a:t>:  </a:t>
            </a:r>
            <a:r>
              <a:rPr lang="ko-KR" altLang="en-US" sz="1100" dirty="0"/>
              <a:t>유튜브 조회수가 투자자 관심도를 나타내는 효과적인 지표로 작용할 수 있음 시사</a:t>
            </a:r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b="1" dirty="0">
              <a:solidFill>
                <a:srgbClr val="555555"/>
              </a:solidFill>
              <a:ea typeface="Calibri"/>
            </a:endParaRPr>
          </a:p>
          <a:p>
            <a:endParaRPr lang="en-US" altLang="ko-KR" sz="1100" b="1" dirty="0">
              <a:solidFill>
                <a:srgbClr val="555555"/>
              </a:solidFill>
              <a:ea typeface="Calibri"/>
            </a:endParaRPr>
          </a:p>
          <a:p>
            <a:r>
              <a:rPr lang="ko-KR" altLang="en-US" sz="1500" b="1" dirty="0">
                <a:solidFill>
                  <a:srgbClr val="555555"/>
                </a:solidFill>
                <a:ea typeface="Calibri"/>
              </a:rPr>
              <a:t>→ </a:t>
            </a:r>
            <a:r>
              <a:rPr lang="ko-KR" altLang="en-US" sz="1500" b="1" dirty="0"/>
              <a:t>영상 콘텐츠의 전파력</a:t>
            </a:r>
            <a:endParaRPr lang="en-US" altLang="ko-KR" sz="1500" b="1" dirty="0"/>
          </a:p>
          <a:p>
            <a:endParaRPr lang="ko-KR" altLang="ko-KR" sz="900" dirty="0"/>
          </a:p>
          <a:p>
            <a:pPr marL="0" indent="0">
              <a:buNone/>
            </a:pPr>
            <a:endParaRPr lang="ko-KR" sz="1050" dirty="0">
              <a:solidFill>
                <a:srgbClr val="555555"/>
              </a:solidFill>
              <a:latin typeface="Calibri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063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64" y="20431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228600"/>
            <a:ext cx="50292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92024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dirty="0" err="1">
                <a:solidFill>
                  <a:srgbClr val="1A1A1A"/>
                </a:solidFill>
                <a:latin typeface="Malgun Gothic"/>
              </a:rPr>
              <a:t>기존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연구의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공통</a:t>
            </a:r>
            <a:r>
              <a:rPr sz="20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1A1A1A"/>
                </a:solidFill>
                <a:latin typeface="Malgun Gothic"/>
              </a:rPr>
              <a:t>한계</a:t>
            </a:r>
            <a:endParaRPr sz="2000" b="1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8229600" cy="32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 dirty="0" err="1">
                <a:solidFill>
                  <a:srgbClr val="888888"/>
                </a:solidFill>
              </a:rPr>
              <a:t>주식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시장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연구를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리셀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시장에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그대로</a:t>
            </a:r>
            <a:r>
              <a:rPr sz="1300" b="0" i="1" dirty="0">
                <a:solidFill>
                  <a:srgbClr val="888888"/>
                </a:solidFill>
              </a:rPr>
              <a:t> </a:t>
            </a:r>
            <a:r>
              <a:rPr sz="1300" b="0" i="1" dirty="0" err="1">
                <a:solidFill>
                  <a:srgbClr val="888888"/>
                </a:solidFill>
              </a:rPr>
              <a:t>적용할</a:t>
            </a:r>
            <a:r>
              <a:rPr sz="1300" b="0" i="1" dirty="0">
                <a:solidFill>
                  <a:srgbClr val="888888"/>
                </a:solidFill>
              </a:rPr>
              <a:t> 수 </a:t>
            </a:r>
            <a:r>
              <a:rPr sz="1300" b="0" i="1" dirty="0" err="1">
                <a:solidFill>
                  <a:srgbClr val="888888"/>
                </a:solidFill>
              </a:rPr>
              <a:t>없는</a:t>
            </a:r>
            <a:r>
              <a:rPr sz="1300" b="0" i="1" dirty="0">
                <a:solidFill>
                  <a:srgbClr val="888888"/>
                </a:solidFill>
              </a:rPr>
              <a:t> 3가지 </a:t>
            </a:r>
            <a:r>
              <a:rPr sz="1300" b="0" i="1" dirty="0" err="1">
                <a:solidFill>
                  <a:srgbClr val="888888"/>
                </a:solidFill>
              </a:rPr>
              <a:t>이유</a:t>
            </a:r>
            <a:endParaRPr sz="1300" b="0" i="1" dirty="0">
              <a:solidFill>
                <a:srgbClr val="88888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6032" y="969264"/>
            <a:ext cx="8631936" cy="731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0624" y="1216151"/>
            <a:ext cx="384048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216151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1226515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분석</a:t>
            </a:r>
            <a:r>
              <a:rPr sz="1700" b="1" dirty="0">
                <a:latin typeface="Malgun Gothic"/>
              </a:rPr>
              <a:t> </a:t>
            </a:r>
            <a:r>
              <a:rPr sz="1700" b="1" dirty="0" err="1">
                <a:latin typeface="Malgun Gothic"/>
              </a:rPr>
              <a:t>대상</a:t>
            </a:r>
            <a:endParaRPr sz="1700" b="1" dirty="0"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0624" y="171907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Malgun Gothic"/>
              </a:rPr>
              <a:t>주식 단일 자산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" y="2286000"/>
            <a:ext cx="2523744" cy="15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주식은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매일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연속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거래되지만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리셀은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*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드롭·단종처럼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이벤트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기반으로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움직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임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lang="ko-KR" altLang="en-US" sz="1400" b="0" dirty="0">
                <a:solidFill>
                  <a:srgbClr val="444444"/>
                </a:solidFill>
                <a:latin typeface="Malgun Gothic"/>
              </a:rPr>
              <a:t>→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시장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구조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자체가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다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르다</a:t>
            </a:r>
            <a:endParaRPr sz="1400" b="1" dirty="0">
              <a:solidFill>
                <a:srgbClr val="FF0000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0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4992" y="1211897"/>
            <a:ext cx="384048" cy="3840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64992" y="1216151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223467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채널</a:t>
            </a:r>
            <a:r>
              <a:rPr sz="1700" b="1" dirty="0">
                <a:latin typeface="Malgun Gothic"/>
              </a:rPr>
              <a:t>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1719072"/>
            <a:ext cx="2414016" cy="323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dirty="0" err="1">
                <a:solidFill>
                  <a:srgbClr val="1A1A1A"/>
                </a:solidFill>
                <a:latin typeface="Malgun Gothic"/>
              </a:rPr>
              <a:t>단일</a:t>
            </a:r>
            <a:r>
              <a:rPr sz="13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lang="ko-KR" altLang="en-US" sz="1300" b="1" dirty="0">
                <a:solidFill>
                  <a:srgbClr val="1A1A1A"/>
                </a:solidFill>
                <a:latin typeface="Malgun Gothic"/>
              </a:rPr>
              <a:t>미디어 </a:t>
            </a:r>
            <a:r>
              <a:rPr sz="1300" b="1" dirty="0" err="1">
                <a:solidFill>
                  <a:srgbClr val="1A1A1A"/>
                </a:solidFill>
                <a:latin typeface="Malgun Gothic"/>
              </a:rPr>
              <a:t>채널만</a:t>
            </a:r>
            <a:r>
              <a:rPr sz="1300" b="1" dirty="0">
                <a:solidFill>
                  <a:srgbClr val="1A1A1A"/>
                </a:solidFill>
                <a:latin typeface="Malgun Gothic"/>
              </a:rPr>
              <a:t> </a:t>
            </a:r>
            <a:r>
              <a:rPr sz="1300" b="1" dirty="0" err="1">
                <a:solidFill>
                  <a:srgbClr val="1A1A1A"/>
                </a:solidFill>
                <a:latin typeface="Malgun Gothic"/>
              </a:rPr>
              <a:t>분석</a:t>
            </a:r>
            <a:endParaRPr sz="1300" b="1" dirty="0">
              <a:solidFill>
                <a:srgbClr val="1A1A1A"/>
              </a:solidFill>
              <a:latin typeface="Malgun Gothic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4992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64992" y="2286000"/>
            <a:ext cx="2414016" cy="15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트위터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,</a:t>
            </a:r>
            <a:r>
              <a:rPr lang="en-US"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구글 트랜드</a:t>
            </a:r>
            <a:r>
              <a:rPr lang="en-US" altLang="ko-KR" sz="1400" b="1" dirty="0">
                <a:solidFill>
                  <a:srgbClr val="444444"/>
                </a:solidFill>
                <a:latin typeface="Malgun Gothic"/>
              </a:rPr>
              <a:t>, 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유튜브 각각 </a:t>
            </a:r>
            <a:r>
              <a:rPr lang="en-US" altLang="ko-KR" sz="1400" b="1" dirty="0">
                <a:solidFill>
                  <a:srgbClr val="444444"/>
                </a:solidFill>
                <a:latin typeface="Malgun Gothic"/>
              </a:rPr>
              <a:t>1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개씩 사용</a:t>
            </a:r>
            <a:endParaRPr lang="en-US" sz="1400" b="0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r>
              <a:rPr lang="ko-KR" altLang="en-US" sz="1400" dirty="0">
                <a:solidFill>
                  <a:srgbClr val="444444"/>
                </a:solidFill>
                <a:latin typeface="Malgun Gothic"/>
              </a:rPr>
              <a:t>→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어떤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채널이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먼저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반응하는지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채널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간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비교가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없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다</a:t>
            </a:r>
            <a:endParaRPr sz="1400" b="1" dirty="0">
              <a:solidFill>
                <a:srgbClr val="FF0000"/>
              </a:solidFill>
              <a:latin typeface="Malgun Gothic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44768" y="1060703"/>
            <a:ext cx="2743200" cy="3054792"/>
          </a:xfrm>
          <a:prstGeom prst="rect">
            <a:avLst/>
          </a:prstGeom>
          <a:solidFill>
            <a:srgbClr val="F7F7F7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193048"/>
            <a:ext cx="384048" cy="38404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187479"/>
            <a:ext cx="384048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 dirty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1188720"/>
            <a:ext cx="2011680" cy="39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 err="1">
                <a:latin typeface="Malgun Gothic"/>
              </a:rPr>
              <a:t>측정</a:t>
            </a:r>
            <a:r>
              <a:rPr sz="1700" b="1" dirty="0">
                <a:latin typeface="Malgun Gothic"/>
              </a:rPr>
              <a:t> </a:t>
            </a:r>
            <a:r>
              <a:rPr sz="1700" b="1" dirty="0" err="1">
                <a:latin typeface="Malgun Gothic"/>
              </a:rPr>
              <a:t>방식</a:t>
            </a:r>
            <a:endParaRPr sz="1700" b="1" dirty="0">
              <a:latin typeface="Malgun Gothi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09360" y="1719072"/>
            <a:ext cx="24140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Malgun Gothic"/>
              </a:rPr>
              <a:t>볼륨·감성 미분리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176272"/>
            <a:ext cx="2414016" cy="731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36208" y="2311603"/>
            <a:ext cx="2779776" cy="18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검색량만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보거나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감성만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봐서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444444"/>
                </a:solidFill>
                <a:latin typeface="Malgun Gothic"/>
              </a:rPr>
              <a:t>둘을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444444"/>
                </a:solidFill>
                <a:latin typeface="Malgun Gothic"/>
              </a:rPr>
              <a:t>분리하지</a:t>
            </a:r>
            <a:r>
              <a:rPr sz="1400" b="1" dirty="0">
                <a:solidFill>
                  <a:srgbClr val="444444"/>
                </a:solidFill>
                <a:latin typeface="Malgun Gothic"/>
              </a:rPr>
              <a:t> 않</a:t>
            </a:r>
            <a:r>
              <a:rPr lang="ko-KR" altLang="en-US" sz="1400" b="1" dirty="0">
                <a:solidFill>
                  <a:srgbClr val="444444"/>
                </a:solidFill>
                <a:latin typeface="Malgun Gothic"/>
              </a:rPr>
              <a:t>음</a:t>
            </a:r>
            <a:endParaRPr sz="1400" b="1" dirty="0">
              <a:solidFill>
                <a:srgbClr val="444444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endParaRPr sz="1400" b="0" dirty="0">
              <a:solidFill>
                <a:srgbClr val="444444"/>
              </a:solidFill>
              <a:latin typeface="Malgun Gothic"/>
            </a:endParaRPr>
          </a:p>
          <a:p>
            <a:pPr>
              <a:lnSpc>
                <a:spcPct val="135000"/>
              </a:lnSpc>
            </a:pPr>
            <a:r>
              <a:rPr lang="ko-KR" altLang="en-US" sz="1400" dirty="0">
                <a:solidFill>
                  <a:srgbClr val="444444"/>
                </a:solidFill>
                <a:latin typeface="Malgun Gothic"/>
              </a:rPr>
              <a:t>→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같은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보도량도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긍정·부정에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endParaRPr lang="en-US" sz="1400" b="1" dirty="0">
              <a:solidFill>
                <a:srgbClr val="FF0000"/>
              </a:solidFill>
              <a:latin typeface="Malgun Gothic"/>
            </a:endParaRPr>
          </a:p>
          <a:p>
            <a:pPr algn="l">
              <a:lnSpc>
                <a:spcPct val="135000"/>
              </a:lnSpc>
            </a:pPr>
            <a:r>
              <a:rPr sz="1400" b="1" dirty="0" err="1">
                <a:solidFill>
                  <a:srgbClr val="FF0000"/>
                </a:solidFill>
                <a:latin typeface="Malgun Gothic"/>
              </a:rPr>
              <a:t>따라</a:t>
            </a:r>
            <a:r>
              <a:rPr lang="en-US"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가격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0000"/>
                </a:solidFill>
                <a:latin typeface="Malgun Gothic"/>
              </a:rPr>
              <a:t>방향이</a:t>
            </a:r>
            <a:r>
              <a:rPr sz="1400" b="1" dirty="0">
                <a:solidFill>
                  <a:srgbClr val="FF0000"/>
                </a:solidFill>
                <a:latin typeface="Malgun Gothic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Malgun Gothic"/>
              </a:rPr>
              <a:t>다르나 설명 불가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211726"/>
            <a:ext cx="8631936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" y="4250867"/>
            <a:ext cx="8449056" cy="44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FFFFFF"/>
                </a:solidFill>
                <a:latin typeface="Malgun Gothic"/>
              </a:rPr>
              <a:t>→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한계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극복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: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리셀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3종 × 5개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채널</a:t>
            </a:r>
            <a:r>
              <a:rPr lang="en-US" sz="2000" b="1" dirty="0">
                <a:solidFill>
                  <a:srgbClr val="FFFFFF"/>
                </a:solidFill>
                <a:latin typeface="Malgun Gothic"/>
              </a:rPr>
              <a:t>(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볼륨·감성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분리</a:t>
            </a:r>
            <a:r>
              <a:rPr lang="en-US" sz="2000" b="1" dirty="0">
                <a:solidFill>
                  <a:srgbClr val="FFFFFF"/>
                </a:solidFill>
                <a:latin typeface="Malgun Gothic"/>
              </a:rPr>
              <a:t>)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sz="2000" b="1" dirty="0">
                <a:solidFill>
                  <a:srgbClr val="FFFFFF"/>
                </a:solidFill>
                <a:latin typeface="Malgun Gothic"/>
              </a:rPr>
              <a:t>×</a:t>
            </a:r>
            <a:r>
              <a:rPr sz="2000" b="1" dirty="0">
                <a:solidFill>
                  <a:srgbClr val="FFFFFF"/>
                </a:solidFill>
                <a:latin typeface="Malgun Gothic"/>
              </a:rPr>
              <a:t> Granger </a:t>
            </a:r>
            <a:r>
              <a:rPr sz="2000" b="1" dirty="0" err="1">
                <a:solidFill>
                  <a:srgbClr val="FFFFFF"/>
                </a:solidFill>
                <a:latin typeface="Malgun Gothic"/>
              </a:rPr>
              <a:t>검정</a:t>
            </a:r>
            <a:endParaRPr sz="2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E85D3-F959-336E-B0EA-73FDDC87698F}"/>
              </a:ext>
            </a:extLst>
          </p:cNvPr>
          <p:cNvSpPr txBox="1"/>
          <p:nvPr/>
        </p:nvSpPr>
        <p:spPr>
          <a:xfrm>
            <a:off x="281178" y="3822758"/>
            <a:ext cx="336384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5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ko-KR" altLang="en-US" sz="850" dirty="0">
                <a:solidFill>
                  <a:schemeClr val="bg1">
                    <a:lumMod val="65000"/>
                  </a:schemeClr>
                </a:solidFill>
              </a:rPr>
              <a:t>드롭 </a:t>
            </a:r>
            <a:r>
              <a:rPr lang="en-US" altLang="ko-KR" sz="850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ko-KR" altLang="en-US" sz="850" dirty="0">
                <a:solidFill>
                  <a:schemeClr val="bg1">
                    <a:lumMod val="65000"/>
                  </a:schemeClr>
                </a:solidFill>
              </a:rPr>
              <a:t>제품을 불시에 공개하여 판매하는 방식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와의 차이점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새로운가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15581" y="1383193"/>
            <a:ext cx="8138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15581" y="1383193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53284" y="1396909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연구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48914" y="1383193"/>
            <a:ext cx="2715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5581" y="1730665"/>
            <a:ext cx="813816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5830" y="1713683"/>
            <a:ext cx="12664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자산</a:t>
            </a:r>
            <a:endParaRPr lang="en-US" sz="1400" b="1" dirty="0"/>
          </a:p>
        </p:txBody>
      </p:sp>
      <p:sp>
        <p:nvSpPr>
          <p:cNvPr id="12" name="Text 10"/>
          <p:cNvSpPr/>
          <p:nvPr/>
        </p:nvSpPr>
        <p:spPr>
          <a:xfrm>
            <a:off x="2011830" y="1752055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단일 자산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1118" y="1768792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리셀 수집품 3종 동시 비교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5581" y="2398177"/>
            <a:ext cx="8138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15163" y="2398177"/>
            <a:ext cx="12713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수</a:t>
            </a:r>
            <a:endParaRPr lang="en-US" sz="1400" b="1" dirty="0"/>
          </a:p>
        </p:txBody>
      </p:sp>
      <p:sp>
        <p:nvSpPr>
          <p:cNvPr id="16" name="Text 14"/>
          <p:cNvSpPr/>
          <p:nvPr/>
        </p:nvSpPr>
        <p:spPr>
          <a:xfrm>
            <a:off x="1970682" y="2408872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채널 (트위터 or 구글)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65796" y="2411893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</a:t>
            </a: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채널 (볼륨 + 감성 분리)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9251" y="3065689"/>
            <a:ext cx="813816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9058" y="3065689"/>
            <a:ext cx="12664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 선정</a:t>
            </a:r>
            <a:endParaRPr lang="en-US" sz="1400" b="1" dirty="0"/>
          </a:p>
        </p:txBody>
      </p:sp>
      <p:sp>
        <p:nvSpPr>
          <p:cNvPr id="20" name="Text 18"/>
          <p:cNvSpPr/>
          <p:nvPr/>
        </p:nvSpPr>
        <p:spPr>
          <a:xfrm>
            <a:off x="1970682" y="3077773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고정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63138" y="3058831"/>
            <a:ext cx="2715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검정으로 자산별 탐색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5581" y="3733201"/>
            <a:ext cx="8138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21912" y="3705769"/>
            <a:ext cx="12664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방향</a:t>
            </a:r>
            <a:endParaRPr lang="en-US" sz="1400" b="1" dirty="0"/>
          </a:p>
        </p:txBody>
      </p:sp>
      <p:sp>
        <p:nvSpPr>
          <p:cNvPr id="24" name="Text 22"/>
          <p:cNvSpPr/>
          <p:nvPr/>
        </p:nvSpPr>
        <p:spPr>
          <a:xfrm>
            <a:off x="1970682" y="3713443"/>
            <a:ext cx="2624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'선행하는가 Yes/No'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08272" y="3725527"/>
            <a:ext cx="30685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4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altLang="ko-KR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통한 자산별 채널 영향 확인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7487B5C-1C5F-998E-E5AC-E3D19C2B5622}"/>
              </a:ext>
            </a:extLst>
          </p:cNvPr>
          <p:cNvCxnSpPr>
            <a:cxnSpLocks/>
          </p:cNvCxnSpPr>
          <p:nvPr/>
        </p:nvCxnSpPr>
        <p:spPr>
          <a:xfrm>
            <a:off x="1862436" y="1744381"/>
            <a:ext cx="0" cy="26289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38B326-DDEA-F3F5-2DCB-09C3A78CACDE}"/>
              </a:ext>
            </a:extLst>
          </p:cNvPr>
          <p:cNvCxnSpPr>
            <a:cxnSpLocks/>
          </p:cNvCxnSpPr>
          <p:nvPr/>
        </p:nvCxnSpPr>
        <p:spPr>
          <a:xfrm>
            <a:off x="4325706" y="1683475"/>
            <a:ext cx="0" cy="26898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 &amp; 채널 선정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3종 자산 × 5개 채널 선정 근거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</a:t>
            </a:r>
            <a:r>
              <a:rPr lang="en-US" altLang="ko-KR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레고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>
                <a:solidFill>
                  <a:srgbClr val="AAAAAA"/>
                </a:solidFill>
                <a:latin typeface="Calibri" pitchFamily="34" charset="0"/>
                <a:cs typeface="Calibri" pitchFamily="34" charset="-120"/>
              </a:rPr>
              <a:t>분석 대상 선정 이유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4005072" cy="166268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64008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7512" y="10469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12893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고유 식별 가능성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" y="1609344"/>
            <a:ext cx="3941064" cy="9464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모델명/카드명/세트명으로 단일 상품 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4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키워드 기반 미디어 수집 &amp; 가격 1:1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매핑</a:t>
            </a:r>
            <a:endParaRPr lang="en-US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ex) </a:t>
            </a:r>
            <a:r>
              <a:rPr lang="en-US" altLang="ko-KR" sz="1000" i="1" dirty="0"/>
              <a:t>Jordan 1 Chicago Lost &amp; Found, </a:t>
            </a:r>
            <a:r>
              <a:rPr lang="da-DK" altLang="ko-KR" sz="1000" i="1" dirty="0"/>
              <a:t>Charizard VMAX Alt Art PSA 10,</a:t>
            </a:r>
            <a:r>
              <a:rPr lang="en-US" altLang="ko-KR" sz="1000" i="1" dirty="0"/>
              <a:t> LEGO Eiffel Tower 10307</a:t>
            </a:r>
            <a:endParaRPr lang="en-US" sz="1000" i="1" dirty="0"/>
          </a:p>
        </p:txBody>
      </p:sp>
      <p:sp>
        <p:nvSpPr>
          <p:cNvPr id="11" name="Shape 9"/>
          <p:cNvSpPr/>
          <p:nvPr/>
        </p:nvSpPr>
        <p:spPr>
          <a:xfrm>
            <a:off x="4782312" y="1051560"/>
            <a:ext cx="4005072" cy="166268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82312" y="1051560"/>
            <a:ext cx="64008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46904" y="103327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71288" y="13121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실거래가 수집 가능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0432" y="1604772"/>
            <a:ext cx="3785616" cy="912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StockX(스니커즈) · PriceCharting(</a:t>
            </a: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카드·레고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호가 아닌 체결가, 학술 연구 채택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실적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다수</a:t>
            </a:r>
            <a:endParaRPr lang="en-US" sz="14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i="1" dirty="0"/>
              <a:t>ex) </a:t>
            </a:r>
            <a:r>
              <a:rPr lang="en-US" altLang="ko-KR" sz="1000" i="1" dirty="0"/>
              <a:t>Ma &amp; Treiber (2020), Campana et al. (2021), </a:t>
            </a:r>
            <a:r>
              <a:rPr lang="en-US" altLang="ko-KR" sz="1000" i="1" dirty="0" err="1"/>
              <a:t>Raditya</a:t>
            </a:r>
            <a:r>
              <a:rPr lang="en-US" altLang="ko-KR" sz="1000" i="1" dirty="0"/>
              <a:t> et al. (2021), </a:t>
            </a:r>
            <a:r>
              <a:rPr lang="en-US" altLang="ko-KR" sz="1000" i="1" dirty="0" err="1"/>
              <a:t>Dobrynskaya</a:t>
            </a:r>
            <a:r>
              <a:rPr lang="en-US" altLang="ko-KR" sz="1000" i="1" dirty="0"/>
              <a:t> (2022)</a:t>
            </a:r>
            <a:endParaRPr lang="en-US" sz="1000" i="1" dirty="0"/>
          </a:p>
        </p:txBody>
      </p:sp>
      <p:sp>
        <p:nvSpPr>
          <p:cNvPr id="22" name="Shape 20"/>
          <p:cNvSpPr/>
          <p:nvPr/>
        </p:nvSpPr>
        <p:spPr>
          <a:xfrm>
            <a:off x="1711574" y="2837688"/>
            <a:ext cx="64007" cy="20519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600652" y="28376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2F17CE7-A294-1C01-7A04-F926158ED328}"/>
              </a:ext>
            </a:extLst>
          </p:cNvPr>
          <p:cNvSpPr/>
          <p:nvPr/>
        </p:nvSpPr>
        <p:spPr>
          <a:xfrm>
            <a:off x="1775582" y="2837688"/>
            <a:ext cx="5392661" cy="205194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839590" y="308094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반응 구조 이질성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75581" y="3425600"/>
            <a:ext cx="5523291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300"/>
              </a:spcBef>
            </a:pP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출시 예고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r>
              <a:rPr lang="ko-KR" altLang="en-US" sz="1300" dirty="0"/>
              <a:t> 몇 주 전부터 유튜브</a:t>
            </a:r>
            <a:r>
              <a:rPr lang="en-US" altLang="ko-KR" sz="1300" dirty="0"/>
              <a:t>, </a:t>
            </a:r>
            <a:r>
              <a:rPr lang="ko-KR" altLang="en-US" sz="1300" dirty="0"/>
              <a:t>뉴스 통한 정보 공개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Bef>
                <a:spcPts val="300"/>
              </a:spcBef>
            </a:pPr>
            <a:r>
              <a:rPr lang="en-US" altLang="ko-KR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카드</a:t>
            </a:r>
            <a:r>
              <a:rPr lang="en-US" altLang="ko-K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(팩 </a:t>
            </a:r>
            <a:r>
              <a:rPr lang="en-US" altLang="ko-KR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r>
              <a:rPr lang="en-US" altLang="ko-K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/>
              <a:t>팩을 뜯는 순간 희귀 카드 존재가 시장에 최초 공개</a:t>
            </a:r>
            <a:endParaRPr lang="en-US" altLang="ko-KR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→ 유튜브 통해 정보 생성 →  구매 위해 </a:t>
            </a:r>
            <a:r>
              <a:rPr lang="ko-KR" altLang="en-US" sz="1300" dirty="0" err="1"/>
              <a:t>검색량</a:t>
            </a:r>
            <a:r>
              <a:rPr lang="ko-KR" altLang="en-US" sz="1300" dirty="0"/>
              <a:t> 증가</a:t>
            </a:r>
            <a:endParaRPr lang="en-US" altLang="ko-KR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Bef>
                <a:spcPts val="300"/>
              </a:spcBef>
            </a:pP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레고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단종 뉴스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ko-KR" altLang="en-US" sz="1300" dirty="0"/>
              <a:t>단종 이벤트 특성상 뉴스가 </a:t>
            </a:r>
            <a:r>
              <a:rPr lang="en-US" altLang="ko-KR" sz="1300" dirty="0"/>
              <a:t>1</a:t>
            </a:r>
            <a:r>
              <a:rPr lang="ko-KR" altLang="en-US" sz="1300" dirty="0"/>
              <a:t>차 전파 채널 역할</a:t>
            </a:r>
            <a:endParaRPr lang="en-US" sz="1300" dirty="0"/>
          </a:p>
          <a:p>
            <a:pPr marL="0" indent="0">
              <a:buNone/>
            </a:pPr>
            <a:endParaRPr lang="en-US" sz="14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H2 검증에 이상적인 자산 조합</a:t>
            </a:r>
            <a:endParaRPr lang="en-US" sz="1400" b="1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33BDD79-1EA5-7283-94EB-04C3A7D7A5E2}"/>
              </a:ext>
            </a:extLst>
          </p:cNvPr>
          <p:cNvSpPr/>
          <p:nvPr/>
        </p:nvSpPr>
        <p:spPr>
          <a:xfrm>
            <a:off x="1866318" y="28376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미디어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정보원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볼륨·감성 분리 = 5채널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81381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8069" y="10332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방법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0241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선행 연구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371600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566928" y="1371600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13716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87168" y="153619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487168" y="153619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27248" y="13716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검색 관심도 (0~100)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3716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pytrends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48272" y="13716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et al. 2011; Huang 2019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1984248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1984248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1984248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보도량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487168" y="214884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487168" y="214884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27248" y="1984248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뉴스 대비 보도량 비율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19842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48272" y="198424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et al. 2011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2596896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6928" y="2596896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2596896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조회수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487168" y="2761488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487168" y="276148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127248" y="2596896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조회수 합계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259689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 v3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48272" y="2596896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&amp; Jun 2025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209544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66928" y="3209544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3209544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감성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487168" y="3374136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487168" y="337413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감성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127248" y="320954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보도 논조  (–1 ~ 1)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46320" y="3209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48272" y="3209544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2023; Mao 2011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3822192"/>
            <a:ext cx="813816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66928" y="3822192"/>
            <a:ext cx="347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32688" y="382219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댓글 감성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487168" y="398678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2487168" y="398678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감성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127248" y="3822192"/>
            <a:ext cx="184480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반응 (–1 ~ 1)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846320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+ FinBERT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748272" y="38221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&amp; Jun 2025; Huang 2023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볼륨과 감성을 분리 측정하는 방식은 Mao et al.(2011)에서 확립된 표준 접근법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13711" y="10195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선행 연구에서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논문에서 이미 검증된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채널만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X,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자체는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</a:t>
            </a:r>
            <a:r>
              <a:rPr lang="en-US" altLang="ko-KR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볼륨·감성 분리 원칙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19072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et al. (2011, JF) — 구글 검색량이 주가에 2주 선행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(2019, EE)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Granger 프레임워크에서 S&amp;P 500 방향 예측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Raza et al. (2022)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Bitcoin·알트코인 가격의 Granger 원인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보도량 + 뉴스 감성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755648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Mao et al. (2011, arXiv)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감성과 DJIA 간 양방향 Granger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인과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(2023, CAR)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FinBERT 금융 텍스트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실증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651760" cy="21031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65176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0807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조회수 + 댓글 감성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716677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 &amp; Jun (2025, IRFA) —            유튜브 조회수가 단기 주가에 유의한 영향</a:t>
            </a:r>
            <a:endParaRPr lang="en-US" sz="13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트렌드 통제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후에도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설명력 유지 확인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0610" y="3543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볼륨과 감성을 분리 측정하는 이유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44366" y="3852672"/>
            <a:ext cx="8288154" cy="1110234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859421"/>
            <a:ext cx="45719" cy="109281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3790" y="3754265"/>
            <a:ext cx="8070753" cy="1304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300"/>
              </a:spcBef>
            </a:pPr>
            <a:r>
              <a:rPr lang="en-US" altLang="ko-KR" sz="1300" dirty="0"/>
              <a:t>Ex) Nike </a:t>
            </a:r>
            <a:r>
              <a:rPr lang="ko-KR" altLang="en-US" sz="1300" dirty="0"/>
              <a:t>신제품 출시 시</a:t>
            </a:r>
            <a:r>
              <a:rPr lang="en-US" altLang="ko-KR" sz="1300" dirty="0"/>
              <a:t>,</a:t>
            </a:r>
            <a:r>
              <a:rPr lang="ko-KR" altLang="en-US" sz="1300" dirty="0"/>
              <a:t> 뉴스가 폭발적으로 증가</a:t>
            </a:r>
            <a:r>
              <a:rPr lang="en-US" altLang="ko-KR" sz="1300" dirty="0"/>
              <a:t>(</a:t>
            </a:r>
            <a:r>
              <a:rPr lang="ko-KR" altLang="en-US" sz="1300" dirty="0"/>
              <a:t>볼륨 높음</a:t>
            </a:r>
            <a:r>
              <a:rPr lang="en-US" altLang="ko-KR" sz="1300" dirty="0"/>
              <a:t>) vs</a:t>
            </a:r>
            <a:r>
              <a:rPr lang="ko-KR" altLang="en-US" sz="1300" dirty="0"/>
              <a:t> </a:t>
            </a:r>
            <a:r>
              <a:rPr lang="en-US" altLang="ko-KR" sz="1300" dirty="0"/>
              <a:t>"</a:t>
            </a:r>
            <a:r>
              <a:rPr lang="ko-KR" altLang="en-US" sz="1300" dirty="0"/>
              <a:t>공급 부족으로 구매 불가</a:t>
            </a:r>
            <a:r>
              <a:rPr lang="en-US" altLang="ko-KR" sz="1300" dirty="0"/>
              <a:t>" </a:t>
            </a:r>
            <a:r>
              <a:rPr lang="ko-KR" altLang="en-US" sz="1300" dirty="0"/>
              <a:t>보도</a:t>
            </a:r>
            <a:r>
              <a:rPr lang="en-US" altLang="ko-KR" sz="1300" dirty="0"/>
              <a:t>(</a:t>
            </a:r>
            <a:r>
              <a:rPr lang="ko-KR" altLang="en-US" sz="1300" dirty="0"/>
              <a:t>감성 부정</a:t>
            </a:r>
            <a:r>
              <a:rPr lang="en-US" altLang="ko-KR" sz="1300" dirty="0"/>
              <a:t>)</a:t>
            </a:r>
            <a:endParaRPr lang="ko-KR" altLang="en-US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볼륨 </a:t>
            </a:r>
            <a:r>
              <a:rPr lang="en-US" altLang="ko-KR" sz="1300" dirty="0"/>
              <a:t>:</a:t>
            </a:r>
            <a:r>
              <a:rPr lang="ko-KR" altLang="en-US" sz="1300" dirty="0"/>
              <a:t> </a:t>
            </a:r>
            <a:r>
              <a:rPr lang="en-US" altLang="ko-KR" sz="1300" dirty="0"/>
              <a:t>“</a:t>
            </a:r>
            <a:r>
              <a:rPr lang="ko-KR" altLang="en-US" sz="1300" dirty="0"/>
              <a:t>관심 급증</a:t>
            </a:r>
            <a:r>
              <a:rPr lang="en-US" altLang="ko-KR" sz="1300" dirty="0"/>
              <a:t>”</a:t>
            </a:r>
            <a:r>
              <a:rPr lang="ko-KR" altLang="en-US" sz="1300" dirty="0"/>
              <a:t> → 가격 상승</a:t>
            </a:r>
            <a:r>
              <a:rPr lang="en-US" altLang="ko-KR" sz="1300" dirty="0"/>
              <a:t>"  &amp;</a:t>
            </a:r>
            <a:r>
              <a:rPr lang="ko-KR" altLang="en-US" sz="1300" dirty="0"/>
              <a:t> 감성 </a:t>
            </a:r>
            <a:r>
              <a:rPr lang="en-US" altLang="ko-KR" sz="1300" dirty="0"/>
              <a:t>:</a:t>
            </a:r>
            <a:r>
              <a:rPr lang="ko-KR" altLang="en-US" sz="1300" dirty="0"/>
              <a:t> </a:t>
            </a:r>
            <a:r>
              <a:rPr lang="en-US" altLang="ko-KR" sz="1300" dirty="0"/>
              <a:t>“</a:t>
            </a:r>
            <a:r>
              <a:rPr lang="ko-KR" altLang="en-US" sz="1300" dirty="0"/>
              <a:t>부정 보도</a:t>
            </a:r>
            <a:r>
              <a:rPr lang="en-US" altLang="ko-KR" sz="1300" dirty="0"/>
              <a:t>”</a:t>
            </a:r>
            <a:r>
              <a:rPr lang="ko-KR" altLang="en-US" sz="1300" dirty="0"/>
              <a:t> → 가격 하락</a:t>
            </a:r>
            <a:r>
              <a:rPr lang="en-US" altLang="ko-KR" sz="1300" dirty="0"/>
              <a:t> </a:t>
            </a:r>
            <a:r>
              <a:rPr lang="ko-KR" altLang="en-US" sz="1300" dirty="0"/>
              <a:t>예측 </a:t>
            </a:r>
            <a:endParaRPr lang="en-US" altLang="ko-KR" sz="1300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→ </a:t>
            </a:r>
            <a:r>
              <a:rPr lang="ko-KR" altLang="en-US" sz="1300" b="1" u="sng" dirty="0"/>
              <a:t>둘을 합치면 신호가 상쇄되어 아무것도 설명 못 함</a:t>
            </a:r>
            <a:endParaRPr lang="ko-KR" altLang="en-US" sz="1300" u="sng" dirty="0"/>
          </a:p>
          <a:p>
            <a:pPr>
              <a:spcBef>
                <a:spcPts val="300"/>
              </a:spcBef>
            </a:pPr>
            <a:r>
              <a:rPr lang="ko-KR" altLang="en-US" sz="1300" dirty="0"/>
              <a:t>볼륨과 감성을 분리해야 각각이 가격에 미치는 </a:t>
            </a:r>
            <a:r>
              <a:rPr lang="ko-KR" altLang="en-US" sz="1300" b="1" dirty="0"/>
              <a:t>독립적 효과</a:t>
            </a:r>
            <a:r>
              <a:rPr lang="ko-KR" altLang="en-US" sz="1300" dirty="0"/>
              <a:t>를 볼 수 있음</a:t>
            </a:r>
            <a:endParaRPr lang="en-US" alt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194560" y="1645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방법론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456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제안모델 구조 </a:t>
            </a:r>
            <a:r>
              <a:rPr lang="en-US" altLang="ko-KR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 · FinBERT · XGBoost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모델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ub">
            <a:extLst>
              <a:ext uri="{FF2B5EF4-FFF2-40B4-BE49-F238E27FC236}">
                <a16:creationId xmlns:a16="http://schemas.microsoft.com/office/drawing/2014/main" id="{A4B24CD5-0E85-9580-22D7-58F8A54F68D3}"/>
              </a:ext>
            </a:extLst>
          </p:cNvPr>
          <p:cNvSpPr/>
          <p:nvPr/>
        </p:nvSpPr>
        <p:spPr>
          <a:xfrm>
            <a:off x="532914" y="650198"/>
            <a:ext cx="7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300" i="1" dirty="0">
                <a:solidFill>
                  <a:srgbClr val="AAAAAA"/>
                </a:solidFill>
                <a:latin typeface="Calibri"/>
                <a:ea typeface="Calibri"/>
              </a:rPr>
              <a:t>무엇을 모으고 → 어떻게 수치화하고 → 선행 채널을 찾고 → 예측력을 검증하는가</a:t>
            </a:r>
          </a:p>
        </p:txBody>
      </p:sp>
      <p:sp>
        <p:nvSpPr>
          <p:cNvPr id="7" name="L1Label"/>
          <p:cNvSpPr/>
          <p:nvPr/>
        </p:nvSpPr>
        <p:spPr>
          <a:xfrm>
            <a:off x="535983" y="1054921"/>
            <a:ext cx="742006" cy="799225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1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데이터 수집</a:t>
            </a:r>
          </a:p>
        </p:txBody>
      </p:sp>
      <p:sp>
        <p:nvSpPr>
          <p:cNvPr id="8" name="DS1"/>
          <p:cNvSpPr/>
          <p:nvPr/>
        </p:nvSpPr>
        <p:spPr>
          <a:xfrm>
            <a:off x="1375069" y="1073423"/>
            <a:ext cx="1700000" cy="724993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StockX</a:t>
            </a: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 · </a:t>
            </a: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PriceCharting</a:t>
            </a:r>
            <a:endParaRPr lang="ko-KR" sz="1300" b="1" dirty="0">
              <a:solidFill>
                <a:srgbClr val="1A1A1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월별 </a:t>
            </a:r>
            <a:r>
              <a:rPr lang="ko-KR" sz="900" dirty="0" err="1">
                <a:solidFill>
                  <a:srgbClr val="777777"/>
                </a:solidFill>
                <a:latin typeface="Calibri"/>
                <a:ea typeface="Calibri"/>
              </a:rPr>
              <a:t>체결가</a:t>
            </a: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 (</a:t>
            </a:r>
            <a:r>
              <a:rPr lang="ko-KR" sz="900" dirty="0" err="1">
                <a:solidFill>
                  <a:srgbClr val="777777"/>
                </a:solidFill>
                <a:latin typeface="Calibri"/>
                <a:ea typeface="Calibri"/>
              </a:rPr>
              <a:t>스니커즈·카드·레고</a:t>
            </a: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)</a:t>
            </a:r>
          </a:p>
        </p:txBody>
      </p:sp>
      <p:sp>
        <p:nvSpPr>
          <p:cNvPr id="9" name="DS2"/>
          <p:cNvSpPr/>
          <p:nvPr/>
        </p:nvSpPr>
        <p:spPr>
          <a:xfrm>
            <a:off x="3159486" y="1082945"/>
            <a:ext cx="1699999" cy="715472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Google Trends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월별 검색 관심도 0~100</a:t>
            </a:r>
          </a:p>
        </p:txBody>
      </p:sp>
      <p:sp>
        <p:nvSpPr>
          <p:cNvPr id="10" name="DS3"/>
          <p:cNvSpPr/>
          <p:nvPr/>
        </p:nvSpPr>
        <p:spPr>
          <a:xfrm>
            <a:off x="4957116" y="1093186"/>
            <a:ext cx="1699999" cy="70523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NewsAPI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뉴스 기사 본문 수집</a:t>
            </a:r>
          </a:p>
        </p:txBody>
      </p:sp>
      <p:sp>
        <p:nvSpPr>
          <p:cNvPr id="11" name="DS4"/>
          <p:cNvSpPr/>
          <p:nvPr/>
        </p:nvSpPr>
        <p:spPr>
          <a:xfrm>
            <a:off x="6740982" y="1084605"/>
            <a:ext cx="1660068" cy="70523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ko-KR" sz="1300" b="1" dirty="0" err="1">
                <a:solidFill>
                  <a:srgbClr val="1A1A1A"/>
                </a:solidFill>
                <a:latin typeface="Calibri"/>
                <a:ea typeface="Calibri"/>
              </a:rPr>
              <a:t>YouTube</a:t>
            </a: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 Data API v3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777777"/>
                </a:solidFill>
                <a:latin typeface="Calibri"/>
                <a:ea typeface="Calibri"/>
              </a:rPr>
              <a:t>조회수 + 상위 댓글 수집</a:t>
            </a:r>
          </a:p>
        </p:txBody>
      </p:sp>
      <p:sp>
        <p:nvSpPr>
          <p:cNvPr id="12" name="R1Tag"/>
          <p:cNvSpPr/>
          <p:nvPr/>
        </p:nvSpPr>
        <p:spPr>
          <a:xfrm>
            <a:off x="1375069" y="1831232"/>
            <a:ext cx="6968832" cy="45719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/>
          </a:p>
        </p:txBody>
      </p:sp>
      <p:sp>
        <p:nvSpPr>
          <p:cNvPr id="15" name="L2Label"/>
          <p:cNvSpPr/>
          <p:nvPr/>
        </p:nvSpPr>
        <p:spPr>
          <a:xfrm>
            <a:off x="515696" y="2122495"/>
            <a:ext cx="742006" cy="778544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2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감성 분석</a:t>
            </a:r>
          </a:p>
        </p:txBody>
      </p:sp>
      <p:sp>
        <p:nvSpPr>
          <p:cNvPr id="16" name="FinBERT"/>
          <p:cNvSpPr/>
          <p:nvPr/>
        </p:nvSpPr>
        <p:spPr>
          <a:xfrm>
            <a:off x="1357702" y="2122495"/>
            <a:ext cx="2900000" cy="798597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FinBERT (Araci, 2019)</a:t>
            </a:r>
          </a:p>
          <a:p>
            <a:pPr marL="0" indent="0">
              <a:buNone/>
            </a:pPr>
            <a:r>
              <a:rPr lang="ko-KR" sz="900" dirty="0" err="1">
                <a:solidFill>
                  <a:srgbClr val="555555"/>
                </a:solidFill>
                <a:latin typeface="Calibri"/>
                <a:ea typeface="Calibri"/>
              </a:rPr>
              <a:t>뉴스·댓글</a:t>
            </a: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 텍스트를 긍정/부정 점수로 변환 (–1 ~ +1)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금융 뉴스 1.8만 건 사전학습 모델 활용</a:t>
            </a:r>
          </a:p>
        </p:txBody>
      </p:sp>
      <p:sp>
        <p:nvSpPr>
          <p:cNvPr id="17" name="VolOut"/>
          <p:cNvSpPr/>
          <p:nvPr/>
        </p:nvSpPr>
        <p:spPr>
          <a:xfrm>
            <a:off x="4921009" y="2147536"/>
            <a:ext cx="3480041" cy="7985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chemeClr val="bg1"/>
                </a:solidFill>
                <a:latin typeface="Calibri"/>
                <a:ea typeface="Calibri"/>
              </a:rPr>
              <a:t>입력 데이터 완성: 5채널 패널</a:t>
            </a:r>
          </a:p>
          <a:p>
            <a:pPr marL="0" indent="0">
              <a:buNone/>
            </a:pPr>
            <a:r>
              <a:rPr lang="ko-KR" sz="900" dirty="0">
                <a:solidFill>
                  <a:schemeClr val="bg1"/>
                </a:solidFill>
                <a:latin typeface="Calibri"/>
                <a:ea typeface="Calibri"/>
              </a:rPr>
              <a:t>볼륨 3개 (Trends·뉴스량·조회수) + 감성 2개 (뉴스·댓글)</a:t>
            </a:r>
          </a:p>
          <a:p>
            <a:pPr marL="0" indent="0">
              <a:buNone/>
            </a:pPr>
            <a:r>
              <a:rPr lang="ko-KR" sz="900" dirty="0">
                <a:solidFill>
                  <a:schemeClr val="bg1"/>
                </a:solidFill>
                <a:latin typeface="Calibri"/>
                <a:ea typeface="Calibri"/>
              </a:rPr>
              <a:t>15개 아이템 × 72개월 = 최대 1,080행</a:t>
            </a:r>
          </a:p>
        </p:txBody>
      </p:sp>
      <p:sp>
        <p:nvSpPr>
          <p:cNvPr id="19" name="L3Label"/>
          <p:cNvSpPr/>
          <p:nvPr/>
        </p:nvSpPr>
        <p:spPr>
          <a:xfrm>
            <a:off x="518616" y="3009556"/>
            <a:ext cx="742006" cy="801536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3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인과 검정</a:t>
            </a:r>
          </a:p>
        </p:txBody>
      </p:sp>
      <p:sp>
        <p:nvSpPr>
          <p:cNvPr id="20" name="ModelA"/>
          <p:cNvSpPr/>
          <p:nvPr/>
        </p:nvSpPr>
        <p:spPr>
          <a:xfrm>
            <a:off x="1357702" y="3037376"/>
            <a:ext cx="2900000" cy="77371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Granger 인과검정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3자산 × 5채널: 어떤 채널이 가격보다 먼저 움직이는가?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H1·H2 검증: 자산마다 선행 채널이 다른가?</a:t>
            </a:r>
          </a:p>
        </p:txBody>
      </p:sp>
      <p:sp>
        <p:nvSpPr>
          <p:cNvPr id="21" name="SHAPNote"/>
          <p:cNvSpPr/>
          <p:nvPr/>
        </p:nvSpPr>
        <p:spPr>
          <a:xfrm>
            <a:off x="4907115" y="3038725"/>
            <a:ext cx="3500000" cy="80153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결과: 자산별 유의 채널 선별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스니커즈/카드/레고별 유의 채</a:t>
            </a:r>
            <a:r>
              <a:rPr lang="ko-KR" altLang="en-US" sz="900" dirty="0">
                <a:solidFill>
                  <a:srgbClr val="555555"/>
                </a:solidFill>
                <a:latin typeface="Calibri"/>
                <a:ea typeface="Calibri"/>
              </a:rPr>
              <a:t>널 선정</a:t>
            </a:r>
            <a:endParaRPr lang="ko-KR" sz="900" dirty="0">
              <a:solidFill>
                <a:srgbClr val="555555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→ Model B 입력 채널 결정</a:t>
            </a:r>
          </a:p>
        </p:txBody>
      </p:sp>
      <p:sp>
        <p:nvSpPr>
          <p:cNvPr id="22" name="ArrowD3"/>
          <p:cNvSpPr/>
          <p:nvPr/>
        </p:nvSpPr>
        <p:spPr>
          <a:xfrm rot="16200000">
            <a:off x="4512000" y="3346775"/>
            <a:ext cx="120000" cy="2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3" name="L4Label"/>
          <p:cNvSpPr/>
          <p:nvPr/>
        </p:nvSpPr>
        <p:spPr>
          <a:xfrm>
            <a:off x="518616" y="3919609"/>
            <a:ext cx="742006" cy="941483"/>
          </a:xfrm>
          <a:prstGeom prst="rect">
            <a:avLst/>
          </a:prstGeom>
          <a:solidFill>
            <a:srgbClr val="1A1A1A"/>
          </a:solidFill>
        </p:spPr>
        <p:txBody>
          <a:bodyPr wrap="square" lIns="60960" tIns="60960" rIns="60960" bIns="60960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Calibri"/>
                <a:ea typeface="Calibri"/>
              </a:rPr>
              <a:t>STEP 4</a:t>
            </a:r>
          </a:p>
          <a:p>
            <a:pPr marL="0" indent="0" algn="ctr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예측 검증</a:t>
            </a:r>
          </a:p>
        </p:txBody>
      </p:sp>
      <p:sp>
        <p:nvSpPr>
          <p:cNvPr id="24" name="XGB_A"/>
          <p:cNvSpPr/>
          <p:nvPr/>
        </p:nvSpPr>
        <p:spPr>
          <a:xfrm>
            <a:off x="1357702" y="3919609"/>
            <a:ext cx="3114298" cy="933716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1A1A1A"/>
                </a:solidFill>
                <a:latin typeface="Calibri"/>
                <a:ea typeface="Calibri"/>
              </a:rPr>
              <a:t>Model A (전채널)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555555"/>
                </a:solidFill>
                <a:latin typeface="Calibri"/>
                <a:ea typeface="Calibri"/>
              </a:rPr>
              <a:t>5개 채널 모두 입력 → XGBoost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888888"/>
                </a:solidFill>
                <a:latin typeface="Calibri"/>
                <a:ea typeface="Calibri"/>
              </a:rPr>
              <a:t>타겟: 가격 상승(1)/하락(0) / TimeSeriesSplit 5-fold / AUC</a:t>
            </a:r>
          </a:p>
        </p:txBody>
      </p:sp>
      <p:sp>
        <p:nvSpPr>
          <p:cNvPr id="25" name="VSLabel"/>
          <p:cNvSpPr/>
          <p:nvPr/>
        </p:nvSpPr>
        <p:spPr>
          <a:xfrm>
            <a:off x="4427720" y="4280436"/>
            <a:ext cx="38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888888"/>
                </a:solidFill>
                <a:latin typeface="Calibri"/>
                <a:ea typeface="Calibri"/>
              </a:rPr>
              <a:t>vs</a:t>
            </a:r>
          </a:p>
        </p:txBody>
      </p:sp>
      <p:sp>
        <p:nvSpPr>
          <p:cNvPr id="26" name="XGB_B"/>
          <p:cNvSpPr/>
          <p:nvPr/>
        </p:nvSpPr>
        <p:spPr>
          <a:xfrm>
            <a:off x="4796518" y="3923492"/>
            <a:ext cx="3604532" cy="933716"/>
          </a:xfrm>
          <a:prstGeom prst="rect">
            <a:avLst/>
          </a:prstGeom>
          <a:solidFill>
            <a:srgbClr val="1A1A1A"/>
          </a:solidFill>
        </p:spPr>
        <p:txBody>
          <a:bodyPr wrap="square" lIns="91440" tIns="60960" rIns="0" bIns="0" rtlCol="0" anchor="ctr"/>
          <a:lstStyle/>
          <a:p>
            <a:pPr marL="0" indent="0">
              <a:buNone/>
            </a:pPr>
            <a:r>
              <a:rPr lang="ko-KR" sz="1300" b="1" dirty="0">
                <a:solidFill>
                  <a:srgbClr val="FFFFFF"/>
                </a:solidFill>
                <a:latin typeface="Calibri"/>
                <a:ea typeface="Calibri"/>
              </a:rPr>
              <a:t>Model B (Granger 선별)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BBBBBB"/>
                </a:solidFill>
                <a:latin typeface="Calibri"/>
                <a:ea typeface="Calibri"/>
              </a:rPr>
              <a:t>유의 채널만 입력 → XGBoost</a:t>
            </a:r>
          </a:p>
          <a:p>
            <a:pPr marL="0" indent="0">
              <a:buNone/>
            </a:pPr>
            <a:r>
              <a:rPr lang="ko-KR" sz="900" dirty="0">
                <a:solidFill>
                  <a:srgbClr val="AAAAAA"/>
                </a:solidFill>
                <a:latin typeface="Calibri"/>
                <a:ea typeface="Calibri"/>
              </a:rPr>
              <a:t>AUC 비교 + DM검정 → 선별이 실제로 효과 있는가? (H3)</a:t>
            </a:r>
          </a:p>
        </p:txBody>
      </p:sp>
      <p:sp>
        <p:nvSpPr>
          <p:cNvPr id="27" name="ArrowD1">
            <a:extLst>
              <a:ext uri="{FF2B5EF4-FFF2-40B4-BE49-F238E27FC236}">
                <a16:creationId xmlns:a16="http://schemas.microsoft.com/office/drawing/2014/main" id="{2004CE79-DD9C-6D55-3E0E-D2238F5A71D6}"/>
              </a:ext>
            </a:extLst>
          </p:cNvPr>
          <p:cNvSpPr/>
          <p:nvPr/>
        </p:nvSpPr>
        <p:spPr>
          <a:xfrm rot="16200000">
            <a:off x="4512000" y="2428474"/>
            <a:ext cx="120000" cy="20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E4DCE73-C7C8-E6FC-DCC8-E5B0046A46EA}"/>
              </a:ext>
            </a:extLst>
          </p:cNvPr>
          <p:cNvSpPr/>
          <p:nvPr/>
        </p:nvSpPr>
        <p:spPr>
          <a:xfrm>
            <a:off x="4943901" y="1093186"/>
            <a:ext cx="3463213" cy="7052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D15F49B-7B51-B12F-D717-10D2E95558FB}"/>
              </a:ext>
            </a:extLst>
          </p:cNvPr>
          <p:cNvCxnSpPr>
            <a:cxnSpLocks/>
            <a:stCxn id="28" idx="2"/>
            <a:endCxn id="16" idx="0"/>
          </p:cNvCxnSpPr>
          <p:nvPr/>
        </p:nvCxnSpPr>
        <p:spPr>
          <a:xfrm rot="5400000">
            <a:off x="4579567" y="26553"/>
            <a:ext cx="324077" cy="386780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— 감성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점수화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텍스트 특화 BERT 기반 모델 (Araci 2019</a:t>
            </a: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502920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2412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18872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98448" y="1115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입력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14081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기사 본문 / 유튜브 댓글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892808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89280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8720" y="205740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98448" y="1984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토큰화 &amp; 벡터화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22768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Transformer 구조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61488"/>
            <a:ext cx="502920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76148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292608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98448" y="28529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확률 출력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98448" y="31455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P(pos) · P(neu) · P(neg) 3개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630168"/>
            <a:ext cx="5029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30168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3794760"/>
            <a:ext cx="13716" cy="420624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298448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점수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98448" y="40142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P(positive) – P(negative) ∈ [–1, +1]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1024128"/>
            <a:ext cx="2880360" cy="3355848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892981" y="117451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FinBERT인가?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43995" y="1298999"/>
            <a:ext cx="2704012" cy="19365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ko-KR" altLang="en-US" sz="1400" dirty="0"/>
              <a:t>→</a:t>
            </a:r>
            <a:r>
              <a:rPr lang="en-US" altLang="ko-KR" sz="1400" dirty="0"/>
              <a:t>"</a:t>
            </a:r>
            <a:r>
              <a:rPr lang="ko-KR" altLang="en-US" sz="1400" dirty="0"/>
              <a:t>가격 급등 예상</a:t>
            </a:r>
            <a:r>
              <a:rPr lang="en-US" altLang="ko-KR" sz="1400" dirty="0"/>
              <a:t>", "</a:t>
            </a:r>
            <a:r>
              <a:rPr lang="ko-KR" altLang="en-US" sz="1400" dirty="0"/>
              <a:t>공급 부족 우려</a:t>
            </a:r>
            <a:r>
              <a:rPr lang="en-US" altLang="ko-KR" sz="1400" dirty="0"/>
              <a:t>" </a:t>
            </a:r>
            <a:r>
              <a:rPr lang="ko-KR" altLang="en-US" sz="1400" dirty="0"/>
              <a:t>등 금융 맥락 감성 방향 포착에 특화</a:t>
            </a:r>
            <a:endParaRPr lang="en-US" altLang="ko-KR" sz="1400" dirty="0"/>
          </a:p>
          <a:p>
            <a:pPr>
              <a:buSzPct val="100000"/>
            </a:pPr>
            <a:r>
              <a:rPr lang="ko-KR" altLang="en-US" sz="1400" dirty="0"/>
              <a:t> </a:t>
            </a:r>
            <a:endParaRPr lang="en-US" altLang="ko-KR" sz="1400" dirty="0"/>
          </a:p>
          <a:p>
            <a:pPr>
              <a:buSzPct val="100000"/>
            </a:pPr>
            <a:r>
              <a:rPr lang="ko-KR" altLang="en-US" sz="1400" dirty="0"/>
              <a:t>→ 금융 텍스트 분류 정확도 우수 </a:t>
            </a:r>
            <a:r>
              <a:rPr lang="en-US" altLang="ko-KR" sz="1400" dirty="0"/>
              <a:t>(Huang et al. 2023, CAR)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92981" y="3144129"/>
            <a:ext cx="260604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892981" y="32918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9788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"limited release drives huge demand"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35661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A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97880" y="38770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"resale prices collapse"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55280" y="38770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–0.72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53803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대상: 뉴스 감성(기사 본문) + 유튜브 댓글 감성 (아이템당 상위 15영상 × 30댓글)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C9EEE-EEF5-EE9C-F8EA-FB55E7C1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D30361-BE3D-32E1-DC23-01221F42D77B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9BF03E-E95C-0E00-326B-9005ABBA9F71}"/>
              </a:ext>
            </a:extLst>
          </p:cNvPr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인과검정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8BF027-9156-6028-BF26-4CBC515D7871}"/>
              </a:ext>
            </a:extLst>
          </p:cNvPr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'미디어가 먼저 움직이면 가격도 따라오는가?'를 숫자로 증명하는 방법</a:t>
            </a:r>
            <a:endParaRPr lang="en-US" sz="1300" i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E90D89-4122-9A3E-0F88-02FB945D5236}"/>
              </a:ext>
            </a:extLst>
          </p:cNvPr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B3B6C9-BBDE-8ABD-461A-AA51B88A5321}"/>
              </a:ext>
            </a:extLst>
          </p:cNvPr>
          <p:cNvSpPr/>
          <p:nvPr/>
        </p:nvSpPr>
        <p:spPr>
          <a:xfrm>
            <a:off x="502920" y="1024128"/>
            <a:ext cx="3971544" cy="1090422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A63EB-9C34-6018-B57F-8963A80454FC}"/>
              </a:ext>
            </a:extLst>
          </p:cNvPr>
          <p:cNvSpPr/>
          <p:nvPr/>
        </p:nvSpPr>
        <p:spPr>
          <a:xfrm>
            <a:off x="521208" y="1037844"/>
            <a:ext cx="45719" cy="10652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D6D6CC9-7996-07A1-8EC0-BAAD7F66682A}"/>
              </a:ext>
            </a:extLst>
          </p:cNvPr>
          <p:cNvSpPr/>
          <p:nvPr/>
        </p:nvSpPr>
        <p:spPr>
          <a:xfrm>
            <a:off x="713232" y="1024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8949AB-B686-9214-FD69-3AFA7D305476}"/>
              </a:ext>
            </a:extLst>
          </p:cNvPr>
          <p:cNvSpPr/>
          <p:nvPr/>
        </p:nvSpPr>
        <p:spPr>
          <a:xfrm>
            <a:off x="731520" y="1341881"/>
            <a:ext cx="3282696" cy="321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"미디어 데이터의 과거값을 </a:t>
            </a: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알면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가격의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미래를 더 잘 맞출 수 있는가?"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93425E9-D36D-3F08-56E2-1B48222A9EBE}"/>
              </a:ext>
            </a:extLst>
          </p:cNvPr>
          <p:cNvSpPr/>
          <p:nvPr/>
        </p:nvSpPr>
        <p:spPr>
          <a:xfrm>
            <a:off x="576071" y="1762506"/>
            <a:ext cx="3916681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YES이면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채널이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가격에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선행한다</a:t>
            </a: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96AFCE-5A7F-491D-5541-88083AC92378}"/>
              </a:ext>
            </a:extLst>
          </p:cNvPr>
          <p:cNvSpPr/>
          <p:nvPr/>
        </p:nvSpPr>
        <p:spPr>
          <a:xfrm>
            <a:off x="502920" y="2176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검정 방식 — 2가지 모델을 비교한다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EB3703F-D55D-5548-102B-57D3ED9E7F9D}"/>
              </a:ext>
            </a:extLst>
          </p:cNvPr>
          <p:cNvSpPr/>
          <p:nvPr/>
        </p:nvSpPr>
        <p:spPr>
          <a:xfrm>
            <a:off x="502920" y="2450592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0F8CCD5-675D-9577-D075-688579453EDC}"/>
              </a:ext>
            </a:extLst>
          </p:cNvPr>
          <p:cNvSpPr/>
          <p:nvPr/>
        </p:nvSpPr>
        <p:spPr>
          <a:xfrm>
            <a:off x="502920" y="2542032"/>
            <a:ext cx="3414932" cy="1792877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7EB697-B9FE-9DB5-8AB6-2717CCD846FE}"/>
              </a:ext>
            </a:extLst>
          </p:cNvPr>
          <p:cNvSpPr/>
          <p:nvPr/>
        </p:nvSpPr>
        <p:spPr>
          <a:xfrm>
            <a:off x="640080" y="263347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가격만으로 예측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0D9CD4C-8002-E0DF-8D36-BEBA083E8E75}"/>
              </a:ext>
            </a:extLst>
          </p:cNvPr>
          <p:cNvSpPr/>
          <p:nvPr/>
        </p:nvSpPr>
        <p:spPr>
          <a:xfrm>
            <a:off x="640080" y="296265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(기준 모델)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85FF33F-B29F-84AC-C811-0DE3AB7EB451}"/>
              </a:ext>
            </a:extLst>
          </p:cNvPr>
          <p:cNvSpPr/>
          <p:nvPr/>
        </p:nvSpPr>
        <p:spPr>
          <a:xfrm>
            <a:off x="640080" y="3182112"/>
            <a:ext cx="3136392" cy="4572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78C393-5AE4-0DCC-0FE3-6A22F6E486BA}"/>
              </a:ext>
            </a:extLst>
          </p:cNvPr>
          <p:cNvSpPr/>
          <p:nvPr/>
        </p:nvSpPr>
        <p:spPr>
          <a:xfrm>
            <a:off x="640080" y="322783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가격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지난달·지지난달 가격만 보고 예측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668C918-40BF-29FC-2FE3-F975D5F19CD2}"/>
              </a:ext>
            </a:extLst>
          </p:cNvPr>
          <p:cNvSpPr/>
          <p:nvPr/>
        </p:nvSpPr>
        <p:spPr>
          <a:xfrm>
            <a:off x="640080" y="391363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정보 없이 가격 자체의 관성만 이용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5E121E9-119B-C959-BF1E-C57F0B0D7352}"/>
              </a:ext>
            </a:extLst>
          </p:cNvPr>
          <p:cNvSpPr/>
          <p:nvPr/>
        </p:nvSpPr>
        <p:spPr>
          <a:xfrm>
            <a:off x="4754880" y="2542032"/>
            <a:ext cx="3781044" cy="1792877"/>
          </a:xfrm>
          <a:prstGeom prst="rect">
            <a:avLst/>
          </a:prstGeom>
          <a:solidFill>
            <a:srgbClr val="1A1A1A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34E8505-8589-3186-B4EF-90E0DF4BEA2E}"/>
              </a:ext>
            </a:extLst>
          </p:cNvPr>
          <p:cNvSpPr/>
          <p:nvPr/>
        </p:nvSpPr>
        <p:spPr>
          <a:xfrm>
            <a:off x="4892040" y="263347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가격 + 미디어로 예측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DE152BD-87F4-4AC6-1B1D-E7D403F0A138}"/>
              </a:ext>
            </a:extLst>
          </p:cNvPr>
          <p:cNvSpPr/>
          <p:nvPr/>
        </p:nvSpPr>
        <p:spPr>
          <a:xfrm>
            <a:off x="4892040" y="296265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(비교 모델)</a:t>
            </a:r>
            <a:endParaRPr lang="en-US" sz="13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2C6EC25-29BF-752B-CDA8-B56CE1D2A4CF}"/>
              </a:ext>
            </a:extLst>
          </p:cNvPr>
          <p:cNvSpPr/>
          <p:nvPr/>
        </p:nvSpPr>
        <p:spPr>
          <a:xfrm>
            <a:off x="4892040" y="3182112"/>
            <a:ext cx="347472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1415DB-C5D5-6D79-0A58-DD5E7808D3B6}"/>
              </a:ext>
            </a:extLst>
          </p:cNvPr>
          <p:cNvSpPr/>
          <p:nvPr/>
        </p:nvSpPr>
        <p:spPr>
          <a:xfrm>
            <a:off x="4892040" y="322783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가격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지난달 가격 + 지난달 </a:t>
            </a:r>
            <a:r>
              <a:rPr lang="en-US" sz="1300" dirty="0" err="1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신호로</a:t>
            </a: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예측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2F1B88-A8FB-D0B4-C483-59DB4150236D}"/>
              </a:ext>
            </a:extLst>
          </p:cNvPr>
          <p:cNvSpPr/>
          <p:nvPr/>
        </p:nvSpPr>
        <p:spPr>
          <a:xfrm>
            <a:off x="4846320" y="3880975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정보를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향상 확인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DB0EA3B-0D57-CD56-7EE0-53649DD51D97}"/>
              </a:ext>
            </a:extLst>
          </p:cNvPr>
          <p:cNvSpPr/>
          <p:nvPr/>
        </p:nvSpPr>
        <p:spPr>
          <a:xfrm>
            <a:off x="4014216" y="3136392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346597C-8804-AFF1-F6CE-16603B9B9901}"/>
              </a:ext>
            </a:extLst>
          </p:cNvPr>
          <p:cNvSpPr/>
          <p:nvPr/>
        </p:nvSpPr>
        <p:spPr>
          <a:xfrm>
            <a:off x="4014216" y="3383280"/>
            <a:ext cx="6583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endParaRPr lang="en-US" sz="13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4773C70-5A88-68ED-5390-1F1EAAF3D410}"/>
              </a:ext>
            </a:extLst>
          </p:cNvPr>
          <p:cNvSpPr/>
          <p:nvPr/>
        </p:nvSpPr>
        <p:spPr>
          <a:xfrm>
            <a:off x="534924" y="4535424"/>
            <a:ext cx="813816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B6A26AE-B7F5-8B21-9610-F0C12601CA94}"/>
              </a:ext>
            </a:extLst>
          </p:cNvPr>
          <p:cNvSpPr/>
          <p:nvPr/>
        </p:nvSpPr>
        <p:spPr>
          <a:xfrm>
            <a:off x="672084" y="4558447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모델이 A보다 예측 오차가 통계적으로 유의미하게 </a:t>
            </a:r>
            <a:r>
              <a:rPr lang="en-US" sz="13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작으면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&lt; 0.05) →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미디어 채널이 가격에 선행한다</a:t>
            </a:r>
            <a:endParaRPr lang="en-US" sz="130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7F5C3376-A986-75AA-A7EC-81FB63B11746}"/>
              </a:ext>
            </a:extLst>
          </p:cNvPr>
          <p:cNvSpPr/>
          <p:nvPr/>
        </p:nvSpPr>
        <p:spPr>
          <a:xfrm>
            <a:off x="4617720" y="1030986"/>
            <a:ext cx="4123944" cy="1094994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1958859C-F0F8-42AE-BC26-C5612CCF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966" y="1119209"/>
            <a:ext cx="412394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왜 </a:t>
            </a:r>
            <a:r>
              <a:rPr kumimoji="0" lang="ko-KR" altLang="ko-KR" sz="12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검정</a:t>
            </a:r>
            <a:r>
              <a:rPr kumimoji="0" lang="ko-KR" altLang="en-US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인가</a:t>
            </a:r>
            <a:r>
              <a:rPr kumimoji="0" lang="ko-KR" altLang="ko-KR" sz="12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  <a:endParaRPr kumimoji="0" lang="ko-KR" altLang="ko-KR" sz="12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미디어-가격 관계를 분석</a:t>
            </a:r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시</a:t>
            </a:r>
            <a:r>
              <a:rPr kumimoji="0" lang="en-US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회귀분석</a:t>
            </a:r>
            <a:r>
              <a:rPr kumimoji="0" lang="en-US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과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검정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lang="ko-KR" altLang="en-US" sz="1100" dirty="0">
                <a:latin typeface="Arial" panose="020B0604020202020204" pitchFamily="34" charset="0"/>
              </a:rPr>
              <a:t>사용</a:t>
            </a:r>
            <a:endParaRPr lang="en-US" altLang="ko-KR" sz="1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연구 질문이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'미디어가 가격에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선행하는가</a:t>
            </a:r>
            <a:r>
              <a:rPr kumimoji="0" lang="ko-KR" altLang="ko-KR" sz="1100" b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'이기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때문에, </a:t>
            </a:r>
            <a:endParaRPr kumimoji="0" lang="en-US" altLang="ko-KR" sz="1100" b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방향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과 </a:t>
            </a:r>
            <a:r>
              <a:rPr kumimoji="0" lang="ko-KR" altLang="ko-KR" sz="1100" b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시차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를 동시에 볼 수 있는 </a:t>
            </a:r>
            <a:r>
              <a:rPr kumimoji="0" lang="ko-KR" altLang="ko-KR" sz="1100" b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Granger</a:t>
            </a:r>
            <a:r>
              <a:rPr kumimoji="0" lang="ko-KR" altLang="ko-KR" sz="1100" b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100" b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선택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281B9B33-47F5-80EA-BE91-44A577188F0B}"/>
              </a:ext>
            </a:extLst>
          </p:cNvPr>
          <p:cNvSpPr/>
          <p:nvPr/>
        </p:nvSpPr>
        <p:spPr>
          <a:xfrm>
            <a:off x="4396506" y="1449099"/>
            <a:ext cx="317461" cy="23568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219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이유 및 평가 지표</a:t>
            </a:r>
            <a:endParaRPr lang="en-US" altLang="ko-KR" sz="30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검정 결과를 실제 예측 성능으로 검증하는 모델</a:t>
            </a:r>
            <a:endParaRPr lang="en-US" sz="1300" i="1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22960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813816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64008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여러 개의 약한 결정 트리를 순차적으로 쌓아 예측 오차를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줄여나가는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머신러닝 모델</a:t>
            </a:r>
            <a:endParaRPr lang="en-US" sz="1500" b="1" dirty="0"/>
          </a:p>
        </p:txBody>
      </p:sp>
      <p:sp>
        <p:nvSpPr>
          <p:cNvPr id="9" name="Text 7"/>
          <p:cNvSpPr/>
          <p:nvPr/>
        </p:nvSpPr>
        <p:spPr>
          <a:xfrm>
            <a:off x="502920" y="1726256"/>
            <a:ext cx="3436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이유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000575"/>
            <a:ext cx="4005072" cy="45719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39496" y="2110793"/>
            <a:ext cx="3968496" cy="13258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1122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66825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데이터에 강함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705752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딥러닝(LSTM·Transformer)은 수만 행 이상 필요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본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연구는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~1,080행 — XGBoost가 과적합 위험 낮음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(Akyildirim et al. 2021 — 금융·자산 가격 예측에서 선형 모델 대비 우수)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1059" y="3559300"/>
            <a:ext cx="3968496" cy="132588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07259" y="35772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8219" y="380961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중요도 해석 가능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7259" y="4097487"/>
            <a:ext cx="4005071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SHAP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분석으로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‘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어떤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채널이 예측에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얼마나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기여했는지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’  수치로 확인 가능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Granger 검정 결과와 교차 검증하는 핵심 도구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27448" y="3531216"/>
            <a:ext cx="4005072" cy="1325880"/>
          </a:xfrm>
          <a:prstGeom prst="rect">
            <a:avLst/>
          </a:prstGeom>
          <a:solidFill>
            <a:schemeClr val="tx1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78324" y="370936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b="1" dirty="0">
                <a:solidFill>
                  <a:schemeClr val="bg1"/>
                </a:solidFill>
              </a:rPr>
              <a:t>DM(Diebold-Mariano) </a:t>
            </a:r>
            <a:r>
              <a:rPr lang="ko-KR" altLang="en-US" sz="1500" b="1" dirty="0">
                <a:solidFill>
                  <a:schemeClr val="bg1"/>
                </a:solidFill>
              </a:rPr>
              <a:t>검정 </a:t>
            </a:r>
            <a:endParaRPr lang="ko-KR" sz="1500" b="1" dirty="0">
              <a:solidFill>
                <a:schemeClr val="bg1"/>
              </a:solidFill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0A54E2D6-E2E7-9EAA-8BF3-DE4CA701F387}"/>
              </a:ext>
            </a:extLst>
          </p:cNvPr>
          <p:cNvSpPr/>
          <p:nvPr/>
        </p:nvSpPr>
        <p:spPr>
          <a:xfrm>
            <a:off x="4727448" y="1720923"/>
            <a:ext cx="34363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평가 지표</a:t>
            </a:r>
            <a:endParaRPr lang="en-US" sz="15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0F705C7E-F5D6-D0AE-A12D-EEFCC27369C4}"/>
              </a:ext>
            </a:extLst>
          </p:cNvPr>
          <p:cNvSpPr/>
          <p:nvPr/>
        </p:nvSpPr>
        <p:spPr>
          <a:xfrm>
            <a:off x="4727448" y="1995242"/>
            <a:ext cx="4005072" cy="4571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17"/>
          <p:cNvSpPr/>
          <p:nvPr/>
        </p:nvSpPr>
        <p:spPr>
          <a:xfrm>
            <a:off x="4727448" y="2114876"/>
            <a:ext cx="4005072" cy="1325880"/>
          </a:xfrm>
          <a:prstGeom prst="rect">
            <a:avLst/>
          </a:prstGeom>
          <a:solidFill>
            <a:schemeClr val="tx1"/>
          </a:solidFill>
          <a:ln w="6350">
            <a:solidFill>
              <a:srgbClr val="E5E5E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1" name="Text 18"/>
          <p:cNvSpPr/>
          <p:nvPr/>
        </p:nvSpPr>
        <p:spPr>
          <a:xfrm>
            <a:off x="4864608" y="22063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19"/>
          <p:cNvSpPr/>
          <p:nvPr/>
        </p:nvSpPr>
        <p:spPr>
          <a:xfrm>
            <a:off x="4846320" y="2269561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500" b="1" dirty="0">
                <a:solidFill>
                  <a:schemeClr val="bg1"/>
                </a:solidFill>
              </a:rPr>
              <a:t>AUC  </a:t>
            </a:r>
            <a:r>
              <a:rPr lang="ko-KR" altLang="en-US" sz="1500" b="1" dirty="0">
                <a:solidFill>
                  <a:schemeClr val="bg1"/>
                </a:solidFill>
              </a:rPr>
              <a:t>예측 정확도 점수</a:t>
            </a:r>
            <a:endParaRPr lang="en-US" altLang="ko-KR" sz="1500" b="1" dirty="0">
              <a:solidFill>
                <a:schemeClr val="bg1"/>
              </a:solidFill>
            </a:endParaRPr>
          </a:p>
          <a:p>
            <a:r>
              <a:rPr lang="en-US" altLang="ko-KR" sz="1100" b="1" dirty="0">
                <a:solidFill>
                  <a:schemeClr val="bg1"/>
                </a:solidFill>
              </a:rPr>
              <a:t>0.5 </a:t>
            </a:r>
            <a:r>
              <a:rPr lang="ko-KR" altLang="en-US" sz="1100" b="1" dirty="0">
                <a:solidFill>
                  <a:schemeClr val="bg1"/>
                </a:solidFill>
              </a:rPr>
              <a:t>기준으로 모델의 정확도 확인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33" name="Text 20"/>
          <p:cNvSpPr/>
          <p:nvPr/>
        </p:nvSpPr>
        <p:spPr>
          <a:xfrm>
            <a:off x="4846320" y="2700092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200" dirty="0">
                <a:solidFill>
                  <a:schemeClr val="bg1"/>
                </a:solidFill>
              </a:rPr>
              <a:t>모든 채널을 넣은 모델</a:t>
            </a:r>
            <a:r>
              <a:rPr lang="en-US" altLang="ko-KR" sz="1200" dirty="0">
                <a:solidFill>
                  <a:schemeClr val="bg1"/>
                </a:solidFill>
              </a:rPr>
              <a:t>(Model A)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vs Granger </a:t>
            </a:r>
            <a:r>
              <a:rPr lang="ko-KR" altLang="en-US" sz="1200" dirty="0">
                <a:solidFill>
                  <a:schemeClr val="bg1"/>
                </a:solidFill>
              </a:rPr>
              <a:t>유의 채널만 넣은 모델</a:t>
            </a:r>
            <a:r>
              <a:rPr lang="en-US" altLang="ko-KR" sz="1200" dirty="0">
                <a:solidFill>
                  <a:schemeClr val="bg1"/>
                </a:solidFill>
              </a:rPr>
              <a:t>(Model B)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=&gt; </a:t>
            </a:r>
            <a:r>
              <a:rPr lang="ko-KR" altLang="en-US" sz="1200" dirty="0">
                <a:solidFill>
                  <a:schemeClr val="bg1"/>
                </a:solidFill>
              </a:rPr>
              <a:t>지표 선별이 예측력을 얼마나 향상시켰는지 확인</a:t>
            </a: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6851E91C-1EEA-F555-6736-55CBBA0CCCAD}"/>
              </a:ext>
            </a:extLst>
          </p:cNvPr>
          <p:cNvSpPr/>
          <p:nvPr/>
        </p:nvSpPr>
        <p:spPr>
          <a:xfrm>
            <a:off x="4878323" y="4143863"/>
            <a:ext cx="3730915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200" dirty="0">
                <a:solidFill>
                  <a:schemeClr val="bg1"/>
                </a:solidFill>
              </a:rPr>
              <a:t>어떤 모델이 통계적으로 더 정확한가</a:t>
            </a:r>
            <a:r>
              <a:rPr lang="en-US" altLang="ko-KR" sz="1200" dirty="0">
                <a:solidFill>
                  <a:schemeClr val="bg1"/>
                </a:solidFill>
              </a:rPr>
              <a:t>? </a:t>
            </a:r>
            <a:r>
              <a:rPr lang="ko-KR" altLang="en-US" sz="1200" dirty="0">
                <a:solidFill>
                  <a:schemeClr val="bg1"/>
                </a:solidFill>
              </a:rPr>
              <a:t>판별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=&gt; Granger </a:t>
            </a:r>
            <a:r>
              <a:rPr lang="ko-KR" altLang="en-US" sz="1200" dirty="0">
                <a:solidFill>
                  <a:schemeClr val="bg1"/>
                </a:solidFill>
              </a:rPr>
              <a:t>검정으로 채널을 선별하는 것이 실제 예측 성능을 </a:t>
            </a:r>
            <a:r>
              <a:rPr lang="ko-KR" altLang="en-US" sz="1200" b="1" dirty="0">
                <a:solidFill>
                  <a:schemeClr val="bg1"/>
                </a:solidFill>
              </a:rPr>
              <a:t>통계적으로 유의미하게 향상 </a:t>
            </a:r>
            <a:r>
              <a:rPr lang="ko-KR" altLang="en-US" sz="1200" dirty="0">
                <a:solidFill>
                  <a:schemeClr val="bg1"/>
                </a:solidFill>
              </a:rPr>
              <a:t>시켰는지 검증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추가 분석 방법 — 견고성 검정 &amp; Jaccard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단독 Granger의 약점 보완 + 채널 구성 차이의 정량화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8138160" cy="56692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54864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060704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왜 추가 검정?  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단독 Granger는 ①자산 평균 ②단일 채널 ③15회 반복 → 평균 아티팩트·다중공선성·다중검정 문제. 두 보완 도구를 추가.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3977639" cy="30175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755648"/>
            <a:ext cx="3977639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755648"/>
            <a:ext cx="397763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견고성 삼각검증 (Triangulation)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286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① 단독 Granger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603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자산 평균 시계열에 채널 1개씩 투입 (주 분석, 15회)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1272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② DH 패널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40156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아이템 5개 횡단면 → 평균이 만든 거짓신호 적발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96849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③ VAR 블록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242816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5채널 동시 투입 → 다중공선성 통제 후 순효과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755648"/>
            <a:ext cx="3977639" cy="30175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1755648"/>
            <a:ext cx="3977639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1755648"/>
            <a:ext cx="397763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Jaccard 유사도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286000"/>
            <a:ext cx="36576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정의  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J = |A ∩ B| / |A ∪ B|  ∈ [0, 1]</a:t>
            </a:r>
          </a:p>
          <a:p>
            <a:pPr algn="l">
              <a:spcBef>
                <a:spcPts val="600"/>
              </a:spcBef>
            </a:pPr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무엇을  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두 자산의 ‘유의 채널 집합’이 얼마나 겹치는지</a:t>
            </a:r>
          </a:p>
          <a:p>
            <a:pPr algn="l">
              <a:spcBef>
                <a:spcPts val="600"/>
              </a:spcBef>
            </a:pPr>
            <a:r>
              <a:rPr sz="12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왜 쓰나  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자산별 선행 채널 구성이 다른지(RQ2/H2)를 한 숫자로 정량화</a:t>
            </a:r>
          </a:p>
          <a:p>
            <a:pPr algn="l">
              <a:spcBef>
                <a:spcPts val="800"/>
              </a:spcBef>
            </a:pPr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판정  </a:t>
            </a:r>
            <a:r>
              <a:rPr sz="11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&lt;0.3 다름 · 0.3~0.6 부분 · &gt;0.6 유사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실험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33172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정량평가 (RQ1–RQ3) · 정성평가 (SHAP · IRF · 한계)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정량평가 ① — RQ1 Granger 인과검정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15회 중 유의 4 · 경계 1 · 비유의 10 (raw p, 래그 BIC 선택)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gran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3914754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224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1. 자산×채널 15쌍의 Granger F-통계량 (초록 유의 · 노랑 경계 · 회색 비유의)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32588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95544" y="1435607"/>
            <a:ext cx="2926080" cy="29077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스니커즈는 뉴스 감성(F=13.38)·조회수·검색이, 카드는 검색량(F=8.42)이 가격을 앞서 움직였다.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레고에서는 검색이 경계 수준일 뿐, 뚜렷한 선행 채널이 관찰되지 않았다.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선행 채널의 구성이 자산 유형마다 다르게 나타난다.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결과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정량평가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② —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견고성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삼각검증</a:t>
            </a:r>
            <a:endParaRPr sz="2600" b="1" dirty="0">
              <a:solidFill>
                <a:srgbClr val="1A1A1A"/>
              </a:solidFill>
              <a:latin typeface="Calibri"/>
              <a:ea typeface="Malgun Gothic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단독·DH·VAR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세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검정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+ BH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보정을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모두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통과하는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채널만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신뢰</a:t>
            </a:r>
            <a:endParaRPr sz="1250" dirty="0">
              <a:solidFill>
                <a:srgbClr val="AAAAAA"/>
              </a:solidFill>
              <a:latin typeface="Calibri"/>
              <a:ea typeface="Malgun Gothic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triangu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512155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1148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2. 단독·DH·VAR·BH 네 검정의 채널별 유의성 (초록 통과 · 회색 탈락)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98448"/>
            <a:ext cx="26060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72783" y="1408176"/>
            <a:ext cx="2148840" cy="2953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카드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검색량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(CH1)은 네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검정을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모두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통과한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유일한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채널이다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단독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검정에서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가장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강했던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스니커즈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뉴스감성은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아이템별로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나누면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사라진다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(5개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모두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F&lt;0.5).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카드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검색량만이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평균화에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흔들리지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않는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진짜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선행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신호다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정량평가 ③ — RQ2 채널 구성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자산별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유의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채널이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다른가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? +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선행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신호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시각</a:t>
            </a:r>
            <a:r>
              <a:rPr sz="1250" dirty="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dirty="0" err="1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확인</a:t>
            </a:r>
            <a:endParaRPr sz="1250" dirty="0">
              <a:solidFill>
                <a:srgbClr val="AAAAAA"/>
              </a:solidFill>
              <a:latin typeface="Calibri"/>
              <a:ea typeface="Malgun Gothic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jac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5568"/>
            <a:ext cx="4337743" cy="2148840"/>
          </a:xfrm>
          <a:prstGeom prst="rect">
            <a:avLst/>
          </a:prstGeom>
        </p:spPr>
      </p:pic>
      <p:pic>
        <p:nvPicPr>
          <p:cNvPr id="7" name="Picture 6" descr="fig_lead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15568"/>
            <a:ext cx="3491006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2918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3. 자산별 유의 채널 집합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918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4. 카드: 검색량(초록)과 가격(검정), 정규화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8138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3749039"/>
            <a:ext cx="768096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유의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채널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집합은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스니커즈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{CH1,CH3,CH4},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카드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{CH1},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레고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{∅}로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나타났다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자산쌍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Jaccard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유사도는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모두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0.6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미만이다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(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스니커즈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–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카드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0.33, 그 외 0).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자산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유형에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따라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선행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채널의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구성이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뚜렷이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갈린다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(H2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지지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정량평가 ④ — RQ3 예측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Model A(전채널) vs Model B(Granger 선별) — H3 부분 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3510864" cy="2468880"/>
          </a:xfrm>
          <a:prstGeom prst="rect">
            <a:avLst/>
          </a:prstGeom>
        </p:spPr>
      </p:pic>
      <p:pic>
        <p:nvPicPr>
          <p:cNvPr id="7" name="Picture 6" descr="fig_d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60704"/>
            <a:ext cx="3020847" cy="2505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6118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5. 자산별 예측 오차(RMSE): Model A vs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118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6. 아이템별 Diebold–Mariano 통계량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5344"/>
            <a:ext cx="81381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4005072"/>
            <a:ext cx="76809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15개 아이템 중 11개에서 두 모형의 예측 오차에 유의한 차이가 없었다.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스니커즈·레고에서는 전채널 모형(A)이 오히려 약간 우세했다.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선별 모형이 더 낫다기보다, 큰 손해 없이 채널 수를 줄일 수 있다는 의미다 (H3 부분 지지).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결과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정성평가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① — SHAP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해석</a:t>
            </a:r>
            <a:endParaRPr sz="2600" b="1" dirty="0">
              <a:solidFill>
                <a:srgbClr val="1A1A1A"/>
              </a:solidFill>
              <a:latin typeface="Calibri"/>
              <a:ea typeface="Malgun Gothic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인과성(Granger) ≠ 예측 기여(SHAP) — 체계적 불일치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24128"/>
            <a:ext cx="6949440" cy="29315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9229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7. 채널별 평균 |SHAP| 기여도(좌)와 가격 모멘텀의 압도적 비중(우)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66614"/>
            <a:ext cx="8138160" cy="50655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4376342"/>
            <a:ext cx="7680960" cy="3053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Granger에서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가장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강했던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뉴스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감성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(CH3)이 SHAP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기여도에서는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최하위로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나타났다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가격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모멘텀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(price_vs_ma3)이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예측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분산의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대부분을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흡수하기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0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때문이다</a:t>
            </a:r>
            <a:r>
              <a:rPr sz="1200" b="0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통계적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인과성과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예측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기여도는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다른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개념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— 두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지표를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함께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볼 때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채널의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역할이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온전히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00" b="1" dirty="0" err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드러난다</a:t>
            </a:r>
            <a:r>
              <a:rPr sz="1200" b="1" dirty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결과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·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정성평가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② —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충격반응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260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분석</a:t>
            </a:r>
            <a:r>
              <a:rPr sz="260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(IRF)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두 BH-견고 채널의 동학: 부호·시차·감쇄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i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24128"/>
            <a:ext cx="6949440" cy="2849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09929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8. 채널 충격에 대한 가격의 반응 함수 (음영 = 95% 신뢰구간)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84249"/>
            <a:ext cx="8138160" cy="5889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4293977"/>
            <a:ext cx="7680960" cy="387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두 채널 모두 충격 후 1~2개월에 반응이 정점에 이른 뒤 4개월 안에 사라진다.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부호는 정반대다 — 카드 검색은 가격을 끌어올리고(+), 스니커즈 뉴스 감성은 끌어내린다(−).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같은 ‘선행’이라도 작동 방향이 자산마다 다르다.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정성평가 ③ — 경제학적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‘정보 비대칭 강도 × 공급 탄력성’ 2×2 프레임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_2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4215717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2793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9. 정보 비대칭 × 공급 탄력성 좌표 위의 세 자산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1371600"/>
            <a:ext cx="3383280" cy="9326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57800" y="1371600"/>
            <a:ext cx="45720" cy="9326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144475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스니커즈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8249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정보 비대칭이 높아 뉴스 감성(CH3)이 우세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975104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출시·셀럽·가품 정보가 많아 보도의 방향이 가격을 움직인다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2340864"/>
            <a:ext cx="3383280" cy="9326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57800" y="2340864"/>
            <a:ext cx="45720" cy="9326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241401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트레이딩 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651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정보 비대칭이 낮아 검색량(CH1)이 우세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4436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PSA 등급제로 품질이 표준화돼 가격이 수요(검색)에 직접 반응한다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3310128"/>
            <a:ext cx="3383280" cy="93268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57800" y="3310128"/>
            <a:ext cx="45720" cy="93268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4960" y="33832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레고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62102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공급이 극히 비탄력적이라 미디어가 매개되지 않음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91363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단종 이후엔 잔존 재고와 거래 빈도가 가격을 지배한다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실험 결과 · 정성평가 ④ — 한계와 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다수 채널이 비유의였고 H1·H3가 부분 지지에 그친 데에는 구조적 이유가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78992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1704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소표본과 다중검정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444752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신뢰할 수 있는 월별 체결가가 2022년부터 확보되고 레고 단종 세트는 그 이전 데이터가 없어, 패널이 48개월로 제한된다. 표본이 작고 채널을 반복 검정하므로 결과는 탐색적으로 해석한다.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78992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078992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1" y="11704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평균화의</a:t>
            </a:r>
            <a:r>
              <a:rPr sz="1250" b="1" dirty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250" b="1" dirty="0" err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부작용</a:t>
            </a:r>
            <a:endParaRPr sz="1250" b="1" dirty="0">
              <a:solidFill>
                <a:srgbClr val="1A1A1A"/>
              </a:solidFill>
              <a:latin typeface="Calibri"/>
              <a:ea typeface="Malgun Gothic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28031" y="1444752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자산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대표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시계열은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아이템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5개를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평균해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만들기에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개별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잡음이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줄지만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, 그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과정에서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거짓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공통신호가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증폭될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수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있다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 DH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검정으로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이를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가려냈다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04288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304288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3957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분석 단위의 불일치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670048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Granger는 자산 단위 비교를, XGBoost는 아이템 단위 예측을 목적으로 한다. 단위가 달라 자산 선별 채널을 모든 아이템에 적용할 때 정보 손실이 생긴다.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304288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2304288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8031" y="23957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가격 모멘텀의 우위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2670048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리셀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가격의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자기상관이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강해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가격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라그가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예측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분산을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먼저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차지한다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 그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결과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SHAP에서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채널의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한계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기여가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작게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측정된다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29584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529584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36210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감성 채널의 대리변수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3895344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계획했던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NewsAPI는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무료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플랜의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역사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데이터가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30일로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제한돼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4년치를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모을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수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없었다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대신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GDELT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논조를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사용했고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,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도메인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특화도가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낮은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점은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한계로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남는다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529584"/>
            <a:ext cx="3977639" cy="1133856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3529584"/>
            <a:ext cx="45720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1" y="36210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직접 비교 기준의 부재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1" y="3895344"/>
            <a:ext cx="3703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리셀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다자산·다채널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선행성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비교는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사실상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첫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시도여서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동일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정의·기간의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기준선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연구가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없다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효과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크기의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상대적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위치를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가늠하기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98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어렵다</a:t>
            </a:r>
            <a:r>
              <a:rPr sz="98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이러한 한계를 투명하게 밝히고, BH 보정·DH·VAR로 결과를 스스로 검증해 탐색적 발견으로 한정했다.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4592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33172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종합 결론 · 시사점 · 향후 연구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결론 — 가설 판정과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48개월 패널 · 3자산 × 5채널 · Granger + 견고성 3종 + 머신러닝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8138160" cy="8412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864" cy="8412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097280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RQ1 / 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097280"/>
            <a:ext cx="1280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부분 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097280"/>
            <a:ext cx="5120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15회 중 유의 4·경계 1. BH·DH·VAR 후 일관 생존은 카드 CH1 1개. 확증보다 ‘검증할 가설’.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8138160" cy="8412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54864" cy="8412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0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RQ2 / 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11680"/>
            <a:ext cx="1280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지지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11680"/>
            <a:ext cx="5120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Jaccard 모두 &lt;0.6 (sn–cards=0.333, 그외 0). 자산 유형별 선행 채널 구성이 대체로 상이.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8138160" cy="841248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926080"/>
            <a:ext cx="54864" cy="8412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926080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RQ3 / 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926080"/>
            <a:ext cx="1280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부분 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926080"/>
            <a:ext cx="5120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8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73% 아이템서 A·B 예측 동등. ‘B가 우수’는 아니나 큰 손해 없이 채널 축소 가능.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86200"/>
            <a:ext cx="8138160" cy="8412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886200"/>
            <a:ext cx="78181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핵심 발견  </a:t>
            </a:r>
            <a:r>
              <a:rPr sz="125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‘카드의 검색량(CH1)’이 단독·DH·VAR·BH 모든 검정을 통과한 </a:t>
            </a:r>
            <a:r>
              <a:rPr sz="125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유일한 견고한 자산-공통 선행 채널</a:t>
            </a:r>
            <a:r>
              <a:rPr sz="125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. 미디어 선행성은 자산 유형별로 분화된다.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5039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시사점 &amp; 향후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탐색적 발견의 실무적 함의와 확증 연구로의 발전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0976"/>
            <a:ext cx="822960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607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실무 시사점 — 3개 집단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70048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670048" cy="42062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267004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투자자·수집가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65376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검색 관심도(CH1)를 1~2개월 선행 보조지표로 모니터링. 기계적 매매신호가 아닌 수급 정보와 함께 종합 판단.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70048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70048" cy="42062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267004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플랫폼 운영자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865376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자산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유형별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맞춤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피처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권장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 Granger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선별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채널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중심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구성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시 73%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아이템서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예측력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유지하며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비용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절감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371600"/>
            <a:ext cx="2670048" cy="17373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89320" y="1371600"/>
            <a:ext cx="2670048" cy="42062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1371600"/>
            <a:ext cx="267004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학술 연구자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1865376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‘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공개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무료데이터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→ Granger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선별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→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XGBoost+SHAP+DM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’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파이프라인은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명품·시계·예술품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등으로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확장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가능한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sz="1130" dirty="0" err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재현</a:t>
            </a:r>
            <a:r>
              <a:rPr sz="1130" dirty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 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향후 연구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02736"/>
            <a:ext cx="8138160" cy="12801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94176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① 더 긴 패널(5년+)·아이템 확대로 N·T 양 차원 검정력 강화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② CH3를 도메인 특화 FinBERT로 대체해 감성 신호 품질 개선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③ DH 잔차 부트스트랩 · ④ DM 한계 보완을 위한 SPA / MCS 다중모형 비교 절차 적용</a:t>
            </a:r>
          </a:p>
          <a:p>
            <a:pPr algn="l"/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⑤ 사전 등록(pre-registration) 설계를 통한 확증(confirmatory) 연구로 발전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ko-KR"/>
          </a:p>
        </p:txBody>
      </p:sp>
      <p:sp>
        <p:nvSpPr>
          <p:cNvPr id="3" name="Title"/>
          <p:cNvSpPr/>
          <p:nvPr/>
        </p:nvSpPr>
        <p:spPr>
          <a:xfrm>
            <a:off x="502920" y="164592"/>
            <a:ext cx="77724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3000" b="1" dirty="0">
                <a:solidFill>
                  <a:srgbClr val="1A1A1A"/>
                </a:solidFill>
                <a:latin typeface="Calibri"/>
                <a:ea typeface="Calibri"/>
              </a:rPr>
              <a:t>참고 문헌 (References)</a:t>
            </a:r>
          </a:p>
        </p:txBody>
      </p:sp>
      <p:sp>
        <p:nvSpPr>
          <p:cNvPr id="4" name="Div"/>
          <p:cNvSpPr/>
          <p:nvPr/>
        </p:nvSpPr>
        <p:spPr>
          <a:xfrm>
            <a:off x="502920" y="633716"/>
            <a:ext cx="8229600" cy="13716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5" name="LeftRefs"/>
          <p:cNvSpPr/>
          <p:nvPr/>
        </p:nvSpPr>
        <p:spPr>
          <a:xfrm>
            <a:off x="489204" y="2116019"/>
            <a:ext cx="4050000" cy="2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미디어 감성 &amp; 가격 선행성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Bollen, J., Mao, H., &amp; Zeng, X. (2011). Twitter mood predicts the stock market. Journal of Computational Science, 2(1), 1-8.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Da, Z., Engelberg, J., &amp; Gao, P. (2011). In search of attention. Journal of Finance, 66(5), 1461-1499.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Jang, J. &amp; Jun, S. (2025). YouTube view count, investor attention and stock returns. International Review of Financial Analysis, 97.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Mao, H., Counts, S., &amp; Bollen, J. (2011). Predicting financial markets: Comparing survey, news, Twitter and search engine data. arXiv:1112.1051.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Huang, A. H., Wang, H., &amp; Yang, Y. (2023). FinBERT: A large language model for extracting information from financial text. Contemporary Accounting Research, 40(2), 806-841.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Huang, M. Y., Rojas, R. R., &amp; Convery, P. D. (2019). Forecasting stock market movements using Google Trend searches. Empirical Economics, 59(6), 2821-2839.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Raza, S. A., et al. (2022). Google Trends and cryptocurrencies. Research in International Business and Finance.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Granger, C. W. J. (1969). Investigating causal relations by econometric models and cross-spectral methods. Econometrica, 37(3), 424-438.</a:t>
            </a:r>
          </a:p>
        </p:txBody>
      </p:sp>
      <p:sp>
        <p:nvSpPr>
          <p:cNvPr id="6" name="RightRefs"/>
          <p:cNvSpPr/>
          <p:nvPr/>
        </p:nvSpPr>
        <p:spPr>
          <a:xfrm>
            <a:off x="4761636" y="1872179"/>
            <a:ext cx="41000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리셀 자산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Treiber, M. C., &amp; Ma, K. (2020). Hedonic Pricing in the Sneaker Resale Market. Duke Journal of Economics. [Working Paper]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Dobrynskaya, V., &amp; Kishilova, J. (2022). LEGO — The toy of smart investors. Research in International Business and Finance, 59, 101539.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Ding, X. (2022). The Sneaker Value: A Disquisition Into Sneaker Resale Market. Theses - ALL, 626. Syracuse University.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머신러닝 &amp; 감성 분석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Akyildirim, E., et al. (2021). Prediction of cryptocurrency returns using machine learning. Annals of Operations Research, 297, 3-36.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Araci, D. (2019). FinBERT: Financial sentiment analysis with pre-trained language models. arXiv:1908.10063.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ko-KR" sz="900" b="1" dirty="0">
                <a:solidFill>
                  <a:srgbClr val="185FA5"/>
                </a:solidFill>
                <a:latin typeface="Calibri"/>
                <a:ea typeface="Calibri"/>
              </a:rPr>
              <a:t>시장 데이터</a:t>
            </a:r>
          </a:p>
          <a:p>
            <a:pPr marL="0" indent="0">
              <a:buNone/>
            </a:pPr>
            <a:endParaRPr lang="ko-KR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ThredUp (2026). 14th Annual Resale Report. GlobalData. thredup.com/resale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ko-KR" sz="700" dirty="0">
                <a:solidFill>
                  <a:srgbClr val="333333"/>
                </a:solidFill>
                <a:latin typeface="Calibri"/>
                <a:ea typeface="Calibri"/>
              </a:rPr>
              <a:t>리셀 시장의 현황과 소비자이슈 [한국소비자원 소비자정책동향 122호] (2022)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"/>
              </a:rPr>
              <a:t>Benjamini, Y., &amp; Hochberg, Y. (1995). Controlling the false discovery rate. Journal of the Royal Statistical Society: Series B, 57(1), 289-300.</a:t>
            </a:r>
          </a:p>
        </p:txBody>
      </p:sp>
      <p:sp>
        <p:nvSpPr>
          <p:cNvPr id="7" name="VDiv"/>
          <p:cNvSpPr/>
          <p:nvPr/>
        </p:nvSpPr>
        <p:spPr>
          <a:xfrm>
            <a:off x="4682920" y="670000"/>
            <a:ext cx="13716" cy="4100000"/>
          </a:xfrm>
          <a:prstGeom prst="rect">
            <a:avLst/>
          </a:prstGeom>
          <a:solidFill>
            <a:srgbClr val="E5E5E5"/>
          </a:solidFill>
        </p:spPr>
        <p:txBody>
          <a:bodyPr/>
          <a:lstStyle/>
          <a:p>
            <a:endParaRPr 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220B4-C24C-164E-1AF1-AA4C4AB93EB8}"/>
              </a:ext>
            </a:extLst>
          </p:cNvPr>
          <p:cNvSpPr txBox="1"/>
          <p:nvPr/>
        </p:nvSpPr>
        <p:spPr>
          <a:xfrm>
            <a:off x="513570" y="792400"/>
            <a:ext cx="4050000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solidFill>
                  <a:srgbClr val="185FA5"/>
                </a:solidFill>
              </a:rPr>
              <a:t>리셀</a:t>
            </a:r>
            <a:r>
              <a:rPr lang="ko-KR" altLang="en-US" sz="1000" b="1" dirty="0">
                <a:solidFill>
                  <a:srgbClr val="185FA5"/>
                </a:solidFill>
              </a:rPr>
              <a:t> 시장 배경 </a:t>
            </a:r>
            <a:r>
              <a:rPr lang="en-US" altLang="ko-KR" sz="1000" b="1" dirty="0">
                <a:solidFill>
                  <a:srgbClr val="185FA5"/>
                </a:solidFill>
              </a:rPr>
              <a:t>&amp; </a:t>
            </a:r>
            <a:r>
              <a:rPr lang="ko-KR" altLang="en-US" sz="1000" b="1" dirty="0">
                <a:solidFill>
                  <a:srgbClr val="185FA5"/>
                </a:solidFill>
              </a:rPr>
              <a:t>적용 이유</a:t>
            </a:r>
            <a:endParaRPr lang="en-US" altLang="ko-KR" sz="900" b="1" dirty="0">
              <a:solidFill>
                <a:srgbClr val="0070C0"/>
              </a:solidFill>
            </a:endParaRPr>
          </a:p>
          <a:p>
            <a:r>
              <a:rPr lang="ko-KR" altLang="en-US" sz="800" dirty="0" err="1"/>
              <a:t>리셀</a:t>
            </a:r>
            <a:r>
              <a:rPr lang="ko-KR" altLang="en-US" sz="800" dirty="0"/>
              <a:t> 시장의 현황과 소비자이슈 </a:t>
            </a:r>
            <a:r>
              <a:rPr lang="en-US" altLang="ko-KR" sz="800" dirty="0"/>
              <a:t>[</a:t>
            </a:r>
            <a:r>
              <a:rPr lang="ko-KR" altLang="en-US" sz="800" dirty="0"/>
              <a:t>한국소비자원 소비자정책동향 </a:t>
            </a:r>
            <a:r>
              <a:rPr lang="en-US" altLang="ko-KR" sz="800" dirty="0"/>
              <a:t>122</a:t>
            </a:r>
            <a:r>
              <a:rPr lang="ko-KR" altLang="en-US" sz="800" dirty="0"/>
              <a:t>호</a:t>
            </a:r>
            <a:r>
              <a:rPr lang="en-US" altLang="ko-KR" sz="800" dirty="0"/>
              <a:t>] (2022)</a:t>
            </a:r>
          </a:p>
          <a:p>
            <a:r>
              <a:rPr lang="en-US" altLang="ko-KR" sz="75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https://www.nytimes.com/athletic/1800120/2020/05/07/air-jordan-sales-soar-on-resale-sites-as-espn-airs-the-last-dance/</a:t>
            </a:r>
            <a:r>
              <a:rPr lang="en-US" altLang="ko-KR" sz="750" dirty="0"/>
              <a:t> </a:t>
            </a:r>
          </a:p>
          <a:p>
            <a:r>
              <a:rPr lang="en-US" altLang="ko-KR" sz="750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https://magazine.hankyung.com/business/article/</a:t>
            </a:r>
            <a:r>
              <a:rPr lang="en-US" altLang="ko-KR" sz="75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202602106584b</a:t>
            </a:r>
            <a:r>
              <a:rPr lang="en-US" altLang="ko-KR" sz="750" dirty="0"/>
              <a:t> </a:t>
            </a:r>
          </a:p>
          <a:p>
            <a:r>
              <a:rPr lang="en-US" altLang="ko-KR" sz="750" dirty="0">
                <a:hlinkClick r:id="rId5"/>
              </a:rPr>
              <a:t>https://biz.chosun.com/stock/finance/2022/01/30/LU2U6SU5DBDNXB4RIWSFNSJSH4/</a:t>
            </a:r>
            <a:r>
              <a:rPr lang="en-US" altLang="ko-KR" sz="750" dirty="0"/>
              <a:t> </a:t>
            </a:r>
          </a:p>
          <a:p>
            <a:r>
              <a:rPr lang="ko-KR" altLang="en-US" sz="750" dirty="0"/>
              <a:t>한국소비자원</a:t>
            </a:r>
            <a:r>
              <a:rPr lang="en-US" altLang="ko-KR" sz="750" dirty="0"/>
              <a:t>/</a:t>
            </a:r>
            <a:r>
              <a:rPr lang="ko-KR" altLang="en-US" sz="750" dirty="0"/>
              <a:t>재판매 플랫폼 이용 실태 조사 </a:t>
            </a:r>
            <a:endParaRPr lang="en-US" altLang="ko-KR" sz="750" dirty="0"/>
          </a:p>
          <a:p>
            <a:endParaRPr lang="en-US" altLang="ko-KR" sz="750" dirty="0"/>
          </a:p>
          <a:p>
            <a:endParaRPr lang="en-US" altLang="ko-KR" sz="750" dirty="0"/>
          </a:p>
          <a:p>
            <a:endParaRPr lang="ko-KR" alt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D0B4C-496C-1EEE-BCB6-281038C95750}"/>
              </a:ext>
            </a:extLst>
          </p:cNvPr>
          <p:cNvSpPr txBox="1"/>
          <p:nvPr/>
        </p:nvSpPr>
        <p:spPr>
          <a:xfrm>
            <a:off x="4798819" y="765650"/>
            <a:ext cx="402563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185FA5"/>
                </a:solidFill>
              </a:rPr>
              <a:t>기존 연구 </a:t>
            </a:r>
            <a:r>
              <a:rPr lang="en-US" altLang="ko-KR" sz="1000" b="1" dirty="0">
                <a:solidFill>
                  <a:srgbClr val="185FA5"/>
                </a:solidFill>
              </a:rPr>
              <a:t>&amp; </a:t>
            </a:r>
            <a:r>
              <a:rPr lang="ko-KR" altLang="en-US" sz="1000" b="1" dirty="0">
                <a:solidFill>
                  <a:srgbClr val="185FA5"/>
                </a:solidFill>
              </a:rPr>
              <a:t>제안 연구의 필요성 </a:t>
            </a:r>
            <a:endParaRPr lang="en-US" altLang="ko-KR" sz="1000" b="1" dirty="0">
              <a:solidFill>
                <a:srgbClr val="185FA5"/>
              </a:solidFill>
            </a:endParaRPr>
          </a:p>
          <a:p>
            <a:endParaRPr lang="en-US" altLang="ko-KR" sz="900" b="1" dirty="0">
              <a:solidFill>
                <a:srgbClr val="0070C0"/>
              </a:solidFill>
            </a:endParaRPr>
          </a:p>
          <a:p>
            <a:r>
              <a:rPr lang="en-US" altLang="ko-KR" sz="800" dirty="0">
                <a:hlinkClick r:id="rId6"/>
              </a:rPr>
              <a:t>https://stockx.com/about/stockxs-current-culture-index-highlights-2025s-biggest-winners-reveals-predictions-for-2026/</a:t>
            </a:r>
            <a:r>
              <a:rPr lang="en-US" altLang="ko-KR" sz="800" dirty="0"/>
              <a:t> </a:t>
            </a:r>
          </a:p>
          <a:p>
            <a:r>
              <a:rPr lang="en-US" altLang="ko-KR" sz="800" dirty="0" err="1"/>
              <a:t>ThredUp</a:t>
            </a:r>
            <a:r>
              <a:rPr lang="en-US" altLang="ko-KR" sz="800" dirty="0"/>
              <a:t>: 2026 Resale Report, 10,13p</a:t>
            </a:r>
          </a:p>
          <a:p>
            <a:r>
              <a:rPr lang="en-US" altLang="ko-KR" sz="800" dirty="0">
                <a:hlinkClick r:id="rId7"/>
              </a:rPr>
              <a:t>https://capitaloneshopping.com/research/thrifting-statistics/</a:t>
            </a:r>
            <a:endParaRPr lang="en-US" altLang="ko-KR" sz="800" dirty="0"/>
          </a:p>
          <a:p>
            <a:r>
              <a:rPr lang="en-US" altLang="ko-KR" sz="800" dirty="0" err="1"/>
              <a:t>Capitalone</a:t>
            </a:r>
            <a:r>
              <a:rPr lang="en-US" altLang="ko-KR" sz="800" dirty="0"/>
              <a:t> shopping</a:t>
            </a:r>
          </a:p>
          <a:p>
            <a:endParaRPr lang="en-US" altLang="ko-KR" sz="800" dirty="0"/>
          </a:p>
          <a:p>
            <a:endParaRPr lang="ko-KR" alt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200400" cy="137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리셀 시장 미디어 선행 지표 연구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스니커즈 · 트레이딩 카드 · 레고의 Granger 검정 기반 실증분석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3282</TotalTime>
  <Words>4465</Words>
  <Application>Microsoft Office PowerPoint</Application>
  <PresentationFormat>화면 슬라이드 쇼(16:9)</PresentationFormat>
  <Paragraphs>570</Paragraphs>
  <Slides>34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리셀 시장 미디어 선행 지표 연구</dc:title>
  <dc:subject>PptxGenJS Presentation</dc:subject>
  <dc:creator>PptxGenJS</dc:creator>
  <cp:lastModifiedBy>이승현(2022314025)</cp:lastModifiedBy>
  <cp:revision>65</cp:revision>
  <dcterms:created xsi:type="dcterms:W3CDTF">2026-04-09T08:16:19Z</dcterms:created>
  <dcterms:modified xsi:type="dcterms:W3CDTF">2026-06-06T16:32:08Z</dcterms:modified>
</cp:coreProperties>
</file>