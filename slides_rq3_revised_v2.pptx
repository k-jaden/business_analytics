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</a:rPr>
              <a:t>왜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채널을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골라도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예측력이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좋아지지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않을까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? —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비교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논문과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다른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이유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그랜저 검정으로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'무엇을 고르느냐'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에 따라 결과가 달라짐 — 본 연구 데이터로 직접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11640312" cy="877824"/>
          </a:xfrm>
          <a:prstGeom prst="roundRect">
            <a:avLst/>
          </a:prstGeom>
          <a:solidFill>
            <a:srgbClr val="FCF0E6"/>
          </a:solidFill>
          <a:ln w="190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969264"/>
            <a:ext cx="11338560" cy="78638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E87722"/>
                </a:solidFill>
                <a:latin typeface="맑은 고딕"/>
              </a:rPr>
              <a:t>비교</a:t>
            </a:r>
            <a:r>
              <a:rPr sz="120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E87722"/>
                </a:solidFill>
                <a:latin typeface="맑은 고딕"/>
              </a:rPr>
              <a:t>논문</a:t>
            </a:r>
            <a:r>
              <a:rPr sz="1200" b="1" dirty="0">
                <a:solidFill>
                  <a:srgbClr val="E87722"/>
                </a:solidFill>
                <a:latin typeface="맑은 고딕"/>
              </a:rPr>
              <a:t> (Olaniyan, 2024)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그랜저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검정으로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가격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데이터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시가·고가·저가·종가·거래량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) 중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중요한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것만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골라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모델에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넣음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예측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오차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감소</a:t>
            </a:r>
            <a:endParaRPr sz="11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E87722"/>
                </a:solidFill>
                <a:latin typeface="맑은 고딕"/>
              </a:rPr>
              <a:t>본 </a:t>
            </a:r>
            <a:r>
              <a:rPr sz="1200" b="1" dirty="0" err="1">
                <a:solidFill>
                  <a:srgbClr val="E87722"/>
                </a:solidFill>
                <a:latin typeface="맑은 고딕"/>
              </a:rPr>
              <a:t>연구</a:t>
            </a:r>
            <a:r>
              <a:rPr sz="1200" b="1" dirty="0">
                <a:solidFill>
                  <a:srgbClr val="E87722"/>
                </a:solidFill>
                <a:latin typeface="맑은 고딕"/>
              </a:rPr>
              <a:t>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그랜저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검정으로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미디어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신호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검색량·뉴스·유튜브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등) 중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먼저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움직이는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것만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골라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모델에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넣음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예측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정확도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변화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없음</a:t>
            </a:r>
            <a:endParaRPr sz="11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sz="1150" b="0" dirty="0">
                <a:solidFill>
                  <a:srgbClr val="0A0A0A"/>
                </a:solidFill>
                <a:latin typeface="맑은 고딕"/>
              </a:rPr>
              <a:t>→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같은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'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그랜저로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골라서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넣기'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인데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결과가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다른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이유는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—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고른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대상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자체가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다르기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때문</a:t>
            </a:r>
            <a:endParaRPr sz="1150" b="1" dirty="0">
              <a:solidFill>
                <a:srgbClr val="E87722"/>
              </a:solidFill>
              <a:latin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938528"/>
            <a:ext cx="5632704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" y="1938528"/>
            <a:ext cx="563270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956816"/>
            <a:ext cx="563270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비교 논문이 고른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95728"/>
            <a:ext cx="5449824" cy="329184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1F2D4E"/>
                </a:solidFill>
                <a:latin typeface="맑은 고딕"/>
              </a:rPr>
              <a:t>가격·거래량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맑은 고딕"/>
              </a:rPr>
              <a:t>데이터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맑은 고딕"/>
              </a:rPr>
              <a:t>자체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 (</a:t>
            </a:r>
            <a:r>
              <a:rPr sz="1200" b="1" dirty="0" err="1">
                <a:solidFill>
                  <a:srgbClr val="1F2D4E"/>
                </a:solidFill>
                <a:latin typeface="맑은 고딕"/>
              </a:rPr>
              <a:t>시가·고가·저가·종가·거래량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79776"/>
            <a:ext cx="5413248" cy="738664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가격은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원래부터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예측의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핵심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재료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—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어제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가격으로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오늘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가격을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짐작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가능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lang="ko-KR" altLang="en-US" sz="1100" b="0" dirty="0">
                <a:solidFill>
                  <a:srgbClr val="0A0A0A"/>
                </a:solidFill>
                <a:latin typeface="맑은 고딕"/>
              </a:rPr>
              <a:t>이 논문에서의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그랜저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검정은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'이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핵심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재료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중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어떤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걸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쓸지'만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정리한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것</a:t>
            </a:r>
          </a:p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→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핵심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정보는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그대로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모델에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남아서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예측이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좋아짐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0488" y="1938528"/>
            <a:ext cx="5632704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0488" y="1938528"/>
            <a:ext cx="5632704" cy="384048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1956816"/>
            <a:ext cx="563270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본 연구가 고른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7" y="2395728"/>
            <a:ext cx="5449824" cy="329184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검색량·뉴스·유튜브 같은 미디어 신호 (CH1~5)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779776"/>
            <a:ext cx="5413248" cy="738664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가격의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최근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흐름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상승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하락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추세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)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정보는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모든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모델에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이미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들어있음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미디어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신호는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그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위에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'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추가'로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얹는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보조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정보일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뿐</a:t>
            </a:r>
          </a:p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lang="ko-KR" altLang="en-US" sz="1100" b="0" dirty="0">
                <a:solidFill>
                  <a:srgbClr val="0A0A0A"/>
                </a:solidFill>
                <a:latin typeface="맑은 고딕"/>
              </a:rPr>
              <a:t>이 논문에서의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그랜저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검정은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'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어떤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신호가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가격보다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먼저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움직이는가'를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찾은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069079"/>
            <a:ext cx="11640312" cy="36576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069079"/>
            <a:ext cx="1133856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본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연구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데이터로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직접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확인해보면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(3개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자산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평균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,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예측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정확도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AUC)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34840"/>
            <a:ext cx="2377440" cy="457200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434840"/>
            <a:ext cx="2377440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D4E"/>
                </a:solidFill>
                <a:latin typeface="맑은 고딕"/>
              </a:rPr>
              <a:t>가격 흐름만 사용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4434840"/>
            <a:ext cx="5669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61488" y="4434840"/>
            <a:ext cx="5504688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err="1">
                <a:solidFill>
                  <a:srgbClr val="0A0A0A"/>
                </a:solidFill>
                <a:latin typeface="맑은 고딕"/>
              </a:rPr>
              <a:t>미디어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신호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없이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,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가격의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최근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흐름만으로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예측</a:t>
            </a:r>
            <a:endParaRPr sz="105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21040" y="4434840"/>
            <a:ext cx="35935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30767" y="4434840"/>
            <a:ext cx="3429000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0.84 ~ 0.96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92040"/>
            <a:ext cx="2377440" cy="457200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4892040"/>
            <a:ext cx="2377440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D4E"/>
                </a:solidFill>
                <a:latin typeface="맑은 고딕"/>
              </a:rPr>
              <a:t>가격 흐름 + 미디어 5개 전부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4892040"/>
            <a:ext cx="5669280" cy="457200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61488" y="4892040"/>
            <a:ext cx="5504688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미디어 신호(검색·뉴스·유튜브 등)를 다 추가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4892040"/>
            <a:ext cx="3593592" cy="457200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0767" y="4892040"/>
            <a:ext cx="3429000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E7E34"/>
                </a:solidFill>
                <a:latin typeface="맑은 고딕"/>
              </a:rPr>
              <a:t>0.84 ~ 0.96  (위와 거의 동일)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49240"/>
            <a:ext cx="2377440" cy="457200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5349240"/>
            <a:ext cx="2377440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2D4E"/>
                </a:solidFill>
                <a:latin typeface="맑은 고딕"/>
              </a:rPr>
              <a:t>미디어 신호만 사용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5349240"/>
            <a:ext cx="5669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61488" y="5349240"/>
            <a:ext cx="5504688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가격의 최근 흐름 없이, 미디어 신호만으로 예측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5349240"/>
            <a:ext cx="3593592" cy="457200"/>
          </a:xfrm>
          <a:prstGeom prst="rect">
            <a:avLst/>
          </a:prstGeom>
          <a:solidFill>
            <a:srgbClr val="FCF0E6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30767" y="5349240"/>
            <a:ext cx="3429000" cy="45720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0392B"/>
                </a:solidFill>
                <a:latin typeface="맑은 고딕"/>
              </a:rPr>
              <a:t>0.47 ~ 0.53  (= 동전 던지기 수준)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52744"/>
            <a:ext cx="11640312" cy="73152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5998464"/>
            <a:ext cx="11338560" cy="65836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결론  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가격의 최근 흐름이 예측력의 거의 전부 — 미디어 신호는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'먼저 움직인다(선행성)'는 맞지만 예측에 추가 도움은 거의 없음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</a:rPr>
              <a:t>비교 논문은 '가격 데이터 중 핵심을 정리'한 것이고, 본 연구는 '보조 신호가 먼저 움직이는지'를 확인한 것 — 서로 다른 것을 비교했으니 결과가 다른 건 당연함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연구의 한계 — 솔직하게 짚어두는 6가지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837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 err="1">
                <a:solidFill>
                  <a:srgbClr val="444444"/>
                </a:solidFill>
                <a:latin typeface="맑은 고딕"/>
              </a:rPr>
              <a:t>과장된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결론을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막기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위해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한계를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투명하게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밝힘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2E6DA4"/>
                </a:solidFill>
                <a:latin typeface="맑은 고딕"/>
              </a:rPr>
              <a:t>탐색적</a:t>
            </a:r>
            <a:r>
              <a:rPr sz="1300" b="1" dirty="0">
                <a:solidFill>
                  <a:srgbClr val="2E6DA4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2E6DA4"/>
                </a:solidFill>
                <a:latin typeface="맑은 고딕"/>
              </a:rPr>
              <a:t>발견으로</a:t>
            </a:r>
            <a:r>
              <a:rPr sz="1300" b="1" dirty="0">
                <a:solidFill>
                  <a:srgbClr val="2E6DA4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2E6DA4"/>
                </a:solidFill>
                <a:latin typeface="맑은 고딕"/>
              </a:rPr>
              <a:t>한정</a:t>
            </a:r>
            <a:endParaRPr sz="1300" b="1" dirty="0">
              <a:solidFill>
                <a:srgbClr val="2E6DA4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69848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1.  표본이 적음 (48개월)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자산마다 4년치(48개월) 데이터만 사용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이 정도로는 '확실한 증거'라고 말하기엔 부족함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926079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2944368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단정적 결론 대신 '탐색적 발견'으로 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1051560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15384" y="1051560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5384" y="1069848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2.  스니커즈 검색량 데이터의 불안정함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508760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스니커즈의 구글 검색량 데이터는 시간이 지나도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패턴이 들쭉날쭉함 (경계선 수준)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926079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79976" y="2944368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해석 시 주의가 필요하다고 명시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051560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56448" y="1051560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1069848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3.  뉴스 감성 분석의 정밀도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08760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원래는 금융 전문 AI로 뉴스 감성을 분석할 계획이었으나,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범용 자동분석 도구로 대체 → 금융 특화도가 다소 낮음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6" y="2926079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944368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한계로 명시 + 추가 검증(민감도 분석) 수행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547872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" y="3547872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3566160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4.  레고 일부 모델의 검색량 부족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005072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레고 중 포르쉐·부가티 모델은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구글 검색량이 0인 달이 많아 신호가 약함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5422392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5440679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이 모델들에는 강한 결론을 내리지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15384" y="3547872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215384" y="3547872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5384" y="3566160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5.  유튜브만 분석함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4005072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미디어 채널 중 유튜브만 분석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틱톡·트위터(X) 같은 다른 플랫폼은 포함 안 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5112" y="5422392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79976" y="5440679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향후 연구에서 다른 플랫폼으로 확장 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6448" y="3547872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56448" y="3547872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56448" y="3566160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6.  데이터 표준화 방식의 한계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4005072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머신러닝에 넣기 전 데이터를 표준화할 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전체 기간을 한 번에 사용함 (정확히는 학습 구간만 써야 함)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6" y="5422392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5440679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표본이 적어 영향은 작지만 한계로 명시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6044183"/>
            <a:ext cx="11640312" cy="603504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6062471"/>
            <a:ext cx="11338560" cy="56692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그래도  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자산별·기간별로 나눠 다시 검증해봐도 같은 결과 →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'확정된 결론'이 아닌 '앞으로 더 검증해볼 가설'로 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588</Words>
  <Application>Microsoft Office PowerPoint</Application>
  <PresentationFormat>사용자 지정</PresentationFormat>
  <Paragraphs>54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2026-06-13T12:44:41Z</dcterms:modified>
  <cp:category/>
</cp:coreProperties>
</file>