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채널 선택 기준 = '평균 중요도 임계값' (기준 점선)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채널 5개 SHAP의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평균에 점선을 긋고, 그 위만 선택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— 반 평균 점수와 같은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931920" cy="2391393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3602736" cy="365760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6DA4"/>
                </a:solidFill>
                <a:latin typeface="맑은 고딕"/>
              </a:rPr>
              <a:t>'평균 중요도 임계값'이란?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37361"/>
            <a:ext cx="3521386" cy="21031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7722"/>
                </a:solidFill>
                <a:latin typeface="맑은 고딕"/>
              </a:rPr>
              <a:t>반 평균 점수와 똑같은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84832"/>
            <a:ext cx="3602736" cy="1495281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①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채널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5개의 SHAP(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기여도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)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점수를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   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더해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5로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나눔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평균</a:t>
            </a:r>
            <a:endParaRPr sz="1150" b="1" dirty="0">
              <a:solidFill>
                <a:srgbClr val="1E7E34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endParaRPr sz="1150" b="1" dirty="0">
              <a:solidFill>
                <a:srgbClr val="1E7E34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②  그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평균값에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기준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점선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을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그음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③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점선보다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>
                <a:solidFill>
                  <a:srgbClr val="1E7E34"/>
                </a:solidFill>
                <a:latin typeface="맑은 고딕"/>
              </a:rPr>
              <a:t>위 =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선택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/ </a:t>
            </a:r>
            <a:r>
              <a:rPr sz="1150" b="1" dirty="0" err="1">
                <a:solidFill>
                  <a:srgbClr val="999999"/>
                </a:solidFill>
                <a:latin typeface="맑은 고딕"/>
              </a:rPr>
              <a:t>아래</a:t>
            </a:r>
            <a:r>
              <a:rPr sz="1150" b="1" dirty="0">
                <a:solidFill>
                  <a:srgbClr val="999999"/>
                </a:solidFill>
                <a:latin typeface="맑은 고딕"/>
              </a:rPr>
              <a:t> = </a:t>
            </a:r>
            <a:r>
              <a:rPr sz="1150" b="1" dirty="0" err="1">
                <a:solidFill>
                  <a:srgbClr val="999999"/>
                </a:solidFill>
                <a:latin typeface="맑은 고딕"/>
              </a:rPr>
              <a:t>탈락</a:t>
            </a:r>
            <a:endParaRPr sz="1150" b="1" dirty="0">
              <a:solidFill>
                <a:srgbClr val="999999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endParaRPr sz="1150" b="1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25696" y="1188720"/>
            <a:ext cx="7488936" cy="30742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298448"/>
            <a:ext cx="7251192" cy="26343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4320" y="4846320"/>
            <a:ext cx="11640312" cy="1444752"/>
          </a:xfrm>
          <a:prstGeom prst="roundRect">
            <a:avLst/>
          </a:prstGeom>
          <a:solidFill>
            <a:srgbClr val="E7F2E9"/>
          </a:solidFill>
          <a:ln w="12700">
            <a:solidFill>
              <a:srgbClr val="1E7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4919472"/>
            <a:ext cx="11311128" cy="292608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E7E34"/>
                </a:solidFill>
                <a:latin typeface="맑은 고딕"/>
              </a:rPr>
              <a:t>기준선을 적용한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230368"/>
            <a:ext cx="11311128" cy="987552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•  세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자산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기준선</a:t>
            </a:r>
            <a:r>
              <a:rPr sz="1150" b="1" dirty="0">
                <a:solidFill>
                  <a:srgbClr val="1E7E34"/>
                </a:solidFill>
                <a:latin typeface="맑은 고딕"/>
              </a:rPr>
              <a:t> 위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채널이</a:t>
            </a:r>
            <a:r>
              <a:rPr sz="1150" b="1" dirty="0">
                <a:solidFill>
                  <a:srgbClr val="1E7E34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정확히</a:t>
            </a:r>
            <a:r>
              <a:rPr sz="1150" b="1" dirty="0">
                <a:solidFill>
                  <a:srgbClr val="1E7E34"/>
                </a:solidFill>
                <a:latin typeface="맑은 고딕"/>
              </a:rPr>
              <a:t> 2개씩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선택됨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 —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스니커즈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CH1+CH5 ·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카드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CH4+CH5 ·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레고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CH4+CH5</a:t>
            </a:r>
          </a:p>
          <a:p>
            <a:pPr algn="l">
              <a:spcAft>
                <a:spcPts val="6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선택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(2채널)을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전채널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(5채널)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모델과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DM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검정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비교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1" dirty="0">
                <a:solidFill>
                  <a:srgbClr val="1E7E34"/>
                </a:solidFill>
                <a:latin typeface="맑은 고딕"/>
              </a:rPr>
              <a:t>셋 다 </a:t>
            </a:r>
            <a:r>
              <a:rPr sz="1150" b="1" dirty="0" err="1">
                <a:solidFill>
                  <a:srgbClr val="1E7E34"/>
                </a:solidFill>
                <a:latin typeface="맑은 고딕"/>
              </a:rPr>
              <a:t>동등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 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스니커즈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p=0.678 ·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카드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p=0.254 ·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레고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p=0.646)</a:t>
            </a:r>
          </a:p>
          <a:p>
            <a:pPr algn="l">
              <a:spcAft>
                <a:spcPts val="600"/>
              </a:spcAft>
            </a:pPr>
            <a:r>
              <a:rPr sz="950" b="0" dirty="0">
                <a:solidFill>
                  <a:srgbClr val="444444"/>
                </a:solidFill>
                <a:latin typeface="맑은 고딕"/>
              </a:rPr>
              <a:t>※ </a:t>
            </a:r>
            <a:r>
              <a:rPr sz="950" b="0" dirty="0" err="1">
                <a:solidFill>
                  <a:srgbClr val="444444"/>
                </a:solidFill>
                <a:latin typeface="맑은 고딕"/>
              </a:rPr>
              <a:t>방법</a:t>
            </a:r>
            <a:r>
              <a:rPr sz="9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444444"/>
                </a:solidFill>
                <a:latin typeface="맑은 고딕"/>
              </a:rPr>
              <a:t>출처</a:t>
            </a:r>
            <a:r>
              <a:rPr sz="950" b="0" dirty="0">
                <a:solidFill>
                  <a:srgbClr val="444444"/>
                </a:solidFill>
                <a:latin typeface="맑은 고딕"/>
              </a:rPr>
              <a:t>: </a:t>
            </a:r>
            <a:r>
              <a:rPr sz="950" b="1" dirty="0">
                <a:solidFill>
                  <a:srgbClr val="2E6DA4"/>
                </a:solidFill>
                <a:latin typeface="맑은 고딕"/>
              </a:rPr>
              <a:t>scikit-learn </a:t>
            </a:r>
            <a:r>
              <a:rPr sz="950" b="1" dirty="0" err="1">
                <a:solidFill>
                  <a:srgbClr val="2E6DA4"/>
                </a:solidFill>
                <a:latin typeface="맑은 고딕"/>
              </a:rPr>
              <a:t>SelectFromModel</a:t>
            </a:r>
            <a:r>
              <a:rPr sz="950" b="1" dirty="0">
                <a:solidFill>
                  <a:srgbClr val="2E6DA4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2E6DA4"/>
                </a:solidFill>
                <a:latin typeface="맑은 고딕"/>
              </a:rPr>
              <a:t>기본</a:t>
            </a:r>
            <a:r>
              <a:rPr sz="950" b="1" dirty="0">
                <a:solidFill>
                  <a:srgbClr val="2E6DA4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2E6DA4"/>
                </a:solidFill>
                <a:latin typeface="맑은 고딕"/>
              </a:rPr>
              <a:t>기준</a:t>
            </a:r>
            <a:r>
              <a:rPr sz="950" b="1" dirty="0">
                <a:solidFill>
                  <a:srgbClr val="2E6DA4"/>
                </a:solidFill>
                <a:latin typeface="맑은 고딕"/>
              </a:rPr>
              <a:t>(threshold='mean')</a:t>
            </a:r>
            <a:r>
              <a:rPr sz="950" b="0" dirty="0">
                <a:solidFill>
                  <a:srgbClr val="444444"/>
                </a:solidFill>
                <a:latin typeface="맑은 고딕"/>
              </a:rPr>
              <a:t>  ·  Wang, Liang, Hancock &amp; </a:t>
            </a:r>
            <a:r>
              <a:rPr sz="950" b="0" dirty="0" err="1">
                <a:solidFill>
                  <a:srgbClr val="444444"/>
                </a:solidFill>
                <a:latin typeface="맑은 고딕"/>
              </a:rPr>
              <a:t>Khoshgoftaar</a:t>
            </a:r>
            <a:r>
              <a:rPr sz="950" b="0" dirty="0">
                <a:solidFill>
                  <a:srgbClr val="444444"/>
                </a:solidFill>
                <a:latin typeface="맑은 고딕"/>
              </a:rPr>
              <a:t> (2024), Journal of Big Data 11(1):44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382512"/>
            <a:ext cx="11640312" cy="36576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6382512"/>
            <a:ext cx="11365992" cy="36576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150" b="1">
                <a:solidFill>
                  <a:srgbClr val="FFFFFF"/>
                </a:solidFill>
                <a:latin typeface="맑은 고딕"/>
              </a:rPr>
              <a:t>'평균(기준 점선)보다 기여가 큰 채널만 남긴다'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는 객관적 규칙 → 자산별 2채널로도 전채널과 동등 → 간결성 입증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197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2026-06-15T08:59:05Z</dcterms:modified>
  <cp:category/>
</cp:coreProperties>
</file>