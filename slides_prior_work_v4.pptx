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3C105-F1EC-4FBF-BEE8-C8C1F49F78A7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9F09-88AC-4492-8AEB-E2154B7675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7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99F09-88AC-4492-8AEB-E2154B76750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64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기존 연구 &amp; 한계 — 세 연구 흐름의 빈 교점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미디어→주식 · 리셀 예측 · 멀티채널 — 셋 다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‘리셀 × 다채널 × 선행성 비교’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의 교점은 비워 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3776472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미디어 → 주식 선행성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74519"/>
            <a:ext cx="3557015" cy="210312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dirty="0">
                <a:solidFill>
                  <a:srgbClr val="1F2D4E"/>
                </a:solidFill>
                <a:latin typeface="맑은 고딕"/>
              </a:rPr>
              <a:t>Tetlock (2007)</a:t>
            </a:r>
          </a:p>
          <a:p>
            <a:pPr algn="l">
              <a:spcAft>
                <a:spcPts val="500"/>
              </a:spcAft>
            </a:pPr>
            <a:r>
              <a:rPr sz="1050" b="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뉴스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비관론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→ S&amp;P500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하락</a:t>
            </a:r>
            <a:endParaRPr sz="10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100" b="1" dirty="0">
                <a:solidFill>
                  <a:srgbClr val="1F2D4E"/>
                </a:solidFill>
                <a:latin typeface="맑은 고딕"/>
              </a:rPr>
              <a:t>Da et al. (2011)</a:t>
            </a:r>
          </a:p>
          <a:p>
            <a:pPr algn="l">
              <a:spcAft>
                <a:spcPts val="500"/>
              </a:spcAft>
            </a:pPr>
            <a:r>
              <a:rPr sz="1050" b="0" dirty="0">
                <a:solidFill>
                  <a:srgbClr val="0A0A0A"/>
                </a:solidFill>
                <a:latin typeface="맑은 고딕"/>
              </a:rPr>
              <a:t>   Google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검색량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주가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선행</a:t>
            </a:r>
            <a:endParaRPr sz="10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100" b="1" dirty="0" err="1">
                <a:solidFill>
                  <a:srgbClr val="1F2D4E"/>
                </a:solidFill>
                <a:latin typeface="맑은 고딕"/>
              </a:rPr>
              <a:t>유재필·김문선</a:t>
            </a:r>
            <a:r>
              <a:rPr sz="1100" b="1" dirty="0">
                <a:solidFill>
                  <a:srgbClr val="1F2D4E"/>
                </a:solidFill>
                <a:latin typeface="맑은 고딕"/>
              </a:rPr>
              <a:t> (2023)</a:t>
            </a:r>
          </a:p>
          <a:p>
            <a:pPr algn="l">
              <a:spcAft>
                <a:spcPts val="500"/>
              </a:spcAft>
            </a:pPr>
            <a:r>
              <a:rPr sz="1050" b="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유튜브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조회·검색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주가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선행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(Granger)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224528"/>
            <a:ext cx="3557015" cy="603504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4242816"/>
            <a:ext cx="3447288" cy="56692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87722"/>
                </a:solidFill>
                <a:latin typeface="맑은 고딕"/>
              </a:rPr>
              <a:t>⚠ 한계  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전통 금융자산(주식)에만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51959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353312"/>
            <a:ext cx="3776472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리셀 상품 가격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74519"/>
            <a:ext cx="3557015" cy="210312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Campello et al. (2021)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StockX 스니커즈 가격 예측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Dobrynskaya &amp; Kishilova (2023)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레고를 대체자산으로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4224528"/>
            <a:ext cx="3557015" cy="603504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1" y="4242816"/>
            <a:ext cx="3447288" cy="56692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87722"/>
                </a:solidFill>
                <a:latin typeface="맑은 고딕"/>
              </a:rPr>
              <a:t>⚠ 한계  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미디어 채널 신호 미포함 · 단일 자산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353312"/>
            <a:ext cx="3776472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멀티채널 예측 방법론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874519"/>
            <a:ext cx="3557015" cy="210312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Bollen et al. (2011)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Twitter 감성 → DJIA 선행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Zhang et al. (2018)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   뉴스+감성+가격 결합 예측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4224528"/>
            <a:ext cx="3557015" cy="603504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4242816"/>
            <a:ext cx="3447288" cy="56692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87722"/>
                </a:solidFill>
                <a:latin typeface="맑은 고딕"/>
              </a:rPr>
              <a:t>⚠ 한계  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주식 단일 · 채널 비교 없음 · Granger 미적용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67528"/>
            <a:ext cx="11640312" cy="676656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394960"/>
            <a:ext cx="11338560" cy="62179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연구 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스니커즈·카드·레고 3자산 × 5채널 × Granger × SHAP+DM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 — 세 흐름의 빈 교점을 메움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방법론 교집합 — 본 연구는 세 요소를 모두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미디어 채널 · Granger 선별 · 예측 검증 —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선행연구는 일부만, 본 연구는 전부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5632704" cy="17556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563270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563270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국내 · Granger ·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682495"/>
            <a:ext cx="5522976" cy="67665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유튜브 기반 데이터 분석을 통한 주가 선행성 분석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888888"/>
                </a:solidFill>
                <a:latin typeface="맑은 고딕"/>
              </a:rPr>
              <a:t>유재필·김문선 (2023), 정보화연구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28298"/>
            <a:ext cx="5449824" cy="641201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채널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lang="ko-KR" altLang="en-US" sz="1000" dirty="0">
                <a:solidFill>
                  <a:srgbClr val="0A0A0A"/>
                </a:solidFill>
                <a:latin typeface="맑은 고딕"/>
              </a:rPr>
              <a:t>유튜브 조회 </a:t>
            </a:r>
            <a:r>
              <a:rPr lang="en-US" altLang="ko-KR" sz="1000" dirty="0">
                <a:solidFill>
                  <a:srgbClr val="0A0A0A"/>
                </a:solidFill>
                <a:latin typeface="맑은 고딕"/>
              </a:rPr>
              <a:t>• </a:t>
            </a:r>
            <a:r>
              <a:rPr lang="ko-KR" altLang="en-US" sz="1000" dirty="0">
                <a:solidFill>
                  <a:srgbClr val="0A0A0A"/>
                </a:solidFill>
                <a:latin typeface="맑은 고딕"/>
              </a:rPr>
              <a:t>검색의 합성 지수</a:t>
            </a:r>
            <a:endParaRPr lang="en-US" altLang="ko-KR" sz="10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방법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YouTube Data API V3 → Granger</a:t>
            </a:r>
          </a:p>
          <a:p>
            <a:pPr algn="l"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결과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유튜브가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ETF(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주식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)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시장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선행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(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예측모델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없음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280160"/>
            <a:ext cx="5632704" cy="17556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488" y="1280160"/>
            <a:ext cx="563270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298448"/>
            <a:ext cx="5632704" cy="3291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Granger + 예측 · Electronics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1" y="1682495"/>
            <a:ext cx="5522976" cy="676656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Granger 인과 + LSTM 기반 금융 예측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888888"/>
                </a:solidFill>
                <a:latin typeface="맑은 고딕"/>
              </a:rPr>
              <a:t>Olaniyan 외 (2024), Electronics·MDPI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2212847"/>
            <a:ext cx="5449824" cy="621792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채널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가격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내부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OHLCV·재무비율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) ·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없음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방법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Granger+상관분석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선별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베이지안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최적화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LSTM</a:t>
            </a:r>
          </a:p>
          <a:p>
            <a:pPr algn="l">
              <a:spcAft>
                <a:spcPts val="5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결과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종가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,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기존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기법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대비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오차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감소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182112"/>
            <a:ext cx="1508760" cy="384048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182112"/>
            <a:ext cx="1508760" cy="38404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3182112"/>
            <a:ext cx="3063240" cy="384048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3182112"/>
            <a:ext cx="3063240" cy="38404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유재필·김문선(2023)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182112"/>
            <a:ext cx="2743200" cy="384048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3182112"/>
            <a:ext cx="2743200" cy="38404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Olaniyan 외(2024)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182112"/>
            <a:ext cx="4325112" cy="384048"/>
          </a:xfrm>
          <a:prstGeom prst="rect">
            <a:avLst/>
          </a:prstGeom>
          <a:solidFill>
            <a:srgbClr val="1E7E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182112"/>
            <a:ext cx="4325112" cy="38404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본 연구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66160"/>
            <a:ext cx="1508760" cy="475488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566160"/>
            <a:ext cx="1508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미디어 채널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3566160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37943" y="3566160"/>
            <a:ext cx="297180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유튜브 (채널 단위)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56616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183" y="3566160"/>
            <a:ext cx="2651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없음 (가격 변수)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566160"/>
            <a:ext cx="4325112" cy="475488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44384" y="3566160"/>
            <a:ext cx="4233672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맑은 고딕"/>
              </a:rPr>
              <a:t>5채널 (검색·뉴스량·뉴스감성·조회수·댓글)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41648"/>
            <a:ext cx="1508760" cy="475488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041648"/>
            <a:ext cx="1508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Granger 선별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4041648"/>
            <a:ext cx="306324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37943" y="4041648"/>
            <a:ext cx="297180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사용 (선행성 검정)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041648"/>
            <a:ext cx="274320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01183" y="4041648"/>
            <a:ext cx="2651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사용 (변수 선별)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4041648"/>
            <a:ext cx="4325112" cy="475488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384" y="4041648"/>
            <a:ext cx="4233672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맑은 고딕"/>
              </a:rPr>
              <a:t>사용 (채널 선별)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517136"/>
            <a:ext cx="1508760" cy="475488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517136"/>
            <a:ext cx="1508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예측 모델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83080" y="4517136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37943" y="4517136"/>
            <a:ext cx="297180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없음 (선행성만)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517136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01183" y="4517136"/>
            <a:ext cx="2651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LSTM (딥러닝)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517136"/>
            <a:ext cx="4325112" cy="475488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44384" y="4517136"/>
            <a:ext cx="4233672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맑은 고딕"/>
              </a:rPr>
              <a:t>XGBoost (소표본)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92624"/>
            <a:ext cx="1508760" cy="475488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4992624"/>
            <a:ext cx="1508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분석 대상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83080" y="4992624"/>
            <a:ext cx="306324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37943" y="4992624"/>
            <a:ext cx="297180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ETF (주식)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992624"/>
            <a:ext cx="2743200" cy="475488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01183" y="4992624"/>
            <a:ext cx="2651760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중국 주식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4992624"/>
            <a:ext cx="4325112" cy="475488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44384" y="4992624"/>
            <a:ext cx="4233672" cy="47548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맑은 고딕"/>
              </a:rPr>
              <a:t>리셀 3종 (스니커즈·카드·레고)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5596128"/>
            <a:ext cx="11640312" cy="566928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5757764"/>
            <a:ext cx="11338560" cy="243656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</a:rPr>
              <a:t>본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연구</a:t>
            </a:r>
            <a:r>
              <a:rPr lang="ko-KR" altLang="en-US" sz="1250" b="1" dirty="0">
                <a:solidFill>
                  <a:srgbClr val="FFFFFF"/>
                </a:solidFill>
                <a:latin typeface="맑은 고딕"/>
              </a:rPr>
              <a:t>는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셋을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모두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결합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— N=48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소표본이라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딥러닝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(LSTM)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대신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과적합에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강한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</a:rPr>
              <a:t>XGBoost</a:t>
            </a:r>
            <a:r>
              <a:rPr sz="11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</a:rPr>
              <a:t>채택</a:t>
            </a:r>
            <a:endParaRPr sz="1100" b="0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기존 연구와의 차별점 — 4가지 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무엇이 새로운가 —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자산 · 채널 수 · 채널 선정 · 분석 방향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네 축에서 차별화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331720" cy="502920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2331720" cy="50292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463040"/>
            <a:ext cx="4663440" cy="502920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1463040"/>
            <a:ext cx="4663440" cy="50292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기존 연구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463040"/>
            <a:ext cx="4645152" cy="502920"/>
          </a:xfrm>
          <a:prstGeom prst="rect">
            <a:avLst/>
          </a:prstGeom>
          <a:solidFill>
            <a:srgbClr val="1E7E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463040"/>
            <a:ext cx="4645152" cy="50292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연구 (제안)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2331720" cy="100584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65960"/>
            <a:ext cx="233172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dirty="0" err="1">
                <a:solidFill>
                  <a:srgbClr val="1F2D4E"/>
                </a:solidFill>
                <a:latin typeface="맑은 고딕"/>
              </a:rPr>
              <a:t>분석</a:t>
            </a:r>
            <a:r>
              <a:rPr sz="115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F2D4E"/>
                </a:solidFill>
                <a:latin typeface="맑은 고딕"/>
              </a:rPr>
              <a:t>자산</a:t>
            </a:r>
            <a:endParaRPr sz="1150" b="1" dirty="0">
              <a:solidFill>
                <a:srgbClr val="1F2D4E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06040" y="1965960"/>
            <a:ext cx="4663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15768" y="1965960"/>
            <a:ext cx="4498848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주식 단일 자산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1965960"/>
            <a:ext cx="4645152" cy="1005840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9208" y="1965960"/>
            <a:ext cx="448056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dirty="0" err="1">
                <a:solidFill>
                  <a:srgbClr val="0A0A0A"/>
                </a:solidFill>
                <a:latin typeface="맑은 고딕"/>
              </a:rPr>
              <a:t>리셀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수집품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3종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동시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비교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(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스니커즈·카드·레고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2331720" cy="100584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2971800"/>
            <a:ext cx="233172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채널 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971800"/>
            <a:ext cx="4663440" cy="100584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15768" y="3360586"/>
            <a:ext cx="4498848" cy="22826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 err="1">
                <a:solidFill>
                  <a:srgbClr val="444444"/>
                </a:solidFill>
                <a:latin typeface="맑은 고딕"/>
              </a:rPr>
              <a:t>단일·소수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채널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(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트위터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or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구글</a:t>
            </a:r>
            <a:r>
              <a:rPr lang="en-US"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lang="en-US" sz="1150" dirty="0">
                <a:solidFill>
                  <a:srgbClr val="444444"/>
                </a:solidFill>
                <a:latin typeface="맑은 고딕"/>
              </a:rPr>
              <a:t>or</a:t>
            </a:r>
            <a:r>
              <a:rPr lang="ko-KR" altLang="en-US" sz="1150" dirty="0">
                <a:solidFill>
                  <a:srgbClr val="444444"/>
                </a:solidFill>
                <a:latin typeface="맑은 고딕"/>
              </a:rPr>
              <a:t> 유튜브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971800"/>
            <a:ext cx="4645152" cy="1005840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9208" y="2971800"/>
            <a:ext cx="448056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dirty="0" err="1">
                <a:solidFill>
                  <a:srgbClr val="0A0A0A"/>
                </a:solidFill>
                <a:latin typeface="맑은 고딕"/>
              </a:rPr>
              <a:t>다중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5채널 (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보도량·감성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분리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40"/>
            <a:ext cx="2331720" cy="100584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977640"/>
            <a:ext cx="233172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채널 선정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977640"/>
            <a:ext cx="4663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15768" y="3977640"/>
            <a:ext cx="4498848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 err="1">
                <a:solidFill>
                  <a:srgbClr val="444444"/>
                </a:solidFill>
                <a:latin typeface="맑은 고딕"/>
              </a:rPr>
              <a:t>채널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사전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고정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후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그대로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사용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(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자산별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비교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없음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3977640"/>
            <a:ext cx="4645152" cy="1005840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79208" y="4366426"/>
            <a:ext cx="4663440" cy="22826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dirty="0">
                <a:solidFill>
                  <a:srgbClr val="0A0A0A"/>
                </a:solidFill>
                <a:latin typeface="맑은 고딕"/>
              </a:rPr>
              <a:t>5채널은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사전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지정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lang="en-US" sz="1150" b="1" dirty="0">
                <a:solidFill>
                  <a:srgbClr val="0A0A0A"/>
                </a:solidFill>
                <a:latin typeface="맑은 고딕"/>
              </a:rPr>
              <a:t>-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단,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자산별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선행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채널을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Granger로</a:t>
            </a:r>
            <a:r>
              <a:rPr sz="1150" b="1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0A0A0A"/>
                </a:solidFill>
                <a:latin typeface="맑은 고딕"/>
              </a:rPr>
              <a:t>비교·선별</a:t>
            </a:r>
            <a:endParaRPr sz="1150" b="1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2331720" cy="100584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983480"/>
            <a:ext cx="233172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분석 방향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983480"/>
            <a:ext cx="4663440" cy="100584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15768" y="5372266"/>
            <a:ext cx="4498848" cy="22826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>
                <a:solidFill>
                  <a:srgbClr val="444444"/>
                </a:solidFill>
                <a:latin typeface="맑은 고딕"/>
              </a:rPr>
              <a:t>‘</a:t>
            </a:r>
            <a:r>
              <a:rPr sz="1150" b="0" dirty="0" err="1">
                <a:solidFill>
                  <a:srgbClr val="444444"/>
                </a:solidFill>
                <a:latin typeface="맑은 고딕"/>
              </a:rPr>
              <a:t>선행하는가</a:t>
            </a:r>
            <a:r>
              <a:rPr sz="1150" b="0" dirty="0">
                <a:solidFill>
                  <a:srgbClr val="444444"/>
                </a:solidFill>
                <a:latin typeface="맑은 고딕"/>
              </a:rPr>
              <a:t> Yes/No’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4983480"/>
            <a:ext cx="4645152" cy="1005840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79208" y="4983480"/>
            <a:ext cx="4480560" cy="10058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A0A0A"/>
                </a:solidFill>
                <a:latin typeface="맑은 고딕"/>
              </a:rPr>
              <a:t>XGBoost·SHAP로 기여 정량화 + 예측력 검증(DM)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256" y="6172199"/>
            <a:ext cx="11640312" cy="64008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6366564"/>
            <a:ext cx="11338560" cy="251351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FFFFFF"/>
                </a:solidFill>
                <a:latin typeface="맑은 고딕"/>
              </a:rPr>
              <a:t>본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연구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=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다채널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×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리셀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× Granger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선별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×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예측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검증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선행연구가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비워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둔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교점을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메우는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연구</a:t>
            </a:r>
            <a:endParaRPr sz="1200" b="0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570</Words>
  <Application>Microsoft Office PowerPoint</Application>
  <PresentationFormat>사용자 지정</PresentationFormat>
  <Paragraphs>77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2026-06-13T12:44:50Z</dcterms:modified>
  <cp:category/>
</cp:coreProperties>
</file>