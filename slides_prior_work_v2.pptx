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채널 선정 근거 — 5개 미디어 채널은 무엇을 포착하는가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가격에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선행할 수 있는 소비자·시장 신호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를 단일 지표가 아닌 5개 층위로 측정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1640312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517904"/>
            <a:ext cx="868680" cy="457199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868680" cy="457199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CH1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71600"/>
            <a:ext cx="274320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D4E"/>
                </a:solidFill>
                <a:latin typeface="맑은 고딕"/>
              </a:rPr>
              <a:t>Google 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371600"/>
            <a:ext cx="246888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444444"/>
                </a:solidFill>
                <a:latin typeface="맑은 고딕"/>
              </a:rPr>
              <a:t>소비자 검색 관심도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371600"/>
            <a:ext cx="507492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관심 급증은 구매 수요·가격 상승에 선행할 수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12848"/>
            <a:ext cx="11640312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" y="2359152"/>
            <a:ext cx="868680" cy="457199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359152"/>
            <a:ext cx="868680" cy="457199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CH2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12848"/>
            <a:ext cx="274320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D4E"/>
                </a:solidFill>
                <a:latin typeface="맑은 고딕"/>
              </a:rPr>
              <a:t>뉴스 보도량 (GDELT)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212848"/>
            <a:ext cx="246888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444444"/>
                </a:solidFill>
                <a:latin typeface="맑은 고딕"/>
              </a:rPr>
              <a:t>미디어 노출·주목도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212848"/>
            <a:ext cx="507492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보도량 증가는 대중 관심을 환기해 수요를 자극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054096"/>
            <a:ext cx="11640312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" y="3200400"/>
            <a:ext cx="868680" cy="457199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200400"/>
            <a:ext cx="868680" cy="457199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CH3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054096"/>
            <a:ext cx="274320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D4E"/>
                </a:solidFill>
                <a:latin typeface="맑은 고딕"/>
              </a:rPr>
              <a:t>뉴스 감성 (GDELT)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054096"/>
            <a:ext cx="246888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444444"/>
                </a:solidFill>
                <a:latin typeface="맑은 고딕"/>
              </a:rPr>
              <a:t>보도 논조(긍정/부정)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54096"/>
            <a:ext cx="507492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긍정 보도는 매수 심리·가격 기대를 형성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895344"/>
            <a:ext cx="11640312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8" y="4041648"/>
            <a:ext cx="868680" cy="457199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041648"/>
            <a:ext cx="868680" cy="457199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CH4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895344"/>
            <a:ext cx="274320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D4E"/>
                </a:solidFill>
                <a:latin typeface="맑은 고딕"/>
              </a:rPr>
              <a:t>유튜브 조회수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895344"/>
            <a:ext cx="246888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444444"/>
                </a:solidFill>
                <a:latin typeface="맑은 고딕"/>
              </a:rPr>
              <a:t>정보 탐색 의도(구매 전 리뷰)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895344"/>
            <a:ext cx="507492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유재필·김문선(2023): 유튜브 조회수의 시장 선행성을 Granger로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736592"/>
            <a:ext cx="11640312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4048" y="4882896"/>
            <a:ext cx="868680" cy="457199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882896"/>
            <a:ext cx="868680" cy="457199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CH5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736592"/>
            <a:ext cx="274320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2D4E"/>
                </a:solidFill>
                <a:latin typeface="맑은 고딕"/>
              </a:rPr>
              <a:t>유튜브 댓글 감성 (FinBERT)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736592"/>
            <a:ext cx="246888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444444"/>
                </a:solidFill>
                <a:latin typeface="맑은 고딕"/>
              </a:rPr>
              <a:t>커뮤니티 심리·반응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736592"/>
            <a:ext cx="507492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A0A0A"/>
                </a:solidFill>
                <a:latin typeface="맑은 고딕"/>
              </a:rPr>
              <a:t>댓글 긍/부정은 잠재 수요자의 태도를 반영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5614416"/>
            <a:ext cx="11640312" cy="566928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632703"/>
            <a:ext cx="11338560" cy="53035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핵심  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관심(검색)·노출(보도량)·태도(논조)·탐색(조회수)·심리(댓글) — 미디어 신호를 5개 층위로 다면 포착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방법론 계보 — ‘감성 → Granger 선별 → 예측’의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선행연구는 이 패러다임을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주식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에 적용 — 그러나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리셀 등 대안자산의 다채널 선행성은 미답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89888"/>
            <a:ext cx="3776472" cy="3063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89888"/>
            <a:ext cx="3776472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08176"/>
            <a:ext cx="3776472" cy="34747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전설적 시초 · 2011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3685032" cy="8686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Twitter mood predicts the stock market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777777"/>
                </a:solidFill>
                <a:latin typeface="맑은 고딕"/>
              </a:rPr>
              <a:t>Bollen, Mao &amp; Zeng (2011), J. Comput. Sci.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688336"/>
            <a:ext cx="3630168" cy="16916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트윗 수천만 건을 6개 기분 차원으로 분류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→ 다우존스와 Granger 인과검정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‘차분함(Calm)’이 주가를 2~4일 선행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신경망 결합 시 방향예측 정확도 86.7%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389888"/>
            <a:ext cx="3776472" cy="3063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389888"/>
            <a:ext cx="3776472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408176"/>
            <a:ext cx="3776472" cy="34747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국내 · Granger ·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828800"/>
            <a:ext cx="3685032" cy="8686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유튜브 기반 데이터 분석을 통한 주가 선행성 분석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777777"/>
                </a:solidFill>
                <a:latin typeface="맑은 고딕"/>
              </a:rPr>
              <a:t>유재필·김문선 (2023), 정보화연구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2688336"/>
            <a:ext cx="3630168" cy="16916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유튜브 채널 데이터 크롤링 + ETF 주가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→ Granger 인과분석 수행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유튜브 조회수가 금융시장을 선행함을 확인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검색·조회 급증이 거래량의 선행지표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89888"/>
            <a:ext cx="3776472" cy="3063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389888"/>
            <a:ext cx="3776472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08176"/>
            <a:ext cx="3776472" cy="34747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최신 트렌드 · NeurIPS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828800"/>
            <a:ext cx="3685032" cy="8686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</a:rPr>
              <a:t>CausalStock: News-driven Causal Discovery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777777"/>
                </a:solidFill>
                <a:latin typeface="맑은 고딕"/>
              </a:rPr>
              <a:t>Li et al. (2024), NeurIPS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688336"/>
            <a:ext cx="3630168" cy="16916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LLM으로 뉴스 노이즈 제거(Denoised Encoder)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→ 시차 기반 인과그래프 자동 탐색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美·中·日·英 6개 데이터셋서 최고 성능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•  Granger를 넘어 종단간(end-to-end) 인과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617720"/>
            <a:ext cx="11640312" cy="713232"/>
          </a:xfrm>
          <a:prstGeom prst="roundRect">
            <a:avLst/>
          </a:prstGeom>
          <a:solidFill>
            <a:srgbClr val="FCF0E6"/>
          </a:solidFill>
          <a:ln w="1905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654296"/>
            <a:ext cx="11338560" cy="6400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87722"/>
                </a:solidFill>
                <a:latin typeface="맑은 고딕"/>
              </a:rPr>
              <a:t>공통 한계 (연구 공백)   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① 모두 </a:t>
            </a:r>
            <a:r>
              <a:rPr sz="1150" b="1">
                <a:solidFill>
                  <a:srgbClr val="0A0A0A"/>
                </a:solidFill>
                <a:latin typeface="맑은 고딕"/>
              </a:rPr>
              <a:t>효율적 시장인 주식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에 한정   ② </a:t>
            </a:r>
            <a:r>
              <a:rPr sz="1150" b="1">
                <a:solidFill>
                  <a:srgbClr val="0A0A0A"/>
                </a:solidFill>
                <a:latin typeface="맑은 고딕"/>
              </a:rPr>
              <a:t>단일·소수 채널</a:t>
            </a:r>
            <a:r>
              <a:rPr sz="1150" b="0">
                <a:solidFill>
                  <a:srgbClr val="0A0A0A"/>
                </a:solidFill>
                <a:latin typeface="맑은 고딕"/>
              </a:rPr>
              <a:t> 위주   ③ </a:t>
            </a:r>
            <a:r>
              <a:rPr sz="1150" b="1">
                <a:solidFill>
                  <a:srgbClr val="0A0A0A"/>
                </a:solidFill>
                <a:latin typeface="맑은 고딕"/>
              </a:rPr>
              <a:t>리셀 등 대안자산의 다채널 선행성은 검증된 바 없음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458968"/>
            <a:ext cx="11640312" cy="64008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486400"/>
            <a:ext cx="11338560" cy="585216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본 연구 </a:t>
            </a:r>
            <a:r>
              <a:rPr sz="1250" b="0">
                <a:solidFill>
                  <a:srgbClr val="FFFFFF"/>
                </a:solidFill>
                <a:latin typeface="맑은 고딕"/>
              </a:rPr>
              <a:t>= 동일 방법론(감성→Granger 선별→예측)을 </a:t>
            </a:r>
            <a:r>
              <a:rPr sz="1250" b="1">
                <a:solidFill>
                  <a:srgbClr val="FFFFFF"/>
                </a:solidFill>
                <a:latin typeface="맑은 고딕"/>
              </a:rPr>
              <a:t>리셀 3종(스니커즈·카드·레고)</a:t>
            </a:r>
            <a:r>
              <a:rPr sz="1250" b="0">
                <a:solidFill>
                  <a:srgbClr val="FFFFFF"/>
                </a:solidFill>
                <a:latin typeface="맑은 고딕"/>
              </a:rPr>
              <a:t>에 </a:t>
            </a:r>
            <a:r>
              <a:rPr sz="1250" b="1">
                <a:solidFill>
                  <a:srgbClr val="FFFFFF"/>
                </a:solidFill>
                <a:latin typeface="맑은 고딕"/>
              </a:rPr>
              <a:t>5개 채널로 최초 적용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