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참고 문헌 — 본 발표 인용 논문 &amp; 데이터 출처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75818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미디어·감성 → 주식 선행성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Tetlock (2007), JF 62(3)</a:t>
            </a:r>
          </a:p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0A0A0A"/>
                </a:solidFill>
                <a:latin typeface="맑은 고딕"/>
              </a:rPr>
              <a:t>    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뉴스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비관론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→ S&amp;P500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하락</a:t>
            </a:r>
            <a:endParaRPr sz="9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Da, Engelberg &amp; Gao (2011), JF 66(5)</a:t>
            </a:r>
          </a:p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0A0A0A"/>
                </a:solidFill>
                <a:latin typeface="맑은 고딕"/>
              </a:rPr>
              <a:t>     Google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검색량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주가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선행</a:t>
            </a:r>
            <a:endParaRPr sz="9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Bollen, Mao &amp; Zeng (2011), </a:t>
            </a:r>
            <a:r>
              <a:rPr sz="1000" b="1" dirty="0" err="1">
                <a:solidFill>
                  <a:srgbClr val="1F2D4E"/>
                </a:solidFill>
                <a:latin typeface="맑은 고딕"/>
              </a:rPr>
              <a:t>J.Comp.Sci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 2(1)</a:t>
            </a:r>
          </a:p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0A0A0A"/>
                </a:solidFill>
                <a:latin typeface="맑은 고딕"/>
              </a:rPr>
              <a:t>     Twitter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감성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→ DJIA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선행</a:t>
            </a:r>
            <a:endParaRPr sz="9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 dirty="0" err="1">
                <a:solidFill>
                  <a:srgbClr val="1F2D4E"/>
                </a:solidFill>
                <a:latin typeface="맑은 고딕"/>
              </a:rPr>
              <a:t>Antweiler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 &amp; Frank (2004), JF 59(3)</a:t>
            </a:r>
          </a:p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0A0A0A"/>
                </a:solidFill>
                <a:latin typeface="맑은 고딕"/>
              </a:rPr>
              <a:t>    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온라인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게시판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정보량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분석</a:t>
            </a:r>
            <a:endParaRPr sz="9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 dirty="0">
                <a:solidFill>
                  <a:srgbClr val="1F2D4E"/>
                </a:solidFill>
                <a:latin typeface="맑은 고딕"/>
              </a:rPr>
              <a:t>Loughran &amp; McDonald (2011), JF 66(1)</a:t>
            </a:r>
          </a:p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0A0A0A"/>
                </a:solidFill>
                <a:latin typeface="맑은 고딕"/>
              </a:rPr>
              <a:t>    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금융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텍스트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감성사전</a:t>
            </a:r>
            <a:r>
              <a:rPr sz="9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0A0A0A"/>
                </a:solidFill>
                <a:latin typeface="맑은 고딕"/>
              </a:rPr>
              <a:t>구축</a:t>
            </a:r>
            <a:endParaRPr sz="95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15384" y="1097280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15384" y="1097280"/>
            <a:ext cx="3758184" cy="36576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15384" y="1115568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Granger 선별 + 예측 (본 연구 직접 비교)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536192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유재필·김문선 (2023), 정보화연구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유튜브 데이터 → ETF 선행 (Granger)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Olaniyan 외 (2024), Electronics·MDPI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Granger+상관분석 선별 → LSTM 예측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Joseph, Wintoki &amp; Zhang (2011), IJF 27(4)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검색기반 투자자감성 → 수익률·거래량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097280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56448" y="1097280"/>
            <a:ext cx="375818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115568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계량·통계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36192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Granger (1969), Econometrica 37(3)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Granger 인과검정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Dickey &amp; Fuller (1979), JASA 74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ADF 단위근(정상성) 검정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Diebold &amp; Mariano (1995), JBES 13(3)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예측 정확도 비교 (DM 검정)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Akaike (1974), IEEE TAC 19(6)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AIC 기준 VAR 래그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67911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4320" y="3867911"/>
            <a:ext cx="375818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3886199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머신러닝 ·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06823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Chen &amp; Guestrin (2016), KDD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XGBoost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Lundberg &amp; Lee (2017), NeurIPS 30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SHAP (TreeExplainer)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Araci (2019), arXiv:1908.10063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FinBERT (금융 감성분석)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Devlin et al. (2019), NAACL-HLT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BERT (FinBERT의 기반 모델)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5384" y="3867911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15384" y="3867911"/>
            <a:ext cx="375818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15384" y="3886199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대안자산 · 수집품 시장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4306823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Dobrynskaya &amp; Kishilova (2022), RIBF 59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LEGO를 대체투자자산으로 분석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E6DA4"/>
                </a:solidFill>
                <a:latin typeface="맑은 고딕"/>
              </a:rPr>
              <a:t>•  </a:t>
            </a:r>
            <a:r>
              <a:rPr sz="1000" b="1">
                <a:solidFill>
                  <a:srgbClr val="1F2D4E"/>
                </a:solidFill>
                <a:latin typeface="맑은 고딕"/>
              </a:rPr>
              <a:t>Raditya et al. (2021), Procedia CS 179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  스니커즈 리셀가 ML 예측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867911"/>
            <a:ext cx="3758184" cy="26060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3867911"/>
            <a:ext cx="3758184" cy="36576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886199"/>
            <a:ext cx="375818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데이터 출처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306823"/>
            <a:ext cx="3575304" cy="209397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가격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StockX · PriceCharting · BrickRanker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미디어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Google Trends · GDELT · YouTube Data API v3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기간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   2022.01 ~ 2025.12 (48개월), 15개 아이템 (3자산×5)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793AEC2-6718-6D4D-F1DD-6F230E8B3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9" y="-54233"/>
            <a:ext cx="12178234" cy="6858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3FD7234-EA11-C20F-A2A2-D0AEEA481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558" y="1609343"/>
            <a:ext cx="1510328" cy="45909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606E923-2509-95FF-3B6D-D22B5E800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518" y="2151991"/>
            <a:ext cx="1510328" cy="45909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8198EF7-02B5-5E1A-EEB3-E095615E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958" y="1761743"/>
            <a:ext cx="1510328" cy="45909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543A707-1448-0387-A9E7-3192673F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076" y="2661532"/>
            <a:ext cx="1510328" cy="45909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88A0F3C-D58B-DE23-6673-6DD1AB77F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794" y="3206705"/>
            <a:ext cx="2062642" cy="45909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FE82C2D-3854-7D7A-0545-995F783CA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64" y="3728545"/>
            <a:ext cx="1510328" cy="459093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2E3C8EE-810F-542A-DF1E-716C1F4E46FE}"/>
              </a:ext>
            </a:extLst>
          </p:cNvPr>
          <p:cNvSpPr/>
          <p:nvPr/>
        </p:nvSpPr>
        <p:spPr>
          <a:xfrm>
            <a:off x="4577794" y="3266304"/>
            <a:ext cx="2014833" cy="354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월별 조회수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D11A2DB9-0BFA-6A33-B470-F32B63DD8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80" y="4427021"/>
            <a:ext cx="1363848" cy="414568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CF5B9D-0163-1ABA-70D7-B85D82CD5470}"/>
              </a:ext>
            </a:extLst>
          </p:cNvPr>
          <p:cNvSpPr/>
          <p:nvPr/>
        </p:nvSpPr>
        <p:spPr>
          <a:xfrm>
            <a:off x="6558472" y="4453550"/>
            <a:ext cx="2014833" cy="354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용어 풀이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597D43B-78BB-9554-82C4-8FB767004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51" y="6161585"/>
            <a:ext cx="3387000" cy="45909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989B450-1B97-BBB7-8D13-B75E89438E68}"/>
              </a:ext>
            </a:extLst>
          </p:cNvPr>
          <p:cNvSpPr txBox="1"/>
          <p:nvPr/>
        </p:nvSpPr>
        <p:spPr>
          <a:xfrm>
            <a:off x="9724044" y="1173797"/>
            <a:ext cx="209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최종스케일</a:t>
            </a:r>
            <a:endParaRPr lang="ko-KR" altLang="en-US" dirty="0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5390098-DC83-9CED-8B5E-A49A92843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49" y="1143424"/>
            <a:ext cx="1027301" cy="306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364</Words>
  <Application>Microsoft Office PowerPoint</Application>
  <PresentationFormat>사용자 지정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2026-06-13T12:44:48Z</dcterms:modified>
  <cp:category/>
</cp:coreProperties>
</file>