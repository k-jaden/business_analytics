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왜 채널 선별이 예측력 향상으로 이어지지 않는가? — Olaniyan(2024)과 다른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Granger 선별이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'무엇'을 선별하느냐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에 따라 결과가 갈림 — 본 연구 데이터로 직접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11640312" cy="841248"/>
          </a:xfrm>
          <a:prstGeom prst="roundRect">
            <a:avLst/>
          </a:prstGeom>
          <a:solidFill>
            <a:srgbClr val="FCF0E6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969264"/>
            <a:ext cx="11338560" cy="74980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87722"/>
                </a:solidFill>
                <a:latin typeface="맑은 고딕"/>
              </a:rPr>
              <a:t>Olaniyan(2024)  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Granger로 선별한 OHLCV(가격·거래량) → LSTM 입력 → 예측오차 감소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E87722"/>
                </a:solidFill>
                <a:latin typeface="맑은 고딕"/>
              </a:rPr>
              <a:t>본 연구  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Granger로 선별한 미디어 채널(CH1~5) → XGBoost 입력 → AUC 변화 없음 (DM p&gt;0.50, 3자산 모두)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→  같은 </a:t>
            </a:r>
            <a:r>
              <a:rPr sz="1150" b="1">
                <a:solidFill>
                  <a:srgbClr val="E87722"/>
                </a:solidFill>
                <a:latin typeface="맑은 고딕"/>
              </a:rPr>
              <a:t>'Granger 선별'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인데 결과가 다른 이유는 — </a:t>
            </a:r>
            <a:r>
              <a:rPr sz="1150" b="1">
                <a:solidFill>
                  <a:srgbClr val="E87722"/>
                </a:solidFill>
                <a:latin typeface="맑은 고딕"/>
              </a:rPr>
              <a:t>선별 대상의 위상이 다르기 때문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01952"/>
            <a:ext cx="5632704" cy="1920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" y="1901952"/>
            <a:ext cx="563270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563270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Olaniyan(2024)이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선별한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대상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2359152"/>
            <a:ext cx="5449824" cy="32918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1F2D4E"/>
                </a:solidFill>
                <a:latin typeface="맑은 고딕"/>
              </a:rPr>
              <a:t>OHLC + Volume — 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가격·거래량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자체</a:t>
            </a:r>
            <a:endParaRPr sz="1200" b="1" dirty="0">
              <a:solidFill>
                <a:srgbClr val="1F2D4E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" y="2743200"/>
            <a:ext cx="5413248" cy="100584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예측의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핵심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'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변수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—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자기상관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모멘텀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)이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강해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원래부터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예측력이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큼</a:t>
            </a: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Granger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선별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핵심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변수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중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어떤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변수·래그를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쓸지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정리하는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역할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→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선별해도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핵심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정보는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그대로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남음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오차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감소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0488" y="1901952"/>
            <a:ext cx="5632704" cy="1920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0488" y="1901952"/>
            <a:ext cx="5632704" cy="384048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920240"/>
            <a:ext cx="563270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본 연구가 선별한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7" y="2359152"/>
            <a:ext cx="5449824" cy="32918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CH1~5 — 검색·뉴스·유튜브 등 미디어 채널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743200"/>
            <a:ext cx="5413248" cy="100584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가격 모멘텀 피처(price_vs_ma3 등)는 모든 모델(A/B/C)에 항상 포함됨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미디어 채널은 그 위에 '추가'하는 보조 신호일 뿐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Granger 선별 = '선행하는 채널'을 찾는 것 — 선행성 ≠ 예측 기여도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86783"/>
            <a:ext cx="11640312" cy="36576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986783"/>
            <a:ext cx="1133856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본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연구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데이터로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직접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확인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(results/ablation_results.csv, 3자산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평균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AUC)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52544"/>
            <a:ext cx="2103120" cy="420624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352544"/>
            <a:ext cx="2103120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352544"/>
            <a:ext cx="5943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87168" y="4352544"/>
            <a:ext cx="5779008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가격 모멘텀만 (미디어 채널 없음)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352544"/>
            <a:ext cx="359359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30767" y="4352544"/>
            <a:ext cx="3429000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0.84 ~ 0.96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73168"/>
            <a:ext cx="2103120" cy="420624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4773168"/>
            <a:ext cx="2103120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Model 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773168"/>
            <a:ext cx="5943600" cy="420624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87168" y="4773168"/>
            <a:ext cx="5779008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가격 모멘텀 + 미디어 5채널 전부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4773168"/>
            <a:ext cx="3593592" cy="420624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0767" y="4773168"/>
            <a:ext cx="3429000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7E34"/>
                </a:solidFill>
                <a:latin typeface="맑은 고딕"/>
              </a:rPr>
              <a:t>0.84 ~ 0.96  (Baseline과 거의 동일)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93792"/>
            <a:ext cx="2103120" cy="420624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5193792"/>
            <a:ext cx="2103120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Channels-only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5193792"/>
            <a:ext cx="5943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87168" y="5193792"/>
            <a:ext cx="5779008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미디어 5채널만 (가격 모멘텀 없음)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5193792"/>
            <a:ext cx="3593592" cy="420624"/>
          </a:xfrm>
          <a:prstGeom prst="rect">
            <a:avLst/>
          </a:prstGeom>
          <a:solidFill>
            <a:srgbClr val="FCF0E6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0767" y="5193792"/>
            <a:ext cx="3429000" cy="42062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맑은 고딕"/>
              </a:rPr>
              <a:t>0.47 ~ 0.53  (= </a:t>
            </a:r>
            <a:r>
              <a:rPr sz="1100" b="1" dirty="0" err="1">
                <a:solidFill>
                  <a:srgbClr val="C0392B"/>
                </a:solidFill>
                <a:latin typeface="맑은 고딕"/>
              </a:rPr>
              <a:t>무작위</a:t>
            </a:r>
            <a:r>
              <a:rPr sz="1100" b="1" dirty="0">
                <a:solidFill>
                  <a:srgbClr val="C0392B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C0392B"/>
                </a:solidFill>
                <a:latin typeface="맑은 고딕"/>
              </a:rPr>
              <a:t>수준</a:t>
            </a:r>
            <a:r>
              <a:rPr sz="1100" b="1" dirty="0">
                <a:solidFill>
                  <a:srgbClr val="C0392B"/>
                </a:solidFill>
                <a:latin typeface="맑은 고딕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760720"/>
            <a:ext cx="11640312" cy="713232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6000804"/>
            <a:ext cx="11338560" cy="251351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dirty="0" err="1">
                <a:solidFill>
                  <a:srgbClr val="FFFFFF"/>
                </a:solidFill>
                <a:latin typeface="맑은 고딕"/>
              </a:rPr>
              <a:t>결론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가격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모멘텀이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예측력의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거의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전부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미디어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채널은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선행성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(Granger, RQ1)은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있어도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예측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기여도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(RQ3)는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거의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없음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기존 방법과 비교 — 선형회귀보다 얼마나 좋아졌나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같은 데이터·같은 검증 방식으로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기존 방법(선형회귀) vs 본 연구(XGBoost+미디어)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를 비교</a:t>
            </a:r>
          </a:p>
        </p:txBody>
      </p:sp>
      <p:pic>
        <p:nvPicPr>
          <p:cNvPr id="6" name="Picture 5" descr="benchmark_comparison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917258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097280"/>
            <a:ext cx="4572000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25512" y="1207008"/>
            <a:ext cx="4242816" cy="82296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D4E"/>
                </a:solidFill>
                <a:latin typeface="맑은 고딕"/>
              </a:rPr>
              <a:t>AUC란?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0A0A0A"/>
                </a:solidFill>
                <a:latin typeface="맑은 고딕"/>
              </a:rPr>
              <a:t>가격이 </a:t>
            </a:r>
            <a:r>
              <a:rPr sz="1250" b="1">
                <a:solidFill>
                  <a:srgbClr val="0A0A0A"/>
                </a:solidFill>
                <a:latin typeface="맑은 고딕"/>
              </a:rPr>
              <a:t>오를지·내릴지</a:t>
            </a:r>
            <a:r>
              <a:rPr sz="1250" b="0">
                <a:solidFill>
                  <a:srgbClr val="0A0A0A"/>
                </a:solidFill>
                <a:latin typeface="맑은 고딕"/>
              </a:rPr>
              <a:t> 맞히는 정확도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0A0A0A"/>
                </a:solidFill>
                <a:latin typeface="맑은 고딕"/>
              </a:rPr>
              <a:t>0.5 = 찍기(동전)   ·   1.0 = 완벽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240280"/>
            <a:ext cx="4572000" cy="1417320"/>
          </a:xfrm>
          <a:prstGeom prst="roundRect">
            <a:avLst/>
          </a:prstGeom>
          <a:solidFill>
            <a:srgbClr val="E7F2E9"/>
          </a:solidFill>
          <a:ln w="12700">
            <a:solidFill>
              <a:srgbClr val="1E7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25512" y="2359152"/>
            <a:ext cx="4242816" cy="123444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E7E34"/>
                </a:solidFill>
                <a:latin typeface="맑은 고딕"/>
              </a:rPr>
              <a:t>결과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0A0A"/>
                </a:solidFill>
                <a:latin typeface="맑은 고딕"/>
              </a:rPr>
              <a:t>기존 방법 (선형회귀)  </a:t>
            </a:r>
            <a:r>
              <a:rPr sz="1500" b="1">
                <a:solidFill>
                  <a:srgbClr val="C0392B"/>
                </a:solidFill>
                <a:latin typeface="맑은 고딕"/>
              </a:rPr>
              <a:t>0.60 ~ 0.71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0A0A"/>
                </a:solidFill>
                <a:latin typeface="맑은 고딕"/>
              </a:rPr>
              <a:t>본 연구 (XGBoost+미디어)  </a:t>
            </a:r>
            <a:r>
              <a:rPr sz="1500" b="1">
                <a:solidFill>
                  <a:srgbClr val="1E7E34"/>
                </a:solidFill>
                <a:latin typeface="맑은 고딕"/>
              </a:rPr>
              <a:t>0.84 ~ 0.96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E7E34"/>
                </a:solidFill>
                <a:latin typeface="맑은 고딕"/>
              </a:rPr>
              <a:t>→  최대 +0.29 향상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794760"/>
            <a:ext cx="4572000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25512" y="3904487"/>
            <a:ext cx="4242816" cy="178308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D4E"/>
                </a:solidFill>
                <a:latin typeface="맑은 고딕"/>
              </a:rPr>
              <a:t>왜 좋아졌을까?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6DA4"/>
                </a:solidFill>
                <a:latin typeface="맑은 고딕"/>
              </a:rPr>
              <a:t>①  </a:t>
            </a:r>
            <a:r>
              <a:rPr sz="1200" b="1">
                <a:solidFill>
                  <a:srgbClr val="0A0A0A"/>
                </a:solidFill>
                <a:latin typeface="맑은 고딕"/>
              </a:rPr>
              <a:t>트리 기반 모델(XGBoost)</a:t>
            </a:r>
            <a:r>
              <a:rPr sz="1200" b="0">
                <a:solidFill>
                  <a:srgbClr val="0A0A0A"/>
                </a:solidFill>
                <a:latin typeface="맑은 고딕"/>
              </a:rPr>
              <a:t> — 복잡한 패턴도 학습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6DA4"/>
                </a:solidFill>
                <a:latin typeface="맑은 고딕"/>
              </a:rPr>
              <a:t>②  </a:t>
            </a:r>
            <a:r>
              <a:rPr sz="1200" b="1">
                <a:solidFill>
                  <a:srgbClr val="0A0A0A"/>
                </a:solidFill>
                <a:latin typeface="맑은 고딕"/>
              </a:rPr>
              <a:t>가격 모멘텀(최근 추세)</a:t>
            </a:r>
            <a:r>
              <a:rPr sz="1200" b="0">
                <a:solidFill>
                  <a:srgbClr val="0A0A0A"/>
                </a:solidFill>
                <a:latin typeface="맑은 고딕"/>
              </a:rPr>
              <a:t> 피처 추가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6DA4"/>
                </a:solidFill>
                <a:latin typeface="맑은 고딕"/>
              </a:rPr>
              <a:t>③  </a:t>
            </a:r>
            <a:r>
              <a:rPr sz="1200" b="1">
                <a:solidFill>
                  <a:srgbClr val="0A0A0A"/>
                </a:solidFill>
                <a:latin typeface="맑은 고딕"/>
              </a:rPr>
              <a:t>미디어 채널(검색·뉴스·유튜브)</a:t>
            </a:r>
            <a:r>
              <a:rPr sz="1200" b="0">
                <a:solidFill>
                  <a:srgbClr val="0A0A0A"/>
                </a:solidFill>
                <a:latin typeface="맑은 고딕"/>
              </a:rPr>
              <a:t> 로 보조 정보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897880"/>
            <a:ext cx="11567160" cy="713232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129284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핵심  </a:t>
            </a:r>
            <a:r>
              <a:rPr sz="1250" b="0">
                <a:solidFill>
                  <a:srgbClr val="FFFFFF"/>
                </a:solidFill>
                <a:latin typeface="맑은 고딕"/>
              </a:rPr>
              <a:t>기존 선형회귀 방식보다 머신러닝+미디어 채널 접근이 리셀 가격 방향 예측에 훨씬 효과적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</a:rPr>
              <a:t>동일 데이터 · 동일 검증(시간순 5-fold 교차검증) 조건에서 비교한 결과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441</Words>
  <Application>Microsoft Office PowerPoint</Application>
  <PresentationFormat>사용자 지정</PresentationFormat>
  <Paragraphs>41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2026-06-13T12:44:44Z</dcterms:modified>
  <cp:category/>
</cp:coreProperties>
</file>