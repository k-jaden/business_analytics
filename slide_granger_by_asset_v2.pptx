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맑은 고딕"/>
              </a:rPr>
              <a:t>RQ1·RQ2 Granger 인과검정 결과 — 자산별 정리(스니커즈·카드·레고)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자산별로 묶어 다시 정리 + </a:t>
            </a:r>
            <a:r>
              <a:rPr sz="1300" b="1">
                <a:solidFill>
                  <a:srgbClr val="E87722"/>
                </a:solidFill>
                <a:latin typeface="맑은 고딕"/>
              </a:rPr>
              <a:t>유의성 판단 기준(F·p)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 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43584"/>
            <a:ext cx="5989320" cy="305409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ranger_by_as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70" y="1024128"/>
            <a:ext cx="5496430" cy="320528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46520" y="1243584"/>
            <a:ext cx="960120" cy="310896"/>
          </a:xfrm>
          <a:prstGeom prst="rect">
            <a:avLst/>
          </a:prstGeom>
          <a:solidFill>
            <a:srgbClr val="1F2D4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243584"/>
            <a:ext cx="960120" cy="310896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</a:rPr>
              <a:t>자산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243584"/>
            <a:ext cx="1920240" cy="310896"/>
          </a:xfrm>
          <a:prstGeom prst="rect">
            <a:avLst/>
          </a:prstGeom>
          <a:solidFill>
            <a:srgbClr val="1F2D4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0" y="1243584"/>
            <a:ext cx="1920240" cy="310896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</a:rPr>
              <a:t>채널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243584"/>
            <a:ext cx="502920" cy="310896"/>
          </a:xfrm>
          <a:prstGeom prst="rect">
            <a:avLst/>
          </a:prstGeom>
          <a:solidFill>
            <a:srgbClr val="1F2D4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0" y="1243584"/>
            <a:ext cx="502920" cy="310896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</a:rPr>
              <a:t>래그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29800" y="1243584"/>
            <a:ext cx="640080" cy="310896"/>
          </a:xfrm>
          <a:prstGeom prst="rect">
            <a:avLst/>
          </a:prstGeom>
          <a:solidFill>
            <a:srgbClr val="1F2D4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29800" y="1243584"/>
            <a:ext cx="640080" cy="310896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69880" y="1243584"/>
            <a:ext cx="777240" cy="310896"/>
          </a:xfrm>
          <a:prstGeom prst="rect">
            <a:avLst/>
          </a:prstGeom>
          <a:solidFill>
            <a:srgbClr val="1F2D4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69880" y="1243584"/>
            <a:ext cx="777240" cy="310896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</a:rPr>
              <a:t>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47119" y="1243584"/>
            <a:ext cx="777240" cy="310896"/>
          </a:xfrm>
          <a:prstGeom prst="rect">
            <a:avLst/>
          </a:prstGeom>
          <a:solidFill>
            <a:srgbClr val="1F2D4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247119" y="1243584"/>
            <a:ext cx="777240" cy="310896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</a:rPr>
              <a:t>판정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1554480"/>
            <a:ext cx="9601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55448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2D4E"/>
                </a:solidFill>
                <a:latin typeface="맑은 고딕"/>
              </a:rPr>
              <a:t>스니커즈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1554480"/>
            <a:ext cx="1920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0" y="155448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CH3 뉴스감성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1554480"/>
            <a:ext cx="5029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155448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9800" y="1554480"/>
            <a:ext cx="64008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29800" y="155448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13.38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9880" y="1554480"/>
            <a:ext cx="777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69880" y="155448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0.0007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247119" y="1554480"/>
            <a:ext cx="777240" cy="182880"/>
          </a:xfrm>
          <a:prstGeom prst="rect">
            <a:avLst/>
          </a:prstGeom>
          <a:solidFill>
            <a:srgbClr val="1E7E3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247119" y="155448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유의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1737360"/>
            <a:ext cx="9601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406640" y="1737360"/>
            <a:ext cx="1920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06640" y="173736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CH4 YT조회수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1737360"/>
            <a:ext cx="5029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0" y="173736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29800" y="1737360"/>
            <a:ext cx="64008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29800" y="173736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4.73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69880" y="1737360"/>
            <a:ext cx="777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469880" y="173736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0.035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247119" y="1737360"/>
            <a:ext cx="777240" cy="182880"/>
          </a:xfrm>
          <a:prstGeom prst="rect">
            <a:avLst/>
          </a:prstGeom>
          <a:solidFill>
            <a:srgbClr val="1E7E3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247119" y="173736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유의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1920240"/>
            <a:ext cx="9601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46520" y="192024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406640" y="1920240"/>
            <a:ext cx="1920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06640" y="192024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CH1 Google Trends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26880" y="1920240"/>
            <a:ext cx="5029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26880" y="192024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29800" y="1920240"/>
            <a:ext cx="64008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829800" y="192024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3.47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69880" y="1920240"/>
            <a:ext cx="777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469880" y="192024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0.041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247119" y="1920240"/>
            <a:ext cx="777240" cy="182880"/>
          </a:xfrm>
          <a:prstGeom prst="rect">
            <a:avLst/>
          </a:prstGeom>
          <a:solidFill>
            <a:srgbClr val="1E7E3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1247119" y="192024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유의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2103120"/>
            <a:ext cx="9601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46520" y="210312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406640" y="2103120"/>
            <a:ext cx="1920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406640" y="210312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CH2 뉴스량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6880" y="2103120"/>
            <a:ext cx="5029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326880" y="210312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29800" y="2103120"/>
            <a:ext cx="64008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829800" y="210312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1.55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469880" y="2103120"/>
            <a:ext cx="777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469880" y="210312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0.220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247119" y="210312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1247119" y="210312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46520" y="2286000"/>
            <a:ext cx="9601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46520" y="228600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406640" y="2286000"/>
            <a:ext cx="1920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406640" y="228600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CH5 YT댓글감성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26880" y="2286000"/>
            <a:ext cx="5029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326880" y="228600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29800" y="2286000"/>
            <a:ext cx="64008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829800" y="228600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0.09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469880" y="2286000"/>
            <a:ext cx="777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469880" y="228600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0.764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247119" y="228600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1247119" y="228600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46520" y="2468880"/>
            <a:ext cx="9601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446520" y="246888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2D4E"/>
                </a:solidFill>
                <a:latin typeface="맑은 고딕"/>
              </a:rPr>
              <a:t>카드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06640" y="2468880"/>
            <a:ext cx="1920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406640" y="246888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CH1 Google Trends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26880" y="2468880"/>
            <a:ext cx="5029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326880" y="246888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829800" y="2468880"/>
            <a:ext cx="64008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829800" y="246888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8.42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469880" y="2468880"/>
            <a:ext cx="777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469880" y="246888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0.006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247119" y="2468880"/>
            <a:ext cx="777240" cy="182880"/>
          </a:xfrm>
          <a:prstGeom prst="rect">
            <a:avLst/>
          </a:prstGeom>
          <a:solidFill>
            <a:srgbClr val="1E7E3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1247119" y="246888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유의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46520" y="2651760"/>
            <a:ext cx="9601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446520" y="265176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7406640" y="2651760"/>
            <a:ext cx="1920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406640" y="265176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CH3 뉴스감성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326880" y="2651760"/>
            <a:ext cx="5029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326880" y="265176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829800" y="2651760"/>
            <a:ext cx="64008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829800" y="265176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1.41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469880" y="2651760"/>
            <a:ext cx="777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469880" y="265176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0.242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247119" y="265176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1247119" y="265176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446520" y="2834640"/>
            <a:ext cx="9601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446520" y="283464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7406640" y="2834640"/>
            <a:ext cx="1920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406640" y="283464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CH2 뉴스량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326880" y="2834640"/>
            <a:ext cx="5029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326880" y="283464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829800" y="2834640"/>
            <a:ext cx="64008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829800" y="283464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0.73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469880" y="2834640"/>
            <a:ext cx="777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0469880" y="283464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0.398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1247119" y="283464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1247119" y="283464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446520" y="3017520"/>
            <a:ext cx="9601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446520" y="301752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7406640" y="3017520"/>
            <a:ext cx="1920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406640" y="301752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CH5 YT댓글감성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326880" y="3017520"/>
            <a:ext cx="5029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9326880" y="301752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829800" y="3017520"/>
            <a:ext cx="64008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829800" y="301752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0.61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469880" y="3017520"/>
            <a:ext cx="777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0469880" y="301752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0.438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1247119" y="301752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1247119" y="301752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446520" y="3200400"/>
            <a:ext cx="9601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446520" y="320040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7406640" y="3200400"/>
            <a:ext cx="1920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406640" y="320040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CH4 YT조회수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326880" y="3200400"/>
            <a:ext cx="5029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9326880" y="320040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829800" y="3200400"/>
            <a:ext cx="64008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829800" y="320040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0.25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469880" y="3200400"/>
            <a:ext cx="777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10469880" y="320040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0.622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247119" y="320040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1247119" y="320040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446520" y="3383280"/>
            <a:ext cx="9601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446520" y="338328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2D4E"/>
                </a:solidFill>
                <a:latin typeface="맑은 고딕"/>
              </a:rPr>
              <a:t>레고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406640" y="3383280"/>
            <a:ext cx="1920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406640" y="338328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CH1 Google Trends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326880" y="3383280"/>
            <a:ext cx="5029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9326880" y="338328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829800" y="3383280"/>
            <a:ext cx="64008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9829800" y="338328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3.92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469880" y="3383280"/>
            <a:ext cx="777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10469880" y="338328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0.054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1247119" y="3383280"/>
            <a:ext cx="777240" cy="182880"/>
          </a:xfrm>
          <a:prstGeom prst="rect">
            <a:avLst/>
          </a:prstGeom>
          <a:solidFill>
            <a:srgbClr val="E8772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1247119" y="338328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경계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446520" y="3566160"/>
            <a:ext cx="9601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6446520" y="356616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406640" y="3566160"/>
            <a:ext cx="1920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7406640" y="356616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CH4 YT조회수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326880" y="3566160"/>
            <a:ext cx="5029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9326880" y="356616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829800" y="3566160"/>
            <a:ext cx="64008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9829800" y="356616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1.83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0469880" y="3566160"/>
            <a:ext cx="777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10469880" y="356616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0.183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1247119" y="356616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11247119" y="356616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446520" y="3749040"/>
            <a:ext cx="9601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6446520" y="374904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7406640" y="3749040"/>
            <a:ext cx="1920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406640" y="374904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CH3 뉴스감성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326880" y="3749040"/>
            <a:ext cx="5029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9326880" y="374904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9829800" y="3749040"/>
            <a:ext cx="64008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9829800" y="374904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0.40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0469880" y="3749040"/>
            <a:ext cx="777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10469880" y="374904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0.530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1247119" y="374904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11247119" y="374904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446520" y="3931920"/>
            <a:ext cx="9601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6446520" y="393192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7406640" y="3931920"/>
            <a:ext cx="1920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7406640" y="393192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CH2 뉴스량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9326880" y="3931920"/>
            <a:ext cx="5029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9326880" y="393192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829800" y="3931920"/>
            <a:ext cx="64008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9829800" y="393192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0.32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469880" y="3931920"/>
            <a:ext cx="777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10469880" y="393192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0.576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1247119" y="393192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11247119" y="393192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446520" y="4114800"/>
            <a:ext cx="9601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6446520" y="411480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7406640" y="4114800"/>
            <a:ext cx="1920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7406640" y="411480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CH5 YT댓글감성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326880" y="4114800"/>
            <a:ext cx="5029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9326880" y="411480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829800" y="4114800"/>
            <a:ext cx="64008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9829800" y="411480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0.17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0469880" y="4114800"/>
            <a:ext cx="777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10469880" y="411480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0.680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1247119" y="411480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11247119" y="411480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274320" y="4443984"/>
            <a:ext cx="11640312" cy="1417320"/>
          </a:xfrm>
          <a:prstGeom prst="roundRect">
            <a:avLst/>
          </a:prstGeom>
          <a:solidFill>
            <a:srgbClr val="EAF1FA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438912" y="4517136"/>
            <a:ext cx="11311128" cy="329184"/>
          </a:xfrm>
          <a:prstGeom prst="rect">
            <a:avLst/>
          </a:prstGeom>
          <a:noFill/>
        </p:spPr>
        <p:txBody>
          <a:bodyPr wrap="square" lIns="50800" tIns="12700" rIns="508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6DA4"/>
                </a:solidFill>
                <a:latin typeface="맑은 고딕"/>
              </a:rPr>
              <a:t>F값·p값, 어느 기준으로 '유의'를 판단하나?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38912" y="4864608"/>
            <a:ext cx="11311128" cy="923544"/>
          </a:xfrm>
          <a:prstGeom prst="rect">
            <a:avLst/>
          </a:prstGeom>
          <a:noFill/>
        </p:spPr>
        <p:txBody>
          <a:bodyPr wrap="square" lIns="50800" tIns="12700" rIns="50800" bIns="127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F값에는 '이 값 이상이면 유의'라는 고정된 기준이 없음 — 임계값이 표본 수(n=48)·래그(lag)마다 달라지기 때문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    (lag=1이면 F </a:t>
            </a:r>
            <a:r>
              <a:rPr sz="1100" b="1">
                <a:solidFill>
                  <a:srgbClr val="2E6DA4"/>
                </a:solidFill>
                <a:latin typeface="맑은 고딕"/>
              </a:rPr>
              <a:t>≥ 약 4.06</a:t>
            </a:r>
            <a:r>
              <a:rPr sz="1100" b="0">
                <a:solidFill>
                  <a:srgbClr val="0A0A0A"/>
                </a:solidFill>
                <a:latin typeface="맑은 고딕"/>
              </a:rPr>
              <a:t>, lag=2이면 F </a:t>
            </a:r>
            <a:r>
              <a:rPr sz="1100" b="1">
                <a:solidFill>
                  <a:srgbClr val="2E6DA4"/>
                </a:solidFill>
                <a:latin typeface="맑은 고딕"/>
              </a:rPr>
              <a:t>≥ 약 3.21</a:t>
            </a:r>
            <a:r>
              <a:rPr sz="1100" b="0">
                <a:solidFill>
                  <a:srgbClr val="0A0A0A"/>
                </a:solidFill>
                <a:latin typeface="맑은 고딕"/>
              </a:rPr>
              <a:t>일 때 p&lt;0.05 — 같은 'p&lt;0.05'도 lag에 따라 F 값 자체는 다름)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그래서 그래프는 F가 아닌 </a:t>
            </a:r>
            <a:r>
              <a:rPr sz="1100" b="1">
                <a:solidFill>
                  <a:srgbClr val="1E7E34"/>
                </a:solidFill>
                <a:latin typeface="맑은 고딕"/>
              </a:rPr>
              <a:t>p값을 -log10(p)로 환산</a:t>
            </a:r>
            <a:r>
              <a:rPr sz="1100" b="0">
                <a:solidFill>
                  <a:srgbClr val="0A0A0A"/>
                </a:solidFill>
                <a:latin typeface="맑은 고딕"/>
              </a:rPr>
              <a:t>해 표시 — 모든 채널에 동일한 기준선(p=0.05, p=0.10) 하나로 색상을 그대로 판단 가능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본 연구의 최종 판정 기준은 </a:t>
            </a:r>
            <a:r>
              <a:rPr sz="1100" b="1">
                <a:solidFill>
                  <a:srgbClr val="1E7E34"/>
                </a:solidFill>
                <a:latin typeface="맑은 고딕"/>
              </a:rPr>
              <a:t>p &lt; 0.05</a:t>
            </a:r>
            <a:r>
              <a:rPr sz="1100" b="0">
                <a:solidFill>
                  <a:srgbClr val="0A0A0A"/>
                </a:solidFill>
                <a:latin typeface="맑은 고딕"/>
              </a:rPr>
              <a:t> (유의), 0.05~0.10은 '경계'. F·lag 원값은 우측 표 참고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•  다중비교(BH) 보정을 적용하면 '유의' 4개 중 2개(스니커즈 CH3, 카드 CH1)만 남음 — 보수적 해석 시 참고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274320" y="5989320"/>
            <a:ext cx="5728716" cy="731520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420623" y="5989320"/>
            <a:ext cx="5436108" cy="73152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결론 RQ1  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맑은 고딕"/>
              </a:rPr>
              <a:t>미디어가 가격 선행성 부분 지지 — 스니커즈 3개(CH3·CH4·CH1)·카드 1개(CH1) 채널이 유의(p&lt;0.05)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185916" y="5989320"/>
            <a:ext cx="5728716" cy="731520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6332220" y="5989320"/>
            <a:ext cx="5436108" cy="73152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결론 RQ2  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맑은 고딕"/>
              </a:rPr>
              <a:t>자산 유형마다 선행하는 채널 구성이 다름 → 레고는 유의 채널 없음, 스니커즈·카드는 서로 다른 채널 조합 → RQ2 지지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363</Words>
  <Application>Microsoft Office PowerPoint</Application>
  <PresentationFormat>사용자 지정</PresentationFormat>
  <Paragraphs>96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2</cp:revision>
  <dcterms:created xsi:type="dcterms:W3CDTF">2013-01-27T09:14:16Z</dcterms:created>
  <dcterms:modified xsi:type="dcterms:W3CDTF">2026-06-15T05:41:25Z</dcterms:modified>
  <cp:category/>
</cp:coreProperties>
</file>