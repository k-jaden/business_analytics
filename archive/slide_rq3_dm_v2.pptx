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F2D4E"/>
          </a:solidFill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b="1" sz="2000">
                <a:solidFill>
                  <a:srgbClr val="FFFFFF"/>
                </a:solidFill>
                <a:latin typeface="Calibri"/>
              </a:rPr>
              <a:t>  RQ3: 선별 채널 모델이 전채널 모델과 동등한가? — DM 검정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58368"/>
            <a:ext cx="12188952" cy="2286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82880" y="690372"/>
            <a:ext cx="1188720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b="0" i="1" sz="900">
                <a:solidFill>
                  <a:srgbClr val="555555"/>
                </a:solidFill>
                <a:latin typeface="Calibri"/>
              </a:rPr>
              <a:t>Diebold-Mariano 검정으로 'Model A(전채널) = Model C(SHAP 선별 2채널)' 가설을 통계적으로 검증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978408"/>
            <a:ext cx="4160520" cy="5349240"/>
          </a:xfrm>
          <a:prstGeom prst="rect">
            <a:avLst/>
          </a:prstGeom>
          <a:solidFill>
            <a:srgbClr val="F0F4FF"/>
          </a:solidFill>
          <a:ln w="9525">
            <a:solidFill>
              <a:srgbClr val="BBBBBB"/>
            </a:solidFill>
          </a:ln>
        </p:spPr>
        <p:txBody>
          <a:bodyPr wrap="none">
            <a:spAutoFit/>
          </a:bodyPr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338328" y="1069848"/>
            <a:ext cx="388620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1F2D4E"/>
                </a:solidFill>
                <a:latin typeface="Calibri"/>
              </a:rPr>
              <a:t>왜 DM 검정이 필요한가?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" y="1453896"/>
            <a:ext cx="3886200" cy="20116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38328" y="1527048"/>
            <a:ext cx="3886200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1F2D4E"/>
                </a:solidFill>
                <a:latin typeface="Calibri"/>
              </a:rPr>
              <a:t>문제: AUC 숫자 비교만으론 부족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" y="1828800"/>
            <a:ext cx="3886200" cy="7772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b="0" i="0" sz="1050">
                <a:solidFill>
                  <a:srgbClr val="0A0A0A"/>
                </a:solidFill>
                <a:latin typeface="Calibri"/>
              </a:rPr>
              <a:t>A AUC = 0.841, C AUC = 0.840
→ "C가 약간 낮네?" 라고만 보임
→ 이 차이가 우연인지, 진짜 차이인지 알 수 없음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" y="2624328"/>
            <a:ext cx="3886200" cy="16459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38328" y="2688336"/>
            <a:ext cx="3886200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1F2D4E"/>
                </a:solidFill>
                <a:latin typeface="Calibri"/>
              </a:rPr>
              <a:t>DM 검정이 하는 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" y="2990088"/>
            <a:ext cx="3886200" cy="1645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b="0" i="0" sz="1050">
                <a:solidFill>
                  <a:srgbClr val="0A0A0A"/>
                </a:solidFill>
                <a:latin typeface="Calibri"/>
              </a:rPr>
              <a:t>두 모델의 예측 오차 시계열을 직접 비교
→ 오차 차이가 통계적으로 유의한지 검정
H₀: 두 모델의 예측 오차 크기가 같다
p &gt; 0.05  →  H₀ 기각 실패
  = '통계적으로 차이없음' 공식 확인
  = Model C가 A와 동등하다고 주장 가능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" y="4681728"/>
            <a:ext cx="3886200" cy="16459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38328" y="4745736"/>
            <a:ext cx="3886200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1F2D4E"/>
                </a:solidFill>
                <a:latin typeface="Calibri"/>
              </a:rPr>
              <a:t>왜 이게 중요한가?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" y="5047488"/>
            <a:ext cx="3886200" cy="11887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b="0" i="0" sz="1050">
                <a:solidFill>
                  <a:srgbClr val="0A0A0A"/>
                </a:solidFill>
                <a:latin typeface="Calibri"/>
              </a:rPr>
              <a:t>RQ3 핵심 주장:
"5개 채널 대신 2개만 써도 충분하다"
DM 검정 없이는 → 단순 AUC 비교
DM 검정 있으면 → 통계적 동등성 입증
= 간결성(parsimony) 근거 확보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978408"/>
            <a:ext cx="7498079" cy="3703320"/>
          </a:xfrm>
          <a:prstGeom prst="rect">
            <a:avLst/>
          </a:prstGeom>
        </p:spPr>
      </p:pic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4526280" y="4773168"/>
          <a:ext cx="9098280" cy="1956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143000"/>
                <a:gridCol w="1234440"/>
                <a:gridCol w="1143000"/>
                <a:gridCol w="1097280"/>
                <a:gridCol w="822960"/>
                <a:gridCol w="2331720"/>
              </a:tblGrid>
              <a:tr h="489204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자산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A AUC
(전채널)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B AUC
(Granger)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C AUC
(SHAP)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DM A↔C
통계량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DM A↔C
p값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판정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</a:tr>
              <a:tr h="489204"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스니커즈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0.8413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0.8461 †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0.8401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-0.417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0.678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A0A0A"/>
                          </a:solidFill>
                          <a:latin typeface="Calibri"/>
                        </a:rPr>
                        <a:t>H₀ 기각 실패
→ 동등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</a:tr>
              <a:tr h="489204"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카드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0.8587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0.8612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0.8590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-0.670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0.504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A0A0A"/>
                          </a:solidFill>
                          <a:latin typeface="Calibri"/>
                        </a:rPr>
                        <a:t>H₀ 기각 실패
→ 동등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</a:tr>
              <a:tr h="489204"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레고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0.9601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0.9601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0.9626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+0.460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0.646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A0A0A"/>
                          </a:solidFill>
                          <a:latin typeface="Calibri"/>
                        </a:rPr>
                        <a:t>H₀ 기각 실패
→ 동등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201168" y="6492240"/>
            <a:ext cx="11887200" cy="292608"/>
          </a:xfrm>
          <a:prstGeom prst="rect">
            <a:avLst/>
          </a:prstGeom>
          <a:solidFill>
            <a:srgbClr val="1F2D4E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274320" y="6510528"/>
            <a:ext cx="1175004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b="1" i="0" sz="1000">
                <a:solidFill>
                  <a:srgbClr val="FFFFFF"/>
                </a:solidFill>
                <a:latin typeface="Calibri"/>
              </a:rPr>
              <a:t>결론 RQ3  |  3자산 모두 DM p &gt; 0.50 → H₀ 기각 실패 → SHAP 상위 2채널(Model C)로도 전채널(A)과 통계적으로 동등한 예측 성능 달성  →  간결성(Parsimony) 확인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