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SHAP 채널 선택 — '몇 개를 남길까?'를 수치 기준으로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임의의 '상위 2개' →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평균 중요도 임계값(scikit-learn 기본 기준)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으로 대체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343400" cy="278892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3" y="1280160"/>
            <a:ext cx="4050791" cy="32918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E6DA4"/>
                </a:solidFill>
                <a:latin typeface="맑은 고딕"/>
              </a:rPr>
              <a:t>몇 개를 남길지, 무엇을 기준으로?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3" y="1645920"/>
            <a:ext cx="4050791" cy="2240279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기존: </a:t>
            </a:r>
            <a:r>
              <a:rPr sz="1100" b="1">
                <a:solidFill>
                  <a:srgbClr val="E87722"/>
                </a:solidFill>
                <a:latin typeface="맑은 고딕"/>
              </a:rPr>
              <a:t>'상위 2개'는 임의 선택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— "왜 2개?" 근거 부족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도입 기준: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평균 중요도 임계값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채널 SHAP가 </a:t>
            </a:r>
            <a:r>
              <a:rPr sz="1050" b="1">
                <a:solidFill>
                  <a:srgbClr val="1E7E34"/>
                </a:solidFill>
                <a:latin typeface="맑은 고딕"/>
              </a:rPr>
              <a:t>'5개 채널의 평균 SHAP'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 이상인 채널만 채택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→ 남길 개수를 </a:t>
            </a:r>
            <a:r>
              <a:rPr sz="1050" b="1">
                <a:solidFill>
                  <a:srgbClr val="1E7E34"/>
                </a:solidFill>
                <a:latin typeface="맑은 고딕"/>
              </a:rPr>
              <a:t>데이터가 결정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 (임의의 k 없음)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근거: </a:t>
            </a:r>
            <a:r>
              <a:rPr sz="1000" b="1">
                <a:solidFill>
                  <a:srgbClr val="2E6DA4"/>
                </a:solidFill>
                <a:latin typeface="맑은 고딕"/>
              </a:rPr>
              <a:t>scikit-learn SelectFromModel 기본값 threshold='mean'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>   + 누적중요도 방식 (J. Big Data 2024 등) 계열의 표준 규칙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결과: 세 자산 모두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정확히 2개 채널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선택됨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23944"/>
            <a:ext cx="4343400" cy="17556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4197096"/>
            <a:ext cx="4050791" cy="274320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선택 모델(C) vs 전채널(A) — DM 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" y="4507992"/>
            <a:ext cx="960120" cy="274320"/>
          </a:xfrm>
          <a:prstGeom prst="rect">
            <a:avLst/>
          </a:prstGeom>
          <a:solidFill>
            <a:srgbClr val="1F2D4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4507992"/>
            <a:ext cx="960120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744" y="4507992"/>
            <a:ext cx="1188720" cy="274320"/>
          </a:xfrm>
          <a:prstGeom prst="rect">
            <a:avLst/>
          </a:prstGeom>
          <a:solidFill>
            <a:srgbClr val="1F2D4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744" y="4507992"/>
            <a:ext cx="1188720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선택 채널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9464" y="4507992"/>
            <a:ext cx="868680" cy="274320"/>
          </a:xfrm>
          <a:prstGeom prst="rect">
            <a:avLst/>
          </a:prstGeom>
          <a:solidFill>
            <a:srgbClr val="1F2D4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4507992"/>
            <a:ext cx="868680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DM 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8144" y="4507992"/>
            <a:ext cx="960120" cy="274320"/>
          </a:xfrm>
          <a:prstGeom prst="rect">
            <a:avLst/>
          </a:prstGeom>
          <a:solidFill>
            <a:srgbClr val="1F2D4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4507992"/>
            <a:ext cx="960120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3" y="47823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" y="4782312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0A0A"/>
                </a:solidFill>
                <a:latin typeface="맑은 고딕"/>
              </a:rPr>
              <a:t>스니커즈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0744" y="478231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0744" y="4782312"/>
            <a:ext cx="11887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CH1+CH5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9464" y="478231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9464" y="4782312"/>
            <a:ext cx="86868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8144" y="4782312"/>
            <a:ext cx="960120" cy="310896"/>
          </a:xfrm>
          <a:prstGeom prst="rect">
            <a:avLst/>
          </a:prstGeom>
          <a:solidFill>
            <a:srgbClr val="1E7E3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4782312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동등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" y="5093207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3" y="5093207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0A0A"/>
                </a:solidFill>
                <a:latin typeface="맑은 고딕"/>
              </a:rPr>
              <a:t>카드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0744" y="5093207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0744" y="5093207"/>
            <a:ext cx="11887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CH4+CH5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9464" y="5093207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9464" y="5093207"/>
            <a:ext cx="86868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38144" y="5093207"/>
            <a:ext cx="960120" cy="310896"/>
          </a:xfrm>
          <a:prstGeom prst="rect">
            <a:avLst/>
          </a:prstGeom>
          <a:solidFill>
            <a:srgbClr val="1E7E3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38144" y="5093207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동등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3" y="5404103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3" y="5404103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0A0A"/>
                </a:solidFill>
                <a:latin typeface="맑은 고딕"/>
              </a:rPr>
              <a:t>레고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80744" y="5404103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80744" y="5404103"/>
            <a:ext cx="11887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CH4+CH5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9464" y="5404103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9464" y="5404103"/>
            <a:ext cx="86868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38144" y="5404103"/>
            <a:ext cx="960120" cy="310896"/>
          </a:xfrm>
          <a:prstGeom prst="rect">
            <a:avLst/>
          </a:prstGeom>
          <a:solidFill>
            <a:srgbClr val="1E7E3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38144" y="5404103"/>
            <a:ext cx="960120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동등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18888" y="1188720"/>
            <a:ext cx="7095744" cy="3246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298448"/>
            <a:ext cx="6876288" cy="216601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818888" y="4581144"/>
            <a:ext cx="7095744" cy="1755648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65192" y="4654296"/>
            <a:ext cx="6803136" cy="274320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87722"/>
                </a:solidFill>
                <a:latin typeface="맑은 고딕"/>
              </a:rPr>
              <a:t>강건성 점검 — 기준을 바꿔도 결론이 유지되나?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5192" y="4965192"/>
            <a:ext cx="6803136" cy="1298448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더 느슨한 기준(누적 SHAP 80%)을 쓰면 레고는 채널이 </a:t>
            </a:r>
            <a:r>
              <a:rPr sz="1100" b="1">
                <a:solidFill>
                  <a:srgbClr val="E87722"/>
                </a:solidFill>
                <a:latin typeface="맑은 고딕"/>
              </a:rPr>
              <a:t>3개로 늘어남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→ 약한 3번째 채널이 노이즈로 작용, DM p=0.021로 </a:t>
            </a:r>
            <a:r>
              <a:rPr sz="1100" b="1">
                <a:solidFill>
                  <a:srgbClr val="E87722"/>
                </a:solidFill>
                <a:latin typeface="맑은 고딕"/>
              </a:rPr>
              <a:t>오히려 전채널(A)이 더 우수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즉 채널을 더 넣는다고 좋아지지 않음 —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'적게 쓰는 것이 충분하다'는 간결성(parsimony) 주장이 강화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'평균 중요도 임계값'은 자산마다 딱 2개를 골라 세 자산 모두 A와 동등 → 본 연구의 기준으로 채택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6355080"/>
            <a:ext cx="11640312" cy="38404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6355080"/>
            <a:ext cx="11365992" cy="38404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채널 개수는 임의가 아니라 </a:t>
            </a:r>
            <a:r>
              <a:rPr sz="1150" b="1">
                <a:solidFill>
                  <a:srgbClr val="FFFFFF"/>
                </a:solidFill>
                <a:latin typeface="맑은 고딕"/>
              </a:rPr>
              <a:t>'평균 중요도 임계값'(=라이브러리 표준 기준)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으로 결정 → 자산별 2개 → DM 검정상 전채널과 동등 → RQ3 간결성 입증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