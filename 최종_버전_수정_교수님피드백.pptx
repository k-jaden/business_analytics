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77" r:id="rId3"/>
    <p:sldId id="278" r:id="rId4"/>
    <p:sldId id="257" r:id="rId5"/>
    <p:sldId id="258" r:id="rId6"/>
    <p:sldId id="281" r:id="rId7"/>
    <p:sldId id="259" r:id="rId8"/>
    <p:sldId id="260" r:id="rId9"/>
    <p:sldId id="279" r:id="rId11"/>
    <p:sldId id="262" r:id="rId12"/>
    <p:sldId id="280" r:id="rId13"/>
    <p:sldId id="264" r:id="rId14"/>
    <p:sldId id="265" r:id="rId15"/>
    <p:sldId id="274" r:id="rId16"/>
    <p:sldId id="272" r:id="rId17"/>
    <p:sldId id="273" r:id="rId18"/>
    <p:sldId id="267" r:id="rId19"/>
    <p:sldId id="275" r:id="rId20"/>
    <p:sldId id="282" r:id="rId21"/>
    <p:sldId id="268" r:id="rId22"/>
    <p:sldId id="269" r:id="rId23"/>
    <p:sldId id="283" r:id="rId24"/>
    <p:sldId id="270" r:id="rId25"/>
    <p:sldId id="271" r:id="rId26"/>
    <p:sldId id="276" r:id="rId2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97" autoAdjust="0"/>
  </p:normalViewPr>
  <p:slideViewPr>
    <p:cSldViewPr snapToGrid="0" snapToObjects="1">
      <p:cViewPr varScale="1">
        <p:scale>
          <a:sx n="77" d="100"/>
          <a:sy n="77" d="100"/>
        </p:scale>
        <p:origin x="243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079706-9822-4F58-A27C-4FA6B1319888}" type="datetimeFigureOut">
              <a:rPr lang="ko-KR" altLang="en-US" smtClean="0"/>
              <a:t>2026-06-07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671F0-93C0-4D0D-906B-4A398434499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4864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671F0-93C0-4D0D-906B-4A3984344997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51373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671F0-93C0-4D0D-906B-4A3984344997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31839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D6F0F-08BE-24C3-AF6D-CE823D823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60A4356-95BB-337A-0302-21925D7F5A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1B7EC4C-B645-1DC4-62EF-4075FB353F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B051C85-00D8-72C4-99BA-443FBFCC84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671F0-93C0-4D0D-906B-4A3984344997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902508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797168" y="2525677"/>
            <a:ext cx="10908792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 dirty="0" err="1">
                <a:latin typeface="Calibri"/>
              </a:rPr>
              <a:t>리셀</a:t>
            </a:r>
            <a:r>
              <a:rPr sz="3400" b="1" i="0" dirty="0">
                <a:latin typeface="Calibri"/>
              </a:rPr>
              <a:t> </a:t>
            </a:r>
            <a:r>
              <a:rPr sz="3400" b="1" i="0" dirty="0" err="1">
                <a:latin typeface="Calibri"/>
              </a:rPr>
              <a:t>시장에서</a:t>
            </a:r>
            <a:r>
              <a:rPr sz="3400" b="1" i="0" dirty="0">
                <a:latin typeface="Calibri"/>
              </a:rPr>
              <a:t> </a:t>
            </a:r>
            <a:r>
              <a:rPr sz="3400" b="1" i="0" dirty="0" err="1">
                <a:latin typeface="Calibri"/>
              </a:rPr>
              <a:t>미디어</a:t>
            </a:r>
            <a:r>
              <a:rPr sz="3400" b="1" i="0" dirty="0">
                <a:latin typeface="Calibri"/>
              </a:rPr>
              <a:t> </a:t>
            </a:r>
            <a:r>
              <a:rPr sz="3400" b="1" i="0" dirty="0" err="1">
                <a:latin typeface="Calibri"/>
              </a:rPr>
              <a:t>채널은</a:t>
            </a:r>
            <a:r>
              <a:rPr lang="en-US" sz="3400" b="1" dirty="0">
                <a:latin typeface="Calibri"/>
              </a:rPr>
              <a:t> </a:t>
            </a:r>
            <a:r>
              <a:rPr sz="3400" b="1" i="0" dirty="0" err="1">
                <a:latin typeface="Calibri"/>
              </a:rPr>
              <a:t>가격을</a:t>
            </a:r>
            <a:r>
              <a:rPr sz="3400" b="1" i="0" dirty="0">
                <a:latin typeface="Calibri"/>
              </a:rPr>
              <a:t> </a:t>
            </a:r>
            <a:r>
              <a:rPr sz="3400" b="1" i="0" dirty="0" err="1">
                <a:latin typeface="Calibri"/>
              </a:rPr>
              <a:t>선행하는가</a:t>
            </a:r>
            <a:r>
              <a:rPr sz="3400" b="1" i="0" dirty="0">
                <a:solidFill>
                  <a:srgbClr val="FFFFFF"/>
                </a:solidFill>
                <a:latin typeface="Calibri"/>
              </a:rPr>
              <a:t>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16" y="3572590"/>
            <a:ext cx="109087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 dirty="0" err="1">
                <a:latin typeface="Calibri"/>
              </a:rPr>
              <a:t>스니커즈</a:t>
            </a:r>
            <a:r>
              <a:rPr sz="1800" b="0" i="0" dirty="0">
                <a:latin typeface="Calibri"/>
              </a:rPr>
              <a:t>  ·  </a:t>
            </a:r>
            <a:r>
              <a:rPr sz="1800" b="0" i="0" dirty="0" err="1">
                <a:latin typeface="Calibri"/>
              </a:rPr>
              <a:t>트레이딩</a:t>
            </a:r>
            <a:r>
              <a:rPr sz="1800" b="0" i="0" dirty="0">
                <a:latin typeface="Calibri"/>
              </a:rPr>
              <a:t> </a:t>
            </a:r>
            <a:r>
              <a:rPr sz="1800" b="0" i="0" dirty="0" err="1">
                <a:latin typeface="Calibri"/>
              </a:rPr>
              <a:t>카드</a:t>
            </a:r>
            <a:r>
              <a:rPr sz="1800" b="0" i="0" dirty="0">
                <a:latin typeface="Calibri"/>
              </a:rPr>
              <a:t>  ·  </a:t>
            </a:r>
            <a:r>
              <a:rPr sz="1800" b="0" i="0" dirty="0" err="1">
                <a:latin typeface="Calibri"/>
              </a:rPr>
              <a:t>레고</a:t>
            </a:r>
            <a:r>
              <a:rPr sz="1800" b="0" i="0" dirty="0">
                <a:latin typeface="Calibri"/>
              </a:rPr>
              <a:t> — </a:t>
            </a:r>
            <a:r>
              <a:rPr sz="1800" b="0" i="0" dirty="0" err="1">
                <a:latin typeface="Calibri"/>
              </a:rPr>
              <a:t>다중</a:t>
            </a:r>
            <a:r>
              <a:rPr sz="1800" b="0" i="0" dirty="0">
                <a:latin typeface="Calibri"/>
              </a:rPr>
              <a:t> </a:t>
            </a:r>
            <a:r>
              <a:rPr sz="1800" b="0" i="0" dirty="0" err="1">
                <a:latin typeface="Calibri"/>
              </a:rPr>
              <a:t>자산</a:t>
            </a:r>
            <a:r>
              <a:rPr sz="1800" b="0" i="0" dirty="0">
                <a:latin typeface="Calibri"/>
              </a:rPr>
              <a:t> Granger </a:t>
            </a:r>
            <a:r>
              <a:rPr sz="1800" b="0" i="0" dirty="0" err="1">
                <a:latin typeface="Calibri"/>
              </a:rPr>
              <a:t>인과</a:t>
            </a:r>
            <a:r>
              <a:rPr sz="1800" b="0" i="0" dirty="0">
                <a:latin typeface="Calibri"/>
              </a:rPr>
              <a:t> </a:t>
            </a:r>
            <a:r>
              <a:rPr sz="1800" b="0" i="0" dirty="0" err="1">
                <a:latin typeface="Calibri"/>
              </a:rPr>
              <a:t>분석</a:t>
            </a:r>
            <a:r>
              <a:rPr sz="1800" b="0" i="0" dirty="0">
                <a:latin typeface="Calibri"/>
              </a:rPr>
              <a:t> 및 </a:t>
            </a:r>
            <a:r>
              <a:rPr sz="1800" b="0" i="0" dirty="0" err="1">
                <a:latin typeface="Calibri"/>
              </a:rPr>
              <a:t>XGBoost</a:t>
            </a:r>
            <a:r>
              <a:rPr sz="1800" b="0" i="0" dirty="0">
                <a:latin typeface="Calibri"/>
              </a:rPr>
              <a:t> </a:t>
            </a:r>
            <a:r>
              <a:rPr sz="1800" b="0" i="0" dirty="0" err="1">
                <a:latin typeface="Calibri"/>
              </a:rPr>
              <a:t>검증</a:t>
            </a:r>
            <a:endParaRPr sz="1800" b="0" i="0" dirty="0"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75488" y="4535739"/>
            <a:ext cx="1090879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 dirty="0">
                <a:latin typeface="Calibri"/>
              </a:rPr>
              <a:t>2022.01 – 2025.12  |  48개월 × 15개 </a:t>
            </a:r>
            <a:r>
              <a:rPr sz="1400" b="0" i="0" dirty="0" err="1">
                <a:latin typeface="Calibri"/>
              </a:rPr>
              <a:t>아이템</a:t>
            </a:r>
            <a:r>
              <a:rPr sz="1400" b="0" i="0" dirty="0">
                <a:latin typeface="Calibri"/>
              </a:rPr>
              <a:t> × 5개 </a:t>
            </a:r>
            <a:r>
              <a:rPr sz="1400" b="0" i="0" dirty="0" err="1">
                <a:latin typeface="Calibri"/>
              </a:rPr>
              <a:t>미디어</a:t>
            </a:r>
            <a:r>
              <a:rPr sz="1400" b="0" i="0" dirty="0">
                <a:latin typeface="Calibri"/>
              </a:rPr>
              <a:t> </a:t>
            </a:r>
            <a:r>
              <a:rPr sz="1400" b="0" i="0" dirty="0" err="1">
                <a:latin typeface="Calibri"/>
              </a:rPr>
              <a:t>채널</a:t>
            </a:r>
            <a:endParaRPr sz="1400" b="0" i="0" dirty="0"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384280" y="6556248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1 / 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825" cy="658368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82880" y="0"/>
            <a:ext cx="80000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목차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"/>
            <a:ext cx="12188825" cy="22860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82880" y="700000"/>
            <a:ext cx="1100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0">
                <a:solidFill>
                  <a:srgbClr val="555555"/>
                </a:solidFill>
                <a:latin typeface="Calibri"/>
              </a:rPr>
              <a:t>발표 흐름 한눈에 보기 — 19매 슬라이드를 6개 섹션으로 구성</a:t>
            </a:r>
          </a:p>
        </p:txBody>
      </p:sp>
      <p:sp>
        <p:nvSpPr>
          <p:cNvPr id="6" name="Rectangle 5"/>
          <p:cNvSpPr/>
          <p:nvPr/>
        </p:nvSpPr>
        <p:spPr>
          <a:xfrm>
            <a:off x="500000" y="1180000"/>
            <a:ext cx="11188825" cy="76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0000" y="1180000"/>
            <a:ext cx="60000" cy="760000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20000" y="1180000"/>
            <a:ext cx="75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 dirty="0">
                <a:solidFill>
                  <a:srgbClr val="1F2D4E"/>
                </a:solidFill>
                <a:latin typeface="Calibri"/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1450000" y="1360000"/>
            <a:ext cx="12000" cy="40000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620000" y="1364584"/>
            <a:ext cx="9000000" cy="2308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dirty="0" err="1">
                <a:solidFill>
                  <a:srgbClr val="1F2D4E"/>
                </a:solidFill>
                <a:latin typeface="Calibri"/>
              </a:rPr>
              <a:t>연구</a:t>
            </a:r>
            <a:r>
              <a:rPr sz="1500" b="1" dirty="0">
                <a:solidFill>
                  <a:srgbClr val="1F2D4E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1F2D4E"/>
                </a:solidFill>
                <a:latin typeface="Calibri"/>
              </a:rPr>
              <a:t>배경과</a:t>
            </a:r>
            <a:r>
              <a:rPr sz="1500" b="1" dirty="0">
                <a:solidFill>
                  <a:srgbClr val="1F2D4E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1F2D4E"/>
                </a:solidFill>
                <a:latin typeface="Calibri"/>
              </a:rPr>
              <a:t>질문</a:t>
            </a:r>
            <a:endParaRPr sz="1500" b="1" dirty="0">
              <a:solidFill>
                <a:srgbClr val="1F2D4E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620000" y="1640000"/>
            <a:ext cx="90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선행 연구의 공백 · 연구 문제(RQ1–RQ3) · 연구 대상(15개 아이템) · 5개 미디어 채널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0000" y="2070000"/>
            <a:ext cx="11188825" cy="760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00000" y="2070000"/>
            <a:ext cx="60000" cy="760000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0000" y="2070000"/>
            <a:ext cx="75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1F2D4E"/>
                </a:solidFill>
                <a:latin typeface="Calibri"/>
              </a:rPr>
              <a:t>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50000" y="2250000"/>
            <a:ext cx="12000" cy="40000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620000" y="2254584"/>
            <a:ext cx="9000000" cy="2308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dirty="0" err="1">
                <a:solidFill>
                  <a:srgbClr val="1F2D4E"/>
                </a:solidFill>
                <a:latin typeface="Calibri"/>
              </a:rPr>
              <a:t>분석</a:t>
            </a:r>
            <a:r>
              <a:rPr sz="1500" b="1" dirty="0">
                <a:solidFill>
                  <a:srgbClr val="1F2D4E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1F2D4E"/>
                </a:solidFill>
                <a:latin typeface="Calibri"/>
              </a:rPr>
              <a:t>설계</a:t>
            </a:r>
            <a:endParaRPr sz="1500" b="1" dirty="0">
              <a:solidFill>
                <a:srgbClr val="1F2D4E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620000" y="2530000"/>
            <a:ext cx="90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ADF 정상성 검정 · Granger 인과 분석 설계 · XGBoost 모델 A/B/C 설계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2960000"/>
            <a:ext cx="11188825" cy="76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00000" y="2960000"/>
            <a:ext cx="60000" cy="760000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0000" y="2960000"/>
            <a:ext cx="75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1F2D4E"/>
                </a:solidFill>
                <a:latin typeface="Calibri"/>
              </a:rPr>
              <a:t>03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50000" y="3140000"/>
            <a:ext cx="12000" cy="40000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620000" y="3100000"/>
            <a:ext cx="90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dirty="0">
                <a:solidFill>
                  <a:srgbClr val="1F2D4E"/>
                </a:solidFill>
                <a:latin typeface="Calibri"/>
              </a:rPr>
              <a:t>RQ1 &amp; RQ2 · Granger </a:t>
            </a:r>
            <a:r>
              <a:rPr sz="1500" b="1" dirty="0" err="1">
                <a:solidFill>
                  <a:srgbClr val="1F2D4E"/>
                </a:solidFill>
                <a:latin typeface="Calibri"/>
              </a:rPr>
              <a:t>인과</a:t>
            </a:r>
            <a:r>
              <a:rPr sz="1500" b="1" dirty="0">
                <a:solidFill>
                  <a:srgbClr val="1F2D4E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1F2D4E"/>
                </a:solidFill>
                <a:latin typeface="Calibri"/>
              </a:rPr>
              <a:t>검정</a:t>
            </a:r>
            <a:r>
              <a:rPr sz="1500" b="1" dirty="0">
                <a:solidFill>
                  <a:srgbClr val="1F2D4E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1F2D4E"/>
                </a:solidFill>
                <a:latin typeface="Calibri"/>
              </a:rPr>
              <a:t>결과</a:t>
            </a:r>
            <a:endParaRPr sz="1500" b="1" dirty="0">
              <a:solidFill>
                <a:srgbClr val="1F2D4E"/>
              </a:solidFill>
              <a:latin typeface="Calibr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620000" y="3420000"/>
            <a:ext cx="90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자산×채널 15회 검정 (Benjamini-Hochberg 보정) · 자산별 유의 채널 구성 비교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0000" y="3850000"/>
            <a:ext cx="11188825" cy="760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00000" y="3850000"/>
            <a:ext cx="60000" cy="760000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0000" y="3850000"/>
            <a:ext cx="75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1F2D4E"/>
                </a:solidFill>
                <a:latin typeface="Calibri"/>
              </a:rPr>
              <a:t>04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450000" y="4030000"/>
            <a:ext cx="12000" cy="40000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620000" y="3990000"/>
            <a:ext cx="90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dirty="0">
                <a:solidFill>
                  <a:srgbClr val="1F2D4E"/>
                </a:solidFill>
                <a:latin typeface="Calibri"/>
              </a:rPr>
              <a:t>RQ3 · </a:t>
            </a:r>
            <a:r>
              <a:rPr sz="1500" b="1" dirty="0" err="1">
                <a:solidFill>
                  <a:srgbClr val="1F2D4E"/>
                </a:solidFill>
                <a:latin typeface="Calibri"/>
              </a:rPr>
              <a:t>예측</a:t>
            </a:r>
            <a:r>
              <a:rPr sz="1500" b="1" dirty="0">
                <a:solidFill>
                  <a:srgbClr val="1F2D4E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1F2D4E"/>
                </a:solidFill>
                <a:latin typeface="Calibri"/>
              </a:rPr>
              <a:t>성능과</a:t>
            </a:r>
            <a:r>
              <a:rPr sz="1500" b="1" dirty="0">
                <a:solidFill>
                  <a:srgbClr val="1F2D4E"/>
                </a:solidFill>
                <a:latin typeface="Calibri"/>
              </a:rPr>
              <a:t> SHAP·DM </a:t>
            </a:r>
            <a:r>
              <a:rPr sz="1500" b="1" dirty="0" err="1">
                <a:solidFill>
                  <a:srgbClr val="1F2D4E"/>
                </a:solidFill>
                <a:latin typeface="Calibri"/>
              </a:rPr>
              <a:t>검정</a:t>
            </a:r>
            <a:endParaRPr sz="1500" b="1" dirty="0">
              <a:solidFill>
                <a:srgbClr val="1F2D4E"/>
              </a:solidFill>
              <a:latin typeface="Calibr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620000" y="4310000"/>
            <a:ext cx="90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모델 A/B/C 성능 비교 · SHAP 채널 기여도 분석 · Diebold-Mariano 검정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4740000"/>
            <a:ext cx="11188825" cy="76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00000" y="4740000"/>
            <a:ext cx="60000" cy="760000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20000" y="4740000"/>
            <a:ext cx="75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1F2D4E"/>
                </a:solidFill>
                <a:latin typeface="Calibri"/>
              </a:rPr>
              <a:t>05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50000" y="4920000"/>
            <a:ext cx="12000" cy="40000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620000" y="4924584"/>
            <a:ext cx="9000000" cy="2308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ko-KR" altLang="en-US" sz="1500" b="1" dirty="0">
                <a:solidFill>
                  <a:srgbClr val="1F2D4E"/>
                </a:solidFill>
                <a:latin typeface="Calibri"/>
              </a:rPr>
              <a:t>충격반응함수 </a:t>
            </a:r>
            <a:r>
              <a:rPr lang="en-US" altLang="ko-KR" sz="1500" b="1" dirty="0">
                <a:solidFill>
                  <a:srgbClr val="1F2D4E"/>
                </a:solidFill>
                <a:latin typeface="Calibri"/>
              </a:rPr>
              <a:t>(IRF) </a:t>
            </a:r>
            <a:r>
              <a:rPr lang="ko-KR" altLang="en-US" sz="1500" b="1" dirty="0">
                <a:solidFill>
                  <a:srgbClr val="1F2D4E"/>
                </a:solidFill>
                <a:latin typeface="Calibri"/>
              </a:rPr>
              <a:t>분석</a:t>
            </a:r>
            <a:r>
              <a:rPr sz="1500" b="1" dirty="0">
                <a:solidFill>
                  <a:srgbClr val="1F2D4E"/>
                </a:solidFill>
                <a:latin typeface="Calibri"/>
              </a:rPr>
              <a:t>과 </a:t>
            </a:r>
            <a:r>
              <a:rPr sz="1500" b="1" dirty="0" err="1">
                <a:solidFill>
                  <a:srgbClr val="1F2D4E"/>
                </a:solidFill>
                <a:latin typeface="Calibri"/>
              </a:rPr>
              <a:t>연구</a:t>
            </a:r>
            <a:r>
              <a:rPr sz="1500" b="1" dirty="0">
                <a:solidFill>
                  <a:srgbClr val="1F2D4E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1F2D4E"/>
                </a:solidFill>
                <a:latin typeface="Calibri"/>
              </a:rPr>
              <a:t>제한점</a:t>
            </a:r>
            <a:endParaRPr sz="1500" b="1" dirty="0">
              <a:solidFill>
                <a:srgbClr val="1F2D4E"/>
              </a:solidFill>
              <a:latin typeface="Calibri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620000" y="5200000"/>
            <a:ext cx="90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충격반응함수(IRF) 분석 · 데이터·방법론 한계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5630000"/>
            <a:ext cx="11188825" cy="760000"/>
          </a:xfrm>
          <a:prstGeom prst="rect">
            <a:avLst/>
          </a:prstGeom>
          <a:solidFill>
            <a:srgbClr val="F2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00000" y="5630000"/>
            <a:ext cx="60000" cy="760000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20000" y="5630000"/>
            <a:ext cx="750000" cy="7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200" b="1">
                <a:solidFill>
                  <a:srgbClr val="1F2D4E"/>
                </a:solidFill>
                <a:latin typeface="Calibri"/>
              </a:rPr>
              <a:t>06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450000" y="5810000"/>
            <a:ext cx="12000" cy="400000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620000" y="5770000"/>
            <a:ext cx="9000000" cy="32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dirty="0" err="1">
                <a:solidFill>
                  <a:srgbClr val="1F2D4E"/>
                </a:solidFill>
                <a:latin typeface="Calibri"/>
              </a:rPr>
              <a:t>결론과</a:t>
            </a:r>
            <a:r>
              <a:rPr sz="1500" b="1" dirty="0">
                <a:solidFill>
                  <a:srgbClr val="1F2D4E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1F2D4E"/>
                </a:solidFill>
                <a:latin typeface="Calibri"/>
              </a:rPr>
              <a:t>시사점</a:t>
            </a:r>
            <a:endParaRPr sz="1500" b="1" dirty="0">
              <a:solidFill>
                <a:srgbClr val="1F2D4E"/>
              </a:solidFill>
              <a:latin typeface="Calibri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620000" y="6090000"/>
            <a:ext cx="9000000" cy="2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Calibri"/>
              </a:rPr>
              <a:t>연구 문제별 결론 · 학술적·실무적 기여 · 참고 문헌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5DAB9E6-61DB-0FB3-3081-5DA22F6561DD}"/>
              </a:ext>
            </a:extLst>
          </p:cNvPr>
          <p:cNvSpPr txBox="1"/>
          <p:nvPr/>
        </p:nvSpPr>
        <p:spPr>
          <a:xfrm>
            <a:off x="182880" y="0"/>
            <a:ext cx="80000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목차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98C7F23-9F54-471C-0EE4-6297FDF813DC}"/>
              </a:ext>
            </a:extLst>
          </p:cNvPr>
          <p:cNvSpPr/>
          <p:nvPr/>
        </p:nvSpPr>
        <p:spPr>
          <a:xfrm>
            <a:off x="0" y="-217714"/>
            <a:ext cx="12188825" cy="7162799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56A8F0-BD45-62FC-CB57-A0AE5E15FB04}"/>
              </a:ext>
            </a:extLst>
          </p:cNvPr>
          <p:cNvSpPr txBox="1"/>
          <p:nvPr/>
        </p:nvSpPr>
        <p:spPr>
          <a:xfrm>
            <a:off x="3846284" y="2532744"/>
            <a:ext cx="4601031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1F2D4E"/>
                </a:solidFill>
              </a:rPr>
              <a:t>연구 배경과 질문</a:t>
            </a:r>
          </a:p>
          <a:p>
            <a:r>
              <a:rPr lang="en-US" altLang="ko-KR" sz="5000" dirty="0">
                <a:solidFill>
                  <a:schemeClr val="bg1"/>
                </a:solidFill>
              </a:rPr>
              <a:t>01 </a:t>
            </a:r>
            <a:r>
              <a:rPr lang="ko-KR" altLang="en-US" sz="3000" dirty="0">
                <a:solidFill>
                  <a:schemeClr val="bg1"/>
                </a:solidFill>
              </a:rPr>
              <a:t>연구 배경과 질문</a:t>
            </a:r>
          </a:p>
        </p:txBody>
      </p:sp>
    </p:spTree>
    <p:extLst>
      <p:ext uri="{BB962C8B-B14F-4D97-AF65-F5344CB8AC3E}">
        <p14:creationId xmlns:p14="http://schemas.microsoft.com/office/powerpoint/2010/main" val="18980814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88825" cy="430887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dirty="0">
                <a:solidFill>
                  <a:srgbClr val="FFFFFF"/>
                </a:solidFill>
                <a:latin typeface="Calibri"/>
              </a:rPr>
              <a:t> 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선행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연구의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공백</a:t>
            </a:r>
            <a:r>
              <a:rPr lang="en-US" sz="2200" b="1" dirty="0">
                <a:solidFill>
                  <a:srgbClr val="FFFFFF"/>
                </a:solidFill>
                <a:latin typeface="Calibri"/>
              </a:rPr>
              <a:t> </a:t>
            </a:r>
            <a:endParaRPr sz="22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430887"/>
            <a:ext cx="12188952" cy="228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50812" y="582095"/>
            <a:ext cx="118872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555555"/>
                </a:solidFill>
                <a:latin typeface="Calibri"/>
              </a:rPr>
              <a:t>세 연구 흐름의 공통 한계 → '리셀 시장 × 다채널 × 선행성 비교'는 누구도 다루지 않았다</a:t>
            </a:r>
            <a:endParaRPr sz="1000" b="0" i="1" dirty="0">
              <a:solidFill>
                <a:srgbClr val="555555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28600" y="1051560"/>
            <a:ext cx="3749039" cy="4462272"/>
          </a:xfrm>
          <a:prstGeom prst="rect">
            <a:avLst/>
          </a:prstGeom>
          <a:solidFill>
            <a:srgbClr val="FFFFFF"/>
          </a:solidFill>
          <a:ln w="9525">
            <a:solidFill>
              <a:srgbClr val="BBBBBB"/>
            </a:solidFill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28600" y="1051560"/>
            <a:ext cx="3749039" cy="323165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500" b="1" dirty="0" err="1">
                <a:solidFill>
                  <a:srgbClr val="FFFFFF"/>
                </a:solidFill>
                <a:latin typeface="Calibri"/>
              </a:rPr>
              <a:t>미디어</a:t>
            </a:r>
            <a:r>
              <a:rPr sz="15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FFFFFF"/>
                </a:solidFill>
                <a:latin typeface="Calibri"/>
              </a:rPr>
              <a:t>채널</a:t>
            </a:r>
            <a:r>
              <a:rPr sz="1500" b="1" dirty="0">
                <a:solidFill>
                  <a:srgbClr val="FFFFFF"/>
                </a:solidFill>
                <a:latin typeface="Calibri"/>
              </a:rPr>
              <a:t> -&gt; </a:t>
            </a:r>
            <a:r>
              <a:rPr lang="ko-KR" altLang="en-US" sz="1500" b="1" dirty="0">
                <a:solidFill>
                  <a:srgbClr val="FFFFFF"/>
                </a:solidFill>
                <a:latin typeface="Calibri"/>
              </a:rPr>
              <a:t>주식 </a:t>
            </a:r>
            <a:r>
              <a:rPr sz="1500" b="1" dirty="0" err="1">
                <a:solidFill>
                  <a:srgbClr val="FFFFFF"/>
                </a:solidFill>
                <a:latin typeface="Calibri"/>
              </a:rPr>
              <a:t>가격</a:t>
            </a:r>
            <a:r>
              <a:rPr sz="15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FFFFFF"/>
                </a:solidFill>
                <a:latin typeface="Calibri"/>
              </a:rPr>
              <a:t>선행성</a:t>
            </a:r>
            <a:endParaRPr sz="15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56616" y="1636776"/>
            <a:ext cx="3493007" cy="1692771"/>
          </a:xfrm>
          <a:prstGeom prst="rect">
            <a:avLst/>
          </a:prstGeom>
          <a:noFill/>
        </p:spPr>
        <p:txBody>
          <a:bodyPr wrap="square" anchor="t" lIns="63500" rIns="63500" tIns="38100" bIns="381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A0A0A"/>
                </a:solidFill>
                <a:latin typeface="Calibri"/>
              </a:rPr>
              <a:t>Tetlock (2007) · 뉴스 비관론 → S&amp;P500 수익률 예측</a:t>
            </a:r>
            <a:endParaRPr sz="1300" b="0" i="0" dirty="0">
              <a:solidFill>
                <a:srgbClr val="0A0A0A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A0A0A"/>
                </a:solidFill>
                <a:latin typeface="Calibri"/>
              </a:rPr>
              <a:t>Da, Engelberg &amp; Gao (2011) · Google 검색량(SVI) → 주가 선행 (Granger 확인)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" y="4379975"/>
            <a:ext cx="3493007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4160520"/>
            <a:ext cx="3474720" cy="1325880"/>
          </a:xfrm>
          <a:prstGeom prst="rect">
            <a:avLst/>
          </a:prstGeom>
          <a:solidFill>
            <a:srgbClr val="F8D7DA"/>
          </a:solidFill>
          <a:ln w="15875">
            <a:solidFill>
              <a:srgbClr val="B23B3B"/>
            </a:solidFill>
          </a:ln>
          <a:effectLst/>
        </p:spPr>
        <p:txBody>
          <a:bodyPr wrap="square" anchor="ctr" lIns="63500" rIns="63500" tIns="63500" bIns="635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B23B3B"/>
                </a:solidFill>
                <a:latin typeface="Calibri"/>
              </a:rPr>
              <a:t>⚠ 한계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A0A0A"/>
                </a:solidFill>
                <a:latin typeface="Calibri"/>
              </a:rPr>
              <a:t>전통 금융 자산(주식)에만 적용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1668" y="1051560"/>
            <a:ext cx="3749039" cy="4462272"/>
          </a:xfrm>
          <a:prstGeom prst="rect">
            <a:avLst/>
          </a:prstGeom>
          <a:solidFill>
            <a:srgbClr val="FFFFFF"/>
          </a:solidFill>
          <a:ln w="9525">
            <a:solidFill>
              <a:srgbClr val="BBBBBB"/>
            </a:solidFill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201668" y="1051560"/>
            <a:ext cx="3749039" cy="323165"/>
          </a:xfrm>
          <a:prstGeom prst="rect">
            <a:avLst/>
          </a:prstGeom>
          <a:solidFill>
            <a:srgbClr val="277A4A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500" b="1" dirty="0" err="1">
                <a:solidFill>
                  <a:srgbClr val="FFFFFF"/>
                </a:solidFill>
                <a:latin typeface="Calibri"/>
              </a:rPr>
              <a:t>리셀</a:t>
            </a:r>
            <a:r>
              <a:rPr sz="15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FFFFFF"/>
                </a:solidFill>
                <a:latin typeface="Calibri"/>
              </a:rPr>
              <a:t>상품</a:t>
            </a:r>
            <a:r>
              <a:rPr sz="15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FFFFFF"/>
                </a:solidFill>
                <a:latin typeface="Calibri"/>
              </a:rPr>
              <a:t>가격</a:t>
            </a:r>
            <a:r>
              <a:rPr sz="15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FFFFFF"/>
                </a:solidFill>
                <a:latin typeface="Calibri"/>
              </a:rPr>
              <a:t>예측</a:t>
            </a:r>
            <a:endParaRPr sz="15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329683" y="1636776"/>
            <a:ext cx="3493007" cy="1692771"/>
          </a:xfrm>
          <a:prstGeom prst="rect">
            <a:avLst/>
          </a:prstGeom>
          <a:noFill/>
        </p:spPr>
        <p:txBody>
          <a:bodyPr wrap="square" anchor="t" lIns="63500" rIns="63500" tIns="38100" bIns="381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A0A0A"/>
                </a:solidFill>
                <a:latin typeface="Calibri"/>
              </a:rPr>
              <a:t>Campello et al. (2021) · StockX 스니커즈 가격 예측</a:t>
            </a:r>
            <a:endParaRPr sz="1300" b="0" i="0" dirty="0">
              <a:solidFill>
                <a:srgbClr val="0A0A0A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A0A0A"/>
                </a:solidFill>
                <a:latin typeface="Calibri"/>
              </a:rPr>
              <a:t>(소셜미디어 변수 추가 필요성 제안에 그침)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A0A0A"/>
                </a:solidFill>
                <a:latin typeface="Calibri"/>
              </a:rPr>
              <a:t>Dobrynskaya &amp; Kishilova (2023) · 레고의 대체자산 특성 규명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9683" y="4379975"/>
            <a:ext cx="3493007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97680" y="4160520"/>
            <a:ext cx="3474720" cy="1325880"/>
          </a:xfrm>
          <a:prstGeom prst="rect">
            <a:avLst/>
          </a:prstGeom>
          <a:solidFill>
            <a:srgbClr val="F8D7DA"/>
          </a:solidFill>
          <a:ln w="15875">
            <a:solidFill>
              <a:srgbClr val="B23B3B"/>
            </a:solidFill>
          </a:ln>
          <a:effectLst/>
        </p:spPr>
        <p:txBody>
          <a:bodyPr wrap="square" anchor="ctr" lIns="63500" rIns="63500" tIns="63500" bIns="635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B23B3B"/>
                </a:solidFill>
                <a:latin typeface="Calibri"/>
              </a:rPr>
              <a:t>⚠ 한계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A0A0A"/>
                </a:solidFill>
                <a:latin typeface="Calibri"/>
              </a:rPr>
              <a:t>미디어 채널 신호 미포함 · 단일 자산만 분석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4736" y="1051560"/>
            <a:ext cx="3749039" cy="4462272"/>
          </a:xfrm>
          <a:prstGeom prst="rect">
            <a:avLst/>
          </a:prstGeom>
          <a:solidFill>
            <a:srgbClr val="FFFFFF"/>
          </a:solidFill>
          <a:ln w="9525">
            <a:solidFill>
              <a:srgbClr val="BBBBBB"/>
            </a:solidFill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74736" y="1051560"/>
            <a:ext cx="3749039" cy="323165"/>
          </a:xfrm>
          <a:prstGeom prst="rect">
            <a:avLst/>
          </a:prstGeom>
          <a:solidFill>
            <a:srgbClr val="6C3D91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500" b="1" dirty="0" err="1">
                <a:solidFill>
                  <a:srgbClr val="FFFFFF"/>
                </a:solidFill>
                <a:latin typeface="Calibri"/>
              </a:rPr>
              <a:t>멀티채널</a:t>
            </a:r>
            <a:r>
              <a:rPr sz="15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FFFFFF"/>
                </a:solidFill>
                <a:latin typeface="Calibri"/>
              </a:rPr>
              <a:t>예측</a:t>
            </a:r>
            <a:r>
              <a:rPr sz="15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500" b="1" dirty="0" err="1">
                <a:solidFill>
                  <a:srgbClr val="FFFFFF"/>
                </a:solidFill>
                <a:latin typeface="Calibri"/>
              </a:rPr>
              <a:t>방법론</a:t>
            </a:r>
            <a:endParaRPr sz="15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302752" y="1636776"/>
            <a:ext cx="3493007" cy="1692771"/>
          </a:xfrm>
          <a:prstGeom prst="rect">
            <a:avLst/>
          </a:prstGeom>
          <a:noFill/>
        </p:spPr>
        <p:txBody>
          <a:bodyPr wrap="square" anchor="t" lIns="63500" rIns="63500" tIns="38100" bIns="381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A0A0A"/>
                </a:solidFill>
                <a:latin typeface="Calibri"/>
              </a:rPr>
              <a:t>Bollen et al. (2011) · Twitter 감성 → DJIA 2일 선행 (Granger+SVM)</a:t>
            </a:r>
            <a:endParaRPr sz="1300" b="0" i="0" dirty="0">
              <a:solidFill>
                <a:srgbClr val="0A0A0A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0A0A0A"/>
                </a:solidFill>
                <a:latin typeface="Calibri"/>
              </a:rPr>
              <a:t>Zhang et al. (2018) · 뉴스+감성+가격 결합 멀티소스 예측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4379975"/>
            <a:ext cx="3493007" cy="18288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21040" y="4160520"/>
            <a:ext cx="3474720" cy="1325880"/>
          </a:xfrm>
          <a:prstGeom prst="rect">
            <a:avLst/>
          </a:prstGeom>
          <a:solidFill>
            <a:srgbClr val="F8D7DA"/>
          </a:solidFill>
          <a:ln w="15875">
            <a:solidFill>
              <a:srgbClr val="B23B3B"/>
            </a:solidFill>
          </a:ln>
          <a:effectLst/>
        </p:spPr>
        <p:txBody>
          <a:bodyPr wrap="square" anchor="ctr" lIns="63500" rIns="63500" tIns="63500" bIns="635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B23B3B"/>
                </a:solidFill>
                <a:latin typeface="Calibri"/>
              </a:rPr>
              <a:t>⚠ 한계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A0A0A"/>
                </a:solidFill>
                <a:latin typeface="Calibri"/>
              </a:rPr>
              <a:t>주식 단일 자산 · 자산 간 채널 비교 없음 · Granger 미적용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3085" y="5788151"/>
            <a:ext cx="9211792" cy="658368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526423" y="5855725"/>
            <a:ext cx="902511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400" b="1" dirty="0">
                <a:solidFill>
                  <a:srgbClr val="FFFFFF"/>
                </a:solidFill>
                <a:latin typeface="Calibri"/>
              </a:rPr>
              <a:t>본</a:t>
            </a:r>
            <a:r>
              <a:rPr sz="14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Calibri"/>
              </a:rPr>
              <a:t>연구</a:t>
            </a:r>
            <a:r>
              <a:rPr sz="1400" b="1" i="0" dirty="0">
                <a:solidFill>
                  <a:srgbClr val="FFFFFF"/>
                </a:solidFill>
                <a:latin typeface="Calibri"/>
              </a:rPr>
              <a:t> :  </a:t>
            </a:r>
            <a:r>
              <a:rPr sz="1400" b="1" i="0" dirty="0" err="1">
                <a:solidFill>
                  <a:srgbClr val="FFFFFF"/>
                </a:solidFill>
                <a:latin typeface="Calibri"/>
              </a:rPr>
              <a:t>스니커즈</a:t>
            </a:r>
            <a:r>
              <a:rPr sz="1400" b="1" i="0" dirty="0">
                <a:solidFill>
                  <a:srgbClr val="FFFFFF"/>
                </a:solidFill>
                <a:latin typeface="Calibri"/>
              </a:rPr>
              <a:t> · </a:t>
            </a:r>
            <a:r>
              <a:rPr sz="1400" b="1" i="0" dirty="0" err="1">
                <a:solidFill>
                  <a:srgbClr val="FFFFFF"/>
                </a:solidFill>
                <a:latin typeface="Calibri"/>
              </a:rPr>
              <a:t>카드</a:t>
            </a:r>
            <a:r>
              <a:rPr sz="1400" b="1" i="0" dirty="0">
                <a:solidFill>
                  <a:srgbClr val="FFFFFF"/>
                </a:solidFill>
                <a:latin typeface="Calibri"/>
              </a:rPr>
              <a:t> · </a:t>
            </a:r>
            <a:r>
              <a:rPr sz="1400" b="1" i="0" dirty="0" err="1">
                <a:solidFill>
                  <a:srgbClr val="FFFFFF"/>
                </a:solidFill>
                <a:latin typeface="Calibri"/>
              </a:rPr>
              <a:t>레고</a:t>
            </a:r>
            <a:r>
              <a:rPr sz="1400" b="1" i="0" dirty="0">
                <a:solidFill>
                  <a:srgbClr val="FFFFFF"/>
                </a:solidFill>
                <a:latin typeface="Calibri"/>
              </a:rPr>
              <a:t>  3개 </a:t>
            </a:r>
            <a:r>
              <a:rPr sz="1400" b="1" i="0" dirty="0" err="1">
                <a:solidFill>
                  <a:srgbClr val="FFFFFF"/>
                </a:solidFill>
                <a:latin typeface="Calibri"/>
              </a:rPr>
              <a:t>리셀</a:t>
            </a:r>
            <a:r>
              <a:rPr sz="14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Calibri"/>
              </a:rPr>
              <a:t>자산에</a:t>
            </a:r>
            <a:r>
              <a:rPr sz="14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Calibri"/>
              </a:rPr>
              <a:t>걸쳐</a:t>
            </a:r>
            <a:r>
              <a:rPr sz="1400" b="1" i="0" dirty="0">
                <a:solidFill>
                  <a:srgbClr val="FFFFFF"/>
                </a:solidFill>
                <a:latin typeface="Calibri"/>
              </a:rPr>
              <a:t>  5개 </a:t>
            </a:r>
            <a:r>
              <a:rPr sz="1400" b="1" i="0" dirty="0" err="1">
                <a:solidFill>
                  <a:srgbClr val="FFFFFF"/>
                </a:solidFill>
                <a:latin typeface="Calibri"/>
              </a:rPr>
              <a:t>미디어</a:t>
            </a:r>
            <a:r>
              <a:rPr sz="14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Calibri"/>
              </a:rPr>
              <a:t>채널</a:t>
            </a:r>
            <a:r>
              <a:rPr sz="1400" b="1" i="0" dirty="0">
                <a:solidFill>
                  <a:srgbClr val="FFFFFF"/>
                </a:solidFill>
                <a:latin typeface="Calibri"/>
              </a:rPr>
              <a:t> x Granger </a:t>
            </a:r>
            <a:r>
              <a:rPr sz="1400" b="1" i="0" dirty="0" err="1">
                <a:solidFill>
                  <a:srgbClr val="FFFFFF"/>
                </a:solidFill>
                <a:latin typeface="Calibri"/>
              </a:rPr>
              <a:t>인과</a:t>
            </a:r>
            <a:r>
              <a:rPr sz="14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Calibri"/>
              </a:rPr>
              <a:t>검정</a:t>
            </a:r>
            <a:r>
              <a:rPr sz="1400" b="1" i="0" dirty="0">
                <a:solidFill>
                  <a:srgbClr val="FFFFFF"/>
                </a:solidFill>
                <a:latin typeface="Calibri"/>
              </a:rPr>
              <a:t> x SHAP + DM </a:t>
            </a:r>
            <a:r>
              <a:rPr sz="1400" b="1" i="0" dirty="0" err="1">
                <a:solidFill>
                  <a:srgbClr val="FFFFFF"/>
                </a:solidFill>
                <a:latin typeface="Calibri"/>
              </a:rPr>
              <a:t>검증</a:t>
            </a:r>
            <a:r>
              <a:rPr sz="1400" b="1" i="0" dirty="0">
                <a:solidFill>
                  <a:srgbClr val="FFFFFF"/>
                </a:solidFill>
                <a:latin typeface="Calibri"/>
              </a:rPr>
              <a:t>   </a:t>
            </a:r>
            <a:endParaRPr lang="en-US" sz="1400" b="1" i="0" dirty="0">
              <a:solidFill>
                <a:srgbClr val="FFFFFF"/>
              </a:solidFill>
              <a:latin typeface="Calibri"/>
            </a:endParaRPr>
          </a:p>
          <a:p>
            <a:pPr algn="ctr"/>
            <a:r>
              <a:rPr lang="en-US" sz="1400" b="1" i="0" dirty="0">
                <a:solidFill>
                  <a:srgbClr val="FFFFFF"/>
                </a:solidFill>
                <a:latin typeface="Calibri"/>
              </a:rPr>
              <a:t>-&gt; </a:t>
            </a:r>
            <a:r>
              <a:rPr sz="1400" b="1" i="0" dirty="0">
                <a:solidFill>
                  <a:srgbClr val="FFFFFF"/>
                </a:solidFill>
                <a:latin typeface="Calibri"/>
              </a:rPr>
              <a:t>세 </a:t>
            </a:r>
            <a:r>
              <a:rPr sz="1400" b="1" i="0" dirty="0" err="1">
                <a:solidFill>
                  <a:srgbClr val="FFFFFF"/>
                </a:solidFill>
                <a:latin typeface="Calibri"/>
              </a:rPr>
              <a:t>흐름의</a:t>
            </a:r>
            <a:r>
              <a:rPr sz="14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Calibri"/>
              </a:rPr>
              <a:t>교점을</a:t>
            </a:r>
            <a:r>
              <a:rPr sz="14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400" b="1" i="0" dirty="0" err="1">
                <a:solidFill>
                  <a:srgbClr val="FFFFFF"/>
                </a:solidFill>
                <a:latin typeface="Calibri"/>
              </a:rPr>
              <a:t>분석</a:t>
            </a:r>
            <a:endParaRPr sz="14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384280" y="6556248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2 /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88952" cy="430887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dirty="0">
                <a:solidFill>
                  <a:srgbClr val="FFFFFF"/>
                </a:solidFill>
                <a:latin typeface="Calibri"/>
              </a:rPr>
              <a:t> 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연구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문제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(RQ 1 - 3)</a:t>
            </a:r>
            <a:r>
              <a:rPr lang="en-US" sz="2200" b="1" dirty="0">
                <a:solidFill>
                  <a:srgbClr val="FFFFFF"/>
                </a:solidFill>
                <a:latin typeface="Calibri"/>
              </a:rPr>
              <a:t> </a:t>
            </a:r>
            <a:endParaRPr sz="22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430887"/>
            <a:ext cx="12188952" cy="228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50812" y="582882"/>
            <a:ext cx="11887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555555"/>
                </a:solidFill>
                <a:latin typeface="Calibri"/>
              </a:rPr>
              <a:t>시간적 선행성 → 채널 이질성 → 예측 간결성 · 세 단계로 리셀 시장 미디어 효과를 해부</a:t>
            </a:r>
            <a:endParaRPr sz="1000" b="0" i="1" dirty="0">
              <a:solidFill>
                <a:srgbClr val="555555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384280" y="6556248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3 /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" y="1417320"/>
            <a:ext cx="3246120" cy="4617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4320" y="1417320"/>
            <a:ext cx="3246120" cy="868680"/>
          </a:xfrm>
          <a:prstGeom prst="round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RQ1   </a:t>
            </a:r>
            <a:r>
              <a:rPr sz="1500" b="1">
                <a:solidFill>
                  <a:srgbClr val="FFFFFF"/>
                </a:solidFill>
                <a:latin typeface="Calibri"/>
              </a:rPr>
              <a:t>시간적 선행성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2404872"/>
            <a:ext cx="2916936" cy="868680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0A0A0A"/>
                </a:solidFill>
                <a:latin typeface="Calibri"/>
              </a:rPr>
              <a:t>어떤 미디어 채널이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0A0A0A"/>
                </a:solidFill>
                <a:latin typeface="Calibri"/>
              </a:rPr>
              <a:t>리셀 가격을 선행하는가?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" y="3291839"/>
            <a:ext cx="2916936" cy="502920"/>
          </a:xfrm>
          <a:prstGeom prst="roundRect">
            <a:avLst/>
          </a:prstGeom>
          <a:solidFill>
            <a:srgbClr val="EAF1F8"/>
          </a:solidFill>
          <a:ln w="12700">
            <a:solidFill>
              <a:srgbClr val="2E6D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E6DA4"/>
                </a:solidFill>
                <a:latin typeface="Calibri"/>
              </a:rPr>
              <a:t>검정  </a:t>
            </a:r>
            <a:r>
              <a:rPr sz="1150" b="1">
                <a:solidFill>
                  <a:srgbClr val="0A0A0A"/>
                </a:solidFill>
                <a:latin typeface="Calibri"/>
              </a:rPr>
              <a:t>Granger 인과 검정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3886200"/>
            <a:ext cx="2916936" cy="868680"/>
          </a:xfrm>
          <a:prstGeom prst="rect">
            <a:avLst/>
          </a:prstGeom>
          <a:noFill/>
        </p:spPr>
        <p:txBody>
          <a:bodyPr wrap="square" anchor="t" lIns="63500" rIns="63500" tIns="38100" bIns="381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2E6DA4"/>
                </a:solidFill>
                <a:latin typeface="Calibri"/>
              </a:rPr>
              <a:t>왜 이 검정?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55555"/>
                </a:solidFill>
                <a:latin typeface="Calibri"/>
              </a:rPr>
              <a:t>과거 채널값이 미래 가격을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55555"/>
                </a:solidFill>
                <a:latin typeface="Calibri"/>
              </a:rPr>
              <a:t>예측하는지(시간 선행) 판별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5468112"/>
            <a:ext cx="3246120" cy="56692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E6DA4"/>
                </a:solidFill>
                <a:latin typeface="Calibri"/>
              </a:rPr>
              <a:t>측정  </a:t>
            </a:r>
            <a:r>
              <a:rPr sz="1100" b="1">
                <a:solidFill>
                  <a:srgbClr val="0A0A0A"/>
                </a:solidFill>
                <a:latin typeface="Calibri"/>
              </a:rPr>
              <a:t>F 통계량 · p값 · 래그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24528" y="1417320"/>
            <a:ext cx="3246120" cy="4617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24528" y="1417320"/>
            <a:ext cx="3246120" cy="868680"/>
          </a:xfrm>
          <a:prstGeom prst="roundRect">
            <a:avLst/>
          </a:prstGeom>
          <a:solidFill>
            <a:srgbClr val="27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RQ2   </a:t>
            </a:r>
            <a:r>
              <a:rPr sz="1500" b="1">
                <a:solidFill>
                  <a:srgbClr val="FFFFFF"/>
                </a:solidFill>
                <a:latin typeface="Calibri"/>
              </a:rPr>
              <a:t>채널 이질성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404872"/>
            <a:ext cx="2916936" cy="868680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0A0A0A"/>
                </a:solidFill>
                <a:latin typeface="Calibri"/>
              </a:rPr>
              <a:t>선행 채널 구성이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0A0A0A"/>
                </a:solidFill>
                <a:latin typeface="Calibri"/>
              </a:rPr>
              <a:t>자산마다 다른가?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3291839"/>
            <a:ext cx="2916936" cy="502920"/>
          </a:xfrm>
          <a:prstGeom prst="roundRect">
            <a:avLst/>
          </a:prstGeom>
          <a:solidFill>
            <a:srgbClr val="E6F2EC"/>
          </a:solidFill>
          <a:ln w="12700">
            <a:solidFill>
              <a:srgbClr val="27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77A4A"/>
                </a:solidFill>
                <a:latin typeface="Calibri"/>
              </a:rPr>
              <a:t>검정  </a:t>
            </a:r>
            <a:r>
              <a:rPr sz="1150" b="1">
                <a:solidFill>
                  <a:srgbClr val="0A0A0A"/>
                </a:solidFill>
                <a:latin typeface="Calibri"/>
              </a:rPr>
              <a:t>자산별 유의 채널 집합 비교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3886200"/>
            <a:ext cx="2916936" cy="868680"/>
          </a:xfrm>
          <a:prstGeom prst="rect">
            <a:avLst/>
          </a:prstGeom>
          <a:noFill/>
        </p:spPr>
        <p:txBody>
          <a:bodyPr wrap="square" anchor="t" lIns="63500" rIns="63500" tIns="38100" bIns="381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277A4A"/>
                </a:solidFill>
                <a:latin typeface="Calibri"/>
              </a:rPr>
              <a:t>왜 이 검정?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55555"/>
                </a:solidFill>
                <a:latin typeface="Calibri"/>
              </a:rPr>
              <a:t>자산마다 유의 채널이 다른지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55555"/>
                </a:solidFill>
                <a:latin typeface="Calibri"/>
              </a:rPr>
              <a:t>직접 비교해 특이성 확인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24528" y="5468112"/>
            <a:ext cx="3246120" cy="56692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77A4A"/>
                </a:solidFill>
                <a:latin typeface="Calibri"/>
              </a:rPr>
              <a:t>측정  </a:t>
            </a:r>
            <a:r>
              <a:rPr sz="1100" b="1">
                <a:solidFill>
                  <a:srgbClr val="0A0A0A"/>
                </a:solidFill>
                <a:latin typeface="Calibri"/>
              </a:rPr>
              <a:t>유의 채널 집합 일치 여부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74736" y="1417320"/>
            <a:ext cx="3246120" cy="4617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174736" y="1417320"/>
            <a:ext cx="3246120" cy="868680"/>
          </a:xfrm>
          <a:prstGeom prst="roundRect">
            <a:avLst/>
          </a:prstGeom>
          <a:solidFill>
            <a:srgbClr val="6C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Calibri"/>
              </a:rPr>
              <a:t>RQ3   </a:t>
            </a:r>
            <a:r>
              <a:rPr sz="1500" b="1">
                <a:solidFill>
                  <a:srgbClr val="FFFFFF"/>
                </a:solidFill>
                <a:latin typeface="Calibri"/>
              </a:rPr>
              <a:t>예측 간결성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7" y="2404872"/>
            <a:ext cx="2916936" cy="868680"/>
          </a:xfrm>
          <a:prstGeom prst="rect">
            <a:avLst/>
          </a:prstGeom>
          <a:noFill/>
        </p:spPr>
        <p:txBody>
          <a:bodyPr wrap="square" anchor="ctr" lIns="63500" rIns="63500" tIns="38100" bIns="3810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0A0A0A"/>
                </a:solidFill>
                <a:latin typeface="Calibri"/>
              </a:rPr>
              <a:t>선별 채널 모델이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50" b="1">
                <a:solidFill>
                  <a:srgbClr val="0A0A0A"/>
                </a:solidFill>
                <a:latin typeface="Calibri"/>
              </a:rPr>
              <a:t>전채널 모델과 동등한가?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39327" y="3291839"/>
            <a:ext cx="2916936" cy="502920"/>
          </a:xfrm>
          <a:prstGeom prst="roundRect">
            <a:avLst/>
          </a:prstGeom>
          <a:solidFill>
            <a:srgbClr val="EFE9F4"/>
          </a:solidFill>
          <a:ln w="12700">
            <a:solidFill>
              <a:srgbClr val="6C3D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6C3D91"/>
                </a:solidFill>
                <a:latin typeface="Calibri"/>
              </a:rPr>
              <a:t>검정  </a:t>
            </a:r>
            <a:r>
              <a:rPr sz="1150" b="1">
                <a:solidFill>
                  <a:srgbClr val="0A0A0A"/>
                </a:solidFill>
                <a:latin typeface="Calibri"/>
              </a:rPr>
              <a:t>XGBoost A/B/C · DM 검정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9327" y="3886200"/>
            <a:ext cx="2916936" cy="868680"/>
          </a:xfrm>
          <a:prstGeom prst="rect">
            <a:avLst/>
          </a:prstGeom>
          <a:noFill/>
        </p:spPr>
        <p:txBody>
          <a:bodyPr wrap="square" anchor="t" lIns="63500" rIns="63500" tIns="38100" bIns="3810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>
                <a:solidFill>
                  <a:srgbClr val="6C3D91"/>
                </a:solidFill>
                <a:latin typeface="Calibri"/>
              </a:rPr>
              <a:t>왜 이 검정?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55555"/>
                </a:solidFill>
                <a:latin typeface="Calibri"/>
              </a:rPr>
              <a:t>적은 채널로도 같은 성능인지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55555"/>
                </a:solidFill>
                <a:latin typeface="Calibri"/>
              </a:rPr>
              <a:t>예측오차를 통계 검정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74736" y="5468112"/>
            <a:ext cx="3246120" cy="566928"/>
          </a:xfrm>
          <a:prstGeom prst="rect">
            <a:avLst/>
          </a:prstGeom>
          <a:solidFill>
            <a:srgbClr val="F2F3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C3D91"/>
                </a:solidFill>
                <a:latin typeface="Calibri"/>
              </a:rPr>
              <a:t>측정  </a:t>
            </a:r>
            <a:r>
              <a:rPr sz="1100" b="1">
                <a:solidFill>
                  <a:srgbClr val="0A0A0A"/>
                </a:solidFill>
                <a:latin typeface="Calibri"/>
              </a:rPr>
              <a:t>AUC · ΔAUC · DM p값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3749039" y="3246120"/>
            <a:ext cx="457200" cy="822960"/>
          </a:xfrm>
          <a:prstGeom prst="rightArrow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ight Arrow 25"/>
          <p:cNvSpPr/>
          <p:nvPr/>
        </p:nvSpPr>
        <p:spPr>
          <a:xfrm>
            <a:off x="7699248" y="3246120"/>
            <a:ext cx="457200" cy="822960"/>
          </a:xfrm>
          <a:prstGeom prst="rightArrow">
            <a:avLst/>
          </a:prstGeom>
          <a:solidFill>
            <a:srgbClr val="27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82286-ACFD-76A1-DEFE-4C49FA063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BC699A-2148-1B3D-B59B-8DE110518AEF}"/>
              </a:ext>
            </a:extLst>
          </p:cNvPr>
          <p:cNvSpPr txBox="1"/>
          <p:nvPr/>
        </p:nvSpPr>
        <p:spPr>
          <a:xfrm>
            <a:off x="182880" y="0"/>
            <a:ext cx="80000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목차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BFC0C06-890E-567B-5F92-78D9090B37EF}"/>
              </a:ext>
            </a:extLst>
          </p:cNvPr>
          <p:cNvSpPr/>
          <p:nvPr/>
        </p:nvSpPr>
        <p:spPr>
          <a:xfrm>
            <a:off x="0" y="-217714"/>
            <a:ext cx="12188825" cy="7162799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F30404-8F79-4197-AF74-FB9AEA845771}"/>
              </a:ext>
            </a:extLst>
          </p:cNvPr>
          <p:cNvSpPr txBox="1"/>
          <p:nvPr/>
        </p:nvSpPr>
        <p:spPr>
          <a:xfrm>
            <a:off x="4317998" y="2532744"/>
            <a:ext cx="4601031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1F2D4E"/>
                </a:solidFill>
              </a:rPr>
              <a:t>연구 배경과 질문</a:t>
            </a:r>
          </a:p>
          <a:p>
            <a:r>
              <a:rPr lang="en-US" altLang="ko-KR" sz="5000" dirty="0">
                <a:solidFill>
                  <a:schemeClr val="bg1"/>
                </a:solidFill>
              </a:rPr>
              <a:t>02</a:t>
            </a:r>
            <a:r>
              <a:rPr lang="ko-KR" altLang="en-US" sz="5000" dirty="0">
                <a:solidFill>
                  <a:schemeClr val="bg1"/>
                </a:solidFill>
              </a:rPr>
              <a:t> </a:t>
            </a:r>
            <a:r>
              <a:rPr lang="ko-KR" altLang="en-US" sz="3000" dirty="0">
                <a:solidFill>
                  <a:schemeClr val="bg1"/>
                </a:solidFill>
              </a:rPr>
              <a:t>분석설계</a:t>
            </a:r>
          </a:p>
        </p:txBody>
      </p:sp>
    </p:spTree>
    <p:extLst>
      <p:ext uri="{BB962C8B-B14F-4D97-AF65-F5344CB8AC3E}">
        <p14:creationId xmlns:p14="http://schemas.microsoft.com/office/powerpoint/2010/main" val="41607213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88952" cy="430887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dirty="0">
                <a:solidFill>
                  <a:srgbClr val="FFFFFF"/>
                </a:solidFill>
                <a:latin typeface="Calibri"/>
              </a:rPr>
              <a:t> 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연구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대상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: 15개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리셀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아이템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 (2022.01 - 2025.12, N = 48개월/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아이템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90372"/>
            <a:ext cx="11887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스니커즈(StockX US Sz10 평균가) · 트레이딩 카드(PriceCharting PSA 10) · 레고(BrickRanker 새 봉인)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9372170"/>
              </p:ext>
            </p:extLst>
          </p:nvPr>
        </p:nvGraphicFramePr>
        <p:xfrm>
          <a:off x="846609" y="1014590"/>
          <a:ext cx="10287000" cy="5304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31514"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아이템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 ID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아이템 명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자산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출처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가격</a:t>
                      </a:r>
                      <a:r>
                        <a:rPr sz="1200" b="1" dirty="0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sz="12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지표</a:t>
                      </a:r>
                      <a:endParaRPr sz="12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커버리지</a:t>
                      </a:r>
                      <a:endParaRPr sz="12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1F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151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sneakers_jordan1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Jordan 1 Retro High OG Bordeaux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스니커즈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StockX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US Sz10 평균가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48/48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151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sneakers_panda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Nike Dunk Low Panda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스니커즈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StockX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US Sz10 평균가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48/48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151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sneakers_yeezy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Yeezy 350 V2 Zebra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스니커즈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StockX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US Sz10 평균가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48/48 *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151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sneakers_travis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Travis Scott Jordan 1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스니커즈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StockX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0A0A0A"/>
                          </a:solidFill>
                          <a:latin typeface="Calibri"/>
                        </a:rPr>
                        <a:t>US Sz10 </a:t>
                      </a:r>
                      <a:r>
                        <a:rPr sz="12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평균가</a:t>
                      </a:r>
                      <a:endParaRPr sz="12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48/48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1514"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0A0A0A"/>
                          </a:solidFill>
                          <a:latin typeface="Calibri"/>
                        </a:rPr>
                        <a:t>sneakers_nb550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New Balance 550 White Green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스니커즈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StockX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US Sz10 평균가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48/48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151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cards_charizard1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Charizard VMAX Shining Fates SV107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카드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PriceCharting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PSA 10 가격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48/48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151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cards_umbreon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Umbreon VMAX Alt Art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카드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PriceCharting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PSA 10 가격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48/48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151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cards_rayquaza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Rayquaza VMAX Alt Art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카드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PriceCharting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PSA 10 가격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48/48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151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cards_pikachu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Pikachu VMAX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카드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PriceCharting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PSA 10 가격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48/48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151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cards_charizard2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Charizard GX Hidden Fates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카드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PriceCharting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PSA 10 가격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48/48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151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lego_falcon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Millennium Falcon 75192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레고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BrickRanker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새 봉인 가격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48/48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151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lego_hogwarts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Hogwarts Castle 71043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레고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BrickRanker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새 봉인 가격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48/48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151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lego_titanic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Titanic 10294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레고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BrickRanker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새 봉인 가격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48/48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3151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lego_porsche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Porsche 911 42096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레고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BrickRanker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새 봉인 가격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48/48 +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31514"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lego_bugatti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Bugatti Chiron 42083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레고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BrickRanker</a:t>
                      </a:r>
                      <a:endParaRPr sz="12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0A0A0A"/>
                          </a:solidFill>
                          <a:latin typeface="Calibri"/>
                        </a:rPr>
                        <a:t>새 봉인 가격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dirty="0">
                          <a:solidFill>
                            <a:srgbClr val="0A0A0A"/>
                          </a:solidFill>
                          <a:latin typeface="Calibri"/>
                        </a:rPr>
                        <a:t>48/48 +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28600" y="6492240"/>
            <a:ext cx="1188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55555"/>
                </a:solidFill>
                <a:latin typeface="Calibri"/>
              </a:rPr>
              <a:t>* Yeezy: StockX 샘플링 아티팩트로 4개월 결측 -&gt; 선형보간 처리    + Porsche(21/48)·Bugatti(25/48): Google Trends 0주 비율 높음 — 제한점으로 명시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556248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4 / 17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8DBB22-6A3F-06E4-0BE5-D6DF826A1774}"/>
              </a:ext>
            </a:extLst>
          </p:cNvPr>
          <p:cNvSpPr txBox="1"/>
          <p:nvPr/>
        </p:nvSpPr>
        <p:spPr>
          <a:xfrm>
            <a:off x="0" y="430887"/>
            <a:ext cx="12188952" cy="228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88952" cy="430887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  전처리: 5개 미디어 채널 변환 및 정상성 확보</a:t>
            </a:r>
            <a:endParaRPr sz="22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59232" y="724662"/>
            <a:ext cx="11887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555555"/>
                </a:solidFill>
                <a:latin typeface="Calibri"/>
              </a:rPr>
              <a:t>채널마다 측정 단위가 달라 스케일이 다름 → 비교·모델 투입을 위해 전처리로 통일</a:t>
            </a:r>
            <a:endParaRPr sz="1000" b="0" i="1" dirty="0">
              <a:solidFill>
                <a:srgbClr val="555555"/>
              </a:solidFill>
              <a:latin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2920" y="4572000"/>
            <a:ext cx="6949440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555555"/>
                </a:solidFill>
                <a:latin typeface="Calibri"/>
              </a:rPr>
              <a:t>제한점  |  CH3: GDELT tone은 자동 추출 방식 (FinBERT 대비 도메인 특화도 낮음)  |  CH4: 'resell+review' 키워드 필터로 일반 hype 과소 계상 가능  |  두 항목 모두 논문 §5.3 명시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84280" y="6556248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5 / 17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840CE1-A046-256B-2E92-1C6AA365A7C9}"/>
              </a:ext>
            </a:extLst>
          </p:cNvPr>
          <p:cNvSpPr txBox="1"/>
          <p:nvPr/>
        </p:nvSpPr>
        <p:spPr>
          <a:xfrm>
            <a:off x="0" y="430887"/>
            <a:ext cx="12188952" cy="228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1234440"/>
          <a:ext cx="694944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1737360"/>
                <a:gridCol w="2011680"/>
                <a:gridCol w="2560320"/>
              </a:tblGrid>
              <a:tr h="51816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 marL="50800" marR="50800" marT="25400" marB="25400" anchor="ctr">
                    <a:solidFill>
                      <a:srgbClr val="1F2D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채널명</a:t>
                      </a:r>
                    </a:p>
                  </a:txBody>
                  <a:tcPr marL="50800" marR="50800" marT="25400" marB="25400" anchor="ctr">
                    <a:solidFill>
                      <a:srgbClr val="1F2D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측정 대상</a:t>
                      </a:r>
                    </a:p>
                  </a:txBody>
                  <a:tcPr marL="50800" marR="50800" marT="25400" marB="25400" anchor="ctr">
                    <a:solidFill>
                      <a:srgbClr val="1F2D4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전처리 → 최종 스케일</a:t>
                      </a:r>
                    </a:p>
                  </a:txBody>
                  <a:tcPr marL="50800" marR="50800" marT="25400" marB="25400" anchor="ctr">
                    <a:solidFill>
                      <a:srgbClr val="1F2D4E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A0A0A"/>
                          </a:solidFill>
                          <a:latin typeface="Calibri"/>
                        </a:rPr>
                        <a:t>CH1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A0A0A"/>
                          </a:solidFill>
                          <a:latin typeface="Calibri"/>
                        </a:rPr>
                        <a:t>Google Trends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A0A0A"/>
                          </a:solidFill>
                          <a:latin typeface="Calibri"/>
                        </a:rPr>
                        <a:t>소비자 검색 관심도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A0A0A"/>
                          </a:solidFill>
                          <a:latin typeface="Calibri"/>
                        </a:rPr>
                        <a:t>월평균 → 0–100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A0A0A"/>
                          </a:solidFill>
                          <a:latin typeface="Calibri"/>
                        </a:rPr>
                        <a:t>CH2</a:t>
                      </a:r>
                    </a:p>
                  </a:txBody>
                  <a:tcPr marL="50800" marR="50800" marT="25400" marB="25400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A0A0A"/>
                          </a:solidFill>
                          <a:latin typeface="Calibri"/>
                        </a:rPr>
                        <a:t>뉴스 보도량</a:t>
                      </a:r>
                    </a:p>
                  </a:txBody>
                  <a:tcPr marL="50800" marR="50800" marT="25400" marB="25400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A0A0A"/>
                          </a:solidFill>
                          <a:latin typeface="Calibri"/>
                        </a:rPr>
                        <a:t>미디어 노출 강도</a:t>
                      </a:r>
                    </a:p>
                  </a:txBody>
                  <a:tcPr marL="50800" marR="50800" marT="25400" marB="25400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A0A0A"/>
                          </a:solidFill>
                          <a:latin typeface="Calibri"/>
                        </a:rPr>
                        <a:t>GDELT 월평균 → 0–1 정규화</a:t>
                      </a:r>
                    </a:p>
                  </a:txBody>
                  <a:tcPr marL="50800" marR="50800" marT="25400" marB="25400" anchor="ctr">
                    <a:solidFill>
                      <a:srgbClr val="F2F3F5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A0A0A"/>
                          </a:solidFill>
                          <a:latin typeface="Calibri"/>
                        </a:rPr>
                        <a:t>CH3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A0A0A"/>
                          </a:solidFill>
                          <a:latin typeface="Calibri"/>
                        </a:rPr>
                        <a:t>뉴스 감성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A0A0A"/>
                          </a:solidFill>
                          <a:latin typeface="Calibri"/>
                        </a:rPr>
                        <a:t>미디어 논조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A0A0A"/>
                          </a:solidFill>
                          <a:latin typeface="Calibri"/>
                        </a:rPr>
                        <a:t>GDELT tone → −1~+1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A0A0A"/>
                          </a:solidFill>
                          <a:latin typeface="Calibri"/>
                        </a:rPr>
                        <a:t>CH4</a:t>
                      </a:r>
                    </a:p>
                  </a:txBody>
                  <a:tcPr marL="50800" marR="50800" marT="25400" marB="25400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A0A0A"/>
                          </a:solidFill>
                          <a:latin typeface="Calibri"/>
                        </a:rPr>
                        <a:t>유튜브 조회수</a:t>
                      </a:r>
                    </a:p>
                  </a:txBody>
                  <a:tcPr marL="50800" marR="50800" marT="25400" marB="25400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A0A0A"/>
                          </a:solidFill>
                          <a:latin typeface="Calibri"/>
                        </a:rPr>
                        <a:t>정보 탐색 의도</a:t>
                      </a:r>
                    </a:p>
                  </a:txBody>
                  <a:tcPr marL="50800" marR="50800" marT="25400" marB="25400" anchor="ctr">
                    <a:solidFill>
                      <a:srgbClr val="F2F3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A0A0A"/>
                          </a:solidFill>
                          <a:latin typeface="Calibri"/>
                        </a:rPr>
                        <a:t>log1p → z-score</a:t>
                      </a:r>
                    </a:p>
                  </a:txBody>
                  <a:tcPr marL="50800" marR="50800" marT="25400" marB="25400" anchor="ctr">
                    <a:solidFill>
                      <a:srgbClr val="F2F3F5"/>
                    </a:solidFill>
                  </a:tcPr>
                </a:tc>
              </a:tr>
              <a:tr h="518160">
                <a:tc>
                  <a:txBody>
                    <a:bodyPr wrap="square"/>
                    <a:lstStyle/>
                    <a:p>
                      <a:pPr algn="ctr"/>
                      <a:r>
                        <a:rPr sz="1050" b="1">
                          <a:solidFill>
                            <a:srgbClr val="0A0A0A"/>
                          </a:solidFill>
                          <a:latin typeface="Calibri"/>
                        </a:rPr>
                        <a:t>CH5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A0A0A"/>
                          </a:solidFill>
                          <a:latin typeface="Calibri"/>
                        </a:rPr>
                        <a:t>유튜브 댓글 감성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A0A0A"/>
                          </a:solidFill>
                          <a:latin typeface="Calibri"/>
                        </a:rPr>
                        <a:t>소매 투자자 감성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0A0A0A"/>
                          </a:solidFill>
                          <a:latin typeface="Calibri"/>
                        </a:rPr>
                        <a:t>FinBERT P(pos)−P(neg) → −1~+1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680960" y="1234440"/>
            <a:ext cx="4160520" cy="1417320"/>
          </a:xfrm>
          <a:prstGeom prst="roundRect">
            <a:avLst/>
          </a:prstGeom>
          <a:solidFill>
            <a:srgbClr val="EAF1F8"/>
          </a:solidFill>
          <a:ln w="12700">
            <a:solidFill>
              <a:srgbClr val="2E6D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2E6DA4"/>
                </a:solidFill>
                <a:latin typeface="Calibri"/>
              </a:rPr>
              <a:t>왜 채널마다 스케일이 다른가?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A0A0A"/>
                </a:solidFill>
                <a:latin typeface="Calibri"/>
              </a:rPr>
              <a:t>각 채널은 검색량·보도량·감성 등 </a:t>
            </a:r>
            <a:r>
              <a:rPr sz="1100" b="1">
                <a:solidFill>
                  <a:srgbClr val="0A0A0A"/>
                </a:solidFill>
                <a:latin typeface="Calibri"/>
              </a:rPr>
              <a:t>서로 다른 단위</a:t>
            </a:r>
            <a:r>
              <a:rPr sz="1100" b="0">
                <a:solidFill>
                  <a:srgbClr val="0A0A0A"/>
                </a:solidFill>
                <a:latin typeface="Calibri"/>
              </a:rPr>
              <a:t>를 측정.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0A0A0A"/>
                </a:solidFill>
                <a:latin typeface="Calibri"/>
              </a:rPr>
              <a:t>→ 모델(XGBoost) 투입 직전 </a:t>
            </a:r>
            <a:r>
              <a:rPr sz="1100" b="1">
                <a:solidFill>
                  <a:srgbClr val="2E6DA4"/>
                </a:solidFill>
                <a:latin typeface="Calibri"/>
              </a:rPr>
              <a:t>StandardScaler로 z-score 통일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80960" y="2788920"/>
            <a:ext cx="4160520" cy="1554480"/>
          </a:xfrm>
          <a:prstGeom prst="roundRect">
            <a:avLst/>
          </a:prstGeom>
          <a:solidFill>
            <a:srgbClr val="E6F2EC"/>
          </a:solidFill>
          <a:ln w="12700">
            <a:solidFill>
              <a:srgbClr val="277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277A4A"/>
                </a:solidFill>
                <a:latin typeface="Calibri"/>
              </a:rPr>
              <a:t>왜 정상성(ADF) 검정?</a:t>
            </a:r>
          </a:p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0A0A0A"/>
                </a:solidFill>
                <a:latin typeface="Calibri"/>
              </a:rPr>
              <a:t>비정상 시계열은 </a:t>
            </a:r>
            <a:r>
              <a:rPr sz="1100" b="1">
                <a:solidFill>
                  <a:srgbClr val="B23B3B"/>
                </a:solidFill>
                <a:latin typeface="Calibri"/>
              </a:rPr>
              <a:t>허구 인과</a:t>
            </a:r>
            <a:r>
              <a:rPr sz="1100" b="0">
                <a:solidFill>
                  <a:srgbClr val="0A0A0A"/>
                </a:solidFill>
                <a:latin typeface="Calibri"/>
              </a:rPr>
              <a:t> 위험 → Granger 전제조건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A0A0A"/>
                </a:solidFill>
                <a:latin typeface="Calibri"/>
              </a:rPr>
              <a:t>ADF 결과: </a:t>
            </a:r>
            <a:r>
              <a:rPr sz="1100" b="0">
                <a:solidFill>
                  <a:srgbClr val="0A0A0A"/>
                </a:solidFill>
                <a:latin typeface="Calibri"/>
              </a:rPr>
              <a:t>정상 9개 그대로 · 비정상 9개 1차 차분 후 사용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55555"/>
                </a:solidFill>
                <a:latin typeface="Calibri"/>
              </a:rPr>
              <a:t>예외: 스니커즈 CH1 차분 후도 p=0.120 (경계, 한계 명시)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88825" cy="430887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dirty="0">
                <a:solidFill>
                  <a:srgbClr val="FFFFFF"/>
                </a:solidFill>
                <a:latin typeface="Calibri"/>
              </a:rPr>
              <a:t> 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분석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전처리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: ADF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단위근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검정으로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정상성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확보</a:t>
            </a:r>
            <a:r>
              <a:rPr lang="en-US" sz="2200" b="1" dirty="0">
                <a:solidFill>
                  <a:srgbClr val="FFFFFF"/>
                </a:solidFill>
                <a:latin typeface="Calibri"/>
              </a:rPr>
              <a:t> </a:t>
            </a:r>
            <a:endParaRPr sz="22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82880" y="566587"/>
            <a:ext cx="11887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 dirty="0">
                <a:solidFill>
                  <a:srgbClr val="555555"/>
                </a:solidFill>
                <a:latin typeface="Calibri"/>
              </a:rPr>
              <a:t>Granger </a:t>
            </a:r>
            <a:r>
              <a:rPr sz="1000" b="0" i="1" dirty="0" err="1">
                <a:solidFill>
                  <a:srgbClr val="555555"/>
                </a:solidFill>
                <a:latin typeface="Calibri"/>
              </a:rPr>
              <a:t>검정</a:t>
            </a:r>
            <a:r>
              <a:rPr sz="10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000" b="0" i="1" dirty="0" err="1">
                <a:solidFill>
                  <a:srgbClr val="555555"/>
                </a:solidFill>
                <a:latin typeface="Calibri"/>
              </a:rPr>
              <a:t>투입</a:t>
            </a:r>
            <a:r>
              <a:rPr sz="1000" b="0" i="1" dirty="0">
                <a:solidFill>
                  <a:srgbClr val="555555"/>
                </a:solidFill>
                <a:latin typeface="Calibri"/>
              </a:rPr>
              <a:t> 전 </a:t>
            </a:r>
            <a:r>
              <a:rPr sz="1000" b="0" i="1" dirty="0" err="1">
                <a:solidFill>
                  <a:srgbClr val="555555"/>
                </a:solidFill>
                <a:latin typeface="Calibri"/>
              </a:rPr>
              <a:t>모든</a:t>
            </a:r>
            <a:r>
              <a:rPr sz="10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000" b="0" i="1" dirty="0" err="1">
                <a:solidFill>
                  <a:srgbClr val="555555"/>
                </a:solidFill>
                <a:latin typeface="Calibri"/>
              </a:rPr>
              <a:t>시계열이</a:t>
            </a:r>
            <a:r>
              <a:rPr sz="1000" b="0" i="1" dirty="0">
                <a:solidFill>
                  <a:srgbClr val="555555"/>
                </a:solidFill>
                <a:latin typeface="Calibri"/>
              </a:rPr>
              <a:t> '</a:t>
            </a:r>
            <a:r>
              <a:rPr sz="1000" b="0" i="1" dirty="0" err="1">
                <a:solidFill>
                  <a:srgbClr val="555555"/>
                </a:solidFill>
                <a:latin typeface="Calibri"/>
              </a:rPr>
              <a:t>정상</a:t>
            </a:r>
            <a:r>
              <a:rPr sz="1000" b="0" i="1" dirty="0">
                <a:solidFill>
                  <a:srgbClr val="555555"/>
                </a:solidFill>
                <a:latin typeface="Calibri"/>
              </a:rPr>
              <a:t>(stationary)' </a:t>
            </a:r>
            <a:r>
              <a:rPr sz="1000" b="0" i="1" dirty="0" err="1">
                <a:solidFill>
                  <a:srgbClr val="555555"/>
                </a:solidFill>
                <a:latin typeface="Calibri"/>
              </a:rPr>
              <a:t>이어야</a:t>
            </a:r>
            <a:r>
              <a:rPr sz="1000" b="0" i="1" dirty="0">
                <a:solidFill>
                  <a:srgbClr val="555555"/>
                </a:solidFill>
                <a:latin typeface="Calibri"/>
              </a:rPr>
              <a:t> 함 — </a:t>
            </a:r>
            <a:r>
              <a:rPr sz="1000" b="0" i="1" dirty="0" err="1">
                <a:solidFill>
                  <a:srgbClr val="555555"/>
                </a:solidFill>
                <a:latin typeface="Calibri"/>
              </a:rPr>
              <a:t>비정상</a:t>
            </a:r>
            <a:r>
              <a:rPr sz="10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000" b="0" i="1" dirty="0" err="1">
                <a:solidFill>
                  <a:srgbClr val="555555"/>
                </a:solidFill>
                <a:latin typeface="Calibri"/>
              </a:rPr>
              <a:t>시계열</a:t>
            </a:r>
            <a:r>
              <a:rPr sz="10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000" b="0" i="1" dirty="0" err="1">
                <a:solidFill>
                  <a:srgbClr val="555555"/>
                </a:solidFill>
                <a:latin typeface="Calibri"/>
              </a:rPr>
              <a:t>사용</a:t>
            </a:r>
            <a:r>
              <a:rPr sz="1000" b="0" i="1" dirty="0">
                <a:solidFill>
                  <a:srgbClr val="555555"/>
                </a:solidFill>
                <a:latin typeface="Calibri"/>
              </a:rPr>
              <a:t> 시 </a:t>
            </a:r>
            <a:r>
              <a:rPr sz="1000" b="0" i="1" dirty="0" err="1">
                <a:solidFill>
                  <a:srgbClr val="555555"/>
                </a:solidFill>
                <a:latin typeface="Calibri"/>
              </a:rPr>
              <a:t>허구</a:t>
            </a:r>
            <a:r>
              <a:rPr sz="10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000" b="0" i="1" dirty="0" err="1">
                <a:solidFill>
                  <a:srgbClr val="555555"/>
                </a:solidFill>
                <a:latin typeface="Calibri"/>
              </a:rPr>
              <a:t>인과</a:t>
            </a:r>
            <a:r>
              <a:rPr sz="10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000" b="0" i="1" dirty="0" err="1">
                <a:solidFill>
                  <a:srgbClr val="555555"/>
                </a:solidFill>
                <a:latin typeface="Calibri"/>
              </a:rPr>
              <a:t>위험</a:t>
            </a:r>
            <a:endParaRPr sz="1000" b="0" i="1" dirty="0">
              <a:solidFill>
                <a:srgbClr val="555555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23240" y="1849768"/>
            <a:ext cx="2688651" cy="3882574"/>
          </a:xfrm>
          <a:prstGeom prst="rect">
            <a:avLst/>
          </a:prstGeom>
          <a:solidFill>
            <a:srgbClr val="F0F4FF"/>
          </a:solidFill>
          <a:ln w="9525">
            <a:solidFill>
              <a:srgbClr val="BBBBBB"/>
            </a:solidFill>
          </a:ln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23240" y="1922920"/>
            <a:ext cx="2479414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1F2D4E"/>
                </a:solidFill>
                <a:latin typeface="Calibri"/>
              </a:rPr>
              <a:t>왜 </a:t>
            </a:r>
            <a:r>
              <a:rPr sz="1300" b="1" i="0" dirty="0" err="1">
                <a:solidFill>
                  <a:srgbClr val="1F2D4E"/>
                </a:solidFill>
                <a:latin typeface="Calibri"/>
              </a:rPr>
              <a:t>정상성</a:t>
            </a:r>
            <a:r>
              <a:rPr sz="1300" b="1" i="0" dirty="0">
                <a:solidFill>
                  <a:srgbClr val="1F2D4E"/>
                </a:solidFill>
                <a:latin typeface="Calibri"/>
              </a:rPr>
              <a:t> </a:t>
            </a:r>
            <a:r>
              <a:rPr sz="1300" b="1" i="0" dirty="0" err="1">
                <a:solidFill>
                  <a:srgbClr val="1F2D4E"/>
                </a:solidFill>
                <a:latin typeface="Calibri"/>
              </a:rPr>
              <a:t>검정이</a:t>
            </a:r>
            <a:r>
              <a:rPr sz="1300" b="1" i="0" dirty="0">
                <a:solidFill>
                  <a:srgbClr val="1F2D4E"/>
                </a:solidFill>
                <a:latin typeface="Calibri"/>
              </a:rPr>
              <a:t> </a:t>
            </a:r>
            <a:r>
              <a:rPr sz="1300" b="1" i="0" dirty="0" err="1">
                <a:solidFill>
                  <a:srgbClr val="1F2D4E"/>
                </a:solidFill>
                <a:latin typeface="Calibri"/>
              </a:rPr>
              <a:t>필요한가</a:t>
            </a:r>
            <a:r>
              <a:rPr sz="1300" b="1" i="0" dirty="0">
                <a:solidFill>
                  <a:srgbClr val="1F2D4E"/>
                </a:solidFill>
                <a:latin typeface="Calibri"/>
              </a:rPr>
              <a:t>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3240" y="2331680"/>
            <a:ext cx="2479414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dirty="0">
                <a:solidFill>
                  <a:srgbClr val="0A0A0A"/>
                </a:solidFill>
                <a:latin typeface="Calibri"/>
              </a:rPr>
              <a:t>Granger </a:t>
            </a:r>
            <a:r>
              <a:rPr sz="1300" b="0" dirty="0" err="1">
                <a:solidFill>
                  <a:srgbClr val="0A0A0A"/>
                </a:solidFill>
                <a:latin typeface="Calibri"/>
              </a:rPr>
              <a:t>검정의</a:t>
            </a:r>
            <a:r>
              <a:rPr sz="1300" b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0A0A0A"/>
                </a:solidFill>
                <a:latin typeface="Calibri"/>
              </a:rPr>
              <a:t>전제</a:t>
            </a:r>
            <a:r>
              <a:rPr sz="1300" b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0A0A0A"/>
                </a:solidFill>
                <a:latin typeface="Calibri"/>
              </a:rPr>
              <a:t>조건</a:t>
            </a:r>
            <a:r>
              <a:rPr sz="1300" b="0" dirty="0">
                <a:solidFill>
                  <a:srgbClr val="0A0A0A"/>
                </a:solidFill>
                <a:latin typeface="Calibri"/>
              </a:rPr>
              <a:t>:
</a:t>
            </a:r>
            <a:r>
              <a:rPr sz="1300" b="0" dirty="0" err="1">
                <a:solidFill>
                  <a:srgbClr val="0A0A0A"/>
                </a:solidFill>
                <a:latin typeface="Calibri"/>
              </a:rPr>
              <a:t>시계열이</a:t>
            </a:r>
            <a:r>
              <a:rPr sz="1300" b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0A0A0A"/>
                </a:solidFill>
                <a:latin typeface="Calibri"/>
              </a:rPr>
              <a:t>정상</a:t>
            </a:r>
            <a:r>
              <a:rPr sz="1300" b="0" dirty="0">
                <a:solidFill>
                  <a:srgbClr val="0A0A0A"/>
                </a:solidFill>
                <a:latin typeface="Calibri"/>
              </a:rPr>
              <a:t>(I(0))</a:t>
            </a:r>
            <a:r>
              <a:rPr sz="1300" b="0" dirty="0" err="1">
                <a:solidFill>
                  <a:srgbClr val="0A0A0A"/>
                </a:solidFill>
                <a:latin typeface="Calibri"/>
              </a:rPr>
              <a:t>이어야</a:t>
            </a:r>
            <a:r>
              <a:rPr sz="1300" b="0" dirty="0">
                <a:solidFill>
                  <a:srgbClr val="0A0A0A"/>
                </a:solidFill>
                <a:latin typeface="Calibri"/>
              </a:rPr>
              <a:t>
</a:t>
            </a:r>
            <a:r>
              <a:rPr sz="1300" b="0" dirty="0" err="1">
                <a:solidFill>
                  <a:srgbClr val="0A0A0A"/>
                </a:solidFill>
                <a:latin typeface="Calibri"/>
              </a:rPr>
              <a:t>통계</a:t>
            </a:r>
            <a:r>
              <a:rPr sz="1300" b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0A0A0A"/>
                </a:solidFill>
                <a:latin typeface="Calibri"/>
              </a:rPr>
              <a:t>검정이</a:t>
            </a:r>
            <a:r>
              <a:rPr sz="1300" b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0A0A0A"/>
                </a:solidFill>
                <a:latin typeface="Calibri"/>
              </a:rPr>
              <a:t>유효함</a:t>
            </a:r>
            <a:r>
              <a:rPr sz="1300" b="0" dirty="0">
                <a:solidFill>
                  <a:srgbClr val="0A0A0A"/>
                </a:solidFill>
                <a:latin typeface="Calibri"/>
              </a:rPr>
              <a:t>
-&gt; </a:t>
            </a:r>
            <a:r>
              <a:rPr sz="1300" b="0" dirty="0" err="1">
                <a:solidFill>
                  <a:srgbClr val="0A0A0A"/>
                </a:solidFill>
                <a:latin typeface="Calibri"/>
              </a:rPr>
              <a:t>비정상</a:t>
            </a:r>
            <a:r>
              <a:rPr sz="1300" b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0A0A0A"/>
                </a:solidFill>
                <a:latin typeface="Calibri"/>
              </a:rPr>
              <a:t>시계열</a:t>
            </a:r>
            <a:r>
              <a:rPr sz="1300" b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0A0A0A"/>
                </a:solidFill>
                <a:latin typeface="Calibri"/>
              </a:rPr>
              <a:t>사용</a:t>
            </a:r>
            <a:r>
              <a:rPr sz="1300" b="0" dirty="0">
                <a:solidFill>
                  <a:srgbClr val="0A0A0A"/>
                </a:solidFill>
                <a:latin typeface="Calibri"/>
              </a:rPr>
              <a:t> 시
   </a:t>
            </a:r>
            <a:r>
              <a:rPr sz="1300" b="0" dirty="0" err="1">
                <a:solidFill>
                  <a:srgbClr val="0A0A0A"/>
                </a:solidFill>
                <a:latin typeface="Calibri"/>
              </a:rPr>
              <a:t>허구</a:t>
            </a:r>
            <a:r>
              <a:rPr sz="1300" b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0A0A0A"/>
                </a:solidFill>
                <a:latin typeface="Calibri"/>
              </a:rPr>
              <a:t>상관</a:t>
            </a:r>
            <a:r>
              <a:rPr sz="1300" b="0" dirty="0">
                <a:solidFill>
                  <a:srgbClr val="0A0A0A"/>
                </a:solidFill>
                <a:latin typeface="Calibri"/>
              </a:rPr>
              <a:t>(spurious correlation) </a:t>
            </a:r>
            <a:r>
              <a:rPr sz="1300" b="0" dirty="0" err="1">
                <a:solidFill>
                  <a:srgbClr val="0A0A0A"/>
                </a:solidFill>
                <a:latin typeface="Calibri"/>
              </a:rPr>
              <a:t>위험</a:t>
            </a:r>
            <a:r>
              <a:rPr sz="1300" b="0" dirty="0">
                <a:solidFill>
                  <a:srgbClr val="0A0A0A"/>
                </a:solidFill>
                <a:latin typeface="Calibri"/>
              </a:rPr>
              <a:t>
</a:t>
            </a:r>
            <a:r>
              <a:rPr sz="1300" b="0" dirty="0" err="1">
                <a:solidFill>
                  <a:srgbClr val="0A0A0A"/>
                </a:solidFill>
                <a:latin typeface="Calibri"/>
              </a:rPr>
              <a:t>검정</a:t>
            </a:r>
            <a:r>
              <a:rPr sz="1300" b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0A0A0A"/>
                </a:solidFill>
                <a:latin typeface="Calibri"/>
              </a:rPr>
              <a:t>기준</a:t>
            </a:r>
            <a:r>
              <a:rPr sz="1300" b="0" dirty="0">
                <a:solidFill>
                  <a:srgbClr val="0A0A0A"/>
                </a:solidFill>
                <a:latin typeface="Calibri"/>
              </a:rPr>
              <a:t> (ADF </a:t>
            </a:r>
            <a:r>
              <a:rPr sz="1300" b="0" dirty="0" err="1">
                <a:solidFill>
                  <a:srgbClr val="0A0A0A"/>
                </a:solidFill>
                <a:latin typeface="Calibri"/>
              </a:rPr>
              <a:t>단위근</a:t>
            </a:r>
            <a:r>
              <a:rPr sz="1300" b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0A0A0A"/>
                </a:solidFill>
                <a:latin typeface="Calibri"/>
              </a:rPr>
              <a:t>검정</a:t>
            </a:r>
            <a:r>
              <a:rPr sz="1300" b="0" dirty="0">
                <a:solidFill>
                  <a:srgbClr val="0A0A0A"/>
                </a:solidFill>
                <a:latin typeface="Calibri"/>
              </a:rPr>
              <a:t>):
  p &lt; 0.05 -&gt; </a:t>
            </a:r>
            <a:r>
              <a:rPr sz="1300" b="0" dirty="0" err="1">
                <a:solidFill>
                  <a:srgbClr val="0A0A0A"/>
                </a:solidFill>
                <a:latin typeface="Calibri"/>
              </a:rPr>
              <a:t>정상</a:t>
            </a:r>
            <a:r>
              <a:rPr sz="1300" b="0" dirty="0">
                <a:solidFill>
                  <a:srgbClr val="0A0A0A"/>
                </a:solidFill>
                <a:latin typeface="Calibri"/>
              </a:rPr>
              <a:t> (</a:t>
            </a:r>
            <a:r>
              <a:rPr sz="1300" b="0" dirty="0" err="1">
                <a:solidFill>
                  <a:srgbClr val="0A0A0A"/>
                </a:solidFill>
                <a:latin typeface="Calibri"/>
              </a:rPr>
              <a:t>그대로</a:t>
            </a:r>
            <a:r>
              <a:rPr sz="1300" b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0A0A0A"/>
                </a:solidFill>
                <a:latin typeface="Calibri"/>
              </a:rPr>
              <a:t>사용</a:t>
            </a:r>
            <a:r>
              <a:rPr sz="1300" b="0" dirty="0">
                <a:solidFill>
                  <a:srgbClr val="0A0A0A"/>
                </a:solidFill>
                <a:latin typeface="Calibri"/>
              </a:rPr>
              <a:t>)
  p &gt;= 0.05 -&gt; </a:t>
            </a:r>
            <a:r>
              <a:rPr sz="1300" b="0" dirty="0" err="1">
                <a:solidFill>
                  <a:srgbClr val="0A0A0A"/>
                </a:solidFill>
                <a:latin typeface="Calibri"/>
              </a:rPr>
              <a:t>비정상</a:t>
            </a:r>
            <a:r>
              <a:rPr sz="1300" b="0" dirty="0">
                <a:solidFill>
                  <a:srgbClr val="0A0A0A"/>
                </a:solidFill>
                <a:latin typeface="Calibri"/>
              </a:rPr>
              <a:t> -&gt; 1차 </a:t>
            </a:r>
            <a:r>
              <a:rPr sz="1300" b="0" dirty="0" err="1">
                <a:solidFill>
                  <a:srgbClr val="0A0A0A"/>
                </a:solidFill>
                <a:latin typeface="Calibri"/>
              </a:rPr>
              <a:t>차분</a:t>
            </a:r>
            <a:r>
              <a:rPr sz="1300" b="0" dirty="0">
                <a:solidFill>
                  <a:srgbClr val="0A0A0A"/>
                </a:solidFill>
                <a:latin typeface="Calibri"/>
              </a:rPr>
              <a:t> 후 </a:t>
            </a:r>
            <a:r>
              <a:rPr sz="1300" b="0" dirty="0" err="1">
                <a:solidFill>
                  <a:srgbClr val="0A0A0A"/>
                </a:solidFill>
                <a:latin typeface="Calibri"/>
              </a:rPr>
              <a:t>재검정</a:t>
            </a:r>
            <a:r>
              <a:rPr sz="1300" b="0" dirty="0">
                <a:solidFill>
                  <a:srgbClr val="0A0A0A"/>
                </a:solidFill>
                <a:latin typeface="Calibri"/>
              </a:rPr>
              <a:t>
</a:t>
            </a:r>
            <a:r>
              <a:rPr sz="1300" b="0" dirty="0" err="1">
                <a:solidFill>
                  <a:srgbClr val="0A0A0A"/>
                </a:solidFill>
                <a:latin typeface="Calibri"/>
              </a:rPr>
              <a:t>최종</a:t>
            </a:r>
            <a:r>
              <a:rPr sz="1300" b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0A0A0A"/>
                </a:solidFill>
                <a:latin typeface="Calibri"/>
              </a:rPr>
              <a:t>결과</a:t>
            </a:r>
            <a:r>
              <a:rPr sz="1300" b="0" dirty="0">
                <a:solidFill>
                  <a:srgbClr val="0A0A0A"/>
                </a:solidFill>
                <a:latin typeface="Calibri"/>
              </a:rPr>
              <a:t>:
  </a:t>
            </a:r>
            <a:r>
              <a:rPr sz="1300" b="0" dirty="0" err="1">
                <a:solidFill>
                  <a:srgbClr val="0A0A0A"/>
                </a:solidFill>
                <a:latin typeface="Calibri"/>
              </a:rPr>
              <a:t>정상</a:t>
            </a:r>
            <a:r>
              <a:rPr sz="1300" b="0" dirty="0">
                <a:solidFill>
                  <a:srgbClr val="0A0A0A"/>
                </a:solidFill>
                <a:latin typeface="Calibri"/>
              </a:rPr>
              <a:t> I(0) 9개  /  </a:t>
            </a:r>
            <a:r>
              <a:rPr sz="1300" b="0" dirty="0" err="1">
                <a:solidFill>
                  <a:srgbClr val="0A0A0A"/>
                </a:solidFill>
                <a:latin typeface="Calibri"/>
              </a:rPr>
              <a:t>차분</a:t>
            </a:r>
            <a:r>
              <a:rPr sz="1300" b="0" dirty="0">
                <a:solidFill>
                  <a:srgbClr val="0A0A0A"/>
                </a:solidFill>
                <a:latin typeface="Calibri"/>
              </a:rPr>
              <a:t> 후 I(1) 9개
  </a:t>
            </a:r>
            <a:r>
              <a:rPr sz="1300" b="0" dirty="0" err="1">
                <a:solidFill>
                  <a:srgbClr val="0A0A0A"/>
                </a:solidFill>
                <a:latin typeface="Calibri"/>
              </a:rPr>
              <a:t>예외</a:t>
            </a:r>
            <a:r>
              <a:rPr sz="1300" b="0" dirty="0">
                <a:solidFill>
                  <a:srgbClr val="0A0A0A"/>
                </a:solidFill>
                <a:latin typeface="Calibri"/>
              </a:rPr>
              <a:t>: </a:t>
            </a:r>
            <a:r>
              <a:rPr sz="1300" b="0" dirty="0" err="1">
                <a:solidFill>
                  <a:srgbClr val="0A0A0A"/>
                </a:solidFill>
                <a:latin typeface="Calibri"/>
              </a:rPr>
              <a:t>스니커즈</a:t>
            </a:r>
            <a:r>
              <a:rPr sz="1300" b="0" dirty="0">
                <a:solidFill>
                  <a:srgbClr val="0A0A0A"/>
                </a:solidFill>
                <a:latin typeface="Calibri"/>
              </a:rPr>
              <a:t> CH1 (</a:t>
            </a:r>
            <a:r>
              <a:rPr sz="1300" b="0" dirty="0" err="1">
                <a:solidFill>
                  <a:srgbClr val="0A0A0A"/>
                </a:solidFill>
                <a:latin typeface="Calibri"/>
              </a:rPr>
              <a:t>차분</a:t>
            </a:r>
            <a:r>
              <a:rPr sz="1300" b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300" b="0" dirty="0" err="1">
                <a:solidFill>
                  <a:srgbClr val="0A0A0A"/>
                </a:solidFill>
                <a:latin typeface="Calibri"/>
              </a:rPr>
              <a:t>후도</a:t>
            </a:r>
            <a:r>
              <a:rPr sz="1300" b="0" dirty="0">
                <a:solidFill>
                  <a:srgbClr val="0A0A0A"/>
                </a:solidFill>
                <a:latin typeface="Calibri"/>
              </a:rPr>
              <a:t> p=0.120, </a:t>
            </a:r>
            <a:r>
              <a:rPr sz="1300" b="0" dirty="0" err="1">
                <a:solidFill>
                  <a:srgbClr val="0A0A0A"/>
                </a:solidFill>
                <a:latin typeface="Calibri"/>
              </a:rPr>
              <a:t>경계</a:t>
            </a:r>
            <a:r>
              <a:rPr sz="1300" b="0" dirty="0">
                <a:solidFill>
                  <a:srgbClr val="0A0A0A"/>
                </a:solidFill>
                <a:latin typeface="Calibri"/>
              </a:rPr>
              <a:t>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3447337"/>
              </p:ext>
            </p:extLst>
          </p:nvPr>
        </p:nvGraphicFramePr>
        <p:xfrm>
          <a:off x="3811473" y="961473"/>
          <a:ext cx="7863840" cy="550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97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27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68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8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306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81538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자산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시계열</a:t>
                      </a:r>
                      <a:endParaRPr sz="13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ADF p값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정상?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조치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1538">
                <a:tc>
                  <a:txBody>
                    <a:bodyPr/>
                    <a:lstStyle/>
                    <a:p>
                      <a:pPr algn="ctr"/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스니커즈</a:t>
                      </a:r>
                      <a:endParaRPr sz="13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mean_price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0.232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비정상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차분 (p=0.000)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538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스니커즈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score_ch1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0.926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비정상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차분 (p=0.120) *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538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스니커즈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score_ch2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정상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1538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스니커즈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score_ch3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0.007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정상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1538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스니커즈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score_ch4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0.002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정상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1538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스니커즈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score_ch5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정상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1538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카드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mean_price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0.267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비정상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차분 (p=0.007)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1538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카드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score_ch1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0.216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비정상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차분 (p=0.000)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1538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카드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score_ch2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정상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1538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카드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score_ch3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0.364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비정상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차분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(p=0.000)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1538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카드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score_ch4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0.305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비정상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차분 (p=0.000)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1538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카드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score_ch5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0.002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정상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1538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레고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mean_price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0.113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비정상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차분 (p=0.000)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1538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레고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score_ch1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0.693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비정상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차분 (p=0.000)</a:t>
                      </a:r>
                    </a:p>
                  </a:txBody>
                  <a:tcPr>
                    <a:solidFill>
                      <a:srgbClr val="FFE0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1538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레고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score_ch2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정상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81538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레고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score_ch3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정상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81538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레고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score_ch4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정상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81538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레고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score_ch5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0.035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정상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CEEF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1384280" y="6556248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6 / 19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76A0CF-1D13-1DCC-A857-C5EE9D3172EF}"/>
              </a:ext>
            </a:extLst>
          </p:cNvPr>
          <p:cNvSpPr txBox="1"/>
          <p:nvPr/>
        </p:nvSpPr>
        <p:spPr>
          <a:xfrm>
            <a:off x="0" y="430887"/>
            <a:ext cx="12188952" cy="228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38F43-6B9A-E8D3-19AE-DE5334833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DAA6124-A65C-324F-40C4-366E0A1CF2E7}"/>
              </a:ext>
            </a:extLst>
          </p:cNvPr>
          <p:cNvSpPr txBox="1"/>
          <p:nvPr/>
        </p:nvSpPr>
        <p:spPr>
          <a:xfrm>
            <a:off x="182880" y="0"/>
            <a:ext cx="80000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목차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4771E889-6E2D-CE04-9506-350361E9383E}"/>
              </a:ext>
            </a:extLst>
          </p:cNvPr>
          <p:cNvSpPr/>
          <p:nvPr/>
        </p:nvSpPr>
        <p:spPr>
          <a:xfrm>
            <a:off x="0" y="-217714"/>
            <a:ext cx="12188825" cy="7162799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7AD7BC-1E24-04E9-C542-04445DFFF4B0}"/>
              </a:ext>
            </a:extLst>
          </p:cNvPr>
          <p:cNvSpPr txBox="1"/>
          <p:nvPr/>
        </p:nvSpPr>
        <p:spPr>
          <a:xfrm>
            <a:off x="2191656" y="2563466"/>
            <a:ext cx="800000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1F2D4E"/>
                </a:solidFill>
              </a:rPr>
              <a:t>연구 배경과 질문</a:t>
            </a:r>
          </a:p>
          <a:p>
            <a:r>
              <a:rPr lang="en-US" altLang="ko-KR" sz="5000" dirty="0">
                <a:solidFill>
                  <a:schemeClr val="bg1"/>
                </a:solidFill>
              </a:rPr>
              <a:t>03</a:t>
            </a:r>
            <a:r>
              <a:rPr lang="ko-KR" altLang="en-US" sz="5000" dirty="0">
                <a:solidFill>
                  <a:schemeClr val="bg1"/>
                </a:solidFill>
              </a:rPr>
              <a:t> </a:t>
            </a:r>
            <a:r>
              <a:rPr lang="en-US" altLang="ko-KR" sz="3200" b="1" dirty="0">
                <a:solidFill>
                  <a:schemeClr val="bg1"/>
                </a:solidFill>
              </a:rPr>
              <a:t>RQ1 &amp; RQ2 · Granger </a:t>
            </a:r>
            <a:r>
              <a:rPr lang="ko-KR" altLang="en-US" sz="3200" b="1" dirty="0">
                <a:solidFill>
                  <a:schemeClr val="bg1"/>
                </a:solidFill>
              </a:rPr>
              <a:t>인과 검정 결과</a:t>
            </a:r>
          </a:p>
          <a:p>
            <a:endParaRPr lang="ko-KR" altLang="en-US" sz="3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83809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88952" cy="430887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dirty="0">
                <a:solidFill>
                  <a:srgbClr val="FFFFFF"/>
                </a:solidFill>
                <a:latin typeface="Calibri"/>
              </a:rPr>
              <a:t>  RQ1</a:t>
            </a:r>
            <a:r>
              <a:rPr lang="en-US" sz="2200" b="1" dirty="0">
                <a:solidFill>
                  <a:srgbClr val="FFFFFF"/>
                </a:solidFill>
                <a:latin typeface="Calibri"/>
              </a:rPr>
              <a:t> &amp; RQ2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: Granger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인과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검정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—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전체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15회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결과</a:t>
            </a:r>
            <a:r>
              <a:rPr lang="en-US" sz="2200" b="1" dirty="0">
                <a:solidFill>
                  <a:srgbClr val="FFFFFF"/>
                </a:solidFill>
                <a:latin typeface="Calibri"/>
              </a:rPr>
              <a:t> </a:t>
            </a:r>
            <a:endParaRPr sz="22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82880" y="555283"/>
            <a:ext cx="11887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이변량 VAR | 래그 수 AIC로 선택(1-4) | Benjamini-Hochberg FDR 보정 적용 (q=0.05, m=15)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1375570"/>
              </p:ext>
            </p:extLst>
          </p:nvPr>
        </p:nvGraphicFramePr>
        <p:xfrm>
          <a:off x="4672872" y="823505"/>
          <a:ext cx="7202805" cy="5138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345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25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69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50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50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28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7951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21183">
                <a:tc>
                  <a:txBody>
                    <a:bodyPr/>
                    <a:lstStyle/>
                    <a:p>
                      <a:pPr algn="ctr"/>
                      <a:r>
                        <a:rPr sz="13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자산</a:t>
                      </a:r>
                      <a:endParaRPr sz="13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채널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래그</a:t>
                      </a:r>
                      <a:endParaRPr sz="13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F값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원본 p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BH p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최종 판정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1183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스니커즈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CH3 뉴스감성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13.385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0.001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0.011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유의</a:t>
                      </a:r>
                      <a:endParaRPr sz="13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C8E6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1183">
                <a:tc>
                  <a:txBody>
                    <a:bodyPr/>
                    <a:lstStyle/>
                    <a:p>
                      <a:pPr algn="ctr"/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카드</a:t>
                      </a:r>
                      <a:endParaRPr sz="13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CH1 Google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8.417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0.006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0.044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유의</a:t>
                      </a:r>
                      <a:endParaRPr sz="13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C8E6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1183">
                <a:tc>
                  <a:txBody>
                    <a:bodyPr/>
                    <a:lstStyle/>
                    <a:p>
                      <a:pPr algn="ctr"/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스니커즈</a:t>
                      </a:r>
                      <a:endParaRPr sz="13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CH4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유튜브뷰</a:t>
                      </a:r>
                      <a:endParaRPr sz="13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4.729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0.035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0.153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유의</a:t>
                      </a:r>
                      <a:endParaRPr sz="13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C8E6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2897584"/>
                  </a:ext>
                </a:extLst>
              </a:tr>
              <a:tr h="321183">
                <a:tc>
                  <a:txBody>
                    <a:bodyPr/>
                    <a:lstStyle/>
                    <a:p>
                      <a:pPr algn="ctr"/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스니커즈</a:t>
                      </a:r>
                      <a:endParaRPr sz="13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CH1 Google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3.473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0.041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0.153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유의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</a:p>
                  </a:txBody>
                  <a:tcPr>
                    <a:solidFill>
                      <a:srgbClr val="C8E6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6765078"/>
                  </a:ext>
                </a:extLst>
              </a:tr>
              <a:tr h="321183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레고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CH1 Google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3.922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0.054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0.162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경계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p&lt;0.10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1183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스니커즈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CH2 뉴스량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1.551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0.220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비유의</a:t>
                      </a:r>
                      <a:endParaRPr sz="13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1183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스니커즈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CH5 YT감성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0.091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0.764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비유의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1183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카드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CH2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뉴스량</a:t>
                      </a:r>
                      <a:endParaRPr sz="13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0.728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0.398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비유의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1183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카드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CH3 뉴스감성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1.409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0.242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비유의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1183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카드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CH4 유튜브뷰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0.247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0.622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비유의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1183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카드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CH5 YT감성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0.614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0.438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비유의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1183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레고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CH2 뉴스량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0.318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0.576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비유의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1183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레고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CH3 뉴스감성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0.401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0.530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비유의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21183">
                <a:tc>
                  <a:txBody>
                    <a:bodyPr/>
                    <a:lstStyle/>
                    <a:p>
                      <a:pPr algn="ctr"/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레고</a:t>
                      </a:r>
                      <a:endParaRPr sz="13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CH4 유튜브뷰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1.833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0.183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비유의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21183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레고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CH5 YT감성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0.173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0.680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비유의</a:t>
                      </a:r>
                      <a:endParaRPr sz="13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pic>
        <p:nvPicPr>
          <p:cNvPr id="6" name="Picture 5" descr="fig_gran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48711"/>
            <a:ext cx="4489992" cy="392056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384280" y="6556248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6 / 17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8AB650-0B28-F780-6128-1703DEE62B79}"/>
              </a:ext>
            </a:extLst>
          </p:cNvPr>
          <p:cNvSpPr txBox="1"/>
          <p:nvPr/>
        </p:nvSpPr>
        <p:spPr>
          <a:xfrm>
            <a:off x="0" y="430887"/>
            <a:ext cx="12188952" cy="228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5EC6F9-4F4E-C80E-0DF9-1C9116139E3A}"/>
              </a:ext>
            </a:extLst>
          </p:cNvPr>
          <p:cNvSpPr txBox="1"/>
          <p:nvPr/>
        </p:nvSpPr>
        <p:spPr>
          <a:xfrm>
            <a:off x="613712" y="6300000"/>
            <a:ext cx="10770568" cy="420000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43693D-134A-07AC-0D1B-36791556E2AE}"/>
              </a:ext>
            </a:extLst>
          </p:cNvPr>
          <p:cNvSpPr txBox="1"/>
          <p:nvPr/>
        </p:nvSpPr>
        <p:spPr>
          <a:xfrm>
            <a:off x="733529" y="6361874"/>
            <a:ext cx="10961400" cy="307777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sz="1400" b="1" dirty="0" err="1">
                <a:solidFill>
                  <a:srgbClr val="FFFFFF"/>
                </a:solidFill>
                <a:latin typeface="Calibri"/>
              </a:rPr>
              <a:t>결론</a:t>
            </a:r>
            <a:r>
              <a:rPr sz="1400" b="1" dirty="0">
                <a:solidFill>
                  <a:srgbClr val="FFFFFF"/>
                </a:solidFill>
                <a:latin typeface="Calibri"/>
              </a:rPr>
              <a:t> RQ1·RQ2  |  </a:t>
            </a:r>
            <a:r>
              <a:rPr sz="1400" b="1" dirty="0" err="1">
                <a:solidFill>
                  <a:srgbClr val="FFFFFF"/>
                </a:solidFill>
                <a:latin typeface="Calibri"/>
              </a:rPr>
              <a:t>스니커즈</a:t>
            </a:r>
            <a:r>
              <a:rPr lang="en-US" sz="1400" b="1" dirty="0">
                <a:solidFill>
                  <a:srgbClr val="FFFFFF"/>
                </a:solidFill>
                <a:latin typeface="Calibri"/>
              </a:rPr>
              <a:t> 3</a:t>
            </a:r>
            <a:r>
              <a:rPr lang="ko-KR" altLang="en-US" sz="1400" b="1" dirty="0">
                <a:solidFill>
                  <a:srgbClr val="FFFFFF"/>
                </a:solidFill>
                <a:latin typeface="Calibri"/>
              </a:rPr>
              <a:t>개</a:t>
            </a:r>
            <a:r>
              <a:rPr lang="en-US" altLang="ko-KR" sz="1400" b="1" dirty="0">
                <a:solidFill>
                  <a:srgbClr val="FFFFFF"/>
                </a:solidFill>
                <a:latin typeface="Calibri"/>
              </a:rPr>
              <a:t>, </a:t>
            </a:r>
            <a:r>
              <a:rPr lang="ko-KR" altLang="en-US" sz="1400" b="1" dirty="0">
                <a:solidFill>
                  <a:srgbClr val="FFFFFF"/>
                </a:solidFill>
                <a:latin typeface="Calibri"/>
              </a:rPr>
              <a:t>카드 </a:t>
            </a:r>
            <a:r>
              <a:rPr lang="en-US" altLang="ko-KR" sz="1400" b="1" dirty="0">
                <a:solidFill>
                  <a:srgbClr val="FFFFFF"/>
                </a:solidFill>
                <a:latin typeface="Calibri"/>
              </a:rPr>
              <a:t>1</a:t>
            </a:r>
            <a:r>
              <a:rPr lang="ko-KR" altLang="en-US" sz="1400" b="1" dirty="0">
                <a:solidFill>
                  <a:srgbClr val="FFFFFF"/>
                </a:solidFill>
                <a:latin typeface="Calibri"/>
              </a:rPr>
              <a:t>개 그랜저 유의</a:t>
            </a:r>
            <a:r>
              <a:rPr sz="1400" b="1" dirty="0">
                <a:solidFill>
                  <a:srgbClr val="FFFFFF"/>
                </a:solidFill>
                <a:latin typeface="Calibri"/>
              </a:rPr>
              <a:t>→ </a:t>
            </a:r>
            <a:r>
              <a:rPr sz="1400" b="1" dirty="0" err="1">
                <a:solidFill>
                  <a:srgbClr val="FFFFFF"/>
                </a:solidFill>
                <a:latin typeface="Calibri"/>
              </a:rPr>
              <a:t>미디어의</a:t>
            </a:r>
            <a:r>
              <a:rPr sz="14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Calibri"/>
              </a:rPr>
              <a:t>가격</a:t>
            </a:r>
            <a:r>
              <a:rPr sz="14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Calibri"/>
              </a:rPr>
              <a:t>선행성</a:t>
            </a:r>
            <a:r>
              <a:rPr sz="14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Calibri"/>
              </a:rPr>
              <a:t>부분</a:t>
            </a:r>
            <a:r>
              <a:rPr sz="14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Calibri"/>
              </a:rPr>
              <a:t>지지</a:t>
            </a:r>
            <a:r>
              <a:rPr sz="1400" b="1" dirty="0">
                <a:solidFill>
                  <a:srgbClr val="FFFFFF"/>
                </a:solidFill>
                <a:latin typeface="Calibri"/>
              </a:rPr>
              <a:t>(RQ1)</a:t>
            </a:r>
            <a:r>
              <a:rPr lang="en-US" sz="14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400" b="1" dirty="0">
                <a:solidFill>
                  <a:srgbClr val="FFFFFF"/>
                </a:solidFill>
                <a:latin typeface="Calibri"/>
              </a:rPr>
              <a:t>→ </a:t>
            </a:r>
            <a:r>
              <a:rPr sz="1400" b="1" dirty="0" err="1">
                <a:solidFill>
                  <a:srgbClr val="FFFFFF"/>
                </a:solidFill>
                <a:latin typeface="Calibri"/>
              </a:rPr>
              <a:t>채널</a:t>
            </a:r>
            <a:r>
              <a:rPr sz="14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Calibri"/>
              </a:rPr>
              <a:t>구성의</a:t>
            </a:r>
            <a:r>
              <a:rPr sz="14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Calibri"/>
              </a:rPr>
              <a:t>자산별</a:t>
            </a:r>
            <a:r>
              <a:rPr sz="14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Calibri"/>
              </a:rPr>
              <a:t>이질성</a:t>
            </a:r>
            <a:r>
              <a:rPr sz="14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1400" b="1" dirty="0" err="1">
                <a:solidFill>
                  <a:srgbClr val="FFFFFF"/>
                </a:solidFill>
                <a:latin typeface="Calibri"/>
              </a:rPr>
              <a:t>확인</a:t>
            </a:r>
            <a:r>
              <a:rPr sz="1400" b="1" dirty="0">
                <a:solidFill>
                  <a:srgbClr val="FFFFFF"/>
                </a:solidFill>
                <a:latin typeface="Calibri"/>
              </a:rPr>
              <a:t>(RQ2)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5760720"/>
            <a:ext cx="4480560" cy="457200"/>
          </a:xfrm>
          <a:prstGeom prst="rect">
            <a:avLst/>
          </a:prstGeom>
          <a:noFill/>
        </p:spPr>
        <p:txBody>
          <a:bodyPr wrap="square" anchor="t" lIns="63500" rIns="63500" tIns="38100" bIns="381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E6DA4"/>
                </a:solidFill>
                <a:latin typeface="Calibri"/>
              </a:rPr>
              <a:t>그래프 해석  </a:t>
            </a:r>
            <a:r>
              <a:rPr sz="900" b="0">
                <a:solidFill>
                  <a:srgbClr val="555555"/>
                </a:solidFill>
                <a:latin typeface="Calibri"/>
              </a:rPr>
              <a:t>자산×채널 15회 Granger F값. 막대가 높을수록(스니커즈 CH3·카드 CH1) 가격 선행성이 강함.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22853-DB8A-BF13-3A72-D1FEA2B21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DEE5147-5050-144A-142C-56CEEA6D1000}"/>
              </a:ext>
            </a:extLst>
          </p:cNvPr>
          <p:cNvSpPr txBox="1"/>
          <p:nvPr/>
        </p:nvSpPr>
        <p:spPr>
          <a:xfrm>
            <a:off x="182880" y="0"/>
            <a:ext cx="80000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목차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B82CA1C-17ED-FAB0-7309-9708F62AABE9}"/>
              </a:ext>
            </a:extLst>
          </p:cNvPr>
          <p:cNvSpPr/>
          <p:nvPr/>
        </p:nvSpPr>
        <p:spPr>
          <a:xfrm>
            <a:off x="0" y="-217714"/>
            <a:ext cx="12188825" cy="7162799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EC32AE-E234-E70D-0487-1F57BCFE0BC5}"/>
              </a:ext>
            </a:extLst>
          </p:cNvPr>
          <p:cNvSpPr txBox="1"/>
          <p:nvPr/>
        </p:nvSpPr>
        <p:spPr>
          <a:xfrm>
            <a:off x="2539998" y="2563466"/>
            <a:ext cx="8342541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1F2D4E"/>
                </a:solidFill>
              </a:rPr>
              <a:t>연구 배경과 질문</a:t>
            </a:r>
          </a:p>
          <a:p>
            <a:r>
              <a:rPr lang="en-US" altLang="ko-KR" sz="5000" dirty="0">
                <a:solidFill>
                  <a:schemeClr val="bg1"/>
                </a:solidFill>
              </a:rPr>
              <a:t>04 </a:t>
            </a:r>
            <a:r>
              <a:rPr lang="en-US" altLang="ko-KR" sz="3200" b="1" dirty="0">
                <a:solidFill>
                  <a:schemeClr val="bg1"/>
                </a:solidFill>
              </a:rPr>
              <a:t>RQ3 · </a:t>
            </a:r>
            <a:r>
              <a:rPr lang="ko-KR" altLang="en-US" sz="3200" b="1" dirty="0">
                <a:solidFill>
                  <a:schemeClr val="bg1"/>
                </a:solidFill>
              </a:rPr>
              <a:t>예측 성능과 </a:t>
            </a:r>
            <a:r>
              <a:rPr lang="en-US" altLang="ko-KR" sz="3200" b="1" dirty="0">
                <a:solidFill>
                  <a:schemeClr val="bg1"/>
                </a:solidFill>
              </a:rPr>
              <a:t>SHAP·DM </a:t>
            </a:r>
            <a:r>
              <a:rPr lang="ko-KR" altLang="en-US" sz="3200" b="1" dirty="0">
                <a:solidFill>
                  <a:schemeClr val="bg1"/>
                </a:solidFill>
              </a:rPr>
              <a:t>검정</a:t>
            </a:r>
          </a:p>
          <a:p>
            <a:endParaRPr lang="ko-KR" altLang="en-US" sz="3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09115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2004" y="450235"/>
            <a:ext cx="12188952" cy="228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615885"/>
            <a:ext cx="11887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555555"/>
                </a:solidFill>
                <a:latin typeface="Calibri"/>
              </a:rPr>
              <a:t>전채널(A) → SHAP으로 기여 채널 분석 → 상위만 선별(B·C) → DM 검정으로 성능 비교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84280" y="6556248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7 / 17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C2A61CB-1650-31B9-A05B-B3D06BC52FC9}"/>
              </a:ext>
            </a:extLst>
          </p:cNvPr>
          <p:cNvSpPr txBox="1"/>
          <p:nvPr/>
        </p:nvSpPr>
        <p:spPr>
          <a:xfrm>
            <a:off x="0" y="0"/>
            <a:ext cx="12161520" cy="461665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</a:rPr>
              <a:t> </a:t>
            </a:r>
            <a:r>
              <a:rPr lang="en-US" altLang="ko-KR" sz="2400" b="1" dirty="0">
                <a:solidFill>
                  <a:schemeClr val="bg1"/>
                </a:solidFill>
              </a:rPr>
              <a:t>RQ3: </a:t>
            </a:r>
            <a:r>
              <a:rPr lang="en-US" altLang="ko-KR" sz="2400" b="1" dirty="0" err="1">
                <a:solidFill>
                  <a:schemeClr val="bg1"/>
                </a:solidFill>
              </a:rPr>
              <a:t>XGBoost</a:t>
            </a:r>
            <a:r>
              <a:rPr lang="ko-KR" altLang="en-US" sz="2400" b="1" dirty="0">
                <a:solidFill>
                  <a:schemeClr val="bg1"/>
                </a:solidFill>
              </a:rPr>
              <a:t> 모델 설계 </a:t>
            </a:r>
            <a:r>
              <a:rPr lang="en-US" altLang="ko-KR" sz="2400" b="1" dirty="0">
                <a:solidFill>
                  <a:schemeClr val="bg1"/>
                </a:solidFill>
              </a:rPr>
              <a:t>— </a:t>
            </a:r>
            <a:r>
              <a:rPr lang="ko-KR" altLang="en-US" sz="2400" b="1" dirty="0">
                <a:solidFill>
                  <a:schemeClr val="bg1"/>
                </a:solidFill>
              </a:rPr>
              <a:t>모델 </a:t>
            </a:r>
            <a:r>
              <a:rPr lang="en-US" altLang="ko-KR" sz="2400" b="1" dirty="0">
                <a:solidFill>
                  <a:schemeClr val="bg1"/>
                </a:solidFill>
              </a:rPr>
              <a:t>A vs </a:t>
            </a:r>
            <a:r>
              <a:rPr lang="ko-KR" altLang="en-US" sz="2400" b="1" dirty="0">
                <a:solidFill>
                  <a:schemeClr val="bg1"/>
                </a:solidFill>
              </a:rPr>
              <a:t>모델 </a:t>
            </a:r>
            <a:r>
              <a:rPr lang="en-US" altLang="ko-KR" sz="2400" b="1" dirty="0">
                <a:solidFill>
                  <a:schemeClr val="bg1"/>
                </a:solidFill>
              </a:rPr>
              <a:t>B</a:t>
            </a:r>
            <a:r>
              <a:rPr lang="ko-KR" altLang="en-US" sz="2400" b="1" dirty="0">
                <a:solidFill>
                  <a:schemeClr val="bg1"/>
                </a:solidFill>
              </a:rPr>
              <a:t> </a:t>
            </a:r>
            <a:r>
              <a:rPr lang="en-US" altLang="ko-KR" sz="2400" b="1" dirty="0">
                <a:solidFill>
                  <a:schemeClr val="bg1"/>
                </a:solidFill>
              </a:rPr>
              <a:t>vs</a:t>
            </a:r>
            <a:r>
              <a:rPr lang="ko-KR" altLang="en-US" sz="2400" b="1" dirty="0">
                <a:solidFill>
                  <a:schemeClr val="bg1"/>
                </a:solidFill>
              </a:rPr>
              <a:t> 모델 </a:t>
            </a:r>
            <a:endParaRPr sz="22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E71A0B-42B9-B425-D887-ED7BE25BD01F}"/>
              </a:ext>
            </a:extLst>
          </p:cNvPr>
          <p:cNvSpPr txBox="1"/>
          <p:nvPr/>
        </p:nvSpPr>
        <p:spPr>
          <a:xfrm>
            <a:off x="0" y="430887"/>
            <a:ext cx="12188952" cy="228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74320" y="1325880"/>
            <a:ext cx="2514600" cy="1417320"/>
          </a:xfrm>
          <a:prstGeom prst="round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① Model A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전채널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CH1~CH5 전부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+ 가격 통제피처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46120" y="1325880"/>
            <a:ext cx="2514600" cy="1417320"/>
          </a:xfrm>
          <a:prstGeom prst="round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② SHAP 분석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각 채널의 실제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예측 기여도 측정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325880"/>
            <a:ext cx="2514600" cy="1417320"/>
          </a:xfrm>
          <a:prstGeom prst="roundRect">
            <a:avLst/>
          </a:prstGeom>
          <a:solidFill>
            <a:srgbClr val="277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③ 채널 선별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Model B · C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B: Granger 유의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C: SHAP 상위 2채널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89720" y="1325880"/>
            <a:ext cx="2697480" cy="1417320"/>
          </a:xfrm>
          <a:prstGeom prst="roundRect">
            <a:avLst/>
          </a:prstGeom>
          <a:solidFill>
            <a:srgbClr val="6C3D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63500" rIns="63500" tIns="38100" bIns="38100"/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④ DM 검정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A vs 선별 모델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FFFFFF"/>
                </a:solidFill>
                <a:latin typeface="Calibri"/>
              </a:rPr>
              <a:t>예측오차 동등성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2807208" y="1783080"/>
            <a:ext cx="420624" cy="502920"/>
          </a:xfrm>
          <a:prstGeom prst="rightArrow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ight Arrow 18"/>
          <p:cNvSpPr/>
          <p:nvPr/>
        </p:nvSpPr>
        <p:spPr>
          <a:xfrm>
            <a:off x="5779008" y="1783080"/>
            <a:ext cx="420624" cy="502920"/>
          </a:xfrm>
          <a:prstGeom prst="rightArrow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ight Arrow 19"/>
          <p:cNvSpPr/>
          <p:nvPr/>
        </p:nvSpPr>
        <p:spPr>
          <a:xfrm>
            <a:off x="8750808" y="1783080"/>
            <a:ext cx="420624" cy="502920"/>
          </a:xfrm>
          <a:prstGeom prst="rightArrow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74320" y="3246120"/>
            <a:ext cx="3703320" cy="1417320"/>
          </a:xfrm>
          <a:prstGeom prst="roundRect">
            <a:avLst/>
          </a:prstGeom>
          <a:solidFill>
            <a:srgbClr val="F2F3F5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63500" tIns="38100" bIns="3810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F2D4E"/>
                </a:solidFill>
                <a:latin typeface="Calibri"/>
              </a:rPr>
              <a:t>Model A · 전채널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0">
                <a:solidFill>
                  <a:srgbClr val="0A0A0A"/>
                </a:solidFill>
                <a:latin typeface="Calibri"/>
              </a:rPr>
              <a:t>CH1+CH2+CH3+CH4+CH5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0">
                <a:solidFill>
                  <a:srgbClr val="0A0A0A"/>
                </a:solidFill>
                <a:latin typeface="Calibri"/>
              </a:rPr>
              <a:t>(기준 베이스라인)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24528" y="3246120"/>
            <a:ext cx="3703320" cy="1417320"/>
          </a:xfrm>
          <a:prstGeom prst="roundRect">
            <a:avLst/>
          </a:prstGeom>
          <a:solidFill>
            <a:srgbClr val="E6F2EC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63500" tIns="38100" bIns="3810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277A4A"/>
                </a:solidFill>
                <a:latin typeface="Calibri"/>
              </a:rPr>
              <a:t>Model B · Granger 선별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0">
                <a:solidFill>
                  <a:srgbClr val="0A0A0A"/>
                </a:solidFill>
                <a:latin typeface="Calibri"/>
              </a:rPr>
              <a:t>스니커즈 CH3 · 카드 CH1 · 레고 —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74736" y="3246120"/>
            <a:ext cx="3703320" cy="1417320"/>
          </a:xfrm>
          <a:prstGeom prst="roundRect">
            <a:avLst/>
          </a:prstGeom>
          <a:solidFill>
            <a:srgbClr val="EFE9F4"/>
          </a:solidFill>
          <a:ln w="12700">
            <a:solidFill>
              <a:srgbClr val="DDDD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63500" tIns="38100" bIns="38100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6C3D91"/>
                </a:solidFill>
                <a:latin typeface="Calibri"/>
              </a:rPr>
              <a:t>Model C · SHAP 상위 2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0">
                <a:solidFill>
                  <a:srgbClr val="0A0A0A"/>
                </a:solidFill>
                <a:latin typeface="Calibri"/>
              </a:rPr>
              <a:t>스니커즈 CH1+CH5 · 카드 CH4+CH1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0">
                <a:solidFill>
                  <a:srgbClr val="0A0A0A"/>
                </a:solidFill>
                <a:latin typeface="Calibri"/>
              </a:rPr>
              <a:t>레고 CH5+CH4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4846320"/>
            <a:ext cx="11612880" cy="365760"/>
          </a:xfrm>
          <a:prstGeom prst="rect">
            <a:avLst/>
          </a:prstGeom>
          <a:noFill/>
        </p:spPr>
        <p:txBody>
          <a:bodyPr wrap="square" anchor="t" lIns="63500" rIns="63500" tIns="38100" bIns="381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2E6DA4"/>
                </a:solidFill>
                <a:latin typeface="Calibri"/>
              </a:rPr>
              <a:t>공통  </a:t>
            </a:r>
            <a:r>
              <a:rPr sz="1100" b="0">
                <a:solidFill>
                  <a:srgbClr val="555555"/>
                </a:solidFill>
                <a:latin typeface="Calibri"/>
              </a:rPr>
              <a:t>통제피처 price_vs_ma3 · price_chg_lag1~3   |   검증 TimeSeriesSplit(5)   |   평가 AUC-ROC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88952" cy="430887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dirty="0">
                <a:solidFill>
                  <a:srgbClr val="FFFFFF"/>
                </a:solidFill>
                <a:latin typeface="Calibri"/>
              </a:rPr>
              <a:t> 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모델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A &amp; B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결과</a:t>
            </a:r>
            <a:endParaRPr sz="22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82880" y="613237"/>
            <a:ext cx="11887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 dirty="0" err="1">
                <a:solidFill>
                  <a:srgbClr val="555555"/>
                </a:solidFill>
                <a:latin typeface="Calibri"/>
              </a:rPr>
              <a:t>모델</a:t>
            </a:r>
            <a:r>
              <a:rPr sz="1000" b="0" i="1" dirty="0">
                <a:solidFill>
                  <a:srgbClr val="555555"/>
                </a:solidFill>
                <a:latin typeface="Calibri"/>
              </a:rPr>
              <a:t> A(</a:t>
            </a:r>
            <a:r>
              <a:rPr sz="1000" b="0" i="1" dirty="0" err="1">
                <a:solidFill>
                  <a:srgbClr val="555555"/>
                </a:solidFill>
                <a:latin typeface="Calibri"/>
              </a:rPr>
              <a:t>전채널</a:t>
            </a:r>
            <a:r>
              <a:rPr sz="1000" b="0" i="1" dirty="0">
                <a:solidFill>
                  <a:srgbClr val="555555"/>
                </a:solidFill>
                <a:latin typeface="Calibri"/>
              </a:rPr>
              <a:t>) vs </a:t>
            </a:r>
            <a:r>
              <a:rPr sz="1000" b="0" i="1" dirty="0" err="1">
                <a:solidFill>
                  <a:srgbClr val="555555"/>
                </a:solidFill>
                <a:latin typeface="Calibri"/>
              </a:rPr>
              <a:t>모델</a:t>
            </a:r>
            <a:r>
              <a:rPr sz="1000" b="0" i="1" dirty="0">
                <a:solidFill>
                  <a:srgbClr val="555555"/>
                </a:solidFill>
                <a:latin typeface="Calibri"/>
              </a:rPr>
              <a:t> B(Granger </a:t>
            </a:r>
            <a:r>
              <a:rPr sz="1000" b="0" i="1" dirty="0" err="1">
                <a:solidFill>
                  <a:srgbClr val="555555"/>
                </a:solidFill>
                <a:latin typeface="Calibri"/>
              </a:rPr>
              <a:t>선별</a:t>
            </a:r>
            <a:r>
              <a:rPr sz="10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000" b="0" i="1" dirty="0" err="1">
                <a:solidFill>
                  <a:srgbClr val="555555"/>
                </a:solidFill>
                <a:latin typeface="Calibri"/>
              </a:rPr>
              <a:t>채널</a:t>
            </a:r>
            <a:r>
              <a:rPr sz="1000" b="0" i="1" dirty="0">
                <a:solidFill>
                  <a:srgbClr val="555555"/>
                </a:solidFill>
                <a:latin typeface="Calibri"/>
              </a:rPr>
              <a:t>) AUC </a:t>
            </a:r>
            <a:r>
              <a:rPr sz="1000" b="0" i="1" dirty="0" err="1">
                <a:solidFill>
                  <a:srgbClr val="555555"/>
                </a:solidFill>
                <a:latin typeface="Calibri"/>
              </a:rPr>
              <a:t>비교</a:t>
            </a:r>
            <a:r>
              <a:rPr sz="1000" b="0" i="1" dirty="0">
                <a:solidFill>
                  <a:srgbClr val="555555"/>
                </a:solidFill>
                <a:latin typeface="Calibri"/>
              </a:rPr>
              <a:t> -&gt; </a:t>
            </a:r>
            <a:r>
              <a:rPr sz="1000" b="0" i="1" dirty="0" err="1">
                <a:solidFill>
                  <a:srgbClr val="555555"/>
                </a:solidFill>
                <a:latin typeface="Calibri"/>
              </a:rPr>
              <a:t>SHAP으로</a:t>
            </a:r>
            <a:r>
              <a:rPr sz="10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000" b="0" i="1" dirty="0" err="1">
                <a:solidFill>
                  <a:srgbClr val="555555"/>
                </a:solidFill>
                <a:latin typeface="Calibri"/>
              </a:rPr>
              <a:t>실제</a:t>
            </a:r>
            <a:r>
              <a:rPr sz="10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000" b="0" i="1" dirty="0" err="1">
                <a:solidFill>
                  <a:srgbClr val="555555"/>
                </a:solidFill>
                <a:latin typeface="Calibri"/>
              </a:rPr>
              <a:t>예측</a:t>
            </a:r>
            <a:r>
              <a:rPr sz="10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000" b="0" i="1" dirty="0" err="1">
                <a:solidFill>
                  <a:srgbClr val="555555"/>
                </a:solidFill>
                <a:latin typeface="Calibri"/>
              </a:rPr>
              <a:t>기여</a:t>
            </a:r>
            <a:r>
              <a:rPr sz="10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000" b="0" i="1" dirty="0" err="1">
                <a:solidFill>
                  <a:srgbClr val="555555"/>
                </a:solidFill>
                <a:latin typeface="Calibri"/>
              </a:rPr>
              <a:t>채널</a:t>
            </a:r>
            <a:r>
              <a:rPr sz="10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000" b="0" i="1" dirty="0" err="1">
                <a:solidFill>
                  <a:srgbClr val="555555"/>
                </a:solidFill>
                <a:latin typeface="Calibri"/>
              </a:rPr>
              <a:t>파악</a:t>
            </a:r>
            <a:r>
              <a:rPr sz="1000" b="0" i="1" dirty="0">
                <a:solidFill>
                  <a:srgbClr val="555555"/>
                </a:solidFill>
                <a:latin typeface="Calibri"/>
              </a:rPr>
              <a:t> -&gt; </a:t>
            </a:r>
            <a:r>
              <a:rPr sz="1000" b="0" i="1" dirty="0" err="1">
                <a:solidFill>
                  <a:srgbClr val="555555"/>
                </a:solidFill>
                <a:latin typeface="Calibri"/>
              </a:rPr>
              <a:t>모델</a:t>
            </a:r>
            <a:r>
              <a:rPr sz="1000" b="0" i="1" dirty="0">
                <a:solidFill>
                  <a:srgbClr val="555555"/>
                </a:solidFill>
                <a:latin typeface="Calibri"/>
              </a:rPr>
              <a:t> C </a:t>
            </a:r>
            <a:r>
              <a:rPr sz="1000" b="0" i="1" dirty="0" err="1">
                <a:solidFill>
                  <a:srgbClr val="555555"/>
                </a:solidFill>
                <a:latin typeface="Calibri"/>
              </a:rPr>
              <a:t>설계</a:t>
            </a:r>
            <a:r>
              <a:rPr sz="10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000" b="0" i="1" dirty="0" err="1">
                <a:solidFill>
                  <a:srgbClr val="555555"/>
                </a:solidFill>
                <a:latin typeface="Calibri"/>
              </a:rPr>
              <a:t>근거</a:t>
            </a:r>
            <a:endParaRPr sz="1000" b="0" i="1" dirty="0">
              <a:solidFill>
                <a:srgbClr val="555555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994210" y="404783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D4E"/>
                </a:solidFill>
                <a:latin typeface="Calibri"/>
              </a:rPr>
              <a:t>모델 A vs 모델 B  AUC 비교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25364" y="653796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8 / 17</a:t>
            </a:r>
          </a:p>
        </p:txBody>
      </p:sp>
      <p:pic>
        <p:nvPicPr>
          <p:cNvPr id="7" name="Picture 4" descr="image.png">
            <a:extLst>
              <a:ext uri="{FF2B5EF4-FFF2-40B4-BE49-F238E27FC236}">
                <a16:creationId xmlns:a16="http://schemas.microsoft.com/office/drawing/2014/main" id="{8F8F6E32-DA1B-3540-5370-B3A158D69C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60" y="1485510"/>
            <a:ext cx="7481770" cy="3606362"/>
          </a:xfrm>
          <a:prstGeom prst="rect">
            <a:avLst/>
          </a:prstGeom>
        </p:spPr>
      </p:pic>
      <p:graphicFrame>
        <p:nvGraphicFramePr>
          <p:cNvPr id="8" name="Table 4">
            <a:extLst>
              <a:ext uri="{FF2B5EF4-FFF2-40B4-BE49-F238E27FC236}">
                <a16:creationId xmlns:a16="http://schemas.microsoft.com/office/drawing/2014/main" id="{DE5D5BF3-3BFB-B142-4E06-82FED560AA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7810969"/>
              </p:ext>
            </p:extLst>
          </p:nvPr>
        </p:nvGraphicFramePr>
        <p:xfrm>
          <a:off x="7588030" y="2322457"/>
          <a:ext cx="4324395" cy="19324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86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7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18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59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7258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스니커즈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카드</a:t>
                      </a:r>
                      <a:endParaRPr sz="15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레고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0808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D4E"/>
                          </a:solidFill>
                          <a:latin typeface="Calibri"/>
                        </a:rPr>
                        <a:t>모델 A AUC
(전채널 5개)</a:t>
                      </a:r>
                    </a:p>
                  </a:txBody>
                  <a:tcPr>
                    <a:solidFill>
                      <a:srgbClr val="D8DF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333333"/>
                          </a:solidFill>
                          <a:latin typeface="Calibri"/>
                        </a:rPr>
                        <a:t>0.841</a:t>
                      </a:r>
                    </a:p>
                  </a:txBody>
                  <a:tcPr>
                    <a:solidFill>
                      <a:srgbClr val="D0E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333333"/>
                          </a:solidFill>
                          <a:latin typeface="Calibri"/>
                        </a:rPr>
                        <a:t>0.859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333333"/>
                          </a:solidFill>
                          <a:latin typeface="Calibri"/>
                        </a:rPr>
                        <a:t>0.960</a:t>
                      </a:r>
                    </a:p>
                  </a:txBody>
                  <a:tcPr>
                    <a:solidFill>
                      <a:srgbClr val="FDF3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2829">
                <a:tc>
                  <a:txBody>
                    <a:bodyPr/>
                    <a:lstStyle/>
                    <a:p>
                      <a:pPr algn="ctr"/>
                      <a:r>
                        <a:rPr sz="1200" b="1" dirty="0" err="1">
                          <a:solidFill>
                            <a:srgbClr val="1F2D4E"/>
                          </a:solidFill>
                          <a:latin typeface="Calibri"/>
                        </a:rPr>
                        <a:t>모델</a:t>
                      </a:r>
                      <a:r>
                        <a:rPr sz="1200" b="1" dirty="0">
                          <a:solidFill>
                            <a:srgbClr val="1F2D4E"/>
                          </a:solidFill>
                          <a:latin typeface="Calibri"/>
                        </a:rPr>
                        <a:t> B AUC
(Granger </a:t>
                      </a:r>
                      <a:r>
                        <a:rPr sz="1200" b="1" dirty="0" err="1">
                          <a:solidFill>
                            <a:srgbClr val="1F2D4E"/>
                          </a:solidFill>
                          <a:latin typeface="Calibri"/>
                        </a:rPr>
                        <a:t>선별</a:t>
                      </a:r>
                      <a:r>
                        <a:rPr sz="1200" b="1" dirty="0">
                          <a:solidFill>
                            <a:srgbClr val="1F2D4E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>
                    <a:solidFill>
                      <a:srgbClr val="D8DF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333333"/>
                          </a:solidFill>
                          <a:latin typeface="Calibri"/>
                        </a:rPr>
                        <a:t>0.836</a:t>
                      </a:r>
                    </a:p>
                  </a:txBody>
                  <a:tcPr>
                    <a:solidFill>
                      <a:srgbClr val="D0E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 dirty="0">
                          <a:solidFill>
                            <a:srgbClr val="333333"/>
                          </a:solidFill>
                          <a:latin typeface="Calibri"/>
                        </a:rPr>
                        <a:t>0.855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 dirty="0">
                          <a:solidFill>
                            <a:srgbClr val="333333"/>
                          </a:solidFill>
                          <a:latin typeface="Calibri"/>
                        </a:rPr>
                        <a:t>0.960</a:t>
                      </a:r>
                    </a:p>
                  </a:txBody>
                  <a:tcPr>
                    <a:solidFill>
                      <a:srgbClr val="FDF3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1573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F2D4E"/>
                          </a:solidFill>
                          <a:latin typeface="Calibri"/>
                        </a:rPr>
                        <a:t>ΔAUC
(B−A)</a:t>
                      </a:r>
                    </a:p>
                  </a:txBody>
                  <a:tcPr>
                    <a:solidFill>
                      <a:srgbClr val="D8DF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C00000"/>
                          </a:solidFill>
                          <a:latin typeface="Calibri"/>
                        </a:rPr>
                        <a:t>−0.005</a:t>
                      </a:r>
                    </a:p>
                  </a:txBody>
                  <a:tcPr>
                    <a:solidFill>
                      <a:srgbClr val="D0E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C00000"/>
                          </a:solidFill>
                          <a:latin typeface="Calibri"/>
                        </a:rPr>
                        <a:t>−0.004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dirty="0">
                          <a:solidFill>
                            <a:srgbClr val="666666"/>
                          </a:solidFill>
                          <a:latin typeface="Calibri"/>
                        </a:rPr>
                        <a:t>0.000</a:t>
                      </a:r>
                    </a:p>
                  </a:txBody>
                  <a:tcPr>
                    <a:solidFill>
                      <a:srgbClr val="FDF3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0D05D590-0588-7F90-6F55-2A6052B256DC}"/>
              </a:ext>
            </a:extLst>
          </p:cNvPr>
          <p:cNvSpPr txBox="1"/>
          <p:nvPr/>
        </p:nvSpPr>
        <p:spPr>
          <a:xfrm>
            <a:off x="1195104" y="6035473"/>
            <a:ext cx="9798616" cy="479989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B6B1032-40CB-7470-B3C3-B3A23EA7FE02}"/>
              </a:ext>
            </a:extLst>
          </p:cNvPr>
          <p:cNvSpPr txBox="1"/>
          <p:nvPr/>
        </p:nvSpPr>
        <p:spPr>
          <a:xfrm>
            <a:off x="1435812" y="6142869"/>
            <a:ext cx="10789920" cy="27699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</a:rPr>
              <a:t>결론: </a:t>
            </a:r>
            <a:r>
              <a:rPr lang="ko-KR" altLang="en-US" sz="1200" dirty="0" err="1">
                <a:solidFill>
                  <a:schemeClr val="bg1"/>
                </a:solidFill>
              </a:rPr>
              <a:t>Model</a:t>
            </a:r>
            <a:r>
              <a:rPr lang="ko-KR" altLang="en-US" sz="1200" dirty="0">
                <a:solidFill>
                  <a:schemeClr val="bg1"/>
                </a:solidFill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</a:rPr>
              <a:t>B가</a:t>
            </a:r>
            <a:r>
              <a:rPr lang="ko-KR" altLang="en-US" sz="1200" dirty="0">
                <a:solidFill>
                  <a:schemeClr val="bg1"/>
                </a:solidFill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</a:rPr>
              <a:t>Model</a:t>
            </a:r>
            <a:r>
              <a:rPr lang="ko-KR" altLang="en-US" sz="1200" dirty="0">
                <a:solidFill>
                  <a:schemeClr val="bg1"/>
                </a:solidFill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</a:rPr>
              <a:t>A보다</a:t>
            </a:r>
            <a:r>
              <a:rPr lang="ko-KR" altLang="en-US" sz="1200" dirty="0">
                <a:solidFill>
                  <a:schemeClr val="bg1"/>
                </a:solidFill>
              </a:rPr>
              <a:t> 우수하다는 결론</a:t>
            </a:r>
            <a:r>
              <a:rPr lang="en-US" altLang="ko-KR" sz="1200" dirty="0">
                <a:solidFill>
                  <a:schemeClr val="bg1"/>
                </a:solidFill>
              </a:rPr>
              <a:t>(RQ3)</a:t>
            </a:r>
            <a:r>
              <a:rPr lang="ko-KR" altLang="en-US" sz="1200" dirty="0">
                <a:solidFill>
                  <a:schemeClr val="bg1"/>
                </a:solidFill>
              </a:rPr>
              <a:t>은 성립하지 않음. 사실상 두 모델에 </a:t>
            </a:r>
            <a:r>
              <a:rPr lang="en-US" altLang="ko-KR" sz="1200" dirty="0">
                <a:solidFill>
                  <a:schemeClr val="bg1"/>
                </a:solidFill>
              </a:rPr>
              <a:t>3</a:t>
            </a:r>
            <a:r>
              <a:rPr lang="ko-KR" altLang="en-US" sz="1200" dirty="0">
                <a:solidFill>
                  <a:schemeClr val="bg1"/>
                </a:solidFill>
              </a:rPr>
              <a:t>개의 자산이 차이가 없다는 것을 확인할 수 있었음</a:t>
            </a:r>
            <a:r>
              <a:rPr lang="en-US" altLang="ko-KR" sz="1200" dirty="0">
                <a:solidFill>
                  <a:schemeClr val="bg1"/>
                </a:solidFill>
              </a:rPr>
              <a:t>.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72AB48-7174-57BE-F1C9-40E49927A5C6}"/>
              </a:ext>
            </a:extLst>
          </p:cNvPr>
          <p:cNvSpPr txBox="1"/>
          <p:nvPr/>
        </p:nvSpPr>
        <p:spPr>
          <a:xfrm>
            <a:off x="0" y="430887"/>
            <a:ext cx="12188952" cy="228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" y="5074920"/>
            <a:ext cx="7406640" cy="457200"/>
          </a:xfrm>
          <a:prstGeom prst="rect">
            <a:avLst/>
          </a:prstGeom>
          <a:noFill/>
        </p:spPr>
        <p:txBody>
          <a:bodyPr wrap="square" anchor="t" lIns="63500" rIns="63500" tIns="38100" bIns="381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E6DA4"/>
                </a:solidFill>
                <a:latin typeface="Calibri"/>
              </a:rPr>
              <a:t>그래프 해석  </a:t>
            </a:r>
            <a:r>
              <a:rPr sz="900" b="0">
                <a:solidFill>
                  <a:srgbClr val="555555"/>
                </a:solidFill>
                <a:latin typeface="Calibri"/>
              </a:rPr>
              <a:t>자산별 Model A(전채널) vs B(선별) AUC. 막대 높이 차이가 거의 없어 두 모델 성능이 동등.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3841C-94BE-E35C-486F-7136E0669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E496F11-C15C-955A-03C8-72689320F332}"/>
              </a:ext>
            </a:extLst>
          </p:cNvPr>
          <p:cNvSpPr txBox="1"/>
          <p:nvPr/>
        </p:nvSpPr>
        <p:spPr>
          <a:xfrm>
            <a:off x="0" y="0"/>
            <a:ext cx="12202604" cy="430887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dirty="0" err="1">
                <a:solidFill>
                  <a:srgbClr val="FFFFFF"/>
                </a:solidFill>
                <a:latin typeface="Calibri"/>
              </a:rPr>
              <a:t>SHAP이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밝힌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것</a:t>
            </a:r>
            <a:r>
              <a:rPr lang="en-US" sz="2200" b="1" dirty="0">
                <a:solidFill>
                  <a:srgbClr val="FFFFFF"/>
                </a:solidFill>
                <a:latin typeface="Calibri"/>
              </a:rPr>
              <a:t> </a:t>
            </a:r>
            <a:endParaRPr sz="22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8F134CD-C187-6C70-22EF-A90EDF153CB8}"/>
              </a:ext>
            </a:extLst>
          </p:cNvPr>
          <p:cNvSpPr txBox="1"/>
          <p:nvPr/>
        </p:nvSpPr>
        <p:spPr>
          <a:xfrm>
            <a:off x="182880" y="531326"/>
            <a:ext cx="11887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 dirty="0" err="1">
                <a:solidFill>
                  <a:srgbClr val="555555"/>
                </a:solidFill>
                <a:latin typeface="Calibri"/>
              </a:rPr>
              <a:t>모델</a:t>
            </a:r>
            <a:r>
              <a:rPr sz="1000" b="0" i="1" dirty="0">
                <a:solidFill>
                  <a:srgbClr val="555555"/>
                </a:solidFill>
                <a:latin typeface="Calibri"/>
              </a:rPr>
              <a:t> A(</a:t>
            </a:r>
            <a:r>
              <a:rPr sz="1000" b="0" i="1" dirty="0" err="1">
                <a:solidFill>
                  <a:srgbClr val="555555"/>
                </a:solidFill>
                <a:latin typeface="Calibri"/>
              </a:rPr>
              <a:t>전채널</a:t>
            </a:r>
            <a:r>
              <a:rPr sz="1000" b="0" i="1" dirty="0">
                <a:solidFill>
                  <a:srgbClr val="555555"/>
                </a:solidFill>
                <a:latin typeface="Calibri"/>
              </a:rPr>
              <a:t>) vs </a:t>
            </a:r>
            <a:r>
              <a:rPr sz="1000" b="0" i="1" dirty="0" err="1">
                <a:solidFill>
                  <a:srgbClr val="555555"/>
                </a:solidFill>
                <a:latin typeface="Calibri"/>
              </a:rPr>
              <a:t>모델</a:t>
            </a:r>
            <a:r>
              <a:rPr sz="1000" b="0" i="1" dirty="0">
                <a:solidFill>
                  <a:srgbClr val="555555"/>
                </a:solidFill>
                <a:latin typeface="Calibri"/>
              </a:rPr>
              <a:t> B(Granger </a:t>
            </a:r>
            <a:r>
              <a:rPr sz="1000" b="0" i="1" dirty="0" err="1">
                <a:solidFill>
                  <a:srgbClr val="555555"/>
                </a:solidFill>
                <a:latin typeface="Calibri"/>
              </a:rPr>
              <a:t>선별</a:t>
            </a:r>
            <a:r>
              <a:rPr sz="10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000" b="0" i="1" dirty="0" err="1">
                <a:solidFill>
                  <a:srgbClr val="555555"/>
                </a:solidFill>
                <a:latin typeface="Calibri"/>
              </a:rPr>
              <a:t>채널</a:t>
            </a:r>
            <a:r>
              <a:rPr sz="1000" b="0" i="1" dirty="0">
                <a:solidFill>
                  <a:srgbClr val="555555"/>
                </a:solidFill>
                <a:latin typeface="Calibri"/>
              </a:rPr>
              <a:t>) AUC </a:t>
            </a:r>
            <a:r>
              <a:rPr sz="1000" b="0" i="1" dirty="0" err="1">
                <a:solidFill>
                  <a:srgbClr val="555555"/>
                </a:solidFill>
                <a:latin typeface="Calibri"/>
              </a:rPr>
              <a:t>비교</a:t>
            </a:r>
            <a:r>
              <a:rPr sz="1000" b="0" i="1" dirty="0">
                <a:solidFill>
                  <a:srgbClr val="555555"/>
                </a:solidFill>
                <a:latin typeface="Calibri"/>
              </a:rPr>
              <a:t> -&gt; </a:t>
            </a:r>
            <a:r>
              <a:rPr sz="1000" b="0" i="1" dirty="0" err="1">
                <a:solidFill>
                  <a:srgbClr val="555555"/>
                </a:solidFill>
                <a:latin typeface="Calibri"/>
              </a:rPr>
              <a:t>SHAP으로</a:t>
            </a:r>
            <a:r>
              <a:rPr sz="10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000" b="0" i="1" dirty="0" err="1">
                <a:solidFill>
                  <a:srgbClr val="555555"/>
                </a:solidFill>
                <a:latin typeface="Calibri"/>
              </a:rPr>
              <a:t>실제</a:t>
            </a:r>
            <a:r>
              <a:rPr sz="10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000" b="0" i="1" dirty="0" err="1">
                <a:solidFill>
                  <a:srgbClr val="555555"/>
                </a:solidFill>
                <a:latin typeface="Calibri"/>
              </a:rPr>
              <a:t>예측</a:t>
            </a:r>
            <a:r>
              <a:rPr sz="10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000" b="0" i="1" dirty="0" err="1">
                <a:solidFill>
                  <a:srgbClr val="555555"/>
                </a:solidFill>
                <a:latin typeface="Calibri"/>
              </a:rPr>
              <a:t>기여</a:t>
            </a:r>
            <a:r>
              <a:rPr sz="10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000" b="0" i="1" dirty="0" err="1">
                <a:solidFill>
                  <a:srgbClr val="555555"/>
                </a:solidFill>
                <a:latin typeface="Calibri"/>
              </a:rPr>
              <a:t>채널</a:t>
            </a:r>
            <a:r>
              <a:rPr sz="10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000" b="0" i="1" dirty="0" err="1">
                <a:solidFill>
                  <a:srgbClr val="555555"/>
                </a:solidFill>
                <a:latin typeface="Calibri"/>
              </a:rPr>
              <a:t>파악</a:t>
            </a:r>
            <a:r>
              <a:rPr sz="1000" b="0" i="1" dirty="0">
                <a:solidFill>
                  <a:srgbClr val="555555"/>
                </a:solidFill>
                <a:latin typeface="Calibri"/>
              </a:rPr>
              <a:t> -&gt; </a:t>
            </a:r>
            <a:r>
              <a:rPr sz="1000" b="0" i="1" dirty="0" err="1">
                <a:solidFill>
                  <a:srgbClr val="555555"/>
                </a:solidFill>
                <a:latin typeface="Calibri"/>
              </a:rPr>
              <a:t>모델</a:t>
            </a:r>
            <a:r>
              <a:rPr sz="1000" b="0" i="1" dirty="0">
                <a:solidFill>
                  <a:srgbClr val="555555"/>
                </a:solidFill>
                <a:latin typeface="Calibri"/>
              </a:rPr>
              <a:t> C </a:t>
            </a:r>
            <a:r>
              <a:rPr sz="1000" b="0" i="1" dirty="0" err="1">
                <a:solidFill>
                  <a:srgbClr val="555555"/>
                </a:solidFill>
                <a:latin typeface="Calibri"/>
              </a:rPr>
              <a:t>설계</a:t>
            </a:r>
            <a:r>
              <a:rPr sz="10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1000" b="0" i="1" dirty="0" err="1">
                <a:solidFill>
                  <a:srgbClr val="555555"/>
                </a:solidFill>
                <a:latin typeface="Calibri"/>
              </a:rPr>
              <a:t>근거</a:t>
            </a:r>
            <a:endParaRPr sz="1000" b="0" i="1" dirty="0">
              <a:solidFill>
                <a:srgbClr val="555555"/>
              </a:solidFill>
              <a:latin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CC4113-26BF-90CF-337B-D72DA5A97CF0}"/>
              </a:ext>
            </a:extLst>
          </p:cNvPr>
          <p:cNvSpPr txBox="1"/>
          <p:nvPr/>
        </p:nvSpPr>
        <p:spPr>
          <a:xfrm>
            <a:off x="4305278" y="3941574"/>
            <a:ext cx="5989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1F2D4E"/>
                </a:solidFill>
                <a:latin typeface="Calibri"/>
              </a:rPr>
              <a:t>SHAP </a:t>
            </a:r>
            <a:r>
              <a:rPr sz="1200" b="1" i="0" dirty="0" err="1">
                <a:solidFill>
                  <a:srgbClr val="1F2D4E"/>
                </a:solidFill>
                <a:latin typeface="Calibri"/>
              </a:rPr>
              <a:t>분석</a:t>
            </a:r>
            <a:r>
              <a:rPr sz="1200" b="1" i="0" dirty="0">
                <a:solidFill>
                  <a:srgbClr val="1F2D4E"/>
                </a:solidFill>
                <a:latin typeface="Calibri"/>
              </a:rPr>
              <a:t> — </a:t>
            </a:r>
            <a:r>
              <a:rPr sz="1200" b="1" i="0" dirty="0" err="1">
                <a:solidFill>
                  <a:srgbClr val="1F2D4E"/>
                </a:solidFill>
                <a:latin typeface="Calibri"/>
              </a:rPr>
              <a:t>실제</a:t>
            </a:r>
            <a:r>
              <a:rPr sz="1200" b="1" i="0" dirty="0">
                <a:solidFill>
                  <a:srgbClr val="1F2D4E"/>
                </a:solidFill>
                <a:latin typeface="Calibri"/>
              </a:rPr>
              <a:t> </a:t>
            </a:r>
            <a:r>
              <a:rPr sz="1200" b="1" i="0" dirty="0" err="1">
                <a:solidFill>
                  <a:srgbClr val="1F2D4E"/>
                </a:solidFill>
                <a:latin typeface="Calibri"/>
              </a:rPr>
              <a:t>예측</a:t>
            </a:r>
            <a:r>
              <a:rPr sz="1200" b="1" i="0" dirty="0">
                <a:solidFill>
                  <a:srgbClr val="1F2D4E"/>
                </a:solidFill>
                <a:latin typeface="Calibri"/>
              </a:rPr>
              <a:t> </a:t>
            </a:r>
            <a:r>
              <a:rPr sz="1200" b="1" i="0" dirty="0" err="1">
                <a:solidFill>
                  <a:srgbClr val="1F2D4E"/>
                </a:solidFill>
                <a:latin typeface="Calibri"/>
              </a:rPr>
              <a:t>기여</a:t>
            </a:r>
            <a:r>
              <a:rPr sz="1200" b="1" i="0" dirty="0">
                <a:solidFill>
                  <a:srgbClr val="1F2D4E"/>
                </a:solidFill>
                <a:latin typeface="Calibri"/>
              </a:rPr>
              <a:t> </a:t>
            </a:r>
            <a:r>
              <a:rPr sz="1200" b="1" i="0" dirty="0" err="1">
                <a:solidFill>
                  <a:srgbClr val="1F2D4E"/>
                </a:solidFill>
                <a:latin typeface="Calibri"/>
              </a:rPr>
              <a:t>채널</a:t>
            </a:r>
            <a:r>
              <a:rPr sz="1200" b="1" i="0" dirty="0">
                <a:solidFill>
                  <a:srgbClr val="1F2D4E"/>
                </a:solidFill>
                <a:latin typeface="Calibri"/>
              </a:rPr>
              <a:t> (</a:t>
            </a:r>
            <a:r>
              <a:rPr sz="1200" b="1" i="0" dirty="0" err="1">
                <a:solidFill>
                  <a:srgbClr val="1F2D4E"/>
                </a:solidFill>
                <a:latin typeface="Calibri"/>
              </a:rPr>
              <a:t>모델</a:t>
            </a:r>
            <a:r>
              <a:rPr sz="1200" b="1" i="0" dirty="0">
                <a:solidFill>
                  <a:srgbClr val="1F2D4E"/>
                </a:solidFill>
                <a:latin typeface="Calibri"/>
              </a:rPr>
              <a:t> A </a:t>
            </a:r>
            <a:r>
              <a:rPr sz="1200" b="1" i="0" dirty="0" err="1">
                <a:solidFill>
                  <a:srgbClr val="1F2D4E"/>
                </a:solidFill>
                <a:latin typeface="Calibri"/>
              </a:rPr>
              <a:t>기반</a:t>
            </a:r>
            <a:r>
              <a:rPr sz="1200" b="1" i="0" dirty="0">
                <a:solidFill>
                  <a:srgbClr val="1F2D4E"/>
                </a:solidFill>
                <a:latin typeface="Calibri"/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38525B-C378-E0B4-6DDF-94AA0B3A3570}"/>
              </a:ext>
            </a:extLst>
          </p:cNvPr>
          <p:cNvSpPr txBox="1"/>
          <p:nvPr/>
        </p:nvSpPr>
        <p:spPr>
          <a:xfrm>
            <a:off x="1235329" y="4357339"/>
            <a:ext cx="2757344" cy="1965960"/>
          </a:xfrm>
          <a:prstGeom prst="rect">
            <a:avLst/>
          </a:prstGeom>
          <a:solidFill>
            <a:srgbClr val="E3F2FD"/>
          </a:solidFill>
          <a:ln w="9525">
            <a:solidFill>
              <a:srgbClr val="BBBBBB"/>
            </a:solidFill>
          </a:ln>
        </p:spPr>
        <p:txBody>
          <a:bodyPr wrap="square">
            <a:spAutoFit/>
          </a:bodyPr>
          <a:lstStyle/>
          <a:p>
            <a:endParaRPr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D6BD1B-2732-2F34-4443-BE182A1A77A9}"/>
              </a:ext>
            </a:extLst>
          </p:cNvPr>
          <p:cNvSpPr txBox="1"/>
          <p:nvPr/>
        </p:nvSpPr>
        <p:spPr>
          <a:xfrm>
            <a:off x="2250068" y="4413257"/>
            <a:ext cx="182019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 err="1">
                <a:solidFill>
                  <a:srgbClr val="2E6DA4"/>
                </a:solidFill>
                <a:latin typeface="Calibri"/>
              </a:rPr>
              <a:t>스니커즈</a:t>
            </a:r>
            <a:endParaRPr sz="1100" b="1" i="0" dirty="0">
              <a:solidFill>
                <a:srgbClr val="2E6DA4"/>
              </a:solidFill>
              <a:latin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70FB7D5-91B4-708D-2AD2-662F68ACD0F5}"/>
              </a:ext>
            </a:extLst>
          </p:cNvPr>
          <p:cNvSpPr txBox="1"/>
          <p:nvPr/>
        </p:nvSpPr>
        <p:spPr>
          <a:xfrm>
            <a:off x="1336929" y="4641318"/>
            <a:ext cx="2655744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0A0A0A"/>
                </a:solidFill>
                <a:latin typeface="Calibri"/>
              </a:rPr>
              <a:t>SHAP 1위: CH1 Google 
SHAP 2위: CH5 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YT감성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
SHAP 3위: CH4 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유튜브</a:t>
            </a:r>
            <a:r>
              <a:rPr lang="en-US" sz="11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뷰 </a:t>
            </a:r>
            <a:endParaRPr lang="en-US" sz="1100" b="0" i="0" dirty="0">
              <a:solidFill>
                <a:srgbClr val="0A0A0A"/>
              </a:solidFill>
              <a:latin typeface="Calibri"/>
            </a:endParaRPr>
          </a:p>
          <a:p>
            <a:pPr algn="l"/>
            <a:r>
              <a:rPr sz="1100" b="0" i="0" dirty="0">
                <a:solidFill>
                  <a:srgbClr val="0A0A0A"/>
                </a:solidFill>
                <a:latin typeface="Calibri"/>
              </a:rPr>
              <a:t>
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주목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: CH3 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뉴스감성은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 Granger 1위지만
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SHAP에서는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 4위 (0.011)
→ 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선행성과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예측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기여도가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다름</a:t>
            </a:r>
            <a:endParaRPr sz="1100" b="0" i="0" dirty="0">
              <a:solidFill>
                <a:srgbClr val="0A0A0A"/>
              </a:solidFill>
              <a:latin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E1E3D8-CEB9-4C04-34D7-D08FDBA0CD79}"/>
              </a:ext>
            </a:extLst>
          </p:cNvPr>
          <p:cNvSpPr txBox="1"/>
          <p:nvPr/>
        </p:nvSpPr>
        <p:spPr>
          <a:xfrm>
            <a:off x="4931397" y="4358393"/>
            <a:ext cx="2349979" cy="1965960"/>
          </a:xfrm>
          <a:prstGeom prst="rect">
            <a:avLst/>
          </a:prstGeom>
          <a:solidFill>
            <a:srgbClr val="E8F5E9"/>
          </a:solidFill>
          <a:ln w="9525">
            <a:solidFill>
              <a:srgbClr val="BBBBBB"/>
            </a:solidFill>
          </a:ln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8FC243-9F35-0929-898C-DEBA77EFF741}"/>
              </a:ext>
            </a:extLst>
          </p:cNvPr>
          <p:cNvSpPr txBox="1"/>
          <p:nvPr/>
        </p:nvSpPr>
        <p:spPr>
          <a:xfrm>
            <a:off x="5827207" y="4416665"/>
            <a:ext cx="13659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 err="1">
                <a:solidFill>
                  <a:srgbClr val="277A4A"/>
                </a:solidFill>
                <a:latin typeface="Calibri"/>
              </a:rPr>
              <a:t>카드</a:t>
            </a:r>
            <a:endParaRPr sz="1100" b="1" i="0" dirty="0">
              <a:solidFill>
                <a:srgbClr val="277A4A"/>
              </a:solidFill>
              <a:latin typeface="Calibr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AB07D5-EDB8-0AD1-3255-C70A6B6525EB}"/>
              </a:ext>
            </a:extLst>
          </p:cNvPr>
          <p:cNvSpPr txBox="1"/>
          <p:nvPr/>
        </p:nvSpPr>
        <p:spPr>
          <a:xfrm>
            <a:off x="5055483" y="4674867"/>
            <a:ext cx="2276693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0A0A0A"/>
                </a:solidFill>
                <a:latin typeface="Calibri"/>
              </a:rPr>
              <a:t>SHAP 1위: CH4 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유튜브</a:t>
            </a:r>
            <a:r>
              <a:rPr lang="en-US" sz="11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뷰 
SHAP 2위: CH1 Google 
SHAP 3위: CH2 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뉴스량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
CH1이 Granger 1위 &amp; SHAP 2위
→ 두 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검정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일관성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확인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
→ CH4가 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예측엔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 더 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강한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기여</a:t>
            </a:r>
            <a:endParaRPr sz="1100" b="0" i="0" dirty="0">
              <a:solidFill>
                <a:srgbClr val="0A0A0A"/>
              </a:solidFill>
              <a:latin typeface="Calibr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F0100E4-013E-004D-234E-16D6A7095252}"/>
              </a:ext>
            </a:extLst>
          </p:cNvPr>
          <p:cNvSpPr txBox="1"/>
          <p:nvPr/>
        </p:nvSpPr>
        <p:spPr>
          <a:xfrm>
            <a:off x="8142514" y="4368180"/>
            <a:ext cx="2757344" cy="1965960"/>
          </a:xfrm>
          <a:prstGeom prst="rect">
            <a:avLst/>
          </a:prstGeom>
          <a:solidFill>
            <a:srgbClr val="FFF9C4"/>
          </a:solidFill>
          <a:ln w="9525">
            <a:solidFill>
              <a:srgbClr val="BBBBBB"/>
            </a:solidFill>
          </a:ln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5BC4135-F68C-02E0-4B16-D6544090B42E}"/>
              </a:ext>
            </a:extLst>
          </p:cNvPr>
          <p:cNvSpPr txBox="1"/>
          <p:nvPr/>
        </p:nvSpPr>
        <p:spPr>
          <a:xfrm>
            <a:off x="9304626" y="4400248"/>
            <a:ext cx="139434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dirty="0" err="1">
                <a:solidFill>
                  <a:srgbClr val="6C3D91"/>
                </a:solidFill>
                <a:latin typeface="Calibri"/>
              </a:rPr>
              <a:t>레고</a:t>
            </a:r>
            <a:endParaRPr sz="1100" b="1" i="0" dirty="0">
              <a:solidFill>
                <a:srgbClr val="6C3D91"/>
              </a:solidFill>
              <a:latin typeface="Calibri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6D9740B-C168-FFF4-6884-0F41FC78D8C2}"/>
              </a:ext>
            </a:extLst>
          </p:cNvPr>
          <p:cNvSpPr txBox="1"/>
          <p:nvPr/>
        </p:nvSpPr>
        <p:spPr>
          <a:xfrm>
            <a:off x="8273821" y="4647968"/>
            <a:ext cx="2680323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>
                <a:solidFill>
                  <a:srgbClr val="0A0A0A"/>
                </a:solidFill>
                <a:latin typeface="Calibri"/>
              </a:rPr>
              <a:t>SHAP 1위: CH5 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YT감성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
SHAP 2위: CH4 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유튜브</a:t>
            </a:r>
            <a:r>
              <a:rPr lang="en-US" sz="11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뷰 
SHAP 3위: CH1 Google
Granger 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유의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채널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없었지만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
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SHAP에서는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 CH</a:t>
            </a:r>
            <a:r>
              <a:rPr lang="en-US" sz="1100" b="0" i="0" dirty="0">
                <a:solidFill>
                  <a:srgbClr val="0A0A0A"/>
                </a:solidFill>
                <a:latin typeface="Calibri"/>
              </a:rPr>
              <a:t>4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, CH</a:t>
            </a:r>
            <a:r>
              <a:rPr lang="en-US" sz="1100" b="0" i="0" dirty="0">
                <a:solidFill>
                  <a:srgbClr val="0A0A0A"/>
                </a:solidFill>
                <a:latin typeface="Calibri"/>
              </a:rPr>
              <a:t>5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기여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
→ 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선행성은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없으나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동시적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연관성</a:t>
            </a:r>
            <a:r>
              <a:rPr sz="11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100" b="0" i="0" dirty="0" err="1">
                <a:solidFill>
                  <a:srgbClr val="0A0A0A"/>
                </a:solidFill>
                <a:latin typeface="Calibri"/>
              </a:rPr>
              <a:t>존재</a:t>
            </a:r>
            <a:endParaRPr sz="1100" b="0" i="0" dirty="0">
              <a:solidFill>
                <a:srgbClr val="0A0A0A"/>
              </a:solidFill>
              <a:latin typeface="Calibri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F3434C1-352A-0AFF-0CDD-DDD9360AC99D}"/>
              </a:ext>
            </a:extLst>
          </p:cNvPr>
          <p:cNvSpPr txBox="1"/>
          <p:nvPr/>
        </p:nvSpPr>
        <p:spPr>
          <a:xfrm>
            <a:off x="228536" y="6537960"/>
            <a:ext cx="11731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 dirty="0">
                <a:solidFill>
                  <a:srgbClr val="555555"/>
                </a:solidFill>
                <a:latin typeface="Calibri"/>
              </a:rPr>
              <a:t>주. </a:t>
            </a:r>
            <a:r>
              <a:rPr sz="900" b="0" i="1" dirty="0" err="1">
                <a:solidFill>
                  <a:srgbClr val="555555"/>
                </a:solidFill>
                <a:latin typeface="Calibri"/>
              </a:rPr>
              <a:t>자산별</a:t>
            </a:r>
            <a:r>
              <a:rPr sz="9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555555"/>
                </a:solidFill>
                <a:latin typeface="Calibri"/>
              </a:rPr>
              <a:t>채널</a:t>
            </a:r>
            <a:r>
              <a:rPr sz="9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555555"/>
                </a:solidFill>
                <a:latin typeface="Calibri"/>
              </a:rPr>
              <a:t>평균</a:t>
            </a:r>
            <a:r>
              <a:rPr sz="900" b="0" i="1" dirty="0">
                <a:solidFill>
                  <a:srgbClr val="555555"/>
                </a:solidFill>
                <a:latin typeface="Calibri"/>
              </a:rPr>
              <a:t> |SHAP| </a:t>
            </a:r>
            <a:r>
              <a:rPr sz="900" b="0" i="1" dirty="0" err="1">
                <a:solidFill>
                  <a:srgbClr val="555555"/>
                </a:solidFill>
                <a:latin typeface="Calibri"/>
              </a:rPr>
              <a:t>막대</a:t>
            </a:r>
            <a:r>
              <a:rPr sz="9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555555"/>
                </a:solidFill>
                <a:latin typeface="Calibri"/>
              </a:rPr>
              <a:t>그래프</a:t>
            </a:r>
            <a:r>
              <a:rPr sz="900" b="0" i="1" dirty="0">
                <a:solidFill>
                  <a:srgbClr val="555555"/>
                </a:solidFill>
                <a:latin typeface="Calibri"/>
              </a:rPr>
              <a:t>. </a:t>
            </a:r>
            <a:r>
              <a:rPr sz="900" b="0" i="1" dirty="0" err="1">
                <a:solidFill>
                  <a:srgbClr val="555555"/>
                </a:solidFill>
                <a:latin typeface="Calibri"/>
              </a:rPr>
              <a:t>높을수록</a:t>
            </a:r>
            <a:r>
              <a:rPr sz="9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555555"/>
                </a:solidFill>
                <a:latin typeface="Calibri"/>
              </a:rPr>
              <a:t>XGBoost</a:t>
            </a:r>
            <a:r>
              <a:rPr sz="9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555555"/>
                </a:solidFill>
                <a:latin typeface="Calibri"/>
              </a:rPr>
              <a:t>예측에</a:t>
            </a:r>
            <a:r>
              <a:rPr sz="9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555555"/>
                </a:solidFill>
                <a:latin typeface="Calibri"/>
              </a:rPr>
              <a:t>실제로</a:t>
            </a:r>
            <a:r>
              <a:rPr sz="9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555555"/>
                </a:solidFill>
                <a:latin typeface="Calibri"/>
              </a:rPr>
              <a:t>기여한</a:t>
            </a:r>
            <a:r>
              <a:rPr sz="9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555555"/>
                </a:solidFill>
                <a:latin typeface="Calibri"/>
              </a:rPr>
              <a:t>채널</a:t>
            </a:r>
            <a:r>
              <a:rPr sz="900" b="0" i="1" dirty="0">
                <a:solidFill>
                  <a:srgbClr val="555555"/>
                </a:solidFill>
                <a:latin typeface="Calibri"/>
              </a:rPr>
              <a:t>. </a:t>
            </a:r>
            <a:r>
              <a:rPr sz="900" b="0" i="1" dirty="0" err="1">
                <a:solidFill>
                  <a:srgbClr val="555555"/>
                </a:solidFill>
                <a:latin typeface="Calibri"/>
              </a:rPr>
              <a:t>스니커즈는</a:t>
            </a:r>
            <a:r>
              <a:rPr sz="900" b="0" i="1" dirty="0">
                <a:solidFill>
                  <a:srgbClr val="555555"/>
                </a:solidFill>
                <a:latin typeface="Calibri"/>
              </a:rPr>
              <a:t> CH1·CH5, </a:t>
            </a:r>
            <a:r>
              <a:rPr sz="900" b="0" i="1" dirty="0" err="1">
                <a:solidFill>
                  <a:srgbClr val="555555"/>
                </a:solidFill>
                <a:latin typeface="Calibri"/>
              </a:rPr>
              <a:t>카드는</a:t>
            </a:r>
            <a:r>
              <a:rPr sz="900" b="0" i="1" dirty="0">
                <a:solidFill>
                  <a:srgbClr val="555555"/>
                </a:solidFill>
                <a:latin typeface="Calibri"/>
              </a:rPr>
              <a:t> CH4·CH1, </a:t>
            </a:r>
            <a:r>
              <a:rPr sz="900" b="0" i="1" dirty="0" err="1">
                <a:solidFill>
                  <a:srgbClr val="555555"/>
                </a:solidFill>
                <a:latin typeface="Calibri"/>
              </a:rPr>
              <a:t>레고는</a:t>
            </a:r>
            <a:r>
              <a:rPr sz="900" b="0" i="1" dirty="0">
                <a:solidFill>
                  <a:srgbClr val="555555"/>
                </a:solidFill>
                <a:latin typeface="Calibri"/>
              </a:rPr>
              <a:t> CH5·CH4가 </a:t>
            </a:r>
            <a:r>
              <a:rPr sz="900" b="0" i="1" dirty="0" err="1">
                <a:solidFill>
                  <a:srgbClr val="555555"/>
                </a:solidFill>
                <a:latin typeface="Calibri"/>
              </a:rPr>
              <a:t>상위권</a:t>
            </a:r>
            <a:r>
              <a:rPr sz="900" b="0" i="1" dirty="0">
                <a:solidFill>
                  <a:srgbClr val="555555"/>
                </a:solidFill>
                <a:latin typeface="Calibri"/>
              </a:rPr>
              <a:t> -&gt; Model C </a:t>
            </a:r>
            <a:r>
              <a:rPr sz="900" b="0" i="1" dirty="0" err="1">
                <a:solidFill>
                  <a:srgbClr val="555555"/>
                </a:solidFill>
                <a:latin typeface="Calibri"/>
              </a:rPr>
              <a:t>채널</a:t>
            </a:r>
            <a:r>
              <a:rPr sz="9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555555"/>
                </a:solidFill>
                <a:latin typeface="Calibri"/>
              </a:rPr>
              <a:t>선택</a:t>
            </a:r>
            <a:r>
              <a:rPr sz="9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555555"/>
                </a:solidFill>
                <a:latin typeface="Calibri"/>
              </a:rPr>
              <a:t>근거</a:t>
            </a:r>
            <a:r>
              <a:rPr sz="900" b="0" i="1" dirty="0">
                <a:solidFill>
                  <a:srgbClr val="555555"/>
                </a:solidFill>
                <a:latin typeface="Calibri"/>
              </a:rPr>
              <a:t>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19E7BEE-774F-1A2D-714B-814CBA05EC33}"/>
              </a:ext>
            </a:extLst>
          </p:cNvPr>
          <p:cNvSpPr txBox="1"/>
          <p:nvPr/>
        </p:nvSpPr>
        <p:spPr>
          <a:xfrm>
            <a:off x="11425364" y="6537960"/>
            <a:ext cx="777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555555"/>
                </a:solidFill>
                <a:latin typeface="Calibri"/>
              </a:rPr>
              <a:t>9 / 17</a:t>
            </a:r>
          </a:p>
        </p:txBody>
      </p:sp>
      <p:pic>
        <p:nvPicPr>
          <p:cNvPr id="17" name="Picture 34" descr="image.png">
            <a:extLst>
              <a:ext uri="{FF2B5EF4-FFF2-40B4-BE49-F238E27FC236}">
                <a16:creationId xmlns:a16="http://schemas.microsoft.com/office/drawing/2014/main" id="{BCE6363C-BE9A-1835-192D-739C42B4CE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311" y="1061725"/>
            <a:ext cx="10292833" cy="27556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94E92A5-CB86-D666-F94D-C640A96DC6D9}"/>
              </a:ext>
            </a:extLst>
          </p:cNvPr>
          <p:cNvSpPr txBox="1"/>
          <p:nvPr/>
        </p:nvSpPr>
        <p:spPr>
          <a:xfrm>
            <a:off x="0" y="430887"/>
            <a:ext cx="12188952" cy="228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011287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88952" cy="430887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dirty="0">
                <a:solidFill>
                  <a:srgbClr val="FFFFFF"/>
                </a:solidFill>
                <a:latin typeface="Calibri"/>
              </a:rPr>
              <a:t>  RQ3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전체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모델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성능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비교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— A / B / C / N-A /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채널단독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(CH1~CH5)</a:t>
            </a:r>
            <a:r>
              <a:rPr lang="en-US" sz="2200" b="1" dirty="0">
                <a:solidFill>
                  <a:srgbClr val="FFFFFF"/>
                </a:solidFill>
                <a:latin typeface="Calibri"/>
              </a:rPr>
              <a:t> </a:t>
            </a:r>
            <a:endParaRPr sz="22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82880" y="690372"/>
            <a:ext cx="118872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55555"/>
                </a:solidFill>
                <a:latin typeface="Calibri"/>
              </a:rPr>
              <a:t>A=전채널  |  B=Granger 유의 채널(raw p&lt;0.05: 스니커즈 CH1+CH3+CH4, 카드 CH1)  |  C=SHAP 상위 채널  |  N-A=Granger 유의 채널 제거  |  레고: B=N-A=A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110" y="1371600"/>
            <a:ext cx="10573474" cy="4160520"/>
          </a:xfrm>
          <a:prstGeom prst="rect">
            <a:avLst/>
          </a:prstGeom>
        </p:spPr>
      </p:pic>
      <p:sp>
        <p:nvSpPr>
          <p:cNvPr id="999" name="PageNum"/>
          <p:cNvSpPr txBox="1"/>
          <p:nvPr/>
        </p:nvSpPr>
        <p:spPr>
          <a:xfrm>
            <a:off x="11384280" y="6556248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Calibri"/>
              </a:rPr>
              <a:t>10 / 17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EDB855-5145-757D-D1E9-E7EDE70D9463}"/>
              </a:ext>
            </a:extLst>
          </p:cNvPr>
          <p:cNvSpPr txBox="1"/>
          <p:nvPr/>
        </p:nvSpPr>
        <p:spPr>
          <a:xfrm>
            <a:off x="0" y="430887"/>
            <a:ext cx="12188952" cy="228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93277A-D9DC-FD09-964F-FB69BF931EC1}"/>
              </a:ext>
            </a:extLst>
          </p:cNvPr>
          <p:cNvSpPr txBox="1"/>
          <p:nvPr/>
        </p:nvSpPr>
        <p:spPr>
          <a:xfrm>
            <a:off x="1884107" y="6042833"/>
            <a:ext cx="8420610" cy="479989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448356-15BF-401D-40A5-7EE2444F305E}"/>
              </a:ext>
            </a:extLst>
          </p:cNvPr>
          <p:cNvSpPr txBox="1"/>
          <p:nvPr/>
        </p:nvSpPr>
        <p:spPr>
          <a:xfrm>
            <a:off x="2124814" y="6150114"/>
            <a:ext cx="8811699" cy="27699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</a:rPr>
              <a:t>결론</a:t>
            </a:r>
            <a:r>
              <a:rPr lang="en-US" altLang="ko-KR" sz="1200" dirty="0">
                <a:solidFill>
                  <a:schemeClr val="bg1"/>
                </a:solidFill>
              </a:rPr>
              <a:t>: </a:t>
            </a:r>
            <a:r>
              <a:rPr lang="ko-KR" altLang="ko-KR" sz="1200" dirty="0">
                <a:solidFill>
                  <a:schemeClr val="bg1"/>
                </a:solidFill>
              </a:rPr>
              <a:t>세 자산 모두 모델 간 AUC-ROC 차이는 최대 0.01 내외로, 채널 수를 줄여도 예측 성능이 실질적으로 유지됨을 확인</a:t>
            </a:r>
            <a:r>
              <a:rPr lang="ko-KR" altLang="ko-KR" sz="1200" dirty="0"/>
              <a:t>.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1000" name="TextBox 999"/>
          <p:cNvSpPr txBox="1"/>
          <p:nvPr/>
        </p:nvSpPr>
        <p:spPr>
          <a:xfrm>
            <a:off x="809110" y="5623560"/>
            <a:ext cx="10573474" cy="457200"/>
          </a:xfrm>
          <a:prstGeom prst="rect">
            <a:avLst/>
          </a:prstGeom>
          <a:noFill/>
        </p:spPr>
        <p:txBody>
          <a:bodyPr wrap="square" anchor="t" lIns="63500" rIns="63500" tIns="38100" bIns="381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E6DA4"/>
                </a:solidFill>
                <a:latin typeface="Calibri"/>
              </a:rPr>
              <a:t>그래프 해석  </a:t>
            </a:r>
            <a:r>
              <a:rPr sz="900" b="0">
                <a:solidFill>
                  <a:srgbClr val="555555"/>
                </a:solidFill>
                <a:latin typeface="Calibri"/>
              </a:rPr>
              <a:t>A/B/C/단독채널 모델의 AUC. 어느 구성이든 차이 최대 0.01 내외 → 채널 줄여도 성능 유지.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15394A-20F1-63C9-1D63-92926DEEA9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3FD38BE-CC25-04AE-9589-4EC0075FE915}"/>
              </a:ext>
            </a:extLst>
          </p:cNvPr>
          <p:cNvSpPr txBox="1"/>
          <p:nvPr/>
        </p:nvSpPr>
        <p:spPr>
          <a:xfrm>
            <a:off x="0" y="0"/>
            <a:ext cx="12188952" cy="430887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900" b="1" dirty="0">
                <a:solidFill>
                  <a:srgbClr val="FFFFFF"/>
                </a:solidFill>
                <a:latin typeface="Calibri"/>
              </a:rPr>
              <a:t>  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RQ3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전체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모델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성능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비교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— A / B / C / N-A /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채널단독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(CH1~CH5)</a:t>
            </a:r>
            <a:r>
              <a:rPr lang="en-US" sz="2200" b="1" dirty="0">
                <a:solidFill>
                  <a:srgbClr val="FFFFFF"/>
                </a:solidFill>
                <a:latin typeface="Calibri"/>
              </a:rPr>
              <a:t> </a:t>
            </a:r>
            <a:endParaRPr sz="22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9A4C1B-3189-F0FD-9599-58A3A4E69D4A}"/>
              </a:ext>
            </a:extLst>
          </p:cNvPr>
          <p:cNvSpPr txBox="1"/>
          <p:nvPr/>
        </p:nvSpPr>
        <p:spPr>
          <a:xfrm>
            <a:off x="182880" y="690372"/>
            <a:ext cx="118872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555555"/>
                </a:solidFill>
                <a:latin typeface="Calibri"/>
              </a:rPr>
              <a:t>A=전채널  |  B=Granger 유의 채널(raw p&lt;0.05: 스니커즈 CH1+CH3+CH4, 카드 CH1)  |  C=SHAP 상위 채널  |  N-A=Granger 유의 채널 제거  |  레고: B=N-A=A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F2641E3-55CF-2C62-C958-EA0F9CF2EE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3338409"/>
              </p:ext>
            </p:extLst>
          </p:nvPr>
        </p:nvGraphicFramePr>
        <p:xfrm>
          <a:off x="1199520" y="1339596"/>
          <a:ext cx="9653462" cy="44793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83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83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583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2290">
                <a:tc>
                  <a:txBody>
                    <a:bodyPr/>
                    <a:lstStyle/>
                    <a:p>
                      <a:pPr algn="ctr"/>
                      <a:r>
                        <a:rPr sz="11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모델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</a:rPr>
                        <a:t> (</a:t>
                      </a:r>
                      <a:r>
                        <a:rPr sz="11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구성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채널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스니커즈
AUC (vs A)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카드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</a:rPr>
                        <a:t>
AUC (vs A)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레고</a:t>
                      </a:r>
                      <a:r>
                        <a:rPr sz="1100" b="1" dirty="0">
                          <a:solidFill>
                            <a:srgbClr val="FFFFFF"/>
                          </a:solidFill>
                          <a:latin typeface="Calibri"/>
                        </a:rPr>
                        <a:t>
AUC (vs A)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590">
                <a:tc>
                  <a:txBody>
                    <a:bodyPr/>
                    <a:lstStyle/>
                    <a:p>
                      <a:pPr algn="l"/>
                      <a:r>
                        <a:rPr sz="1100" b="1" dirty="0">
                          <a:solidFill>
                            <a:srgbClr val="0A0A0A"/>
                          </a:solidFill>
                          <a:latin typeface="Calibri"/>
                        </a:rPr>
                        <a:t>A  </a:t>
                      </a:r>
                      <a:r>
                        <a:rPr sz="1100" b="1" dirty="0" err="1">
                          <a:solidFill>
                            <a:srgbClr val="0A0A0A"/>
                          </a:solidFill>
                          <a:latin typeface="Calibri"/>
                        </a:rPr>
                        <a:t>전채널</a:t>
                      </a:r>
                      <a:r>
                        <a:rPr sz="1100" b="1" dirty="0">
                          <a:solidFill>
                            <a:srgbClr val="0A0A0A"/>
                          </a:solidFill>
                          <a:latin typeface="Calibri"/>
                        </a:rPr>
                        <a:t> CH1~5 + </a:t>
                      </a:r>
                      <a:r>
                        <a:rPr sz="1100" b="1" dirty="0" err="1">
                          <a:solidFill>
                            <a:srgbClr val="0A0A0A"/>
                          </a:solidFill>
                          <a:latin typeface="Calibri"/>
                        </a:rPr>
                        <a:t>가격래그</a:t>
                      </a:r>
                      <a:endParaRPr sz="1100" b="1" dirty="0">
                        <a:solidFill>
                          <a:srgbClr val="0A0A0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D9DE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0A0A"/>
                          </a:solidFill>
                          <a:latin typeface="Calibri"/>
                        </a:rPr>
                        <a:t>0.8413
(기준)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0A0A"/>
                          </a:solidFill>
                          <a:latin typeface="Calibri"/>
                        </a:rPr>
                        <a:t>0.8587
(기준)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0A0A"/>
                          </a:solidFill>
                          <a:latin typeface="Calibri"/>
                        </a:rPr>
                        <a:t>0.9601
(기준)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159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A0A0A"/>
                          </a:solidFill>
                          <a:latin typeface="Calibri"/>
                        </a:rPr>
                        <a:t>B  Granger 유의 채널 (raw p&lt;0.05)
  스니커즈: CH1+CH3+CH4 / 카드: CH1 / 레고: —</a:t>
                      </a:r>
                    </a:p>
                  </a:txBody>
                  <a:tcPr>
                    <a:solidFill>
                      <a:srgbClr val="FFE8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0A0A"/>
                          </a:solidFill>
                          <a:latin typeface="Calibri"/>
                        </a:rPr>
                        <a:t>0.8461 †근사
(차이없음)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0A0A0A"/>
                          </a:solidFill>
                          <a:latin typeface="Calibri"/>
                        </a:rPr>
                        <a:t>0.8612
(</a:t>
                      </a:r>
                      <a:r>
                        <a:rPr sz="11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차이없음</a:t>
                      </a:r>
                      <a:r>
                        <a:rPr sz="1100" b="0" dirty="0">
                          <a:solidFill>
                            <a:srgbClr val="0A0A0A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0A0A"/>
                          </a:solidFill>
                          <a:latin typeface="Calibri"/>
                        </a:rPr>
                        <a:t>0.9601
(= A, 유의채널없음)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59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A0A0A"/>
                          </a:solidFill>
                          <a:latin typeface="Calibri"/>
                        </a:rPr>
                        <a:t>C  SHAP 상위 2채널
  스니커즈: CH1+CH5 / 카드: CH4+CH1 / 레고: CH5+CH4</a:t>
                      </a:r>
                    </a:p>
                  </a:txBody>
                  <a:tcPr>
                    <a:solidFill>
                      <a:srgbClr val="CCE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0A0A"/>
                          </a:solidFill>
                          <a:latin typeface="Calibri"/>
                        </a:rPr>
                        <a:t>0.8401
(차이없음)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0A0A"/>
                          </a:solidFill>
                          <a:latin typeface="Calibri"/>
                        </a:rPr>
                        <a:t>0.8590
(차이없음)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0A0A"/>
                          </a:solidFill>
                          <a:latin typeface="Calibri"/>
                        </a:rPr>
                        <a:t>0.9626
(차이없음)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590">
                <a:tc>
                  <a:txBody>
                    <a:bodyPr/>
                    <a:lstStyle/>
                    <a:p>
                      <a:pPr algn="l"/>
                      <a:r>
                        <a:rPr sz="1100" b="1" dirty="0">
                          <a:solidFill>
                            <a:srgbClr val="0A0A0A"/>
                          </a:solidFill>
                          <a:latin typeface="Calibri"/>
                        </a:rPr>
                        <a:t>N-A  Granger </a:t>
                      </a:r>
                      <a:r>
                        <a:rPr sz="1100" b="1" dirty="0" err="1">
                          <a:solidFill>
                            <a:srgbClr val="0A0A0A"/>
                          </a:solidFill>
                          <a:latin typeface="Calibri"/>
                        </a:rPr>
                        <a:t>유의</a:t>
                      </a:r>
                      <a:r>
                        <a:rPr sz="1100" b="1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0A0A0A"/>
                          </a:solidFill>
                          <a:latin typeface="Calibri"/>
                        </a:rPr>
                        <a:t>채널</a:t>
                      </a:r>
                      <a:r>
                        <a:rPr sz="1100" b="1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100" b="1" dirty="0" err="1">
                          <a:solidFill>
                            <a:srgbClr val="0A0A0A"/>
                          </a:solidFill>
                          <a:latin typeface="Calibri"/>
                        </a:rPr>
                        <a:t>제거</a:t>
                      </a:r>
                      <a:r>
                        <a:rPr sz="1100" b="1" dirty="0">
                          <a:solidFill>
                            <a:srgbClr val="0A0A0A"/>
                          </a:solidFill>
                          <a:latin typeface="Calibri"/>
                        </a:rPr>
                        <a:t>
  </a:t>
                      </a:r>
                      <a:r>
                        <a:rPr sz="1100" b="1" dirty="0" err="1">
                          <a:solidFill>
                            <a:srgbClr val="0A0A0A"/>
                          </a:solidFill>
                          <a:latin typeface="Calibri"/>
                        </a:rPr>
                        <a:t>스니커즈</a:t>
                      </a:r>
                      <a:r>
                        <a:rPr sz="1100" b="1" dirty="0">
                          <a:solidFill>
                            <a:srgbClr val="0A0A0A"/>
                          </a:solidFill>
                          <a:latin typeface="Calibri"/>
                        </a:rPr>
                        <a:t>: CH2+CH5 / </a:t>
                      </a:r>
                      <a:r>
                        <a:rPr sz="1100" b="1" dirty="0" err="1">
                          <a:solidFill>
                            <a:srgbClr val="0A0A0A"/>
                          </a:solidFill>
                          <a:latin typeface="Calibri"/>
                        </a:rPr>
                        <a:t>카드</a:t>
                      </a:r>
                      <a:r>
                        <a:rPr sz="1100" b="1" dirty="0">
                          <a:solidFill>
                            <a:srgbClr val="0A0A0A"/>
                          </a:solidFill>
                          <a:latin typeface="Calibri"/>
                        </a:rPr>
                        <a:t>: CH2~5 / </a:t>
                      </a:r>
                      <a:r>
                        <a:rPr sz="1100" b="1" dirty="0" err="1">
                          <a:solidFill>
                            <a:srgbClr val="0A0A0A"/>
                          </a:solidFill>
                          <a:latin typeface="Calibri"/>
                        </a:rPr>
                        <a:t>레고</a:t>
                      </a:r>
                      <a:r>
                        <a:rPr sz="1100" b="1" dirty="0">
                          <a:solidFill>
                            <a:srgbClr val="0A0A0A"/>
                          </a:solidFill>
                          <a:latin typeface="Calibri"/>
                        </a:rPr>
                        <a:t>: = A</a:t>
                      </a:r>
                    </a:p>
                  </a:txBody>
                  <a:tcPr>
                    <a:solidFill>
                      <a:srgbClr val="EAD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0A0A"/>
                          </a:solidFill>
                          <a:latin typeface="Calibri"/>
                        </a:rPr>
                        <a:t>0.8472
(차이없음)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0A0A0A"/>
                          </a:solidFill>
                          <a:latin typeface="Calibri"/>
                        </a:rPr>
                        <a:t>0.8671
(ablation </a:t>
                      </a:r>
                      <a:r>
                        <a:rPr sz="11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우수</a:t>
                      </a:r>
                      <a:r>
                        <a:rPr sz="1100" b="0" dirty="0">
                          <a:solidFill>
                            <a:srgbClr val="0A0A0A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>
                    <a:solidFill>
                      <a:srgbClr val="CCE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0A0A"/>
                          </a:solidFill>
                          <a:latin typeface="Calibri"/>
                        </a:rPr>
                        <a:t>0.9601
(= A, 유의채널없음)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159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A0A0A"/>
                          </a:solidFill>
                          <a:latin typeface="Calibri"/>
                        </a:rPr>
                        <a:t>CH1 단독  Google Trends + 가격래그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0A0A"/>
                          </a:solidFill>
                          <a:latin typeface="Calibri"/>
                        </a:rPr>
                        <a:t>0.8449
(차이없음)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0A0A"/>
                          </a:solidFill>
                          <a:latin typeface="Calibri"/>
                        </a:rPr>
                        <a:t>0.8612
(차이없음)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0A0A"/>
                          </a:solidFill>
                          <a:latin typeface="Calibri"/>
                        </a:rPr>
                        <a:t>0.9634
(ablation 우수)</a:t>
                      </a:r>
                    </a:p>
                  </a:txBody>
                  <a:tcPr>
                    <a:solidFill>
                      <a:srgbClr val="CCE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159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A0A0A"/>
                          </a:solidFill>
                          <a:latin typeface="Calibri"/>
                        </a:rPr>
                        <a:t>CH2 단독  뉴스 보도량 + 가격래그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0A0A"/>
                          </a:solidFill>
                          <a:latin typeface="Calibri"/>
                        </a:rPr>
                        <a:t>0.8517
(차이없음)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0A0A"/>
                          </a:solidFill>
                          <a:latin typeface="Calibri"/>
                        </a:rPr>
                        <a:t>0.8714
(ablation 우수)</a:t>
                      </a:r>
                    </a:p>
                  </a:txBody>
                  <a:tcPr>
                    <a:solidFill>
                      <a:srgbClr val="CCE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0A0A"/>
                          </a:solidFill>
                          <a:latin typeface="Calibri"/>
                        </a:rPr>
                        <a:t>0.9687
(ablation 우수)</a:t>
                      </a:r>
                    </a:p>
                  </a:txBody>
                  <a:tcPr>
                    <a:solidFill>
                      <a:srgbClr val="CCE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159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A0A0A"/>
                          </a:solidFill>
                          <a:latin typeface="Calibri"/>
                        </a:rPr>
                        <a:t>CH3 단독  뉴스 감성 + 가격래그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0A0A"/>
                          </a:solidFill>
                          <a:latin typeface="Calibri"/>
                        </a:rPr>
                        <a:t>0.8517
(차이없음)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0A0A0A"/>
                          </a:solidFill>
                          <a:latin typeface="Calibri"/>
                        </a:rPr>
                        <a:t>0.8708
(ablation </a:t>
                      </a:r>
                      <a:r>
                        <a:rPr sz="11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우수</a:t>
                      </a:r>
                      <a:r>
                        <a:rPr sz="1100" b="0" dirty="0">
                          <a:solidFill>
                            <a:srgbClr val="0A0A0A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>
                    <a:solidFill>
                      <a:srgbClr val="CCE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0A0A"/>
                          </a:solidFill>
                          <a:latin typeface="Calibri"/>
                        </a:rPr>
                        <a:t>0.9650
(ablation 우수)</a:t>
                      </a:r>
                    </a:p>
                  </a:txBody>
                  <a:tcPr>
                    <a:solidFill>
                      <a:srgbClr val="CCE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1590">
                <a:tc>
                  <a:txBody>
                    <a:bodyPr/>
                    <a:lstStyle/>
                    <a:p>
                      <a:pPr algn="l"/>
                      <a:r>
                        <a:rPr sz="1100" b="1" dirty="0">
                          <a:solidFill>
                            <a:srgbClr val="0A0A0A"/>
                          </a:solidFill>
                          <a:latin typeface="Calibri"/>
                        </a:rPr>
                        <a:t>CH4 </a:t>
                      </a:r>
                      <a:r>
                        <a:rPr sz="1100" b="1" dirty="0" err="1">
                          <a:solidFill>
                            <a:srgbClr val="0A0A0A"/>
                          </a:solidFill>
                          <a:latin typeface="Calibri"/>
                        </a:rPr>
                        <a:t>단독</a:t>
                      </a:r>
                      <a:r>
                        <a:rPr sz="1100" b="1" dirty="0">
                          <a:solidFill>
                            <a:srgbClr val="0A0A0A"/>
                          </a:solidFill>
                          <a:latin typeface="Calibri"/>
                        </a:rPr>
                        <a:t>  YT </a:t>
                      </a:r>
                      <a:r>
                        <a:rPr sz="1100" b="1" dirty="0" err="1">
                          <a:solidFill>
                            <a:srgbClr val="0A0A0A"/>
                          </a:solidFill>
                          <a:latin typeface="Calibri"/>
                        </a:rPr>
                        <a:t>조회수</a:t>
                      </a:r>
                      <a:r>
                        <a:rPr sz="1100" b="1" dirty="0">
                          <a:solidFill>
                            <a:srgbClr val="0A0A0A"/>
                          </a:solidFill>
                          <a:latin typeface="Calibri"/>
                        </a:rPr>
                        <a:t> + </a:t>
                      </a:r>
                      <a:r>
                        <a:rPr sz="1100" b="1" dirty="0" err="1">
                          <a:solidFill>
                            <a:srgbClr val="0A0A0A"/>
                          </a:solidFill>
                          <a:latin typeface="Calibri"/>
                        </a:rPr>
                        <a:t>가격래그</a:t>
                      </a:r>
                      <a:endParaRPr sz="1100" b="1" dirty="0">
                        <a:solidFill>
                          <a:srgbClr val="0A0A0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0A0A"/>
                          </a:solidFill>
                          <a:latin typeface="Calibri"/>
                        </a:rPr>
                        <a:t>0.8416
(차이없음)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0A0A0A"/>
                          </a:solidFill>
                          <a:latin typeface="Calibri"/>
                        </a:rPr>
                        <a:t>0.8614
(</a:t>
                      </a:r>
                      <a:r>
                        <a:rPr sz="11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차이없음</a:t>
                      </a:r>
                      <a:r>
                        <a:rPr sz="1100" b="0" dirty="0">
                          <a:solidFill>
                            <a:srgbClr val="0A0A0A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0A0A"/>
                          </a:solidFill>
                          <a:latin typeface="Calibri"/>
                        </a:rPr>
                        <a:t>0.9635
(차이없음)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3159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A0A0A"/>
                          </a:solidFill>
                          <a:latin typeface="Calibri"/>
                        </a:rPr>
                        <a:t>CH5 단독  YT 댓글 감성 + 가격래그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A0A0A"/>
                          </a:solidFill>
                          <a:latin typeface="Calibri"/>
                        </a:rPr>
                        <a:t>0.8353
(A 우수)</a:t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0A0A0A"/>
                          </a:solidFill>
                          <a:latin typeface="Calibri"/>
                        </a:rPr>
                        <a:t>0.8689
(ablation </a:t>
                      </a:r>
                      <a:r>
                        <a:rPr sz="11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우수</a:t>
                      </a:r>
                      <a:r>
                        <a:rPr sz="1100" b="0" dirty="0">
                          <a:solidFill>
                            <a:srgbClr val="0A0A0A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>
                    <a:solidFill>
                      <a:srgbClr val="CCE5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0A0A0A"/>
                          </a:solidFill>
                          <a:latin typeface="Calibri"/>
                        </a:rPr>
                        <a:t>0.9658
(ablation </a:t>
                      </a:r>
                      <a:r>
                        <a:rPr sz="11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우수</a:t>
                      </a:r>
                      <a:r>
                        <a:rPr sz="1100" b="0" dirty="0">
                          <a:solidFill>
                            <a:srgbClr val="0A0A0A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>
                    <a:solidFill>
                      <a:srgbClr val="CCE5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999" name="PageNum"/>
          <p:cNvSpPr txBox="1"/>
          <p:nvPr/>
        </p:nvSpPr>
        <p:spPr>
          <a:xfrm>
            <a:off x="11384280" y="6556248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>
                <a:solidFill>
                  <a:srgbClr val="555555"/>
                </a:solidFill>
                <a:latin typeface="Calibri"/>
              </a:rPr>
              <a:t>11 / 17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3E49BD-3986-FB58-7B25-B04B0E767701}"/>
              </a:ext>
            </a:extLst>
          </p:cNvPr>
          <p:cNvSpPr txBox="1"/>
          <p:nvPr/>
        </p:nvSpPr>
        <p:spPr>
          <a:xfrm>
            <a:off x="711529" y="6076259"/>
            <a:ext cx="10614420" cy="479989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square">
            <a:spAutoFit/>
          </a:bodyPr>
          <a:lstStyle/>
          <a:p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2CC77B-AAE0-86B8-6BD8-878B56B3F20D}"/>
              </a:ext>
            </a:extLst>
          </p:cNvPr>
          <p:cNvSpPr txBox="1"/>
          <p:nvPr/>
        </p:nvSpPr>
        <p:spPr>
          <a:xfrm>
            <a:off x="952237" y="6183655"/>
            <a:ext cx="10190539" cy="276999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r>
              <a:rPr lang="ko-KR" altLang="en-US" sz="1200" dirty="0">
                <a:solidFill>
                  <a:schemeClr val="bg1"/>
                </a:solidFill>
              </a:rPr>
              <a:t>결론: 단독 채널 모델도 </a:t>
            </a:r>
            <a:r>
              <a:rPr lang="ko-KR" altLang="en-US" sz="1200" dirty="0" err="1">
                <a:solidFill>
                  <a:schemeClr val="bg1"/>
                </a:solidFill>
              </a:rPr>
              <a:t>Model</a:t>
            </a:r>
            <a:r>
              <a:rPr lang="ko-KR" altLang="en-US" sz="1200" dirty="0">
                <a:solidFill>
                  <a:schemeClr val="bg1"/>
                </a:solidFill>
              </a:rPr>
              <a:t> </a:t>
            </a:r>
            <a:r>
              <a:rPr lang="ko-KR" altLang="en-US" sz="1200" dirty="0" err="1">
                <a:solidFill>
                  <a:schemeClr val="bg1"/>
                </a:solidFill>
              </a:rPr>
              <a:t>A와</a:t>
            </a:r>
            <a:r>
              <a:rPr lang="ko-KR" altLang="en-US" sz="1200" dirty="0">
                <a:solidFill>
                  <a:schemeClr val="bg1"/>
                </a:solidFill>
              </a:rPr>
              <a:t> 통계적으로 동등하거나 일부 우세 — </a:t>
            </a:r>
            <a:r>
              <a:rPr lang="ko-KR" altLang="en-US" sz="1200" dirty="0" err="1">
                <a:solidFill>
                  <a:schemeClr val="bg1"/>
                </a:solidFill>
              </a:rPr>
              <a:t>소표본</a:t>
            </a:r>
            <a:r>
              <a:rPr lang="ko-KR" altLang="en-US" sz="1200" dirty="0">
                <a:solidFill>
                  <a:schemeClr val="bg1"/>
                </a:solidFill>
              </a:rPr>
              <a:t>(</a:t>
            </a:r>
            <a:r>
              <a:rPr lang="ko-KR" altLang="en-US" sz="1200" dirty="0" err="1">
                <a:solidFill>
                  <a:schemeClr val="bg1"/>
                </a:solidFill>
              </a:rPr>
              <a:t>N</a:t>
            </a:r>
            <a:r>
              <a:rPr lang="ko-KR" altLang="en-US" sz="1200" dirty="0">
                <a:solidFill>
                  <a:schemeClr val="bg1"/>
                </a:solidFill>
              </a:rPr>
              <a:t>=48) 환경에서 다채널 결합이 오히려 노이즈로 작용할 수 있음을 시사</a:t>
            </a:r>
            <a:r>
              <a:rPr lang="ko-KR" altLang="en-US" sz="1200" dirty="0"/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4ADFDF-71C0-39B8-3634-71A4B6B27656}"/>
              </a:ext>
            </a:extLst>
          </p:cNvPr>
          <p:cNvSpPr txBox="1"/>
          <p:nvPr/>
        </p:nvSpPr>
        <p:spPr>
          <a:xfrm>
            <a:off x="0" y="430887"/>
            <a:ext cx="12188952" cy="228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20751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61520" cy="430887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dirty="0">
                <a:solidFill>
                  <a:srgbClr val="FFFFFF"/>
                </a:solidFill>
                <a:latin typeface="Calibri"/>
              </a:rPr>
              <a:t>  왜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모델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B·C가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모델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A와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동등한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결과를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냈는가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?</a:t>
            </a:r>
            <a:r>
              <a:rPr lang="en-US" sz="2200" b="1" dirty="0">
                <a:solidFill>
                  <a:srgbClr val="FFFFFF"/>
                </a:solidFill>
                <a:latin typeface="Calibri"/>
              </a:rPr>
              <a:t> </a:t>
            </a:r>
            <a:endParaRPr sz="22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658368"/>
            <a:ext cx="12188952" cy="228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" y="690372"/>
            <a:ext cx="11887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Granger 선별(B)과 SHAP 선별(C) 모두 전채널(A)과 성능 차이 없음 — 세 가지 메커니즘으로 설명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024128"/>
            <a:ext cx="3794760" cy="2377440"/>
          </a:xfrm>
          <a:prstGeom prst="rect">
            <a:avLst/>
          </a:prstGeom>
          <a:solidFill>
            <a:srgbClr val="F0F4FF"/>
          </a:solidFill>
          <a:ln w="9525">
            <a:solidFill>
              <a:srgbClr val="BBBBBB"/>
            </a:solidFill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38328" y="1097280"/>
            <a:ext cx="35753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1F2D4E"/>
                </a:solidFill>
                <a:latin typeface="Calibri"/>
              </a:rPr>
              <a:t>① </a:t>
            </a:r>
            <a:r>
              <a:rPr sz="1200" b="1" i="0" dirty="0" err="1">
                <a:solidFill>
                  <a:srgbClr val="1F2D4E"/>
                </a:solidFill>
                <a:latin typeface="Calibri"/>
              </a:rPr>
              <a:t>채널</a:t>
            </a:r>
            <a:r>
              <a:rPr sz="1200" b="1" i="0" dirty="0">
                <a:solidFill>
                  <a:srgbClr val="1F2D4E"/>
                </a:solidFill>
                <a:latin typeface="Calibri"/>
              </a:rPr>
              <a:t> 간 </a:t>
            </a:r>
            <a:r>
              <a:rPr sz="1200" b="1" i="0" dirty="0" err="1">
                <a:solidFill>
                  <a:srgbClr val="1F2D4E"/>
                </a:solidFill>
                <a:latin typeface="Calibri"/>
              </a:rPr>
              <a:t>정보</a:t>
            </a:r>
            <a:r>
              <a:rPr sz="1200" b="1" i="0" dirty="0">
                <a:solidFill>
                  <a:srgbClr val="1F2D4E"/>
                </a:solidFill>
                <a:latin typeface="Calibri"/>
              </a:rPr>
              <a:t> </a:t>
            </a:r>
            <a:r>
              <a:rPr sz="1200" b="1" i="0" dirty="0" err="1">
                <a:solidFill>
                  <a:srgbClr val="1F2D4E"/>
                </a:solidFill>
                <a:latin typeface="Calibri"/>
              </a:rPr>
              <a:t>중복</a:t>
            </a:r>
            <a:endParaRPr sz="1200" b="1" i="0" dirty="0">
              <a:solidFill>
                <a:srgbClr val="1F2D4E"/>
              </a:solidFill>
              <a:latin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8328" y="1481328"/>
            <a:ext cx="357530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0A0A0A"/>
                </a:solidFill>
                <a:latin typeface="Calibri"/>
              </a:rPr>
              <a:t>CH1(Google)과 CH4(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유튜브뷰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)는
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모두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 '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소비자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관심도'를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측정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
-&gt; 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높은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상관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 -&gt; 한 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채널로도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
   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충분한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정보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커버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가능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
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XGBoost는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이미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중복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채널에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
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낮은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가중치를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자동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부여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
-&gt; 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채널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추가해도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성능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미변화</a:t>
            </a:r>
            <a:endParaRPr sz="1200" b="0" i="0" dirty="0">
              <a:solidFill>
                <a:srgbClr val="0A0A0A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178808" y="1024128"/>
            <a:ext cx="3794760" cy="2377440"/>
          </a:xfrm>
          <a:prstGeom prst="rect">
            <a:avLst/>
          </a:prstGeom>
          <a:solidFill>
            <a:srgbClr val="F0F4FF"/>
          </a:solidFill>
          <a:ln w="9525">
            <a:solidFill>
              <a:srgbClr val="BBBBBB"/>
            </a:solidFill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88536" y="1097280"/>
            <a:ext cx="357530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1F2D4E"/>
                </a:solidFill>
                <a:latin typeface="Calibri"/>
              </a:rPr>
              <a:t>② Granger ≠ SHAP </a:t>
            </a:r>
            <a:r>
              <a:rPr sz="1200" b="1" i="0" dirty="0" err="1">
                <a:solidFill>
                  <a:srgbClr val="1F2D4E"/>
                </a:solidFill>
                <a:latin typeface="Calibri"/>
              </a:rPr>
              <a:t>순위</a:t>
            </a:r>
            <a:r>
              <a:rPr sz="1200" b="1" i="0" dirty="0">
                <a:solidFill>
                  <a:srgbClr val="1F2D4E"/>
                </a:solidFill>
                <a:latin typeface="Calibri"/>
              </a:rPr>
              <a:t> </a:t>
            </a:r>
            <a:r>
              <a:rPr sz="1200" b="1" i="0" dirty="0" err="1">
                <a:solidFill>
                  <a:srgbClr val="1F2D4E"/>
                </a:solidFill>
                <a:latin typeface="Calibri"/>
              </a:rPr>
              <a:t>불일치</a:t>
            </a:r>
            <a:endParaRPr sz="1200" b="1" i="0" dirty="0">
              <a:solidFill>
                <a:srgbClr val="1F2D4E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288536" y="1384805"/>
            <a:ext cx="357530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0A0A0A"/>
                </a:solidFill>
                <a:latin typeface="Calibri"/>
              </a:rPr>
              <a:t>Granger(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선형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 VAR)와
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XGBoost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 SHAP(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비선형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)은
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다른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것을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측정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
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스니커즈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 CH3:
  Granger F=13.4 (1위)
  SHAP 0.011 (4위)
-&gt; 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선형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선행성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강하지만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
   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비선형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예측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기여는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낮음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
-&gt; 두 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지표는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상호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보완적</a:t>
            </a:r>
            <a:endParaRPr sz="1200" b="0" i="0" dirty="0">
              <a:solidFill>
                <a:srgbClr val="0A0A0A"/>
              </a:solidFill>
              <a:latin typeface="Calibr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129016" y="1024128"/>
            <a:ext cx="3831336" cy="2377440"/>
          </a:xfrm>
          <a:prstGeom prst="rect">
            <a:avLst/>
          </a:prstGeom>
          <a:solidFill>
            <a:srgbClr val="F0F4FF"/>
          </a:solidFill>
          <a:ln w="9525">
            <a:solidFill>
              <a:srgbClr val="BBBBBB"/>
            </a:solidFill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38744" y="1097280"/>
            <a:ext cx="3611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1F2D4E"/>
                </a:solidFill>
                <a:latin typeface="Calibri"/>
              </a:rPr>
              <a:t>③ </a:t>
            </a:r>
            <a:r>
              <a:rPr sz="1200" b="1" i="0" dirty="0" err="1">
                <a:solidFill>
                  <a:srgbClr val="1F2D4E"/>
                </a:solidFill>
                <a:latin typeface="Calibri"/>
              </a:rPr>
              <a:t>소표본</a:t>
            </a:r>
            <a:r>
              <a:rPr sz="1200" b="1" i="0" dirty="0">
                <a:solidFill>
                  <a:srgbClr val="1F2D4E"/>
                </a:solidFill>
                <a:latin typeface="Calibri"/>
              </a:rPr>
              <a:t>(N=48) </a:t>
            </a:r>
            <a:r>
              <a:rPr sz="1200" b="1" i="0" dirty="0" err="1">
                <a:solidFill>
                  <a:srgbClr val="1F2D4E"/>
                </a:solidFill>
                <a:latin typeface="Calibri"/>
              </a:rPr>
              <a:t>효과</a:t>
            </a:r>
            <a:endParaRPr sz="1200" b="1" i="0" dirty="0">
              <a:solidFill>
                <a:srgbClr val="1F2D4E"/>
              </a:solidFill>
              <a:latin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238744" y="1371368"/>
            <a:ext cx="361188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 dirty="0">
                <a:solidFill>
                  <a:srgbClr val="0A0A0A"/>
                </a:solidFill>
                <a:latin typeface="Calibri"/>
              </a:rPr>
              <a:t>N=48개월의 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한계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:
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채널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 간 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미세한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성능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차이를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
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검출할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통계적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검정력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부족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
DM 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검정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p값이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모두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 0.50 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이상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
-&gt; '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차이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없음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' 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결론이지만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
   '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차이가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없다'는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증명도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아님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
N=200+이면 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미세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차이도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
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통계적으로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탐지</a:t>
            </a:r>
            <a:r>
              <a:rPr sz="1200" b="0" i="0" dirty="0">
                <a:solidFill>
                  <a:srgbClr val="0A0A0A"/>
                </a:solidFill>
                <a:latin typeface="Calibri"/>
              </a:rPr>
              <a:t> </a:t>
            </a:r>
            <a:r>
              <a:rPr sz="1200" b="0" i="0" dirty="0" err="1">
                <a:solidFill>
                  <a:srgbClr val="0A0A0A"/>
                </a:solidFill>
                <a:latin typeface="Calibri"/>
              </a:rPr>
              <a:t>가능</a:t>
            </a:r>
            <a:endParaRPr sz="1200" b="0" i="0" dirty="0">
              <a:solidFill>
                <a:srgbClr val="0A0A0A"/>
              </a:solidFill>
              <a:latin typeface="Calibr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28600" y="3547872"/>
            <a:ext cx="11731752" cy="27432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28600" y="3630168"/>
            <a:ext cx="11731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2D4E"/>
                </a:solidFill>
                <a:latin typeface="Calibri"/>
              </a:rPr>
              <a:t>자산별 해석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0575143"/>
              </p:ext>
            </p:extLst>
          </p:nvPr>
        </p:nvGraphicFramePr>
        <p:xfrm>
          <a:off x="315468" y="4017054"/>
          <a:ext cx="11622023" cy="2545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231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731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731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26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6659">
                <a:tc>
                  <a:txBody>
                    <a:bodyPr/>
                    <a:lstStyle/>
                    <a:p>
                      <a:pPr algn="ctr"/>
                      <a:r>
                        <a:rPr sz="13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자산</a:t>
                      </a:r>
                      <a:endParaRPr sz="13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모델</a:t>
                      </a:r>
                      <a:r>
                        <a:rPr sz="1300" b="1" dirty="0">
                          <a:solidFill>
                            <a:srgbClr val="FFFFFF"/>
                          </a:solidFill>
                          <a:latin typeface="Calibri"/>
                        </a:rPr>
                        <a:t> B </a:t>
                      </a:r>
                      <a:r>
                        <a:rPr sz="13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결과</a:t>
                      </a:r>
                      <a:r>
                        <a:rPr sz="1300" b="1" dirty="0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sz="13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해석</a:t>
                      </a:r>
                      <a:r>
                        <a:rPr sz="1300" b="1" dirty="0">
                          <a:solidFill>
                            <a:srgbClr val="FFFFFF"/>
                          </a:solidFill>
                          <a:latin typeface="Calibri"/>
                        </a:rPr>
                        <a:t>
(Granger </a:t>
                      </a:r>
                      <a:r>
                        <a:rPr sz="13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선별</a:t>
                      </a:r>
                      <a:r>
                        <a:rPr sz="1300" b="1" dirty="0">
                          <a:solidFill>
                            <a:srgbClr val="FFFFFF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모델</a:t>
                      </a:r>
                      <a:r>
                        <a:rPr sz="1300" b="1" dirty="0">
                          <a:solidFill>
                            <a:srgbClr val="FFFFFF"/>
                          </a:solidFill>
                          <a:latin typeface="Calibri"/>
                        </a:rPr>
                        <a:t> C </a:t>
                      </a:r>
                      <a:r>
                        <a:rPr sz="13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결과</a:t>
                      </a:r>
                      <a:r>
                        <a:rPr sz="1300" b="1" dirty="0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sz="13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해석</a:t>
                      </a:r>
                      <a:r>
                        <a:rPr sz="1300" b="1" dirty="0">
                          <a:solidFill>
                            <a:srgbClr val="FFFFFF"/>
                          </a:solidFill>
                          <a:latin typeface="Calibri"/>
                        </a:rPr>
                        <a:t>
(SHAP </a:t>
                      </a:r>
                      <a:r>
                        <a:rPr sz="13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선별</a:t>
                      </a:r>
                      <a:r>
                        <a:rPr sz="1300" b="1" dirty="0">
                          <a:solidFill>
                            <a:srgbClr val="FFFFFF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핵심</a:t>
                      </a:r>
                      <a:r>
                        <a:rPr sz="1300" b="1" dirty="0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sz="13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인사이트</a:t>
                      </a:r>
                      <a:endParaRPr sz="13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1F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6082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스니커즈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CH3만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투입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-&gt; AUC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소폭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하락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(-0.005)
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나머지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4채널도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잔여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정보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보유</a:t>
                      </a:r>
                      <a:endParaRPr sz="13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CH1+CH5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투입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-&gt; AUC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거의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동일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(-0.001)
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SHAP이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실제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기여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채널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더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정확히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파악</a:t>
                      </a:r>
                      <a:endParaRPr sz="13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Granger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선행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채널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(CH3)과
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예측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기여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채널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(CH1·CH5)이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다름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
-&gt;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선행성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!=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예측력</a:t>
                      </a:r>
                      <a:endParaRPr sz="13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6082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카드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CH1만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투입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-&gt; AUC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소폭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하락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(-0.004)
Granger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유의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채널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1개로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거의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유지</a:t>
                      </a:r>
                      <a:endParaRPr sz="13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CH4+CH1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투입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-&gt; AUC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오히려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소폭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상승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
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SHAP이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CH4의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잠재력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발견</a:t>
                      </a:r>
                      <a:endParaRPr sz="13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Granger·SHAP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모두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CH1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중요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
-&gt;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가장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일관성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있는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자산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
두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방법론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일치</a:t>
                      </a:r>
                      <a:endParaRPr sz="13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6082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레고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Granger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유의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채널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없음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
-&gt; B = A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동일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(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비교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불가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)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CH5+CH4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투입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-&gt; AUC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소폭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상승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(+0.003)
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선행성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없어도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예측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기여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채널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존재</a:t>
                      </a:r>
                      <a:endParaRPr sz="13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선행성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(Granger) =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없음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
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예측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기여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(SHAP) =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존재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
-&gt;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동시적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연관성만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있음</a:t>
                      </a:r>
                      <a:endParaRPr sz="13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9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11384280" y="6556248"/>
            <a:ext cx="7772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dirty="0">
                <a:solidFill>
                  <a:srgbClr val="555555"/>
                </a:solidFill>
                <a:latin typeface="Calibri"/>
              </a:rPr>
              <a:t>12 / 17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5C5F943-4776-AA36-06E2-7C9C7C59F786}"/>
              </a:ext>
            </a:extLst>
          </p:cNvPr>
          <p:cNvSpPr txBox="1"/>
          <p:nvPr/>
        </p:nvSpPr>
        <p:spPr>
          <a:xfrm>
            <a:off x="0" y="430887"/>
            <a:ext cx="12188952" cy="228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3322E-25B3-399C-217A-2A4ECCF7A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28">
            <a:extLst>
              <a:ext uri="{FF2B5EF4-FFF2-40B4-BE49-F238E27FC236}">
                <a16:creationId xmlns:a16="http://schemas.microsoft.com/office/drawing/2014/main" id="{025B3FAA-3D66-9DAA-74CE-09FC74CF1933}"/>
              </a:ext>
            </a:extLst>
          </p:cNvPr>
          <p:cNvSpPr txBox="1"/>
          <p:nvPr/>
        </p:nvSpPr>
        <p:spPr>
          <a:xfrm>
            <a:off x="0" y="0"/>
            <a:ext cx="12188952" cy="430887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dirty="0">
                <a:solidFill>
                  <a:srgbClr val="FFFFFF"/>
                </a:solidFill>
                <a:latin typeface="Calibri"/>
              </a:rPr>
              <a:t>  RQ3: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선별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채널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모델이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전채널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모델과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동등한가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? — DM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검정</a:t>
            </a:r>
            <a:endParaRPr sz="22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C37A9FD-6E2B-D535-7E6D-B32891DFCDBD}"/>
              </a:ext>
            </a:extLst>
          </p:cNvPr>
          <p:cNvSpPr txBox="1"/>
          <p:nvPr/>
        </p:nvSpPr>
        <p:spPr>
          <a:xfrm>
            <a:off x="205740" y="536745"/>
            <a:ext cx="1188720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l"/>
            <a:r>
              <a:rPr sz="900" b="0" i="1" dirty="0">
                <a:solidFill>
                  <a:srgbClr val="555555"/>
                </a:solidFill>
                <a:latin typeface="Calibri"/>
              </a:rPr>
              <a:t>Diebold-Mariano </a:t>
            </a:r>
            <a:r>
              <a:rPr sz="900" b="0" i="1" dirty="0" err="1">
                <a:solidFill>
                  <a:srgbClr val="555555"/>
                </a:solidFill>
                <a:latin typeface="Calibri"/>
              </a:rPr>
              <a:t>검정으로</a:t>
            </a:r>
            <a:r>
              <a:rPr sz="900" b="0" i="1" dirty="0">
                <a:solidFill>
                  <a:srgbClr val="555555"/>
                </a:solidFill>
                <a:latin typeface="Calibri"/>
              </a:rPr>
              <a:t> 'Model A(</a:t>
            </a:r>
            <a:r>
              <a:rPr sz="900" b="0" i="1" dirty="0" err="1">
                <a:solidFill>
                  <a:srgbClr val="555555"/>
                </a:solidFill>
                <a:latin typeface="Calibri"/>
              </a:rPr>
              <a:t>전채널</a:t>
            </a:r>
            <a:r>
              <a:rPr sz="900" b="0" i="1" dirty="0">
                <a:solidFill>
                  <a:srgbClr val="555555"/>
                </a:solidFill>
                <a:latin typeface="Calibri"/>
              </a:rPr>
              <a:t>) = Model C(SHAP </a:t>
            </a:r>
            <a:r>
              <a:rPr sz="900" b="0" i="1" dirty="0" err="1">
                <a:solidFill>
                  <a:srgbClr val="555555"/>
                </a:solidFill>
                <a:latin typeface="Calibri"/>
              </a:rPr>
              <a:t>선별</a:t>
            </a:r>
            <a:r>
              <a:rPr sz="900" b="0" i="1" dirty="0">
                <a:solidFill>
                  <a:srgbClr val="555555"/>
                </a:solidFill>
                <a:latin typeface="Calibri"/>
              </a:rPr>
              <a:t> 2채널)' </a:t>
            </a:r>
            <a:r>
              <a:rPr sz="900" b="0" i="1" dirty="0" err="1">
                <a:solidFill>
                  <a:srgbClr val="555555"/>
                </a:solidFill>
                <a:latin typeface="Calibri"/>
              </a:rPr>
              <a:t>가설을</a:t>
            </a:r>
            <a:r>
              <a:rPr sz="9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555555"/>
                </a:solidFill>
                <a:latin typeface="Calibri"/>
              </a:rPr>
              <a:t>통계적으로</a:t>
            </a:r>
            <a:r>
              <a:rPr sz="900" b="0" i="1" dirty="0">
                <a:solidFill>
                  <a:srgbClr val="555555"/>
                </a:solidFill>
                <a:latin typeface="Calibri"/>
              </a:rPr>
              <a:t> </a:t>
            </a:r>
            <a:r>
              <a:rPr sz="900" b="0" i="1" dirty="0" err="1">
                <a:solidFill>
                  <a:srgbClr val="555555"/>
                </a:solidFill>
                <a:latin typeface="Calibri"/>
              </a:rPr>
              <a:t>검증</a:t>
            </a:r>
            <a:endParaRPr sz="900" b="0" i="1" dirty="0">
              <a:solidFill>
                <a:srgbClr val="555555"/>
              </a:solidFill>
              <a:latin typeface="Calibri"/>
            </a:endParaRPr>
          </a:p>
        </p:txBody>
      </p:sp>
      <p:graphicFrame>
        <p:nvGraphicFramePr>
          <p:cNvPr id="32" name="Table 16">
            <a:extLst>
              <a:ext uri="{FF2B5EF4-FFF2-40B4-BE49-F238E27FC236}">
                <a16:creationId xmlns:a16="http://schemas.microsoft.com/office/drawing/2014/main" id="{75F9F6E1-9C17-6C7A-8294-1D56768C40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3219201"/>
              </p:ext>
            </p:extLst>
          </p:nvPr>
        </p:nvGraphicFramePr>
        <p:xfrm>
          <a:off x="4526280" y="4734479"/>
          <a:ext cx="7324217" cy="14081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09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69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69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69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33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6249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666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52044">
                <a:tc>
                  <a:txBody>
                    <a:bodyPr/>
                    <a:lstStyle/>
                    <a:p>
                      <a:pPr algn="ctr"/>
                      <a:r>
                        <a:rPr sz="10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자산</a:t>
                      </a:r>
                      <a:endParaRPr sz="10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Model A AUC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Model C AUC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선별 채널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DM 통계량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p값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판정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A0A0A"/>
                          </a:solidFill>
                          <a:latin typeface="Calibri"/>
                        </a:rPr>
                        <a:t>스니커즈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A0A0A"/>
                          </a:solidFill>
                          <a:latin typeface="Calibri"/>
                        </a:rPr>
                        <a:t>0.8413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A0A0A"/>
                          </a:solidFill>
                          <a:latin typeface="Calibri"/>
                        </a:rPr>
                        <a:t>0.8401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A0A0A"/>
                          </a:solidFill>
                          <a:latin typeface="Calibri"/>
                        </a:rPr>
                        <a:t>CH1+CH5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A0A0A"/>
                          </a:solidFill>
                          <a:latin typeface="Calibri"/>
                        </a:rPr>
                        <a:t>-0.417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A0A0A"/>
                          </a:solidFill>
                          <a:latin typeface="Calibri"/>
                        </a:rPr>
                        <a:t>0.678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A0A0A"/>
                          </a:solidFill>
                          <a:latin typeface="Calibri"/>
                        </a:rPr>
                        <a:t>H₀ 기각 실패 → 동등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A0A0A"/>
                          </a:solidFill>
                          <a:latin typeface="Calibri"/>
                        </a:rPr>
                        <a:t>카드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0A0A0A"/>
                          </a:solidFill>
                          <a:latin typeface="Calibri"/>
                        </a:rPr>
                        <a:t>0.8587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A0A0A"/>
                          </a:solidFill>
                          <a:latin typeface="Calibri"/>
                        </a:rPr>
                        <a:t>0.8590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A0A0A"/>
                          </a:solidFill>
                          <a:latin typeface="Calibri"/>
                        </a:rPr>
                        <a:t>CH4+CH1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A0A0A"/>
                          </a:solidFill>
                          <a:latin typeface="Calibri"/>
                        </a:rPr>
                        <a:t>-0.670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A0A0A"/>
                          </a:solidFill>
                          <a:latin typeface="Calibri"/>
                        </a:rPr>
                        <a:t>0.504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A0A0A"/>
                          </a:solidFill>
                          <a:latin typeface="Calibri"/>
                        </a:rPr>
                        <a:t>H₀ 기각 실패 → 동등</a:t>
                      </a:r>
                    </a:p>
                  </a:txBody>
                  <a:tcPr>
                    <a:solidFill>
                      <a:srgbClr val="D4ED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044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A0A0A"/>
                          </a:solidFill>
                          <a:latin typeface="Calibri"/>
                        </a:rPr>
                        <a:t>레고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A0A0A"/>
                          </a:solidFill>
                          <a:latin typeface="Calibri"/>
                        </a:rPr>
                        <a:t>0.9601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A0A0A"/>
                          </a:solidFill>
                          <a:latin typeface="Calibri"/>
                        </a:rPr>
                        <a:t>0.9626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A0A0A"/>
                          </a:solidFill>
                          <a:latin typeface="Calibri"/>
                        </a:rPr>
                        <a:t>CH5+CH4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A0A0A"/>
                          </a:solidFill>
                          <a:latin typeface="Calibri"/>
                        </a:rPr>
                        <a:t>+0.460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A0A0A"/>
                          </a:solidFill>
                          <a:latin typeface="Calibri"/>
                        </a:rPr>
                        <a:t>0.646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0A0A0A"/>
                          </a:solidFill>
                          <a:latin typeface="Calibri"/>
                        </a:rPr>
                        <a:t>H₀ </a:t>
                      </a:r>
                      <a:r>
                        <a:rPr sz="1000" b="1" dirty="0" err="1">
                          <a:solidFill>
                            <a:srgbClr val="0A0A0A"/>
                          </a:solidFill>
                          <a:latin typeface="Calibri"/>
                        </a:rPr>
                        <a:t>기각</a:t>
                      </a:r>
                      <a:r>
                        <a:rPr sz="1000" b="1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000" b="1" dirty="0" err="1">
                          <a:solidFill>
                            <a:srgbClr val="0A0A0A"/>
                          </a:solidFill>
                          <a:latin typeface="Calibri"/>
                        </a:rPr>
                        <a:t>실패</a:t>
                      </a:r>
                      <a:r>
                        <a:rPr sz="1000" b="1" dirty="0">
                          <a:solidFill>
                            <a:srgbClr val="0A0A0A"/>
                          </a:solidFill>
                          <a:latin typeface="Calibri"/>
                        </a:rPr>
                        <a:t> → </a:t>
                      </a:r>
                      <a:r>
                        <a:rPr sz="1000" b="1" dirty="0" err="1">
                          <a:solidFill>
                            <a:srgbClr val="0A0A0A"/>
                          </a:solidFill>
                          <a:latin typeface="Calibri"/>
                        </a:rPr>
                        <a:t>동등</a:t>
                      </a:r>
                      <a:endParaRPr sz="1000" b="1" dirty="0">
                        <a:solidFill>
                          <a:srgbClr val="0A0A0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D4ED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4" name="TextBox 33">
            <a:extLst>
              <a:ext uri="{FF2B5EF4-FFF2-40B4-BE49-F238E27FC236}">
                <a16:creationId xmlns:a16="http://schemas.microsoft.com/office/drawing/2014/main" id="{E56A888E-2F76-182E-74A3-9B8961DF958E}"/>
              </a:ext>
            </a:extLst>
          </p:cNvPr>
          <p:cNvSpPr txBox="1"/>
          <p:nvPr/>
        </p:nvSpPr>
        <p:spPr>
          <a:xfrm>
            <a:off x="274320" y="6510528"/>
            <a:ext cx="11750040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1" i="0" dirty="0" err="1">
                <a:solidFill>
                  <a:srgbClr val="FFFFFF"/>
                </a:solidFill>
                <a:latin typeface="Calibri"/>
              </a:rPr>
              <a:t>결론</a:t>
            </a:r>
            <a:r>
              <a:rPr sz="1000" b="1" i="0" dirty="0">
                <a:solidFill>
                  <a:srgbClr val="FFFFFF"/>
                </a:solidFill>
                <a:latin typeface="Calibri"/>
              </a:rPr>
              <a:t> RQ3  |  3자산 </a:t>
            </a:r>
            <a:r>
              <a:rPr sz="1000" b="1" i="0" dirty="0" err="1">
                <a:solidFill>
                  <a:srgbClr val="FFFFFF"/>
                </a:solidFill>
                <a:latin typeface="Calibri"/>
              </a:rPr>
              <a:t>모두</a:t>
            </a:r>
            <a:r>
              <a:rPr sz="1000" b="1" i="0" dirty="0">
                <a:solidFill>
                  <a:srgbClr val="FFFFFF"/>
                </a:solidFill>
                <a:latin typeface="Calibri"/>
              </a:rPr>
              <a:t> DM p &gt; 0.50 → H₀ </a:t>
            </a:r>
            <a:r>
              <a:rPr sz="1000" b="1" i="0" dirty="0" err="1">
                <a:solidFill>
                  <a:srgbClr val="FFFFFF"/>
                </a:solidFill>
                <a:latin typeface="Calibri"/>
              </a:rPr>
              <a:t>기각</a:t>
            </a:r>
            <a:r>
              <a:rPr sz="10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000" b="1" i="0" dirty="0" err="1">
                <a:solidFill>
                  <a:srgbClr val="FFFFFF"/>
                </a:solidFill>
                <a:latin typeface="Calibri"/>
              </a:rPr>
              <a:t>실패</a:t>
            </a:r>
            <a:r>
              <a:rPr sz="1000" b="1" i="0" dirty="0">
                <a:solidFill>
                  <a:srgbClr val="FFFFFF"/>
                </a:solidFill>
                <a:latin typeface="Calibri"/>
              </a:rPr>
              <a:t> → SHAP </a:t>
            </a:r>
            <a:r>
              <a:rPr sz="1000" b="1" i="0" dirty="0" err="1">
                <a:solidFill>
                  <a:srgbClr val="FFFFFF"/>
                </a:solidFill>
                <a:latin typeface="Calibri"/>
              </a:rPr>
              <a:t>상위</a:t>
            </a:r>
            <a:r>
              <a:rPr sz="1000" b="1" i="0" dirty="0">
                <a:solidFill>
                  <a:srgbClr val="FFFFFF"/>
                </a:solidFill>
                <a:latin typeface="Calibri"/>
              </a:rPr>
              <a:t> 2채널(Model C)</a:t>
            </a:r>
            <a:r>
              <a:rPr sz="1000" b="1" i="0" dirty="0" err="1">
                <a:solidFill>
                  <a:srgbClr val="FFFFFF"/>
                </a:solidFill>
                <a:latin typeface="Calibri"/>
              </a:rPr>
              <a:t>로도</a:t>
            </a:r>
            <a:r>
              <a:rPr sz="10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000" b="1" i="0" dirty="0" err="1">
                <a:solidFill>
                  <a:srgbClr val="FFFFFF"/>
                </a:solidFill>
                <a:latin typeface="Calibri"/>
              </a:rPr>
              <a:t>전채널</a:t>
            </a:r>
            <a:r>
              <a:rPr sz="1000" b="1" i="0" dirty="0">
                <a:solidFill>
                  <a:srgbClr val="FFFFFF"/>
                </a:solidFill>
                <a:latin typeface="Calibri"/>
              </a:rPr>
              <a:t>(A)과 </a:t>
            </a:r>
            <a:r>
              <a:rPr sz="1000" b="1" i="0" dirty="0" err="1">
                <a:solidFill>
                  <a:srgbClr val="FFFFFF"/>
                </a:solidFill>
                <a:latin typeface="Calibri"/>
              </a:rPr>
              <a:t>통계적으로</a:t>
            </a:r>
            <a:r>
              <a:rPr sz="10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000" b="1" i="0" dirty="0" err="1">
                <a:solidFill>
                  <a:srgbClr val="FFFFFF"/>
                </a:solidFill>
                <a:latin typeface="Calibri"/>
              </a:rPr>
              <a:t>동등한</a:t>
            </a:r>
            <a:r>
              <a:rPr sz="10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000" b="1" i="0" dirty="0" err="1">
                <a:solidFill>
                  <a:srgbClr val="FFFFFF"/>
                </a:solidFill>
                <a:latin typeface="Calibri"/>
              </a:rPr>
              <a:t>예측</a:t>
            </a:r>
            <a:r>
              <a:rPr sz="10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000" b="1" i="0" dirty="0" err="1">
                <a:solidFill>
                  <a:srgbClr val="FFFFFF"/>
                </a:solidFill>
                <a:latin typeface="Calibri"/>
              </a:rPr>
              <a:t>성능</a:t>
            </a:r>
            <a:r>
              <a:rPr sz="1000" b="1" i="0" dirty="0">
                <a:solidFill>
                  <a:srgbClr val="FFFFFF"/>
                </a:solidFill>
                <a:latin typeface="Calibri"/>
              </a:rPr>
              <a:t> </a:t>
            </a:r>
            <a:r>
              <a:rPr sz="1000" b="1" i="0" dirty="0" err="1">
                <a:solidFill>
                  <a:srgbClr val="FFFFFF"/>
                </a:solidFill>
                <a:latin typeface="Calibri"/>
              </a:rPr>
              <a:t>달성</a:t>
            </a:r>
            <a:r>
              <a:rPr sz="1000" b="1" i="0" dirty="0">
                <a:solidFill>
                  <a:srgbClr val="FFFFFF"/>
                </a:solidFill>
                <a:latin typeface="Calibri"/>
              </a:rPr>
              <a:t>  →  </a:t>
            </a:r>
            <a:r>
              <a:rPr sz="1000" b="1" i="0" dirty="0" err="1">
                <a:solidFill>
                  <a:srgbClr val="FFFFFF"/>
                </a:solidFill>
                <a:latin typeface="Calibri"/>
              </a:rPr>
              <a:t>간결성</a:t>
            </a:r>
            <a:r>
              <a:rPr sz="1000" b="1" i="0" dirty="0">
                <a:solidFill>
                  <a:srgbClr val="FFFFFF"/>
                </a:solidFill>
                <a:latin typeface="Calibri"/>
              </a:rPr>
              <a:t>(Parsimony) </a:t>
            </a:r>
            <a:r>
              <a:rPr sz="1000" b="1" i="0" dirty="0" err="1">
                <a:solidFill>
                  <a:srgbClr val="FFFFFF"/>
                </a:solidFill>
                <a:latin typeface="Calibri"/>
              </a:rPr>
              <a:t>확인</a:t>
            </a:r>
            <a:endParaRPr sz="1000" b="1" i="0" dirty="0">
              <a:solidFill>
                <a:srgbClr val="FFFFFF"/>
              </a:solidFill>
              <a:latin typeface="Calibri"/>
            </a:endParaRPr>
          </a:p>
        </p:txBody>
      </p:sp>
      <p:pic>
        <p:nvPicPr>
          <p:cNvPr id="37" name="Picture 15" descr="image.png">
            <a:extLst>
              <a:ext uri="{FF2B5EF4-FFF2-40B4-BE49-F238E27FC236}">
                <a16:creationId xmlns:a16="http://schemas.microsoft.com/office/drawing/2014/main" id="{2F027425-9DBB-1B92-50A9-F9D9784ECD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960120"/>
            <a:ext cx="6387252" cy="3154680"/>
          </a:xfrm>
          <a:prstGeom prst="rect">
            <a:avLst/>
          </a:prstGeom>
        </p:spPr>
      </p:pic>
      <p:sp>
        <p:nvSpPr>
          <p:cNvPr id="999" name="PageNum"/>
          <p:cNvSpPr txBox="1"/>
          <p:nvPr/>
        </p:nvSpPr>
        <p:spPr>
          <a:xfrm>
            <a:off x="11384280" y="6556248"/>
            <a:ext cx="777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dirty="0">
                <a:solidFill>
                  <a:srgbClr val="555555"/>
                </a:solidFill>
                <a:latin typeface="Calibri"/>
              </a:rPr>
              <a:t>13 / 17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E622B86-AEB1-1AC4-8F9F-D238FD17244E}"/>
              </a:ext>
            </a:extLst>
          </p:cNvPr>
          <p:cNvSpPr txBox="1"/>
          <p:nvPr/>
        </p:nvSpPr>
        <p:spPr>
          <a:xfrm>
            <a:off x="0" y="430887"/>
            <a:ext cx="12188952" cy="228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000" name="Rounded Rectangle 999"/>
          <p:cNvSpPr/>
          <p:nvPr/>
        </p:nvSpPr>
        <p:spPr>
          <a:xfrm>
            <a:off x="274320" y="1051560"/>
            <a:ext cx="4023360" cy="3520440"/>
          </a:xfrm>
          <a:prstGeom prst="roundRect">
            <a:avLst/>
          </a:prstGeom>
          <a:solidFill>
            <a:srgbClr val="EAF1F8"/>
          </a:solidFill>
          <a:ln w="12700">
            <a:solidFill>
              <a:srgbClr val="2E6D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27000" rIns="63500" tIns="101600" bIns="38100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2E6DA4"/>
                </a:solidFill>
                <a:latin typeface="Calibri"/>
              </a:rPr>
              <a:t>왜 DM 검정인가?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0A0A0A"/>
                </a:solidFill>
                <a:latin typeface="Calibri"/>
              </a:rPr>
              <a:t>AUC 숫자(0.841 vs 0.840)만으론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0A0A0A"/>
                </a:solidFill>
                <a:latin typeface="Calibri"/>
              </a:rPr>
              <a:t>차이가 </a:t>
            </a:r>
            <a:r>
              <a:rPr sz="1200" b="1">
                <a:solidFill>
                  <a:srgbClr val="B23B3B"/>
                </a:solidFill>
                <a:latin typeface="Calibri"/>
              </a:rPr>
              <a:t>우연인지 실제인지</a:t>
            </a:r>
            <a:r>
              <a:rPr sz="1200" b="0">
                <a:solidFill>
                  <a:srgbClr val="0A0A0A"/>
                </a:solidFill>
                <a:latin typeface="Calibri"/>
              </a:rPr>
              <a:t> 알 수 없다.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2E6DA4"/>
                </a:solidFill>
                <a:latin typeface="Calibri"/>
              </a:rPr>
              <a:t>DM 검정이 하는 일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0A0A0A"/>
                </a:solidFill>
                <a:latin typeface="Calibri"/>
              </a:rPr>
              <a:t>두 모델이 매달 낸 예측오차를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0A0A0A"/>
                </a:solidFill>
                <a:latin typeface="Calibri"/>
              </a:rPr>
              <a:t>시계열로 통째 비교</a:t>
            </a:r>
            <a:r>
              <a:rPr sz="1200" b="0">
                <a:solidFill>
                  <a:srgbClr val="0A0A0A"/>
                </a:solidFill>
                <a:latin typeface="Calibri"/>
              </a:rPr>
              <a:t> → 그 차이가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0A0A0A"/>
                </a:solidFill>
                <a:latin typeface="Calibri"/>
              </a:rPr>
              <a:t>우연 범위인지 통계로 판정.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277A4A"/>
                </a:solidFill>
                <a:latin typeface="Calibri"/>
              </a:rPr>
              <a:t>→ '채널 줄여도 성능 유지'를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77A4A"/>
                </a:solidFill>
                <a:latin typeface="Calibri"/>
              </a:rPr>
              <a:t>   통계적으로 입증 (간결성)</a:t>
            </a:r>
          </a:p>
        </p:txBody>
      </p:sp>
      <p:sp>
        <p:nvSpPr>
          <p:cNvPr id="1001" name="TextBox 1000"/>
          <p:cNvSpPr txBox="1"/>
          <p:nvPr/>
        </p:nvSpPr>
        <p:spPr>
          <a:xfrm>
            <a:off x="4480560" y="4224528"/>
            <a:ext cx="6387252" cy="457200"/>
          </a:xfrm>
          <a:prstGeom prst="rect">
            <a:avLst/>
          </a:prstGeom>
          <a:noFill/>
        </p:spPr>
        <p:txBody>
          <a:bodyPr wrap="square" anchor="t" lIns="63500" rIns="63500" tIns="38100" bIns="381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2E6DA4"/>
                </a:solidFill>
                <a:latin typeface="Calibri"/>
              </a:rPr>
              <a:t>그래프 해석  </a:t>
            </a:r>
            <a:r>
              <a:rPr sz="900" b="0">
                <a:solidFill>
                  <a:srgbClr val="555555"/>
                </a:solidFill>
                <a:latin typeface="Calibri"/>
              </a:rPr>
              <a:t>Model A vs C의 월별 예측오차 시계열. 두 곡선이 겹쳐 차이가 통계적으로 유의하지 않음(동등).</a:t>
            </a:r>
          </a:p>
        </p:txBody>
      </p:sp>
    </p:spTree>
    <p:extLst>
      <p:ext uri="{BB962C8B-B14F-4D97-AF65-F5344CB8AC3E}">
        <p14:creationId xmlns:p14="http://schemas.microsoft.com/office/powerpoint/2010/main" val="37882913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F2A64-F9C2-89D5-42A5-C799F3C21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5BECE6E-284B-15D2-488D-1B9B6F1FF558}"/>
              </a:ext>
            </a:extLst>
          </p:cNvPr>
          <p:cNvSpPr txBox="1"/>
          <p:nvPr/>
        </p:nvSpPr>
        <p:spPr>
          <a:xfrm>
            <a:off x="182880" y="0"/>
            <a:ext cx="80000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목차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3D89DAF-A20A-8FEE-4A46-00BAE44EC173}"/>
              </a:ext>
            </a:extLst>
          </p:cNvPr>
          <p:cNvSpPr/>
          <p:nvPr/>
        </p:nvSpPr>
        <p:spPr>
          <a:xfrm>
            <a:off x="0" y="-217714"/>
            <a:ext cx="12188825" cy="7162799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CD29C2-04E9-E632-ED28-0BDABF9196AB}"/>
              </a:ext>
            </a:extLst>
          </p:cNvPr>
          <p:cNvSpPr txBox="1"/>
          <p:nvPr/>
        </p:nvSpPr>
        <p:spPr>
          <a:xfrm>
            <a:off x="2140856" y="2563466"/>
            <a:ext cx="9731830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1F2D4E"/>
                </a:solidFill>
              </a:rPr>
              <a:t>연구 배경과 질문</a:t>
            </a:r>
          </a:p>
          <a:p>
            <a:r>
              <a:rPr lang="en-US" altLang="ko-KR" sz="5000" dirty="0">
                <a:solidFill>
                  <a:schemeClr val="bg1"/>
                </a:solidFill>
              </a:rPr>
              <a:t>05 </a:t>
            </a:r>
            <a:r>
              <a:rPr lang="ko-KR" altLang="en-US" sz="3200" b="1" dirty="0">
                <a:solidFill>
                  <a:schemeClr val="bg1"/>
                </a:solidFill>
              </a:rPr>
              <a:t>충격반응함수 </a:t>
            </a:r>
            <a:r>
              <a:rPr lang="en-US" altLang="ko-KR" sz="3200" b="1" dirty="0">
                <a:solidFill>
                  <a:schemeClr val="bg1"/>
                </a:solidFill>
              </a:rPr>
              <a:t>(IRF) </a:t>
            </a:r>
            <a:r>
              <a:rPr lang="ko-KR" altLang="en-US" sz="3200" b="1" dirty="0">
                <a:solidFill>
                  <a:schemeClr val="bg1"/>
                </a:solidFill>
              </a:rPr>
              <a:t>분석과 연구 </a:t>
            </a:r>
            <a:r>
              <a:rPr lang="ko-KR" altLang="en-US" sz="3200" b="1" dirty="0" err="1">
                <a:solidFill>
                  <a:schemeClr val="bg1"/>
                </a:solidFill>
              </a:rPr>
              <a:t>제한점</a:t>
            </a:r>
            <a:endParaRPr lang="ko-KR" altLang="en-US" sz="3200" b="1" dirty="0">
              <a:solidFill>
                <a:schemeClr val="bg1"/>
              </a:solidFill>
            </a:endParaRPr>
          </a:p>
          <a:p>
            <a:endParaRPr lang="ko-KR" altLang="en-US" sz="3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49464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88952" cy="430887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dirty="0">
                <a:solidFill>
                  <a:srgbClr val="FFFFFF"/>
                </a:solidFill>
                <a:latin typeface="Calibri"/>
              </a:rPr>
              <a:t> 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추가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강건성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검증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: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충격반응함수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(IRF)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분석</a:t>
            </a:r>
            <a:r>
              <a:rPr lang="en-US" sz="2200" b="1" dirty="0">
                <a:solidFill>
                  <a:srgbClr val="FFFFFF"/>
                </a:solidFill>
                <a:latin typeface="Calibri"/>
              </a:rPr>
              <a:t> </a:t>
            </a:r>
            <a:endParaRPr sz="22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82880" y="690372"/>
            <a:ext cx="1070283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Granger 검정이 '유의한지 여부'만 알려주는 한계를 보완 — 채널 충격의 방향·크기·지속 기간까지 추적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" y="1024128"/>
            <a:ext cx="3657600" cy="2423160"/>
          </a:xfrm>
          <a:prstGeom prst="rect">
            <a:avLst/>
          </a:prstGeom>
          <a:solidFill>
            <a:srgbClr val="F0F4FF"/>
          </a:solidFill>
          <a:ln w="9525">
            <a:solidFill>
              <a:srgbClr val="BBBBBB"/>
            </a:solidFill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38328" y="1097280"/>
            <a:ext cx="34381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1F2D4E"/>
                </a:solidFill>
                <a:latin typeface="Calibri"/>
              </a:rPr>
              <a:t>왜 </a:t>
            </a:r>
            <a:r>
              <a:rPr sz="1200" b="1" i="0" dirty="0" err="1">
                <a:solidFill>
                  <a:srgbClr val="1F2D4E"/>
                </a:solidFill>
                <a:latin typeface="Calibri"/>
              </a:rPr>
              <a:t>IRF를</a:t>
            </a:r>
            <a:r>
              <a:rPr sz="1200" b="1" i="0" dirty="0">
                <a:solidFill>
                  <a:srgbClr val="1F2D4E"/>
                </a:solidFill>
                <a:latin typeface="Calibri"/>
              </a:rPr>
              <a:t> </a:t>
            </a:r>
            <a:r>
              <a:rPr sz="1200" b="1" i="0" dirty="0" err="1">
                <a:solidFill>
                  <a:srgbClr val="1F2D4E"/>
                </a:solidFill>
                <a:latin typeface="Calibri"/>
              </a:rPr>
              <a:t>추가했나</a:t>
            </a:r>
            <a:r>
              <a:rPr sz="1200" b="1" i="0" dirty="0">
                <a:solidFill>
                  <a:srgbClr val="1F2D4E"/>
                </a:solidFill>
                <a:latin typeface="Calibri"/>
              </a:rPr>
              <a:t>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" y="1481328"/>
            <a:ext cx="3438144" cy="1692771"/>
          </a:xfrm>
          <a:prstGeom prst="rect">
            <a:avLst/>
          </a:prstGeom>
          <a:noFill/>
        </p:spPr>
        <p:txBody>
          <a:bodyPr wrap="square" anchor="t" lIns="63500" rIns="63500" tIns="38100" bIns="381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0A0A0A"/>
                </a:solidFill>
                <a:latin typeface="Calibri"/>
              </a:rPr>
              <a:t>Granger는 </a:t>
            </a:r>
            <a:r>
              <a:rPr sz="1300" b="1">
                <a:solidFill>
                  <a:srgbClr val="B23B3B"/>
                </a:solidFill>
                <a:latin typeface="Calibri"/>
              </a:rPr>
              <a:t>'선행 유무'만</a:t>
            </a:r>
            <a:r>
              <a:rPr sz="1300" b="0">
                <a:solidFill>
                  <a:srgbClr val="0A0A0A"/>
                </a:solidFill>
                <a:latin typeface="Calibri"/>
              </a:rPr>
              <a:t> 판단.</a:t>
            </a:r>
            <a:endParaRPr sz="1300" b="0" i="0" dirty="0">
              <a:solidFill>
                <a:srgbClr val="0A0A0A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0A0A0A"/>
                </a:solidFill>
                <a:latin typeface="Calibri"/>
              </a:rPr>
              <a:t>IRF는 충격의 </a:t>
            </a:r>
            <a:r>
              <a:rPr sz="1300" b="1">
                <a:solidFill>
                  <a:srgbClr val="2E6DA4"/>
                </a:solidFill>
                <a:latin typeface="Calibri"/>
              </a:rPr>
              <a:t>방향·크기·지속기간</a:t>
            </a:r>
            <a:r>
              <a:rPr sz="1300" b="0">
                <a:solidFill>
                  <a:srgbClr val="0A0A0A"/>
                </a:solidFill>
                <a:latin typeface="Calibri"/>
              </a:rPr>
              <a:t>까지 추적.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0">
                <a:solidFill>
                  <a:srgbClr val="555555"/>
                </a:solidFill>
                <a:latin typeface="Calibri"/>
              </a:rPr>
              <a:t>채널값 1σ 충격 → 이후 6개월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55555"/>
                </a:solidFill>
                <a:latin typeface="Calibri"/>
              </a:rPr>
              <a:t>가격 반응을 관측.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69080" y="1024128"/>
            <a:ext cx="3749039" cy="2423160"/>
          </a:xfrm>
          <a:prstGeom prst="rect">
            <a:avLst/>
          </a:prstGeom>
          <a:solidFill>
            <a:srgbClr val="F0F4FF"/>
          </a:solidFill>
          <a:ln w="9525">
            <a:solidFill>
              <a:srgbClr val="BBBBBB"/>
            </a:solidFill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78808" y="1097280"/>
            <a:ext cx="3529583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 err="1">
                <a:solidFill>
                  <a:srgbClr val="1F2D4E"/>
                </a:solidFill>
                <a:latin typeface="Calibri"/>
              </a:rPr>
              <a:t>분석</a:t>
            </a:r>
            <a:r>
              <a:rPr sz="1200" b="1" i="0" dirty="0">
                <a:solidFill>
                  <a:srgbClr val="1F2D4E"/>
                </a:solidFill>
                <a:latin typeface="Calibri"/>
              </a:rPr>
              <a:t> </a:t>
            </a:r>
            <a:r>
              <a:rPr sz="1200" b="1" i="0" dirty="0" err="1">
                <a:solidFill>
                  <a:srgbClr val="1F2D4E"/>
                </a:solidFill>
                <a:latin typeface="Calibri"/>
              </a:rPr>
              <a:t>대상</a:t>
            </a:r>
            <a:r>
              <a:rPr sz="1200" b="1" i="0" dirty="0">
                <a:solidFill>
                  <a:srgbClr val="1F2D4E"/>
                </a:solidFill>
                <a:latin typeface="Calibri"/>
              </a:rPr>
              <a:t> 및 </a:t>
            </a:r>
            <a:r>
              <a:rPr sz="1200" b="1" i="0" dirty="0" err="1">
                <a:solidFill>
                  <a:srgbClr val="1F2D4E"/>
                </a:solidFill>
                <a:latin typeface="Calibri"/>
              </a:rPr>
              <a:t>설정</a:t>
            </a:r>
            <a:endParaRPr sz="1200" b="1" i="0" dirty="0">
              <a:solidFill>
                <a:srgbClr val="1F2D4E"/>
              </a:solidFill>
              <a:latin typeface="Calibr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178808" y="1481328"/>
            <a:ext cx="3822192" cy="1892826"/>
          </a:xfrm>
          <a:prstGeom prst="rect">
            <a:avLst/>
          </a:prstGeom>
          <a:noFill/>
        </p:spPr>
        <p:txBody>
          <a:bodyPr wrap="square" anchor="t" lIns="63500" rIns="63500" tIns="38100" bIns="3810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1">
                <a:solidFill>
                  <a:srgbClr val="2E6DA4"/>
                </a:solidFill>
                <a:latin typeface="Calibri"/>
              </a:rPr>
              <a:t>분석 대상 (최고 유의 채널)</a:t>
            </a:r>
            <a:endParaRPr sz="1300" b="0" i="0" dirty="0">
              <a:solidFill>
                <a:srgbClr val="0A0A0A"/>
              </a:solidFill>
              <a:latin typeface="Calibri"/>
            </a:endParaRP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50" b="0">
                <a:solidFill>
                  <a:srgbClr val="0A0A0A"/>
                </a:solidFill>
                <a:latin typeface="Calibri"/>
              </a:rPr>
              <a:t>① 스니커즈 ← CH3 뉴스감성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0A0A0A"/>
                </a:solidFill>
                <a:latin typeface="Calibri"/>
              </a:rPr>
              <a:t>② 카드 ← CH1 Google Trends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0">
                <a:solidFill>
                  <a:srgbClr val="555555"/>
                </a:solidFill>
                <a:latin typeface="Calibri"/>
              </a:rPr>
              <a:t>설정: 6개월 추적 · 부트스트랩 1,000회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55555"/>
                </a:solidFill>
                <a:latin typeface="Calibri"/>
              </a:rPr>
              <a:t>95% CI가 0 미포함 → 유의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1024128"/>
            <a:ext cx="3959352" cy="2423160"/>
          </a:xfrm>
          <a:prstGeom prst="rect">
            <a:avLst/>
          </a:prstGeom>
          <a:solidFill>
            <a:srgbClr val="F0F4FF"/>
          </a:solidFill>
          <a:ln w="9525">
            <a:solidFill>
              <a:srgbClr val="BBBBBB"/>
            </a:solidFill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110727" y="1097280"/>
            <a:ext cx="37398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2D4E"/>
                </a:solidFill>
                <a:latin typeface="Calibri"/>
              </a:rPr>
              <a:t>경제적 해석 기준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10727" y="1481328"/>
            <a:ext cx="3739896" cy="1492716"/>
          </a:xfrm>
          <a:prstGeom prst="rect">
            <a:avLst/>
          </a:prstGeom>
          <a:noFill/>
        </p:spPr>
        <p:txBody>
          <a:bodyPr wrap="square" anchor="t" lIns="63500" rIns="63500" tIns="38100" bIns="381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>
                <a:solidFill>
                  <a:srgbClr val="0A0A0A"/>
                </a:solidFill>
                <a:latin typeface="Calibri"/>
              </a:rPr>
              <a:t>CH3↓(부정 뉴스) → 스니커즈 가격 하락?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0A0A0A"/>
                </a:solidFill>
                <a:latin typeface="Calibri"/>
              </a:rPr>
              <a:t>CH1↑(검색 급증) → 카드 가격 상승?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277A4A"/>
                </a:solidFill>
                <a:latin typeface="Calibri"/>
              </a:rPr>
              <a:t>→ 방향·크기를 IRF로 실증 확인</a:t>
            </a:r>
          </a:p>
        </p:txBody>
      </p:sp>
      <p:pic>
        <p:nvPicPr>
          <p:cNvPr id="14" name="Picture 13" descr="irf_sneakers_ch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3566160"/>
            <a:ext cx="5715000" cy="26974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28600" y="6309359"/>
            <a:ext cx="5715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Calibri"/>
              </a:rPr>
              <a:t>주. 스니커즈 &lt;- CH3 뉴스감성 충격반응. 래그 1-2에서 음의 반응 확인, 래그 4에서 소멸. 부정 뉴스 -&gt; 단기 가격 하락 선행을 IRF로 재확인.</a:t>
            </a:r>
          </a:p>
        </p:txBody>
      </p:sp>
      <p:pic>
        <p:nvPicPr>
          <p:cNvPr id="16" name="Picture 15" descr="irf_cards_ch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3566160"/>
            <a:ext cx="5724144" cy="26974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236208" y="6309359"/>
            <a:ext cx="57241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55555"/>
                </a:solidFill>
                <a:latin typeface="Calibri"/>
              </a:rPr>
              <a:t>주. 카드 &lt;- CH1 Google Trends 충격반응. 래그 1에서 양의 반응, 래그 3에서 감쇠. 검색량 증가 -&gt; 카드 가격 상승 선행을 IRF로 재확인.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384280" y="6556248"/>
            <a:ext cx="7772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dirty="0">
                <a:solidFill>
                  <a:srgbClr val="555555"/>
                </a:solidFill>
                <a:latin typeface="Calibri"/>
              </a:rPr>
              <a:t>14 / 17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71B1A29-596B-A0EB-30F0-92C0C36A4242}"/>
              </a:ext>
            </a:extLst>
          </p:cNvPr>
          <p:cNvSpPr txBox="1"/>
          <p:nvPr/>
        </p:nvSpPr>
        <p:spPr>
          <a:xfrm>
            <a:off x="0" y="430887"/>
            <a:ext cx="12188952" cy="228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88952" cy="430887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dirty="0">
                <a:solidFill>
                  <a:srgbClr val="FFFFFF"/>
                </a:solidFill>
                <a:latin typeface="Calibri"/>
              </a:rPr>
              <a:t> 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연구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제한점</a:t>
            </a:r>
            <a:r>
              <a:rPr lang="en-US" sz="2200" b="1" dirty="0">
                <a:solidFill>
                  <a:srgbClr val="FFFFFF"/>
                </a:solidFill>
                <a:latin typeface="Calibri"/>
              </a:rPr>
              <a:t> </a:t>
            </a:r>
            <a:endParaRPr sz="22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82880" y="690372"/>
            <a:ext cx="11887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방법론적 한계 및 데이터 품질 이슈 — 논문 §5.3에 전부 명시하여 과도한 일반화 방지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3125778"/>
              </p:ext>
            </p:extLst>
          </p:nvPr>
        </p:nvGraphicFramePr>
        <p:xfrm>
          <a:off x="320040" y="1208341"/>
          <a:ext cx="11612880" cy="51316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95097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제한점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구체적</a:t>
                      </a:r>
                      <a:r>
                        <a:rPr sz="1300" b="1" dirty="0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sz="13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내용</a:t>
                      </a:r>
                      <a:endParaRPr sz="13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심각도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대응</a:t>
                      </a:r>
                      <a:endParaRPr sz="13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1F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L1</a:t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소표본 문제</a:t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자산별 N=48개월 — 복잡한 VAR 구조 검정하기엔 관측치 부족. 검정력(power) 낮을 수 있음.</a:t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높음</a:t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원본 p + BH 보정 p 병기. 검정력 명시.</a:t>
                      </a:r>
                    </a:p>
                  </a:txBody>
                  <a:tcPr>
                    <a:solidFill>
                      <a:srgbClr val="FF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L2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스니커즈 CH1
약한 정상성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1차 차분 후에도 ADF p=0.120 — 경계적 비정상 상태. Granger 결과 해석 시 주의 필요.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중간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해당 결과 해석 시 주의 문구 명시.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L3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CH3 도메인
특화도 한계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GDELT tone은 기사 전반 자동 추출. FinBERT(금융 특화) 대비 도메인 정밀도 낮음.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중간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CH3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민감도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분석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진행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.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논문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§5.3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명시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.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L4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CH4 키워드
편향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'resell+review' 키워드 필터 -&gt; 일반 hype 콘텐츠 과소 계상 가능성.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중간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전 아이템 동일 키워드 프로토콜 적용.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L5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레고 GT 0주
비율 높음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Porsche 21/48, Bugatti 25/48 구간에서 Google Trends 값 = 0.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중간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0비율 테이블 제시. 해당 아이템 강한 결론 배제.</a:t>
                      </a:r>
                    </a:p>
                  </a:txBody>
                  <a:tcPr>
                    <a:solidFill>
                      <a:srgbClr val="FFF1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L6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단일 플랫폼
편향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YouTube만 수집. TikTok·Reddit·Twitter/X 제외 -&gt; CH4·CH5 대표성 한계.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낮음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향후 연구 기회로 명시.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76656"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L7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z-score
데이터 누출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전체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패널로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StandardScaler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피팅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후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TimeSeriesSplit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적용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—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엄밀한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fold별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fit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아님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.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0A0A0A"/>
                          </a:solidFill>
                          <a:latin typeface="Calibri"/>
                        </a:rPr>
                        <a:t>낮음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N=48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특성상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실질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영향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미미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. §5.3 </a:t>
                      </a:r>
                      <a:r>
                        <a:rPr sz="13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명시</a:t>
                      </a:r>
                      <a:r>
                        <a:rPr sz="1300" b="0" dirty="0">
                          <a:solidFill>
                            <a:srgbClr val="0A0A0A"/>
                          </a:solidFill>
                          <a:latin typeface="Calibri"/>
                        </a:rPr>
                        <a:t>.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384280" y="6556248"/>
            <a:ext cx="7772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dirty="0">
                <a:solidFill>
                  <a:srgbClr val="555555"/>
                </a:solidFill>
                <a:latin typeface="Calibri"/>
              </a:rPr>
              <a:t>15 / 17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77B473-4597-1C5D-EAAA-F896B99CA77D}"/>
              </a:ext>
            </a:extLst>
          </p:cNvPr>
          <p:cNvSpPr txBox="1"/>
          <p:nvPr/>
        </p:nvSpPr>
        <p:spPr>
          <a:xfrm>
            <a:off x="0" y="430887"/>
            <a:ext cx="12188952" cy="228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8AE3B-1A9D-A582-FA8F-CD7809D83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FFC309B-F234-8EBE-947C-6C4B7E61A078}"/>
              </a:ext>
            </a:extLst>
          </p:cNvPr>
          <p:cNvSpPr txBox="1"/>
          <p:nvPr/>
        </p:nvSpPr>
        <p:spPr>
          <a:xfrm>
            <a:off x="182880" y="0"/>
            <a:ext cx="8000000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목차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04745F8-A6CC-BE5F-10B6-702BB2BE9D63}"/>
              </a:ext>
            </a:extLst>
          </p:cNvPr>
          <p:cNvSpPr/>
          <p:nvPr/>
        </p:nvSpPr>
        <p:spPr>
          <a:xfrm>
            <a:off x="0" y="-217714"/>
            <a:ext cx="12188825" cy="7162799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F8A5CE-881A-9352-CAD0-CC10A4EA539A}"/>
              </a:ext>
            </a:extLst>
          </p:cNvPr>
          <p:cNvSpPr txBox="1"/>
          <p:nvPr/>
        </p:nvSpPr>
        <p:spPr>
          <a:xfrm>
            <a:off x="3933370" y="2532744"/>
            <a:ext cx="4601031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rgbClr val="1F2D4E"/>
                </a:solidFill>
              </a:rPr>
              <a:t>연구 배경과 질문</a:t>
            </a:r>
          </a:p>
          <a:p>
            <a:r>
              <a:rPr lang="en-US" altLang="ko-KR" sz="5000" dirty="0">
                <a:solidFill>
                  <a:schemeClr val="bg1"/>
                </a:solidFill>
              </a:rPr>
              <a:t>06 </a:t>
            </a:r>
            <a:r>
              <a:rPr lang="ko-KR" altLang="en-US" sz="3200" b="1" dirty="0">
                <a:solidFill>
                  <a:schemeClr val="bg1"/>
                </a:solidFill>
              </a:rPr>
              <a:t>결론과 시사점</a:t>
            </a:r>
          </a:p>
          <a:p>
            <a:endParaRPr lang="ko-KR" altLang="en-US" sz="3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95424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88825" cy="430887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dirty="0">
                <a:solidFill>
                  <a:srgbClr val="FFFFFF"/>
                </a:solidFill>
                <a:latin typeface="Calibri"/>
              </a:rPr>
              <a:t> 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결론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: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연구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문제별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답변</a:t>
            </a:r>
            <a:r>
              <a:rPr lang="en-US" sz="2200" b="1" dirty="0">
                <a:solidFill>
                  <a:srgbClr val="FFFFFF"/>
                </a:solidFill>
                <a:latin typeface="Calibri"/>
              </a:rPr>
              <a:t> </a:t>
            </a:r>
            <a:endParaRPr sz="22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82880" y="690372"/>
            <a:ext cx="11887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Granger 인과 검정 -&gt; Jaccard 채널 비교 -&gt; XGBoost + DM 검정 — 세 단계 분석의 핵심 결과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4795677"/>
              </p:ext>
            </p:extLst>
          </p:nvPr>
        </p:nvGraphicFramePr>
        <p:xfrm>
          <a:off x="676592" y="1348561"/>
          <a:ext cx="10835640" cy="48512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53809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RQ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연구 문제 (요약)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실증</a:t>
                      </a:r>
                      <a:r>
                        <a:rPr sz="1500" b="1" dirty="0">
                          <a:solidFill>
                            <a:srgbClr val="FFFFFF"/>
                          </a:solidFill>
                          <a:latin typeface="Calibri"/>
                        </a:rPr>
                        <a:t> </a:t>
                      </a:r>
                      <a:r>
                        <a:rPr sz="15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결과</a:t>
                      </a:r>
                      <a:endParaRPr sz="15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1F2D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핵심 근거</a:t>
                      </a:r>
                    </a:p>
                  </a:txBody>
                  <a:tcPr>
                    <a:solidFill>
                      <a:srgbClr val="1F2D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76537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A0A0A"/>
                          </a:solidFill>
                          <a:latin typeface="Calibri"/>
                        </a:rPr>
                        <a:t>RQ1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미디어</a:t>
                      </a:r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채널이</a:t>
                      </a:r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리셀</a:t>
                      </a:r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
</a:t>
                      </a:r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가격을</a:t>
                      </a:r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선행하는가</a:t>
                      </a:r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?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스니커즈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&lt;- CH3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뉴스감성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
  (F=13.4,  p=0.001,  BH p=0.011)
</a:t>
                      </a:r>
                      <a:r>
                        <a:rPr lang="en-US"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 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카드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&lt;- CH1 Google Trends
  (F=8.4,   p=0.006,  BH p=0.044)</a:t>
                      </a:r>
                      <a:endParaRPr lang="en-US" sz="15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  <a:p>
                      <a:pPr algn="l"/>
                      <a:endParaRPr lang="en-US" sz="15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  <a:p>
                      <a:pPr algn="l"/>
                      <a:r>
                        <a:rPr lang="en-US" altLang="ko-KR" sz="1500" b="0" dirty="0">
                          <a:solidFill>
                            <a:srgbClr val="0A0A0A"/>
                          </a:solidFill>
                          <a:latin typeface="+mn-lt"/>
                        </a:rPr>
                        <a:t>-&gt;  </a:t>
                      </a:r>
                      <a:r>
                        <a:rPr lang="ko-KR" altLang="en-US" sz="1500" b="0" dirty="0">
                          <a:solidFill>
                            <a:srgbClr val="0A0A0A"/>
                          </a:solidFill>
                          <a:latin typeface="+mn-lt"/>
                        </a:rPr>
                        <a:t>미디어 채널이 </a:t>
                      </a:r>
                      <a:r>
                        <a:rPr lang="ko-KR" altLang="en-US" sz="1500" b="0" dirty="0" err="1">
                          <a:solidFill>
                            <a:srgbClr val="0A0A0A"/>
                          </a:solidFill>
                          <a:latin typeface="+mn-lt"/>
                        </a:rPr>
                        <a:t>리셀</a:t>
                      </a:r>
                      <a:r>
                        <a:rPr lang="ko-KR" altLang="en-US" sz="1500" b="0" dirty="0">
                          <a:solidFill>
                            <a:srgbClr val="0A0A0A"/>
                          </a:solidFill>
                          <a:latin typeface="+mn-lt"/>
                        </a:rPr>
                        <a:t> 가격을 부분적으로 선행함</a:t>
                      </a:r>
                      <a:endParaRPr sz="15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Granger </a:t>
                      </a:r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인과</a:t>
                      </a:r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검정</a:t>
                      </a:r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
BH FDR </a:t>
                      </a:r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보정</a:t>
                      </a:r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
(q=0.05, m=15)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44366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A0A0A"/>
                          </a:solidFill>
                          <a:latin typeface="Calibri"/>
                        </a:rPr>
                        <a:t>RQ2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선행</a:t>
                      </a:r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채널</a:t>
                      </a:r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구성이</a:t>
                      </a:r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
</a:t>
                      </a:r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자산마다</a:t>
                      </a:r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다른가</a:t>
                      </a:r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?</a:t>
                      </a: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스니커즈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: CH1·CH3·CH4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유의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
 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카드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: CH1만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유의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
 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레고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: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유의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채널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없음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
  -&gt;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자산마다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선행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채널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구성이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다름</a:t>
                      </a:r>
                      <a:endParaRPr sz="15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0A0A0A"/>
                          </a:solidFill>
                          <a:latin typeface="Calibri"/>
                        </a:rPr>
                        <a:t>RQ1 Granger 결과의
유의 채널 집합 비교</a:t>
                      </a:r>
                      <a:endParaRPr sz="18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76537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A0A0A"/>
                          </a:solidFill>
                          <a:latin typeface="Calibri"/>
                        </a:rPr>
                        <a:t>RQ3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선별</a:t>
                      </a:r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채널</a:t>
                      </a:r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모델이</a:t>
                      </a:r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
</a:t>
                      </a:r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전채널</a:t>
                      </a:r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모델과</a:t>
                      </a:r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
</a:t>
                      </a:r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동등한가</a:t>
                      </a:r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?</a:t>
                      </a: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스니커즈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: DM p=0.678
 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카드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:     DM p=0.504
 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레고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:     DM p=0.646
  </a:t>
                      </a:r>
                      <a:r>
                        <a:rPr lang="en-US" altLang="ko-KR" sz="1500" b="0" dirty="0">
                          <a:solidFill>
                            <a:srgbClr val="0A0A0A"/>
                          </a:solidFill>
                          <a:latin typeface="+mn-lt"/>
                        </a:rPr>
                        <a:t>-&gt; 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2채널만으로도 5채널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동등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성능</a:t>
                      </a:r>
                      <a:endParaRPr sz="15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9C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Diebold-Mariano
</a:t>
                      </a:r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검정</a:t>
                      </a:r>
                      <a:r>
                        <a:rPr sz="1800" b="0" dirty="0">
                          <a:solidFill>
                            <a:srgbClr val="0A0A0A"/>
                          </a:solidFill>
                          <a:latin typeface="Calibri"/>
                        </a:rPr>
                        <a:t>
AUC-ROC </a:t>
                      </a:r>
                      <a:r>
                        <a:rPr sz="18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비교</a:t>
                      </a:r>
                      <a:endParaRPr sz="18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9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1384280" y="6556248"/>
            <a:ext cx="7772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dirty="0">
                <a:solidFill>
                  <a:srgbClr val="555555"/>
                </a:solidFill>
                <a:latin typeface="Calibri"/>
              </a:rPr>
              <a:t>16 / 17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D58FBC-3DDC-4CDF-E477-A31FE9092F34}"/>
              </a:ext>
            </a:extLst>
          </p:cNvPr>
          <p:cNvSpPr txBox="1"/>
          <p:nvPr/>
        </p:nvSpPr>
        <p:spPr>
          <a:xfrm>
            <a:off x="0" y="430887"/>
            <a:ext cx="12188952" cy="228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88952" cy="430887"/>
          </a:xfrm>
          <a:prstGeom prst="rect">
            <a:avLst/>
          </a:prstGeom>
          <a:solidFill>
            <a:srgbClr val="1F2D4E"/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1" dirty="0">
                <a:solidFill>
                  <a:srgbClr val="FFFFFF"/>
                </a:solidFill>
                <a:latin typeface="Calibri"/>
              </a:rPr>
              <a:t> 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학술적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기여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및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실무적</a:t>
            </a:r>
            <a:r>
              <a:rPr sz="2200" b="1" dirty="0">
                <a:solidFill>
                  <a:srgbClr val="FFFFFF"/>
                </a:solidFill>
                <a:latin typeface="Calibri"/>
              </a:rPr>
              <a:t> </a:t>
            </a:r>
            <a:r>
              <a:rPr sz="2200" b="1" dirty="0" err="1">
                <a:solidFill>
                  <a:srgbClr val="FFFFFF"/>
                </a:solidFill>
                <a:latin typeface="Calibri"/>
              </a:rPr>
              <a:t>시사점</a:t>
            </a:r>
            <a:r>
              <a:rPr lang="en-US" sz="2200" b="1" dirty="0">
                <a:solidFill>
                  <a:srgbClr val="FFFFFF"/>
                </a:solidFill>
                <a:latin typeface="Calibri"/>
              </a:rPr>
              <a:t> </a:t>
            </a:r>
            <a:endParaRPr sz="2200" b="1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82880" y="690372"/>
            <a:ext cx="1088426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55555"/>
                </a:solidFill>
                <a:latin typeface="Calibri"/>
              </a:rPr>
              <a:t>세 연구 흐름의 교점을 최초로 분석 — 리셀 시장 미디어 모니터링 전략의 이론적 근거 제공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0364038"/>
              </p:ext>
            </p:extLst>
          </p:nvPr>
        </p:nvGraphicFramePr>
        <p:xfrm>
          <a:off x="287972" y="1424178"/>
          <a:ext cx="11612880" cy="44336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26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1623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기여 유형</a:t>
                      </a:r>
                    </a:p>
                  </a:txBody>
                  <a:tcPr>
                    <a:solidFill>
                      <a:srgbClr val="2E6DA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dirty="0" err="1">
                          <a:solidFill>
                            <a:srgbClr val="FFFFFF"/>
                          </a:solidFill>
                          <a:latin typeface="Calibri"/>
                        </a:rPr>
                        <a:t>내용</a:t>
                      </a:r>
                      <a:endParaRPr sz="1500" b="1" dirty="0">
                        <a:solidFill>
                          <a:srgbClr val="FFFFFF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2E6D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8415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A0A0A"/>
                          </a:solidFill>
                          <a:latin typeface="Calibri"/>
                        </a:rPr>
                        <a:t>새로운 연구 도메인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리셀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시장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(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스니커즈·카드·레고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)에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다채널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Granger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인과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>
                          <a:solidFill>
                            <a:srgbClr val="0A0A0A"/>
                          </a:solidFill>
                          <a:latin typeface="Calibri"/>
                        </a:rPr>
                        <a:t>분석을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적용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. </a:t>
                      </a:r>
                      <a:endParaRPr lang="en-US" sz="15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  <a:p>
                      <a:pPr algn="l"/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기존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연구는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전통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금융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자산이나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단일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리셀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자산에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국한되어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있었음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8415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A0A0A"/>
                          </a:solidFill>
                          <a:latin typeface="Calibri"/>
                        </a:rPr>
                        <a:t>다자산 채널 비교</a:t>
                      </a:r>
                    </a:p>
                  </a:txBody>
                  <a:tcPr>
                    <a:solidFill>
                      <a:srgbClr val="F5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단일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채널이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모든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자산을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선행하지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않음을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실증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. </a:t>
                      </a:r>
                      <a:endParaRPr lang="en-US" sz="15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  <a:p>
                      <a:pPr algn="l"/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스니커즈는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뉴스감성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(CH3)이,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카드는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검색량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(CH1)이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핵심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endParaRPr lang="en-US" sz="15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  <a:p>
                      <a:pPr algn="l"/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—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자산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특이적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채널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존재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확인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.</a:t>
                      </a:r>
                    </a:p>
                  </a:txBody>
                  <a:tcPr>
                    <a:solidFill>
                      <a:srgbClr val="F5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8415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A0A0A"/>
                          </a:solidFill>
                          <a:latin typeface="Calibri"/>
                        </a:rPr>
                        <a:t>방법론 삼각 검증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0A0A0A"/>
                          </a:solidFill>
                          <a:latin typeface="Calibri"/>
                        </a:rPr>
                        <a:t>Granger 인과(시간적 선행성) + SHAP(모델 내 채널 기여도) + DM 검정(예측 비교) 세 방법을 결합하여 단일 방법의 한계를 상호 보완.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8415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A0A0A"/>
                          </a:solidFill>
                          <a:latin typeface="Calibri"/>
                        </a:rPr>
                        <a:t>실무적 시사점</a:t>
                      </a:r>
                    </a:p>
                  </a:txBody>
                  <a:tcPr>
                    <a:solidFill>
                      <a:srgbClr val="F5F5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스니커즈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투자자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: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뉴스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논조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(CH3)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모니터링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우선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endParaRPr lang="en-US" sz="15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  <a:p>
                      <a:pPr algn="l"/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카드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투자자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: Google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검색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트렌드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(CH1)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추적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endParaRPr lang="en-US" sz="15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  <a:p>
                      <a:pPr algn="l"/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레고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: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현재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유효한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미디어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선행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지표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없음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-&gt;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가격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자체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모멘텀에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의존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.</a:t>
                      </a:r>
                    </a:p>
                  </a:txBody>
                  <a:tcPr>
                    <a:solidFill>
                      <a:srgbClr val="F5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98415">
                <a:tc>
                  <a:txBody>
                    <a:bodyPr/>
                    <a:lstStyle/>
                    <a:p>
                      <a:pPr algn="ctr"/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향후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연구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방향</a:t>
                      </a:r>
                      <a:endParaRPr sz="1500" b="0" dirty="0">
                        <a:solidFill>
                          <a:srgbClr val="0A0A0A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TikTok·Reddit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등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플랫폼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확장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|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월별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-&gt;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주별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데이터로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고빈도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분석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|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경매·한정판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드롭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이벤트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효과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통제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|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장기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패널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(4년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이상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) </a:t>
                      </a:r>
                      <a:r>
                        <a:rPr sz="1500" b="0" dirty="0" err="1">
                          <a:solidFill>
                            <a:srgbClr val="0A0A0A"/>
                          </a:solidFill>
                          <a:latin typeface="Calibri"/>
                        </a:rPr>
                        <a:t>구축</a:t>
                      </a:r>
                      <a:r>
                        <a:rPr sz="1500" b="0" dirty="0">
                          <a:solidFill>
                            <a:srgbClr val="0A0A0A"/>
                          </a:solidFill>
                          <a:latin typeface="Calibri"/>
                        </a:rPr>
                        <a:t>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1384280" y="6556248"/>
            <a:ext cx="77724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 dirty="0">
                <a:solidFill>
                  <a:srgbClr val="555555"/>
                </a:solidFill>
                <a:latin typeface="Calibri"/>
              </a:rPr>
              <a:t>17 / 17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E0D10C-6724-95BE-F607-B7E6D0E5DA66}"/>
              </a:ext>
            </a:extLst>
          </p:cNvPr>
          <p:cNvSpPr txBox="1"/>
          <p:nvPr/>
        </p:nvSpPr>
        <p:spPr>
          <a:xfrm>
            <a:off x="0" y="430887"/>
            <a:ext cx="12188952" cy="2286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88952" cy="50292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67512" y="82296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lang="ko-KR" altLang="en-US" sz="2200" b="1" dirty="0">
                <a:solidFill>
                  <a:srgbClr val="1A1A1A"/>
                </a:solidFill>
                <a:latin typeface="Calibri"/>
              </a:rPr>
              <a:t>참고 문헌</a:t>
            </a:r>
            <a:r>
              <a:rPr lang="ko-KR" altLang="en-US" sz="1800" b="0" dirty="0">
                <a:solidFill>
                  <a:srgbClr val="555555"/>
                </a:solidFill>
                <a:latin typeface="Calibri"/>
              </a:rPr>
              <a:t>  </a:t>
            </a:r>
            <a:r>
              <a:rPr lang="en-US" sz="1800" b="0" dirty="0">
                <a:solidFill>
                  <a:srgbClr val="555555"/>
                </a:solidFill>
                <a:latin typeface="Calibri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7512" y="585216"/>
            <a:ext cx="10972800" cy="25603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888888"/>
                </a:solidFill>
                <a:latin typeface="Calibri"/>
              </a:rPr>
              <a:t>draft.tex 실제 인용 43건  ·  Granger 인과 / XGBoost+SHAP / DM 검정 / 대안자산 / 미디어·감성 / 디지털 흔적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7512" y="841248"/>
            <a:ext cx="11247120" cy="1371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272991" y="932688"/>
            <a:ext cx="12801" cy="579729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22031" y="932688"/>
            <a:ext cx="12801" cy="579729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7512" y="969264"/>
            <a:ext cx="3474720" cy="224028"/>
          </a:xfrm>
          <a:prstGeom prst="rect">
            <a:avLst/>
          </a:prstGeom>
          <a:noFill/>
          <a:ln>
            <a:noFill/>
          </a:ln>
        </p:spPr>
        <p:txBody>
          <a:bodyPr wrap="none" lIns="12700" tIns="0" bIns="0">
            <a:spAutoFit/>
          </a:bodyPr>
          <a:lstStyle/>
          <a:p>
            <a:pPr algn="l"/>
            <a:r>
              <a:rPr sz="1100" b="1">
                <a:solidFill>
                  <a:srgbClr val="1F4E79"/>
                </a:solidFill>
                <a:latin typeface="Calibri"/>
              </a:rPr>
              <a:t>계량경제 · 통계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1165860"/>
            <a:ext cx="3474720" cy="2011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7512" y="1202436"/>
            <a:ext cx="3474720" cy="2130552"/>
          </a:xfrm>
          <a:prstGeom prst="rect">
            <a:avLst/>
          </a:prstGeom>
          <a:noFill/>
          <a:ln>
            <a:noFill/>
          </a:ln>
        </p:spPr>
        <p:txBody>
          <a:bodyPr wrap="none" lIns="1270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4E79"/>
                </a:solidFill>
                <a:latin typeface="Calibri"/>
              </a:rPr>
              <a:t>[1] </a:t>
            </a:r>
            <a:r>
              <a:rPr sz="1000" b="0">
                <a:solidFill>
                  <a:srgbClr val="1A1A1A"/>
                </a:solidFill>
                <a:latin typeface="Calibri"/>
              </a:rPr>
              <a:t>Granger (1969)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sz="1000" b="0" i="1">
                <a:solidFill>
                  <a:srgbClr val="777777"/>
                </a:solidFill>
                <a:latin typeface="Calibri"/>
              </a:rPr>
              <a:t>Econometrica 37(3)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4E79"/>
                </a:solidFill>
                <a:latin typeface="Calibri"/>
              </a:rPr>
              <a:t>[2] </a:t>
            </a:r>
            <a:r>
              <a:rPr sz="1000" b="0">
                <a:solidFill>
                  <a:srgbClr val="1A1A1A"/>
                </a:solidFill>
                <a:latin typeface="Calibri"/>
              </a:rPr>
              <a:t>Dickey &amp; Fuller (1979)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sz="1000" b="0" i="1">
                <a:solidFill>
                  <a:srgbClr val="777777"/>
                </a:solidFill>
                <a:latin typeface="Calibri"/>
              </a:rPr>
              <a:t>JASA 74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4E79"/>
                </a:solidFill>
                <a:latin typeface="Calibri"/>
              </a:rPr>
              <a:t>[3] </a:t>
            </a:r>
            <a:r>
              <a:rPr sz="1000" b="0">
                <a:solidFill>
                  <a:srgbClr val="1A1A1A"/>
                </a:solidFill>
                <a:latin typeface="Calibri"/>
              </a:rPr>
              <a:t>Schwarz (1978)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sz="1000" b="0" i="1">
                <a:solidFill>
                  <a:srgbClr val="777777"/>
                </a:solidFill>
                <a:latin typeface="Calibri"/>
              </a:rPr>
              <a:t>Ann. Stat. 6(2)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4E79"/>
                </a:solidFill>
                <a:latin typeface="Calibri"/>
              </a:rPr>
              <a:t>[4] </a:t>
            </a:r>
            <a:r>
              <a:rPr sz="1000" b="0">
                <a:solidFill>
                  <a:srgbClr val="1A1A1A"/>
                </a:solidFill>
                <a:latin typeface="Calibri"/>
              </a:rPr>
              <a:t>Diebold &amp; Mariano (1995)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sz="1000" b="0" i="1">
                <a:solidFill>
                  <a:srgbClr val="777777"/>
                </a:solidFill>
                <a:latin typeface="Calibri"/>
              </a:rPr>
              <a:t>JBES 13(3)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4E79"/>
                </a:solidFill>
                <a:latin typeface="Calibri"/>
              </a:rPr>
              <a:t>[5] </a:t>
            </a:r>
            <a:r>
              <a:rPr sz="1000" b="0">
                <a:solidFill>
                  <a:srgbClr val="1A1A1A"/>
                </a:solidFill>
                <a:latin typeface="Calibri"/>
              </a:rPr>
              <a:t>Benjamini &amp; Hochberg (1995)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sz="1000" b="0" i="1">
                <a:solidFill>
                  <a:srgbClr val="777777"/>
                </a:solidFill>
                <a:latin typeface="Calibri"/>
              </a:rPr>
              <a:t>JRSS-B 57(1)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4E79"/>
                </a:solidFill>
                <a:latin typeface="Calibri"/>
              </a:rPr>
              <a:t>[6] </a:t>
            </a:r>
            <a:r>
              <a:rPr sz="1000" b="0">
                <a:solidFill>
                  <a:srgbClr val="1A1A1A"/>
                </a:solidFill>
                <a:latin typeface="Calibri"/>
              </a:rPr>
              <a:t>West (1996)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sz="1000" b="0" i="1">
                <a:solidFill>
                  <a:srgbClr val="777777"/>
                </a:solidFill>
                <a:latin typeface="Calibri"/>
              </a:rPr>
              <a:t>Econometrica 64(5)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4E79"/>
                </a:solidFill>
                <a:latin typeface="Calibri"/>
              </a:rPr>
              <a:t>[7] </a:t>
            </a:r>
            <a:r>
              <a:rPr sz="1000" b="0">
                <a:solidFill>
                  <a:srgbClr val="1A1A1A"/>
                </a:solidFill>
                <a:latin typeface="Calibri"/>
              </a:rPr>
              <a:t>Hansen (2005)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sz="1000" b="0" i="1">
                <a:solidFill>
                  <a:srgbClr val="777777"/>
                </a:solidFill>
                <a:latin typeface="Calibri"/>
              </a:rPr>
              <a:t>JBES 23(4)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4E79"/>
                </a:solidFill>
                <a:latin typeface="Calibri"/>
              </a:rPr>
              <a:t>[8] </a:t>
            </a:r>
            <a:r>
              <a:rPr sz="1000" b="0">
                <a:solidFill>
                  <a:srgbClr val="1A1A1A"/>
                </a:solidFill>
                <a:latin typeface="Calibri"/>
              </a:rPr>
              <a:t>Hansen et al. (2011)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sz="1000" b="0" i="1">
                <a:solidFill>
                  <a:srgbClr val="777777"/>
                </a:solidFill>
                <a:latin typeface="Calibri"/>
              </a:rPr>
              <a:t>Econometrica 79(2)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4E79"/>
                </a:solidFill>
                <a:latin typeface="Calibri"/>
              </a:rPr>
              <a:t>[9] </a:t>
            </a:r>
            <a:r>
              <a:rPr sz="1000" b="0">
                <a:solidFill>
                  <a:srgbClr val="1A1A1A"/>
                </a:solidFill>
                <a:latin typeface="Calibri"/>
              </a:rPr>
              <a:t>Holtz-Eakin et al. (1988)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sz="1000" b="0" i="1">
                <a:solidFill>
                  <a:srgbClr val="777777"/>
                </a:solidFill>
                <a:latin typeface="Calibri"/>
              </a:rPr>
              <a:t>Econometrica 56(6)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4E79"/>
                </a:solidFill>
                <a:latin typeface="Calibri"/>
              </a:rPr>
              <a:t>[10] </a:t>
            </a:r>
            <a:r>
              <a:rPr sz="1000" b="0">
                <a:solidFill>
                  <a:srgbClr val="1A1A1A"/>
                </a:solidFill>
                <a:latin typeface="Calibri"/>
              </a:rPr>
              <a:t>Dumitrescu &amp; Hurlin (2012)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sz="1000" b="0" i="1">
                <a:solidFill>
                  <a:srgbClr val="777777"/>
                </a:solidFill>
                <a:latin typeface="Calibri"/>
              </a:rPr>
              <a:t>Econ. Modelling 29(4)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F4E79"/>
                </a:solidFill>
                <a:latin typeface="Calibri"/>
              </a:rPr>
              <a:t>[11] </a:t>
            </a:r>
            <a:r>
              <a:rPr sz="1000" b="0">
                <a:solidFill>
                  <a:srgbClr val="1A1A1A"/>
                </a:solidFill>
                <a:latin typeface="Calibri"/>
              </a:rPr>
              <a:t>Welch &amp; Goyal (2008)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sz="1000" b="0" i="1">
                <a:solidFill>
                  <a:srgbClr val="777777"/>
                </a:solidFill>
                <a:latin typeface="Calibri"/>
              </a:rPr>
              <a:t>RFS 21(4)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3470148"/>
            <a:ext cx="3474720" cy="224028"/>
          </a:xfrm>
          <a:prstGeom prst="rect">
            <a:avLst/>
          </a:prstGeom>
          <a:noFill/>
          <a:ln>
            <a:noFill/>
          </a:ln>
        </p:spPr>
        <p:txBody>
          <a:bodyPr wrap="none" lIns="12700" tIns="0" bIns="0">
            <a:spAutoFit/>
          </a:bodyPr>
          <a:lstStyle/>
          <a:p>
            <a:pPr algn="l"/>
            <a:r>
              <a:rPr sz="1100" b="1">
                <a:solidFill>
                  <a:srgbClr val="145A32"/>
                </a:solidFill>
                <a:latin typeface="Calibri"/>
              </a:rPr>
              <a:t>머신러닝 · NLP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3666744"/>
            <a:ext cx="3474720" cy="20116"/>
          </a:xfrm>
          <a:prstGeom prst="rect">
            <a:avLst/>
          </a:prstGeom>
          <a:solidFill>
            <a:srgbClr val="145A32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7512" y="3703320"/>
            <a:ext cx="3474720" cy="786384"/>
          </a:xfrm>
          <a:prstGeom prst="rect">
            <a:avLst/>
          </a:prstGeom>
          <a:noFill/>
          <a:ln>
            <a:noFill/>
          </a:ln>
        </p:spPr>
        <p:txBody>
          <a:bodyPr wrap="none" lIns="1270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45A32"/>
                </a:solidFill>
                <a:latin typeface="Calibri"/>
              </a:rPr>
              <a:t>[12] </a:t>
            </a:r>
            <a:r>
              <a:rPr sz="1000" b="0">
                <a:solidFill>
                  <a:srgbClr val="1A1A1A"/>
                </a:solidFill>
                <a:latin typeface="Calibri"/>
              </a:rPr>
              <a:t>Chen &amp; Guestrin (2016)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sz="1000" b="0" i="1">
                <a:solidFill>
                  <a:srgbClr val="777777"/>
                </a:solidFill>
                <a:latin typeface="Calibri"/>
              </a:rPr>
              <a:t>KDD 2016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45A32"/>
                </a:solidFill>
                <a:latin typeface="Calibri"/>
              </a:rPr>
              <a:t>[13] </a:t>
            </a:r>
            <a:r>
              <a:rPr sz="1000" b="0">
                <a:solidFill>
                  <a:srgbClr val="1A1A1A"/>
                </a:solidFill>
                <a:latin typeface="Calibri"/>
              </a:rPr>
              <a:t>Lundberg &amp; Lee (2017)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sz="1000" b="0" i="1">
                <a:solidFill>
                  <a:srgbClr val="777777"/>
                </a:solidFill>
                <a:latin typeface="Calibri"/>
              </a:rPr>
              <a:t>NeurIPS 30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45A32"/>
                </a:solidFill>
                <a:latin typeface="Calibri"/>
              </a:rPr>
              <a:t>[14] </a:t>
            </a:r>
            <a:r>
              <a:rPr sz="1000" b="0">
                <a:solidFill>
                  <a:srgbClr val="1A1A1A"/>
                </a:solidFill>
                <a:latin typeface="Calibri"/>
              </a:rPr>
              <a:t>Araci (2019) FinBERT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sz="1000" b="0" i="1">
                <a:solidFill>
                  <a:srgbClr val="777777"/>
                </a:solidFill>
                <a:latin typeface="Calibri"/>
              </a:rPr>
              <a:t>arXiv:1908.10063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45A32"/>
                </a:solidFill>
                <a:latin typeface="Calibri"/>
              </a:rPr>
              <a:t>[15] </a:t>
            </a:r>
            <a:r>
              <a:rPr sz="1000" b="0">
                <a:solidFill>
                  <a:srgbClr val="1A1A1A"/>
                </a:solidFill>
                <a:latin typeface="Calibri"/>
              </a:rPr>
              <a:t>Devlin et al. (2019)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sz="1000" b="0" i="1">
                <a:solidFill>
                  <a:srgbClr val="777777"/>
                </a:solidFill>
                <a:latin typeface="Calibri"/>
              </a:rPr>
              <a:t>NAACL-HLT 2019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16552" y="969264"/>
            <a:ext cx="3474720" cy="224028"/>
          </a:xfrm>
          <a:prstGeom prst="rect">
            <a:avLst/>
          </a:prstGeom>
          <a:noFill/>
          <a:ln>
            <a:noFill/>
          </a:ln>
        </p:spPr>
        <p:txBody>
          <a:bodyPr wrap="none" lIns="12700" tIns="0" bIns="0">
            <a:spAutoFit/>
          </a:bodyPr>
          <a:lstStyle/>
          <a:p>
            <a:pPr algn="l"/>
            <a:r>
              <a:rPr sz="1100" b="1">
                <a:solidFill>
                  <a:srgbClr val="145A32"/>
                </a:solidFill>
                <a:latin typeface="Calibri"/>
              </a:rPr>
              <a:t>머신러닝 · NLP (CONT.)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16552" y="1165860"/>
            <a:ext cx="3474720" cy="20116"/>
          </a:xfrm>
          <a:prstGeom prst="rect">
            <a:avLst/>
          </a:prstGeom>
          <a:solidFill>
            <a:srgbClr val="145A32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16552" y="1202436"/>
            <a:ext cx="3474720" cy="402336"/>
          </a:xfrm>
          <a:prstGeom prst="rect">
            <a:avLst/>
          </a:prstGeom>
          <a:noFill/>
          <a:ln>
            <a:noFill/>
          </a:ln>
        </p:spPr>
        <p:txBody>
          <a:bodyPr wrap="none" lIns="1270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45A32"/>
                </a:solidFill>
                <a:latin typeface="Calibri"/>
              </a:rPr>
              <a:t>[16] </a:t>
            </a:r>
            <a:r>
              <a:rPr sz="1000" b="0">
                <a:solidFill>
                  <a:srgbClr val="1A1A1A"/>
                </a:solidFill>
                <a:latin typeface="Calibri"/>
              </a:rPr>
              <a:t>Gu et al. (2020)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sz="1000" b="0" i="1">
                <a:solidFill>
                  <a:srgbClr val="777777"/>
                </a:solidFill>
                <a:latin typeface="Calibri"/>
              </a:rPr>
              <a:t>RFS 33(5)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45A32"/>
                </a:solidFill>
                <a:latin typeface="Calibri"/>
              </a:rPr>
              <a:t>[17] </a:t>
            </a:r>
            <a:r>
              <a:rPr sz="1000" b="0">
                <a:solidFill>
                  <a:srgbClr val="1A1A1A"/>
                </a:solidFill>
                <a:latin typeface="Calibri"/>
              </a:rPr>
              <a:t>Akiba et al. (2019)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sz="1000" b="0" i="1">
                <a:solidFill>
                  <a:srgbClr val="777777"/>
                </a:solidFill>
                <a:latin typeface="Calibri"/>
              </a:rPr>
              <a:t>KDD 2019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6552" y="1741932"/>
            <a:ext cx="3474720" cy="224028"/>
          </a:xfrm>
          <a:prstGeom prst="rect">
            <a:avLst/>
          </a:prstGeom>
          <a:noFill/>
          <a:ln>
            <a:noFill/>
          </a:ln>
        </p:spPr>
        <p:txBody>
          <a:bodyPr wrap="none" lIns="12700" tIns="0" bIns="0">
            <a:spAutoFit/>
          </a:bodyPr>
          <a:lstStyle/>
          <a:p>
            <a:pPr algn="l"/>
            <a:r>
              <a:rPr sz="1100" b="1">
                <a:solidFill>
                  <a:srgbClr val="4A235A"/>
                </a:solidFill>
                <a:latin typeface="Calibri"/>
              </a:rPr>
              <a:t>대안 자산 · 수집품 시장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6552" y="1938528"/>
            <a:ext cx="3474720" cy="20116"/>
          </a:xfrm>
          <a:prstGeom prst="rect">
            <a:avLst/>
          </a:prstGeom>
          <a:solidFill>
            <a:srgbClr val="4A235A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16552" y="1975104"/>
            <a:ext cx="3474720" cy="1170432"/>
          </a:xfrm>
          <a:prstGeom prst="rect">
            <a:avLst/>
          </a:prstGeom>
          <a:noFill/>
          <a:ln>
            <a:noFill/>
          </a:ln>
        </p:spPr>
        <p:txBody>
          <a:bodyPr wrap="none" lIns="1270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A235A"/>
                </a:solidFill>
                <a:latin typeface="Calibri"/>
              </a:rPr>
              <a:t>[18] </a:t>
            </a:r>
            <a:r>
              <a:rPr sz="1000" b="0">
                <a:solidFill>
                  <a:srgbClr val="1A1A1A"/>
                </a:solidFill>
                <a:latin typeface="Calibri"/>
              </a:rPr>
              <a:t>Burton &amp; Jacobsen (1999)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sz="1000" b="0" i="1">
                <a:solidFill>
                  <a:srgbClr val="777777"/>
                </a:solidFill>
                <a:latin typeface="Calibri"/>
              </a:rPr>
              <a:t>JEP 13(4)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A235A"/>
                </a:solidFill>
                <a:latin typeface="Calibri"/>
              </a:rPr>
              <a:t>[19] </a:t>
            </a:r>
            <a:r>
              <a:rPr sz="1000" b="0">
                <a:solidFill>
                  <a:srgbClr val="1A1A1A"/>
                </a:solidFill>
                <a:latin typeface="Calibri"/>
              </a:rPr>
              <a:t>Mei &amp; Moses (2002)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sz="1000" b="0" i="1">
                <a:solidFill>
                  <a:srgbClr val="777777"/>
                </a:solidFill>
                <a:latin typeface="Calibri"/>
              </a:rPr>
              <a:t>AER 92(5)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A235A"/>
                </a:solidFill>
                <a:latin typeface="Calibri"/>
              </a:rPr>
              <a:t>[20] </a:t>
            </a:r>
            <a:r>
              <a:rPr sz="1000" b="0">
                <a:solidFill>
                  <a:srgbClr val="1A1A1A"/>
                </a:solidFill>
                <a:latin typeface="Calibri"/>
              </a:rPr>
              <a:t>Renneboog &amp; Spaenjers (2013)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sz="1000" b="0" i="1">
                <a:solidFill>
                  <a:srgbClr val="777777"/>
                </a:solidFill>
                <a:latin typeface="Calibri"/>
              </a:rPr>
              <a:t>Mgmt. Sci. 59(1)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A235A"/>
                </a:solidFill>
                <a:latin typeface="Calibri"/>
              </a:rPr>
              <a:t>[21] </a:t>
            </a:r>
            <a:r>
              <a:rPr sz="1000" b="0">
                <a:solidFill>
                  <a:srgbClr val="1A1A1A"/>
                </a:solidFill>
                <a:latin typeface="Calibri"/>
              </a:rPr>
              <a:t>Dimson et al. (2015)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sz="1000" b="0" i="1">
                <a:solidFill>
                  <a:srgbClr val="777777"/>
                </a:solidFill>
                <a:latin typeface="Calibri"/>
              </a:rPr>
              <a:t>JFE 118(2)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A235A"/>
                </a:solidFill>
                <a:latin typeface="Calibri"/>
              </a:rPr>
              <a:t>[22] </a:t>
            </a:r>
            <a:r>
              <a:rPr sz="1000" b="0">
                <a:solidFill>
                  <a:srgbClr val="1A1A1A"/>
                </a:solidFill>
                <a:latin typeface="Calibri"/>
              </a:rPr>
              <a:t>Dobrynskaya &amp; Kishilova (2022)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sz="1000" b="0" i="1">
                <a:solidFill>
                  <a:srgbClr val="777777"/>
                </a:solidFill>
                <a:latin typeface="Calibri"/>
              </a:rPr>
              <a:t>RIBF 59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4A235A"/>
                </a:solidFill>
                <a:latin typeface="Calibri"/>
              </a:rPr>
              <a:t>[23] </a:t>
            </a:r>
            <a:r>
              <a:rPr sz="1000" b="0">
                <a:solidFill>
                  <a:srgbClr val="1A1A1A"/>
                </a:solidFill>
                <a:latin typeface="Calibri"/>
              </a:rPr>
              <a:t>Raditya et al. (2021)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sz="1000" b="0" i="1">
                <a:solidFill>
                  <a:srgbClr val="777777"/>
                </a:solidFill>
                <a:latin typeface="Calibri"/>
              </a:rPr>
              <a:t>Procedia CS 179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16552" y="3282696"/>
            <a:ext cx="3474720" cy="224028"/>
          </a:xfrm>
          <a:prstGeom prst="rect">
            <a:avLst/>
          </a:prstGeom>
          <a:noFill/>
          <a:ln>
            <a:noFill/>
          </a:ln>
        </p:spPr>
        <p:txBody>
          <a:bodyPr wrap="none" lIns="12700" tIns="0" bIns="0">
            <a:spAutoFit/>
          </a:bodyPr>
          <a:lstStyle/>
          <a:p>
            <a:pPr algn="l"/>
            <a:r>
              <a:rPr sz="1100" b="1">
                <a:solidFill>
                  <a:srgbClr val="782800"/>
                </a:solidFill>
                <a:latin typeface="Calibri"/>
              </a:rPr>
              <a:t>미디어 · 감성 → 자산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16552" y="3479292"/>
            <a:ext cx="3474720" cy="20116"/>
          </a:xfrm>
          <a:prstGeom prst="rect">
            <a:avLst/>
          </a:prstGeom>
          <a:solidFill>
            <a:srgbClr val="782800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16552" y="3515868"/>
            <a:ext cx="3474720" cy="1170432"/>
          </a:xfrm>
          <a:prstGeom prst="rect">
            <a:avLst/>
          </a:prstGeom>
          <a:noFill/>
          <a:ln>
            <a:noFill/>
          </a:ln>
        </p:spPr>
        <p:txBody>
          <a:bodyPr wrap="none" lIns="1270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82800"/>
                </a:solidFill>
                <a:latin typeface="Calibri"/>
              </a:rPr>
              <a:t>[24] </a:t>
            </a:r>
            <a:r>
              <a:rPr sz="1000" b="0">
                <a:solidFill>
                  <a:srgbClr val="1A1A1A"/>
                </a:solidFill>
                <a:latin typeface="Calibri"/>
              </a:rPr>
              <a:t>Tetlock (2007)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sz="1000" b="0" i="1">
                <a:solidFill>
                  <a:srgbClr val="777777"/>
                </a:solidFill>
                <a:latin typeface="Calibri"/>
              </a:rPr>
              <a:t>JF 62(3)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82800"/>
                </a:solidFill>
                <a:latin typeface="Calibri"/>
              </a:rPr>
              <a:t>[25] </a:t>
            </a:r>
            <a:r>
              <a:rPr sz="1000" b="0">
                <a:solidFill>
                  <a:srgbClr val="1A1A1A"/>
                </a:solidFill>
                <a:latin typeface="Calibri"/>
              </a:rPr>
              <a:t>Tetlock et al. (2008)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sz="1000" b="0" i="1">
                <a:solidFill>
                  <a:srgbClr val="777777"/>
                </a:solidFill>
                <a:latin typeface="Calibri"/>
              </a:rPr>
              <a:t>JF 63(3)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82800"/>
                </a:solidFill>
                <a:latin typeface="Calibri"/>
              </a:rPr>
              <a:t>[26] </a:t>
            </a:r>
            <a:r>
              <a:rPr sz="1000" b="0">
                <a:solidFill>
                  <a:srgbClr val="1A1A1A"/>
                </a:solidFill>
                <a:latin typeface="Calibri"/>
              </a:rPr>
              <a:t>Antweiler &amp; Frank (2004)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sz="1000" b="0" i="1">
                <a:solidFill>
                  <a:srgbClr val="777777"/>
                </a:solidFill>
                <a:latin typeface="Calibri"/>
              </a:rPr>
              <a:t>JF 59(3)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82800"/>
                </a:solidFill>
                <a:latin typeface="Calibri"/>
              </a:rPr>
              <a:t>[27] </a:t>
            </a:r>
            <a:r>
              <a:rPr sz="1000" b="0">
                <a:solidFill>
                  <a:srgbClr val="1A1A1A"/>
                </a:solidFill>
                <a:latin typeface="Calibri"/>
              </a:rPr>
              <a:t>Engelberg &amp; Parsons (2011)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sz="1000" b="0" i="1">
                <a:solidFill>
                  <a:srgbClr val="777777"/>
                </a:solidFill>
                <a:latin typeface="Calibri"/>
              </a:rPr>
              <a:t>JF 66(1)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82800"/>
                </a:solidFill>
                <a:latin typeface="Calibri"/>
              </a:rPr>
              <a:t>[28] </a:t>
            </a:r>
            <a:r>
              <a:rPr sz="1000" b="0">
                <a:solidFill>
                  <a:srgbClr val="1A1A1A"/>
                </a:solidFill>
                <a:latin typeface="Calibri"/>
              </a:rPr>
              <a:t>Loughran &amp; McDonald (2011)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sz="1000" b="0" i="1">
                <a:solidFill>
                  <a:srgbClr val="777777"/>
                </a:solidFill>
                <a:latin typeface="Calibri"/>
              </a:rPr>
              <a:t>JF 66(1)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82800"/>
                </a:solidFill>
                <a:latin typeface="Calibri"/>
              </a:rPr>
              <a:t>[29] </a:t>
            </a:r>
            <a:r>
              <a:rPr sz="1000" b="0">
                <a:solidFill>
                  <a:srgbClr val="1A1A1A"/>
                </a:solidFill>
                <a:latin typeface="Calibri"/>
              </a:rPr>
              <a:t>Loughran &amp; McDonald (2016)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sz="1000" b="0" i="1">
                <a:solidFill>
                  <a:srgbClr val="777777"/>
                </a:solidFill>
                <a:latin typeface="Calibri"/>
              </a:rPr>
              <a:t>JAR 54(4)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5592" y="969264"/>
            <a:ext cx="3474720" cy="224028"/>
          </a:xfrm>
          <a:prstGeom prst="rect">
            <a:avLst/>
          </a:prstGeom>
          <a:noFill/>
          <a:ln>
            <a:noFill/>
          </a:ln>
        </p:spPr>
        <p:txBody>
          <a:bodyPr wrap="none" lIns="12700" tIns="0" bIns="0">
            <a:spAutoFit/>
          </a:bodyPr>
          <a:lstStyle/>
          <a:p>
            <a:pPr algn="l"/>
            <a:r>
              <a:rPr sz="1100" b="1">
                <a:solidFill>
                  <a:srgbClr val="782800"/>
                </a:solidFill>
                <a:latin typeface="Calibri"/>
              </a:rPr>
              <a:t>미디어 · 감성 → 자산 (CONT.)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65592" y="1165860"/>
            <a:ext cx="3474720" cy="20116"/>
          </a:xfrm>
          <a:prstGeom prst="rect">
            <a:avLst/>
          </a:prstGeom>
          <a:solidFill>
            <a:srgbClr val="782800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165592" y="1202436"/>
            <a:ext cx="3474720" cy="978408"/>
          </a:xfrm>
          <a:prstGeom prst="rect">
            <a:avLst/>
          </a:prstGeom>
          <a:noFill/>
          <a:ln>
            <a:noFill/>
          </a:ln>
        </p:spPr>
        <p:txBody>
          <a:bodyPr wrap="none" lIns="1270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82800"/>
                </a:solidFill>
                <a:latin typeface="Calibri"/>
              </a:rPr>
              <a:t>[30] </a:t>
            </a:r>
            <a:r>
              <a:rPr sz="1000" b="0">
                <a:solidFill>
                  <a:srgbClr val="1A1A1A"/>
                </a:solidFill>
                <a:latin typeface="Calibri"/>
              </a:rPr>
              <a:t>García (2013)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sz="1000" b="0" i="1">
                <a:solidFill>
                  <a:srgbClr val="777777"/>
                </a:solidFill>
                <a:latin typeface="Calibri"/>
              </a:rPr>
              <a:t>JF 68(3)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82800"/>
                </a:solidFill>
                <a:latin typeface="Calibri"/>
              </a:rPr>
              <a:t>[31] </a:t>
            </a:r>
            <a:r>
              <a:rPr sz="1000" b="0">
                <a:solidFill>
                  <a:srgbClr val="1A1A1A"/>
                </a:solidFill>
                <a:latin typeface="Calibri"/>
              </a:rPr>
              <a:t>Kearney &amp; Liu (2014)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sz="1000" b="0" i="1">
                <a:solidFill>
                  <a:srgbClr val="777777"/>
                </a:solidFill>
                <a:latin typeface="Calibri"/>
              </a:rPr>
              <a:t>IRFA 33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82800"/>
                </a:solidFill>
                <a:latin typeface="Calibri"/>
              </a:rPr>
              <a:t>[32] </a:t>
            </a:r>
            <a:r>
              <a:rPr sz="1000" b="0">
                <a:solidFill>
                  <a:srgbClr val="1A1A1A"/>
                </a:solidFill>
                <a:latin typeface="Calibri"/>
              </a:rPr>
              <a:t>Heston &amp; Sinha (2017)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sz="1000" b="0" i="1">
                <a:solidFill>
                  <a:srgbClr val="777777"/>
                </a:solidFill>
                <a:latin typeface="Calibri"/>
              </a:rPr>
              <a:t>FAJ 73(3)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82800"/>
                </a:solidFill>
                <a:latin typeface="Calibri"/>
              </a:rPr>
              <a:t>[33] </a:t>
            </a:r>
            <a:r>
              <a:rPr sz="1000" b="0">
                <a:solidFill>
                  <a:srgbClr val="1A1A1A"/>
                </a:solidFill>
                <a:latin typeface="Calibri"/>
              </a:rPr>
              <a:t>Bollen et al. (2011)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sz="1000" b="0" i="1">
                <a:solidFill>
                  <a:srgbClr val="777777"/>
                </a:solidFill>
                <a:latin typeface="Calibri"/>
              </a:rPr>
              <a:t>J. Comput. Sci. 2(1)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782800"/>
                </a:solidFill>
                <a:latin typeface="Calibri"/>
              </a:rPr>
              <a:t>[34] </a:t>
            </a:r>
            <a:r>
              <a:rPr sz="1000" b="0">
                <a:solidFill>
                  <a:srgbClr val="1A1A1A"/>
                </a:solidFill>
                <a:latin typeface="Calibri"/>
              </a:rPr>
              <a:t>Sprenger et al. (2014)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sz="1000" b="0" i="1">
                <a:solidFill>
                  <a:srgbClr val="777777"/>
                </a:solidFill>
                <a:latin typeface="Calibri"/>
              </a:rPr>
              <a:t>EFM 20(5)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65592" y="2318004"/>
            <a:ext cx="3474720" cy="224028"/>
          </a:xfrm>
          <a:prstGeom prst="rect">
            <a:avLst/>
          </a:prstGeom>
          <a:noFill/>
          <a:ln>
            <a:noFill/>
          </a:ln>
        </p:spPr>
        <p:txBody>
          <a:bodyPr wrap="none" lIns="12700" tIns="0" bIns="0">
            <a:spAutoFit/>
          </a:bodyPr>
          <a:lstStyle/>
          <a:p>
            <a:pPr algn="l"/>
            <a:r>
              <a:rPr sz="1100" b="1">
                <a:solidFill>
                  <a:srgbClr val="0B3D66"/>
                </a:solidFill>
                <a:latin typeface="Calibri"/>
              </a:rPr>
              <a:t>검색 · 디지털 흔적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65592" y="2514600"/>
            <a:ext cx="3474720" cy="20116"/>
          </a:xfrm>
          <a:prstGeom prst="rect">
            <a:avLst/>
          </a:prstGeom>
          <a:solidFill>
            <a:srgbClr val="0B3D66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65592" y="2551176"/>
            <a:ext cx="3474720" cy="1554480"/>
          </a:xfrm>
          <a:prstGeom prst="rect">
            <a:avLst/>
          </a:prstGeom>
          <a:noFill/>
          <a:ln>
            <a:noFill/>
          </a:ln>
        </p:spPr>
        <p:txBody>
          <a:bodyPr wrap="none" lIns="1270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B3D66"/>
                </a:solidFill>
                <a:latin typeface="Calibri"/>
              </a:rPr>
              <a:t>[35] </a:t>
            </a:r>
            <a:r>
              <a:rPr sz="1000" b="0">
                <a:solidFill>
                  <a:srgbClr val="1A1A1A"/>
                </a:solidFill>
                <a:latin typeface="Calibri"/>
              </a:rPr>
              <a:t>Da et al. (2011)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sz="1000" b="0" i="1">
                <a:solidFill>
                  <a:srgbClr val="777777"/>
                </a:solidFill>
                <a:latin typeface="Calibri"/>
              </a:rPr>
              <a:t>JF 66(5)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B3D66"/>
                </a:solidFill>
                <a:latin typeface="Calibri"/>
              </a:rPr>
              <a:t>[36] </a:t>
            </a:r>
            <a:r>
              <a:rPr sz="1000" b="0">
                <a:solidFill>
                  <a:srgbClr val="1A1A1A"/>
                </a:solidFill>
                <a:latin typeface="Calibri"/>
              </a:rPr>
              <a:t>Preis et al. (2013)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sz="1000" b="0" i="1">
                <a:solidFill>
                  <a:srgbClr val="777777"/>
                </a:solidFill>
                <a:latin typeface="Calibri"/>
              </a:rPr>
              <a:t>Sci. Rep. 3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B3D66"/>
                </a:solidFill>
                <a:latin typeface="Calibri"/>
              </a:rPr>
              <a:t>[37] </a:t>
            </a:r>
            <a:r>
              <a:rPr sz="1000" b="0">
                <a:solidFill>
                  <a:srgbClr val="1A1A1A"/>
                </a:solidFill>
                <a:latin typeface="Calibri"/>
              </a:rPr>
              <a:t>Joseph et al. (2011)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sz="1000" b="0" i="1">
                <a:solidFill>
                  <a:srgbClr val="777777"/>
                </a:solidFill>
                <a:latin typeface="Calibri"/>
              </a:rPr>
              <a:t>IJF 27(4)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B3D66"/>
                </a:solidFill>
                <a:latin typeface="Calibri"/>
              </a:rPr>
              <a:t>[38] </a:t>
            </a:r>
            <a:r>
              <a:rPr sz="1000" b="0">
                <a:solidFill>
                  <a:srgbClr val="1A1A1A"/>
                </a:solidFill>
                <a:latin typeface="Calibri"/>
              </a:rPr>
              <a:t>Vlastakis &amp; Markellos (2012)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sz="1000" b="0" i="1">
                <a:solidFill>
                  <a:srgbClr val="777777"/>
                </a:solidFill>
                <a:latin typeface="Calibri"/>
              </a:rPr>
              <a:t>JBF 36(6)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B3D66"/>
                </a:solidFill>
                <a:latin typeface="Calibri"/>
              </a:rPr>
              <a:t>[39] </a:t>
            </a:r>
            <a:r>
              <a:rPr sz="1000" b="0">
                <a:solidFill>
                  <a:srgbClr val="1A1A1A"/>
                </a:solidFill>
                <a:latin typeface="Calibri"/>
              </a:rPr>
              <a:t>Vozlyublennaia (2014)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sz="1000" b="0" i="1">
                <a:solidFill>
                  <a:srgbClr val="777777"/>
                </a:solidFill>
                <a:latin typeface="Calibri"/>
              </a:rPr>
              <a:t>JBF 41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B3D66"/>
                </a:solidFill>
                <a:latin typeface="Calibri"/>
              </a:rPr>
              <a:t>[40] </a:t>
            </a:r>
            <a:r>
              <a:rPr sz="1000" b="0">
                <a:solidFill>
                  <a:srgbClr val="1A1A1A"/>
                </a:solidFill>
                <a:latin typeface="Calibri"/>
              </a:rPr>
              <a:t>Bordino et al. (2012)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sz="1000" b="0" i="1">
                <a:solidFill>
                  <a:srgbClr val="777777"/>
                </a:solidFill>
                <a:latin typeface="Calibri"/>
              </a:rPr>
              <a:t>PLoS ONE 7(7)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B3D66"/>
                </a:solidFill>
                <a:latin typeface="Calibri"/>
              </a:rPr>
              <a:t>[41] </a:t>
            </a:r>
            <a:r>
              <a:rPr sz="1000" b="0">
                <a:solidFill>
                  <a:srgbClr val="1A1A1A"/>
                </a:solidFill>
                <a:latin typeface="Calibri"/>
              </a:rPr>
              <a:t>Moat et al. (2013)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sz="1000" b="0" i="1">
                <a:solidFill>
                  <a:srgbClr val="777777"/>
                </a:solidFill>
                <a:latin typeface="Calibri"/>
              </a:rPr>
              <a:t>Sci. Rep. 3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B3D66"/>
                </a:solidFill>
                <a:latin typeface="Calibri"/>
              </a:rPr>
              <a:t>[42] </a:t>
            </a:r>
            <a:r>
              <a:rPr sz="1000" b="0">
                <a:solidFill>
                  <a:srgbClr val="1A1A1A"/>
                </a:solidFill>
                <a:latin typeface="Calibri"/>
              </a:rPr>
              <a:t>Curme et al. (2014)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sz="1000" b="0" i="1">
                <a:solidFill>
                  <a:srgbClr val="777777"/>
                </a:solidFill>
                <a:latin typeface="Calibri"/>
              </a:rPr>
              <a:t>PNAS 111(32)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65592" y="4242816"/>
            <a:ext cx="3474720" cy="224028"/>
          </a:xfrm>
          <a:prstGeom prst="rect">
            <a:avLst/>
          </a:prstGeom>
          <a:noFill/>
          <a:ln>
            <a:noFill/>
          </a:ln>
        </p:spPr>
        <p:txBody>
          <a:bodyPr wrap="none" lIns="12700" tIns="0" bIns="0">
            <a:spAutoFit/>
          </a:bodyPr>
          <a:lstStyle/>
          <a:p>
            <a:pPr algn="l"/>
            <a:r>
              <a:rPr sz="1100" b="1">
                <a:solidFill>
                  <a:srgbClr val="374751"/>
                </a:solidFill>
                <a:latin typeface="Calibri"/>
              </a:rPr>
              <a:t>데이터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65592" y="4439412"/>
            <a:ext cx="3474720" cy="20116"/>
          </a:xfrm>
          <a:prstGeom prst="rect">
            <a:avLst/>
          </a:prstGeom>
          <a:solidFill>
            <a:srgbClr val="374751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165592" y="4475988"/>
            <a:ext cx="3474720" cy="1261866"/>
          </a:xfrm>
          <a:prstGeom prst="rect">
            <a:avLst/>
          </a:prstGeom>
          <a:noFill/>
          <a:ln>
            <a:noFill/>
          </a:ln>
        </p:spPr>
        <p:txBody>
          <a:bodyPr wrap="none" lIns="12700" tIns="0" bIns="0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74751"/>
                </a:solidFill>
                <a:latin typeface="Calibri"/>
              </a:rPr>
              <a:t>[43] </a:t>
            </a:r>
            <a:r>
              <a:rPr sz="1000" b="0">
                <a:solidFill>
                  <a:srgbClr val="1A1A1A"/>
                </a:solidFill>
                <a:latin typeface="Calibri"/>
              </a:rPr>
              <a:t>Leetaru &amp; Schrodt (2013) GDELT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sz="1000" b="0" i="1">
                <a:solidFill>
                  <a:srgbClr val="777777"/>
                </a:solidFill>
                <a:latin typeface="Calibri"/>
              </a:rPr>
              <a:t>ISA Annual Conv.</a:t>
            </a:r>
          </a:p>
          <a:p>
            <a:r>
              <a:rPr sz="1000" b="1">
                <a:solidFill>
                  <a:srgbClr val="374751"/>
                </a:solidFill>
                <a:latin typeface="Calibri"/>
              </a:rPr>
              <a:t>[44] </a:t>
            </a:r>
            <a:r>
              <a:rPr sz="1000" b="0">
                <a:solidFill>
                  <a:srgbClr val="1A1A1A"/>
                </a:solidFill>
                <a:latin typeface="Calibri"/>
              </a:rPr>
              <a:t>StockX (2025)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sz="1000" b="0">
                <a:solidFill>
                  <a:srgbClr val="777777"/>
                </a:solidFill>
                <a:latin typeface="Calibri"/>
              </a:rPr>
              <a:t>Sneaker resale marketplace data, stockx.com</a:t>
            </a:r>
          </a:p>
          <a:p>
            <a:r>
              <a:rPr sz="1000" b="1">
                <a:solidFill>
                  <a:srgbClr val="374751"/>
                </a:solidFill>
                <a:latin typeface="Calibri"/>
              </a:rPr>
              <a:t>[45] </a:t>
            </a:r>
            <a:r>
              <a:rPr sz="1000" b="0">
                <a:solidFill>
                  <a:srgbClr val="1A1A1A"/>
                </a:solidFill>
                <a:latin typeface="Calibri"/>
              </a:rPr>
              <a:t>PriceCharting (2025)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sz="1000" b="0">
                <a:solidFill>
                  <a:srgbClr val="777777"/>
                </a:solidFill>
                <a:latin typeface="Calibri"/>
              </a:rPr>
              <a:t>Trading card price guide, pricecharting.com</a:t>
            </a:r>
          </a:p>
          <a:p>
            <a:r>
              <a:rPr sz="1000" b="1">
                <a:solidFill>
                  <a:srgbClr val="374751"/>
                </a:solidFill>
                <a:latin typeface="Calibri"/>
              </a:rPr>
              <a:t>[46] </a:t>
            </a:r>
            <a:r>
              <a:rPr sz="1000" b="0">
                <a:solidFill>
                  <a:srgbClr val="1A1A1A"/>
                </a:solidFill>
                <a:latin typeface="Calibri"/>
              </a:rPr>
              <a:t>BrickRanker (2025)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sz="1000" b="0">
                <a:solidFill>
                  <a:srgbClr val="777777"/>
                </a:solidFill>
                <a:latin typeface="Calibri"/>
              </a:rPr>
              <a:t>LEGO secondary-market index, brickranker.com</a:t>
            </a:r>
          </a:p>
          <a:p>
            <a:r>
              <a:rPr sz="1000" b="1">
                <a:solidFill>
                  <a:srgbClr val="374751"/>
                </a:solidFill>
                <a:latin typeface="Calibri"/>
              </a:rPr>
              <a:t>[47] </a:t>
            </a:r>
            <a:r>
              <a:rPr sz="1000" b="0">
                <a:solidFill>
                  <a:srgbClr val="1A1A1A"/>
                </a:solidFill>
                <a:latin typeface="Calibri"/>
              </a:rPr>
              <a:t>Google Trends API (pytrends)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sz="1000" b="0">
                <a:solidFill>
                  <a:srgbClr val="777777"/>
                </a:solidFill>
                <a:latin typeface="Calibri"/>
              </a:rPr>
              <a:t>trends.google.com</a:t>
            </a:r>
          </a:p>
          <a:p>
            <a:r>
              <a:rPr sz="1000" b="1">
                <a:solidFill>
                  <a:srgbClr val="374751"/>
                </a:solidFill>
                <a:latin typeface="Calibri"/>
              </a:rPr>
              <a:t>[48] </a:t>
            </a:r>
            <a:r>
              <a:rPr sz="1000" b="0">
                <a:solidFill>
                  <a:srgbClr val="1A1A1A"/>
                </a:solidFill>
                <a:latin typeface="Calibri"/>
              </a:rPr>
              <a:t>YouTube Data API v3</a:t>
            </a:r>
            <a:r>
              <a:rPr sz="1000">
                <a:solidFill>
                  <a:srgbClr val="CCCCCC"/>
                </a:solidFill>
                <a:latin typeface="Calibri"/>
              </a:rPr>
              <a:t>  ·  </a:t>
            </a:r>
            <a:r>
              <a:rPr sz="1000" b="0">
                <a:solidFill>
                  <a:srgbClr val="777777"/>
                </a:solidFill>
                <a:latin typeface="Calibri"/>
              </a:rPr>
              <a:t>developers.google.com/youtube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" y="6638544"/>
            <a:ext cx="11247120" cy="12801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67512" y="6675120"/>
            <a:ext cx="10972800" cy="16459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888888"/>
                </a:solidFill>
                <a:latin typeface="Calibri"/>
              </a:rPr>
              <a:t>48 references  ·  리셀 시장 미디어 선행 지표 연구  ·  draft.tex 인용 + 데이터 출처 기준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348</TotalTime>
  <Words>5099</Words>
  <Application>Microsoft Office PowerPoint</Application>
  <PresentationFormat>사용자 지정</PresentationFormat>
  <Paragraphs>771</Paragraphs>
  <Slides>26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0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이승현(2022314025)</cp:lastModifiedBy>
  <cp:revision>16</cp:revision>
  <dcterms:created xsi:type="dcterms:W3CDTF">2013-01-27T09:14:16Z</dcterms:created>
  <dcterms:modified xsi:type="dcterms:W3CDTF">2026-06-07T13:13:23Z</dcterms:modified>
  <cp:category/>
</cp:coreProperties>
</file>