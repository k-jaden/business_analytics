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 lIns="164592" tIns="50800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1188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8AB4D6"/>
                </a:solidFill>
                <a:latin typeface="Calibri"/>
              </a:rPr>
              <a:t>draft.tex 실제 인용 43건  ·  계량경제 · ML/NLP · 대안자산 · 미디어·감성 · 검색·디지털 ·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48640"/>
            <a:ext cx="12188952" cy="1463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80357" y="594360"/>
            <a:ext cx="10972" cy="6117336"/>
          </a:xfrm>
          <a:prstGeom prst="rect">
            <a:avLst/>
          </a:prstGeom>
          <a:solidFill>
            <a:srgbClr val="C8D4E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97621" y="594360"/>
            <a:ext cx="10972" cy="6117336"/>
          </a:xfrm>
          <a:prstGeom prst="rect">
            <a:avLst/>
          </a:prstGeom>
          <a:solidFill>
            <a:srgbClr val="C8D4E8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5448" y="612648"/>
            <a:ext cx="3843528" cy="1755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계량경제 ·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788212"/>
            <a:ext cx="22860" cy="138165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0195" y="788212"/>
            <a:ext cx="3808780" cy="1409090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[1] </a:t>
            </a:r>
            <a:r>
              <a:rPr b="0" sz="700">
                <a:solidFill>
                  <a:srgbClr val="181818"/>
                </a:solidFill>
                <a:latin typeface="Calibri"/>
              </a:rPr>
              <a:t>Granger (1969)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Econometrica 37(3)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[2] </a:t>
            </a:r>
            <a:r>
              <a:rPr b="0" sz="700">
                <a:solidFill>
                  <a:srgbClr val="181818"/>
                </a:solidFill>
                <a:latin typeface="Calibri"/>
              </a:rPr>
              <a:t>Dickey &amp; Fuller (1979)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JASA 74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[3] </a:t>
            </a:r>
            <a:r>
              <a:rPr b="0" sz="700">
                <a:solidFill>
                  <a:srgbClr val="181818"/>
                </a:solidFill>
                <a:latin typeface="Calibri"/>
              </a:rPr>
              <a:t>Schwarz (1978)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Ann. Stat. 6(2)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[4] </a:t>
            </a:r>
            <a:r>
              <a:rPr b="0" sz="700">
                <a:solidFill>
                  <a:srgbClr val="181818"/>
                </a:solidFill>
                <a:latin typeface="Calibri"/>
              </a:rPr>
              <a:t>Diebold &amp; Mariano (1995)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JBES 13(3)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[5] </a:t>
            </a:r>
            <a:r>
              <a:rPr b="0" sz="700">
                <a:solidFill>
                  <a:srgbClr val="181818"/>
                </a:solidFill>
                <a:latin typeface="Calibri"/>
              </a:rPr>
              <a:t>Benjamini &amp; Hochberg (1995)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JRSS-B 57(1)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[6] </a:t>
            </a:r>
            <a:r>
              <a:rPr b="0" sz="700">
                <a:solidFill>
                  <a:srgbClr val="181818"/>
                </a:solidFill>
                <a:latin typeface="Calibri"/>
              </a:rPr>
              <a:t>West (1996)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Econometrica 64(5)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[7] </a:t>
            </a:r>
            <a:r>
              <a:rPr b="0" sz="700">
                <a:solidFill>
                  <a:srgbClr val="181818"/>
                </a:solidFill>
                <a:latin typeface="Calibri"/>
              </a:rPr>
              <a:t>Hansen (2005)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JBES 23(4)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[8] </a:t>
            </a:r>
            <a:r>
              <a:rPr b="0" sz="700">
                <a:solidFill>
                  <a:srgbClr val="181818"/>
                </a:solidFill>
                <a:latin typeface="Calibri"/>
              </a:rPr>
              <a:t>Hansen et al.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Econometrica 79(2)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[9] </a:t>
            </a:r>
            <a:r>
              <a:rPr b="0" sz="700">
                <a:solidFill>
                  <a:srgbClr val="181818"/>
                </a:solidFill>
                <a:latin typeface="Calibri"/>
              </a:rPr>
              <a:t>Holtz-Eakin et al. (1988)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Econometrica 56(6)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[10] </a:t>
            </a:r>
            <a:r>
              <a:rPr b="0" sz="700">
                <a:solidFill>
                  <a:srgbClr val="181818"/>
                </a:solidFill>
                <a:latin typeface="Calibri"/>
              </a:rPr>
              <a:t>Dumitrescu &amp; Hurlin (2012)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Econ. Modelling 29(4)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F4E79"/>
                </a:solidFill>
                <a:latin typeface="Calibri"/>
              </a:rPr>
              <a:t>[11] </a:t>
            </a:r>
            <a:r>
              <a:rPr b="0" sz="700">
                <a:solidFill>
                  <a:srgbClr val="181818"/>
                </a:solidFill>
                <a:latin typeface="Calibri"/>
              </a:rPr>
              <a:t>Welch &amp; Goyal (2008)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RFS 21(4)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" y="2275027"/>
            <a:ext cx="3843528" cy="175564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머신러닝 ·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" y="2450592"/>
            <a:ext cx="22860" cy="511149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0195" y="2450592"/>
            <a:ext cx="3808780" cy="538581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[12] </a:t>
            </a:r>
            <a:r>
              <a:rPr b="0" sz="700">
                <a:solidFill>
                  <a:srgbClr val="181818"/>
                </a:solidFill>
                <a:latin typeface="Calibri"/>
              </a:rPr>
              <a:t>Chen &amp; Guestrin (2016)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KDD 2016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[13] </a:t>
            </a:r>
            <a:r>
              <a:rPr b="0" sz="700">
                <a:solidFill>
                  <a:srgbClr val="181818"/>
                </a:solidFill>
                <a:latin typeface="Calibri"/>
              </a:rPr>
              <a:t>Lundberg &amp; Lee (2017)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NeurIPS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[14] </a:t>
            </a:r>
            <a:r>
              <a:rPr b="0" sz="700">
                <a:solidFill>
                  <a:srgbClr val="181818"/>
                </a:solidFill>
                <a:latin typeface="Calibri"/>
              </a:rPr>
              <a:t>Araci (2019) FinBERT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arXiv:1908.10063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[15] </a:t>
            </a:r>
            <a:r>
              <a:rPr b="0" sz="700">
                <a:solidFill>
                  <a:srgbClr val="181818"/>
                </a:solidFill>
                <a:latin typeface="Calibri"/>
              </a:rPr>
              <a:t>Devlin et al. (2019)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NAACL-HLT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2712" y="612648"/>
            <a:ext cx="3843528" cy="175564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머신러닝 · NLP (CONT.)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2712" y="788212"/>
            <a:ext cx="22860" cy="262432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07459" y="788212"/>
            <a:ext cx="3808780" cy="289864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[16] </a:t>
            </a:r>
            <a:r>
              <a:rPr b="0" sz="700">
                <a:solidFill>
                  <a:srgbClr val="181818"/>
                </a:solidFill>
                <a:latin typeface="Calibri"/>
              </a:rPr>
              <a:t>Gu et al. (2020)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RFS 33(5)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145A32"/>
                </a:solidFill>
                <a:latin typeface="Calibri"/>
              </a:rPr>
              <a:t>[17] </a:t>
            </a:r>
            <a:r>
              <a:rPr b="0" sz="700">
                <a:solidFill>
                  <a:srgbClr val="181818"/>
                </a:solidFill>
                <a:latin typeface="Calibri"/>
              </a:rPr>
              <a:t>Akiba et al. (2019)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KDD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2712" y="1155801"/>
            <a:ext cx="3843528" cy="175564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대안 자산 · 수집품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2712" y="1331366"/>
            <a:ext cx="22860" cy="759866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07459" y="1331366"/>
            <a:ext cx="3808780" cy="787298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[18] </a:t>
            </a:r>
            <a:r>
              <a:rPr b="0" sz="700">
                <a:solidFill>
                  <a:srgbClr val="181818"/>
                </a:solidFill>
                <a:latin typeface="Calibri"/>
              </a:rPr>
              <a:t>Burton &amp; Jacobsen (1999)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JEP 13(4)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[19] </a:t>
            </a:r>
            <a:r>
              <a:rPr b="0" sz="700">
                <a:solidFill>
                  <a:srgbClr val="181818"/>
                </a:solidFill>
                <a:latin typeface="Calibri"/>
              </a:rPr>
              <a:t>Mei &amp; Moses (2002)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AER 92(5)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[20] </a:t>
            </a:r>
            <a:r>
              <a:rPr b="0" sz="700">
                <a:solidFill>
                  <a:srgbClr val="181818"/>
                </a:solidFill>
                <a:latin typeface="Calibri"/>
              </a:rPr>
              <a:t>Renneboog &amp; Spaenjers (2013)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Mgmt. Sci. 59(1)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[21] </a:t>
            </a:r>
            <a:r>
              <a:rPr b="0" sz="700">
                <a:solidFill>
                  <a:srgbClr val="181818"/>
                </a:solidFill>
                <a:latin typeface="Calibri"/>
              </a:rPr>
              <a:t>Dimson et al. (2015)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JFE 118(2)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[22] </a:t>
            </a:r>
            <a:r>
              <a:rPr b="0" sz="700">
                <a:solidFill>
                  <a:srgbClr val="181818"/>
                </a:solidFill>
                <a:latin typeface="Calibri"/>
              </a:rPr>
              <a:t>Dobrynskaya &amp; Kishilova (2022)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RIBF 59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4A235A"/>
                </a:solidFill>
                <a:latin typeface="Calibri"/>
              </a:rPr>
              <a:t>[23] </a:t>
            </a:r>
            <a:r>
              <a:rPr b="0" sz="700">
                <a:solidFill>
                  <a:srgbClr val="181818"/>
                </a:solidFill>
                <a:latin typeface="Calibri"/>
              </a:rPr>
              <a:t>Raditya et al. (2021)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Procedia CS 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2712" y="2196388"/>
            <a:ext cx="3843528" cy="175564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미디어 · 감성 →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2712" y="2371953"/>
            <a:ext cx="22860" cy="884224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07459" y="2371953"/>
            <a:ext cx="3808780" cy="911656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[24] </a:t>
            </a:r>
            <a:r>
              <a:rPr b="0" sz="700">
                <a:solidFill>
                  <a:srgbClr val="181818"/>
                </a:solidFill>
                <a:latin typeface="Calibri"/>
              </a:rPr>
              <a:t>Tetlock (2007)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62(3)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[25] </a:t>
            </a:r>
            <a:r>
              <a:rPr b="0" sz="700">
                <a:solidFill>
                  <a:srgbClr val="181818"/>
                </a:solidFill>
                <a:latin typeface="Calibri"/>
              </a:rPr>
              <a:t>Tetlock et al. (2008)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[26] </a:t>
            </a:r>
            <a:r>
              <a:rPr b="0" sz="700">
                <a:solidFill>
                  <a:srgbClr val="181818"/>
                </a:solidFill>
                <a:latin typeface="Calibri"/>
              </a:rPr>
              <a:t>Antweiler &amp; Frank (2004)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59(3)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[27] </a:t>
            </a:r>
            <a:r>
              <a:rPr b="0" sz="700">
                <a:solidFill>
                  <a:srgbClr val="181818"/>
                </a:solidFill>
                <a:latin typeface="Calibri"/>
              </a:rPr>
              <a:t>Engelberg &amp; Parsons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[28] </a:t>
            </a:r>
            <a:r>
              <a:rPr b="0" sz="700">
                <a:solidFill>
                  <a:srgbClr val="181818"/>
                </a:solidFill>
                <a:latin typeface="Calibri"/>
              </a:rPr>
              <a:t>Loughran &amp; McDonald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[29] </a:t>
            </a:r>
            <a:r>
              <a:rPr b="0" sz="700">
                <a:solidFill>
                  <a:srgbClr val="181818"/>
                </a:solidFill>
                <a:latin typeface="Calibri"/>
              </a:rPr>
              <a:t>Loughran &amp; McDonald (2016)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JAR 54(4)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[30] </a:t>
            </a:r>
            <a:r>
              <a:rPr b="0" sz="700">
                <a:solidFill>
                  <a:srgbClr val="181818"/>
                </a:solidFill>
                <a:latin typeface="Calibri"/>
              </a:rPr>
              <a:t>García (2013)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68(3)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9976" y="612648"/>
            <a:ext cx="3843528" cy="175564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미디어 · 감성 → 자산 (CONT.)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9976" y="788212"/>
            <a:ext cx="22860" cy="511149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4723" y="788212"/>
            <a:ext cx="3808780" cy="538581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[31] </a:t>
            </a:r>
            <a:r>
              <a:rPr b="0" sz="700">
                <a:solidFill>
                  <a:srgbClr val="181818"/>
                </a:solidFill>
                <a:latin typeface="Calibri"/>
              </a:rPr>
              <a:t>Kearney &amp; Liu (2014)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IRFA 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[32] </a:t>
            </a:r>
            <a:r>
              <a:rPr b="0" sz="700">
                <a:solidFill>
                  <a:srgbClr val="181818"/>
                </a:solidFill>
                <a:latin typeface="Calibri"/>
              </a:rPr>
              <a:t>Heston &amp; Sinha (2017)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FAJ 73(3)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[33] </a:t>
            </a:r>
            <a:r>
              <a:rPr b="0" sz="700">
                <a:solidFill>
                  <a:srgbClr val="181818"/>
                </a:solidFill>
                <a:latin typeface="Calibri"/>
              </a:rPr>
              <a:t>Bollen et al.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J. Comput. Sci. 2(1)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782800"/>
                </a:solidFill>
                <a:latin typeface="Calibri"/>
              </a:rPr>
              <a:t>[34] </a:t>
            </a:r>
            <a:r>
              <a:rPr b="0" sz="700">
                <a:solidFill>
                  <a:srgbClr val="181818"/>
                </a:solidFill>
                <a:latin typeface="Calibri"/>
              </a:rPr>
              <a:t>Sprenger et al. (2014)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EFM 20(5)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976" y="1404518"/>
            <a:ext cx="3843528" cy="175564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검색 · 디지털 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9976" y="1580083"/>
            <a:ext cx="22860" cy="1008583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4723" y="1580083"/>
            <a:ext cx="3808780" cy="1036015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[35] </a:t>
            </a:r>
            <a:r>
              <a:rPr b="0" sz="700">
                <a:solidFill>
                  <a:srgbClr val="181818"/>
                </a:solidFill>
                <a:latin typeface="Calibri"/>
              </a:rPr>
              <a:t>Da et al.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JF 66(5)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[36] </a:t>
            </a:r>
            <a:r>
              <a:rPr b="0" sz="700">
                <a:solidFill>
                  <a:srgbClr val="181818"/>
                </a:solidFill>
                <a:latin typeface="Calibri"/>
              </a:rPr>
              <a:t>Preis et al. (2013)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[37] </a:t>
            </a:r>
            <a:r>
              <a:rPr b="0" sz="700">
                <a:solidFill>
                  <a:srgbClr val="181818"/>
                </a:solidFill>
                <a:latin typeface="Calibri"/>
              </a:rPr>
              <a:t>Joseph et al. (2011)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IJF 27(4)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[38] </a:t>
            </a:r>
            <a:r>
              <a:rPr b="0" sz="700">
                <a:solidFill>
                  <a:srgbClr val="181818"/>
                </a:solidFill>
                <a:latin typeface="Calibri"/>
              </a:rPr>
              <a:t>Vlastakis &amp; Markellos (2012)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JBF 36(6)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[39] </a:t>
            </a:r>
            <a:r>
              <a:rPr b="0" sz="700">
                <a:solidFill>
                  <a:srgbClr val="181818"/>
                </a:solidFill>
                <a:latin typeface="Calibri"/>
              </a:rPr>
              <a:t>Vozlyublennaia (2014)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JBF 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[40] </a:t>
            </a:r>
            <a:r>
              <a:rPr b="0" sz="700">
                <a:solidFill>
                  <a:srgbClr val="181818"/>
                </a:solidFill>
                <a:latin typeface="Calibri"/>
              </a:rPr>
              <a:t>Bordino et al. (2012)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PLoS ONE 7(7)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[41] </a:t>
            </a:r>
            <a:r>
              <a:rPr b="0" sz="700">
                <a:solidFill>
                  <a:srgbClr val="181818"/>
                </a:solidFill>
                <a:latin typeface="Calibri"/>
              </a:rPr>
              <a:t>Moat et al. (2013)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0B3D66"/>
                </a:solidFill>
                <a:latin typeface="Calibri"/>
              </a:rPr>
              <a:t>[42] </a:t>
            </a:r>
            <a:r>
              <a:rPr b="0" sz="700">
                <a:solidFill>
                  <a:srgbClr val="181818"/>
                </a:solidFill>
                <a:latin typeface="Calibri"/>
              </a:rPr>
              <a:t>Curme et al. (2014)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PNAS 111(32)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9976" y="2693822"/>
            <a:ext cx="3843528" cy="175564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 lIns="64008" tIns="25400" bIns="0">
            <a:spAutoFit/>
          </a:bodyPr>
          <a:lstStyle/>
          <a:p>
            <a:pPr algn="l"/>
            <a:r>
              <a:rPr b="1" sz="680">
                <a:solidFill>
                  <a:srgbClr val="FFFFFF"/>
                </a:solidFill>
                <a:latin typeface="Calibri"/>
              </a:rPr>
              <a:t>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9976" y="2869387"/>
            <a:ext cx="22860" cy="138074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4723" y="2869387"/>
            <a:ext cx="3808780" cy="165506"/>
          </a:xfrm>
          <a:prstGeom prst="rect">
            <a:avLst/>
          </a:prstGeom>
          <a:noFill/>
          <a:ln>
            <a:noFill/>
          </a:ln>
        </p:spPr>
        <p:txBody>
          <a:bodyPr wrap="none" tIns="12700" bIns="0" lIns="381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00">
                <a:solidFill>
                  <a:srgbClr val="374751"/>
                </a:solidFill>
                <a:latin typeface="Calibri"/>
              </a:rPr>
              <a:t>[43] </a:t>
            </a:r>
            <a:r>
              <a:rPr b="0" sz="700">
                <a:solidFill>
                  <a:srgbClr val="181818"/>
                </a:solidFill>
                <a:latin typeface="Calibri"/>
              </a:rPr>
              <a:t>Leetaru &amp; Schrodt (2013) GDELT</a:t>
            </a:r>
            <a:r>
              <a:rPr sz="700">
                <a:solidFill>
                  <a:srgbClr val="BBBBBB"/>
                </a:solidFill>
                <a:latin typeface="Calibri"/>
              </a:rPr>
              <a:t>  ·  </a:t>
            </a:r>
            <a:r>
              <a:rPr b="0" sz="700" i="1">
                <a:solidFill>
                  <a:srgbClr val="666666"/>
                </a:solidFill>
                <a:latin typeface="Calibri"/>
              </a:rPr>
              <a:t>ISA Annual Conv.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88AACC"/>
                </a:solidFill>
                <a:latin typeface="Calibri"/>
              </a:rPr>
              <a:t>43 references  ·  Granger (1969) … Leetaru &amp; Schrodt (2013)  ·  리셀 시장 미디어 선행 지표 연구  ·  draft.tex 인용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