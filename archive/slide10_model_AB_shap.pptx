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  모델 A &amp; B 결과 — 그리고 SHAP이 밝힌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모델 A(전채널 5개) vs 모델 B(Granger raw p&lt;0.05 유의 채널) AUC 비교  →  SHAP으로 실제 예측 기여 채널 파악  →  Model C 설계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978408"/>
            <a:ext cx="571500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D4E"/>
                </a:solidFill>
                <a:latin typeface="Calibri"/>
              </a:rPr>
              <a:t>모델 A vs B  AUC 비교 (XGBoost, TimeSeriesSplit n=5)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344168"/>
          <a:ext cx="6492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 AUC
(전채널)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 AUC
(Granger 선별)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ΔAUC
(B −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해석
(AUC 기준)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0.8413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0.8461 †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+0.0048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B 소폭 높음
(통계적 동등)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0.8587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0.8612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+0.0025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B 소폭 높음
(통계적 동등)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0.9601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0.9601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동일
(유의채널 없음)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3319272"/>
            <a:ext cx="5715000" cy="512064"/>
          </a:xfrm>
          <a:prstGeom prst="rect">
            <a:avLst/>
          </a:prstGeom>
          <a:solidFill>
            <a:srgbClr val="F8F8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33558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2D4E"/>
                </a:solidFill>
                <a:latin typeface="Calibri"/>
              </a:rPr>
              <a:t>표 색상 범례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66160"/>
            <a:ext cx="219456" cy="182880"/>
          </a:xfrm>
          <a:prstGeom prst="rect">
            <a:avLst/>
          </a:prstGeom>
          <a:solidFill>
            <a:srgbClr val="E3F2FD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3557016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스니커즈 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566160"/>
            <a:ext cx="219456" cy="182880"/>
          </a:xfrm>
          <a:prstGeom prst="rect">
            <a:avLst/>
          </a:prstGeom>
          <a:solidFill>
            <a:srgbClr val="E8F5E9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36776" y="3557016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카드 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9736" y="3566160"/>
            <a:ext cx="219456" cy="182880"/>
          </a:xfrm>
          <a:prstGeom prst="rect">
            <a:avLst/>
          </a:prstGeom>
          <a:solidFill>
            <a:srgbClr val="FFF9C4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06624" y="3557016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레고 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3566160"/>
            <a:ext cx="219456" cy="182880"/>
          </a:xfrm>
          <a:prstGeom prst="rect">
            <a:avLst/>
          </a:prstGeom>
          <a:solidFill>
            <a:srgbClr val="D4EDDA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76472" y="3557016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AUC 동등
(B 소폭↑)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3566160"/>
            <a:ext cx="219456" cy="182880"/>
          </a:xfrm>
          <a:prstGeom prst="rect">
            <a:avLst/>
          </a:prstGeom>
          <a:solidFill>
            <a:srgbClr val="F0F0F0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19" y="3557016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레고: B=A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3886200"/>
            <a:ext cx="57150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† 스니커즈 B: CH1+CH3+CH4 조합 AUC 미산출 → 개별 AUC 평균 근사 (0.8461)  |  해석은 XGBClassifier AUC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978408"/>
            <a:ext cx="585216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D4E"/>
                </a:solidFill>
                <a:latin typeface="Calibri"/>
              </a:rPr>
              <a:t>SHAP 분석 — 실제 예측 기여 채널 순위 (Model A 기반)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344168"/>
            <a:ext cx="1847088" cy="1920240"/>
          </a:xfrm>
          <a:prstGeom prst="rect">
            <a:avLst/>
          </a:prstGeom>
          <a:solidFill>
            <a:srgbClr val="E3F2FD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2" y="1399032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DA4"/>
                </a:solidFill>
                <a:latin typeface="Calibri"/>
              </a:rPr>
              <a:t>스니커즈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1673352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Calibri"/>
              </a:rPr>
              <a:t>★CH1 + CH5  → Model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1892808"/>
            <a:ext cx="1700784" cy="1298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A0A0A"/>
                </a:solidFill>
                <a:latin typeface="Calibri"/>
              </a:rPr>
              <a:t>1위: CH1 Google Trends  (0.125)
2위: CH5 YT 댓글감성    (0.124)
3위: CH4 유튜브 조회수  (0.080)
4위: CH3 뉴스 감성       (0.011)
주목: CH3은 Granger 1위지만
SHAP에서는 4위 (0.011)
→ 선행성 ≠ 예측 기여도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1344168"/>
            <a:ext cx="1847088" cy="1920240"/>
          </a:xfrm>
          <a:prstGeom prst="rect">
            <a:avLst/>
          </a:prstGeom>
          <a:solidFill>
            <a:srgbClr val="E8F5E9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1399032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7A4A"/>
                </a:solidFill>
                <a:latin typeface="Calibri"/>
              </a:rPr>
              <a:t>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673352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Calibri"/>
              </a:rPr>
              <a:t>★CH4 + CH1  → Model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1892808"/>
            <a:ext cx="1700784" cy="1298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A0A0A"/>
                </a:solidFill>
                <a:latin typeface="Calibri"/>
              </a:rPr>
              <a:t>1위: CH4 유튜브 조회수  (0.091)
2위: CH1 Google Trends  (0.048)
3위: CH2 뉴스 보도량    (0.031)
CH1: Granger 1위 &amp; SHAP 2위
→ 두 검정 일관성 확인
→ CH4가 예측엔 더 강한 기여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1344168"/>
            <a:ext cx="1847088" cy="1920240"/>
          </a:xfrm>
          <a:prstGeom prst="rect">
            <a:avLst/>
          </a:prstGeom>
          <a:solidFill>
            <a:srgbClr val="FFF9C4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76688" y="1399032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D91"/>
                </a:solidFill>
                <a:latin typeface="Calibri"/>
              </a:rPr>
              <a:t>레고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1673352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Calibri"/>
              </a:rPr>
              <a:t>★CH5 + CH4  → Model 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6688" y="1892808"/>
            <a:ext cx="1700784" cy="12984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A0A0A"/>
                </a:solidFill>
                <a:latin typeface="Calibri"/>
              </a:rPr>
              <a:t>1위: CH5 YT 댓글감성    (0.070)
2위: CH4 유튜브 조회수  (0.036)
3위: CH1 Google Trends  (0.021)
Granger 유의 채널 없었지만
SHAP에서 CH5, CH4 기여
→ 선행성 없음, 동시 연관성 존재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" y="4160520"/>
            <a:ext cx="11951208" cy="2011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8872" y="4187952"/>
            <a:ext cx="11951208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SHAP 막대 그래프: ★ = Model C 선택 채널 (상위 2위)  |  수치 높을수록 XGBoost 예측에 실제 기여한 채널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3" y="4443984"/>
            <a:ext cx="9340438" cy="22768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397</Words>
  <Application>Microsoft Office PowerPoint</Application>
  <PresentationFormat>사용자 지정</PresentationFormat>
  <Paragraphs>41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2026-06-06T14:59:39Z</dcterms:modified>
  <cp:category/>
</cp:coreProperties>
</file>