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8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6400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맑은 고딕"/>
              </a:rPr>
              <a:t>RQ1·RQ2 Granger 인과검정 결과 — 자산별 정리(스니커즈·카드·레고)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4114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11704320" cy="36576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자산별로 묶어 다시 정리 + </a:t>
            </a:r>
            <a:r>
              <a:rPr sz="1300" b="1">
                <a:solidFill>
                  <a:srgbClr val="E87722"/>
                </a:solidFill>
                <a:latin typeface="맑은 고딕"/>
              </a:rPr>
              <a:t>유의성 판단 기준(F·p)</a:t>
            </a:r>
            <a:r>
              <a:rPr sz="1300" b="0">
                <a:solidFill>
                  <a:srgbClr val="444444"/>
                </a:solidFill>
                <a:latin typeface="맑은 고딕"/>
              </a:rPr>
              <a:t> 추가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243584"/>
            <a:ext cx="5989320" cy="3054096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granger_by_as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019" y="1298448"/>
            <a:ext cx="5041920" cy="294436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446520" y="1243584"/>
            <a:ext cx="960120" cy="310896"/>
          </a:xfrm>
          <a:prstGeom prst="rect">
            <a:avLst/>
          </a:prstGeom>
          <a:solidFill>
            <a:srgbClr val="1F2D4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243584"/>
            <a:ext cx="960120" cy="310896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맑은 고딕"/>
              </a:rPr>
              <a:t>자산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243584"/>
            <a:ext cx="1920240" cy="310896"/>
          </a:xfrm>
          <a:prstGeom prst="rect">
            <a:avLst/>
          </a:prstGeom>
          <a:solidFill>
            <a:srgbClr val="1F2D4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0" y="1243584"/>
            <a:ext cx="1920240" cy="310896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맑은 고딕"/>
              </a:rPr>
              <a:t>채널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1243584"/>
            <a:ext cx="502920" cy="310896"/>
          </a:xfrm>
          <a:prstGeom prst="rect">
            <a:avLst/>
          </a:prstGeom>
          <a:solidFill>
            <a:srgbClr val="1F2D4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0" y="1243584"/>
            <a:ext cx="502920" cy="310896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맑은 고딕"/>
              </a:rPr>
              <a:t>래그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29800" y="1243584"/>
            <a:ext cx="640080" cy="310896"/>
          </a:xfrm>
          <a:prstGeom prst="rect">
            <a:avLst/>
          </a:prstGeom>
          <a:solidFill>
            <a:srgbClr val="1F2D4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29800" y="1243584"/>
            <a:ext cx="640080" cy="310896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맑은 고딕"/>
              </a:rP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69880" y="1243584"/>
            <a:ext cx="777240" cy="310896"/>
          </a:xfrm>
          <a:prstGeom prst="rect">
            <a:avLst/>
          </a:prstGeom>
          <a:solidFill>
            <a:srgbClr val="1F2D4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469880" y="1243584"/>
            <a:ext cx="777240" cy="310896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맑은 고딕"/>
              </a:rPr>
              <a:t>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247119" y="1243584"/>
            <a:ext cx="777240" cy="310896"/>
          </a:xfrm>
          <a:prstGeom prst="rect">
            <a:avLst/>
          </a:prstGeom>
          <a:solidFill>
            <a:srgbClr val="1F2D4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247119" y="1243584"/>
            <a:ext cx="777240" cy="310896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맑은 고딕"/>
              </a:rPr>
              <a:t>판정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1554480"/>
            <a:ext cx="96012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155448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F2D4E"/>
                </a:solidFill>
                <a:latin typeface="맑은 고딕"/>
              </a:rPr>
              <a:t>스니커즈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1554480"/>
            <a:ext cx="192024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06640" y="155448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CH3 뉴스감성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0" y="1554480"/>
            <a:ext cx="50292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26880" y="155448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29800" y="1554480"/>
            <a:ext cx="64008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29800" y="155448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13.38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469880" y="1554480"/>
            <a:ext cx="77724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469880" y="155448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0.0007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247119" y="1554480"/>
            <a:ext cx="777240" cy="182880"/>
          </a:xfrm>
          <a:prstGeom prst="rect">
            <a:avLst/>
          </a:prstGeom>
          <a:solidFill>
            <a:srgbClr val="1E7E3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247119" y="155448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유의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1737360"/>
            <a:ext cx="96012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406640" y="1737360"/>
            <a:ext cx="192024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06640" y="173736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CH4 YT조회수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26880" y="1737360"/>
            <a:ext cx="50292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326880" y="173736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29800" y="1737360"/>
            <a:ext cx="64008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829800" y="173736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4.73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469880" y="1737360"/>
            <a:ext cx="77724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469880" y="173736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0.035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247119" y="1737360"/>
            <a:ext cx="777240" cy="182880"/>
          </a:xfrm>
          <a:prstGeom prst="rect">
            <a:avLst/>
          </a:prstGeom>
          <a:solidFill>
            <a:srgbClr val="1E7E3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247119" y="173736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유의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46520" y="1920240"/>
            <a:ext cx="96012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46520" y="192024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406640" y="1920240"/>
            <a:ext cx="192024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406640" y="192024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CH1 Google Trends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26880" y="1920240"/>
            <a:ext cx="50292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326880" y="192024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829800" y="1920240"/>
            <a:ext cx="64008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829800" y="192024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3.47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469880" y="1920240"/>
            <a:ext cx="77724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469880" y="192024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0.041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247119" y="1920240"/>
            <a:ext cx="777240" cy="182880"/>
          </a:xfrm>
          <a:prstGeom prst="rect">
            <a:avLst/>
          </a:prstGeom>
          <a:solidFill>
            <a:srgbClr val="1E7E3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1247119" y="192024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유의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46520" y="2103120"/>
            <a:ext cx="96012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46520" y="210312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7406640" y="2103120"/>
            <a:ext cx="192024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406640" y="210312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CH2 뉴스량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26880" y="2103120"/>
            <a:ext cx="50292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326880" y="210312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829800" y="2103120"/>
            <a:ext cx="64008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829800" y="210312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1.55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469880" y="2103120"/>
            <a:ext cx="77724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469880" y="210312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0.220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1247119" y="2103120"/>
            <a:ext cx="777240" cy="182880"/>
          </a:xfrm>
          <a:prstGeom prst="rect">
            <a:avLst/>
          </a:prstGeom>
          <a:solidFill>
            <a:srgbClr val="AAB1B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1247119" y="210312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비유의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446520" y="2286000"/>
            <a:ext cx="96012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446520" y="228600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7406640" y="2286000"/>
            <a:ext cx="192024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7406640" y="228600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CH5 YT댓글감성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326880" y="2286000"/>
            <a:ext cx="50292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326880" y="228600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829800" y="2286000"/>
            <a:ext cx="64008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9829800" y="228600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0.09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469880" y="2286000"/>
            <a:ext cx="777240" cy="182880"/>
          </a:xfrm>
          <a:prstGeom prst="rect">
            <a:avLst/>
          </a:prstGeom>
          <a:solidFill>
            <a:srgbClr val="E7F2E9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10469880" y="228600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0.764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1247119" y="2286000"/>
            <a:ext cx="777240" cy="182880"/>
          </a:xfrm>
          <a:prstGeom prst="rect">
            <a:avLst/>
          </a:prstGeom>
          <a:solidFill>
            <a:srgbClr val="AAB1B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11247119" y="228600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비유의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446520" y="2468880"/>
            <a:ext cx="96012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6446520" y="246888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F2D4E"/>
                </a:solidFill>
                <a:latin typeface="맑은 고딕"/>
              </a:rPr>
              <a:t>카드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406640" y="2468880"/>
            <a:ext cx="192024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7406640" y="246888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CH1 Google Trends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326880" y="2468880"/>
            <a:ext cx="50292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9326880" y="246888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829800" y="2468880"/>
            <a:ext cx="64008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9829800" y="246888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8.42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469880" y="2468880"/>
            <a:ext cx="77724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0469880" y="246888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0.006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1247119" y="2468880"/>
            <a:ext cx="777240" cy="182880"/>
          </a:xfrm>
          <a:prstGeom prst="rect">
            <a:avLst/>
          </a:prstGeom>
          <a:solidFill>
            <a:srgbClr val="1E7E34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1247119" y="246888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유의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446520" y="2651760"/>
            <a:ext cx="96012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6446520" y="265176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7406640" y="2651760"/>
            <a:ext cx="192024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406640" y="265176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CH3 뉴스감성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326880" y="2651760"/>
            <a:ext cx="50292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9326880" y="265176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98" name="Rectangle 97"/>
          <p:cNvSpPr/>
          <p:nvPr/>
        </p:nvSpPr>
        <p:spPr>
          <a:xfrm>
            <a:off x="9829800" y="2651760"/>
            <a:ext cx="64008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9829800" y="265176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1.41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0469880" y="2651760"/>
            <a:ext cx="77724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10469880" y="265176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0.242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1247119" y="2651760"/>
            <a:ext cx="777240" cy="182880"/>
          </a:xfrm>
          <a:prstGeom prst="rect">
            <a:avLst/>
          </a:prstGeom>
          <a:solidFill>
            <a:srgbClr val="AAB1B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11247119" y="265176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비유의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6446520" y="2834640"/>
            <a:ext cx="96012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6446520" y="283464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7406640" y="2834640"/>
            <a:ext cx="192024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7406640" y="283464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CH2 뉴스량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9326880" y="2834640"/>
            <a:ext cx="50292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9326880" y="283464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9829800" y="2834640"/>
            <a:ext cx="64008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9829800" y="283464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0.73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469880" y="2834640"/>
            <a:ext cx="77724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10469880" y="283464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0.398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1247119" y="2834640"/>
            <a:ext cx="777240" cy="182880"/>
          </a:xfrm>
          <a:prstGeom prst="rect">
            <a:avLst/>
          </a:prstGeom>
          <a:solidFill>
            <a:srgbClr val="AAB1B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11247119" y="283464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비유의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446520" y="3017520"/>
            <a:ext cx="96012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6446520" y="301752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7406640" y="3017520"/>
            <a:ext cx="192024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7406640" y="301752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CH5 YT댓글감성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326880" y="3017520"/>
            <a:ext cx="50292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9326880" y="301752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829800" y="3017520"/>
            <a:ext cx="64008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9829800" y="301752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0.61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0469880" y="3017520"/>
            <a:ext cx="77724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10469880" y="301752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0.438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1247119" y="3017520"/>
            <a:ext cx="777240" cy="182880"/>
          </a:xfrm>
          <a:prstGeom prst="rect">
            <a:avLst/>
          </a:prstGeom>
          <a:solidFill>
            <a:srgbClr val="AAB1B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11247119" y="301752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비유의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446520" y="3200400"/>
            <a:ext cx="96012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6446520" y="320040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7406640" y="3200400"/>
            <a:ext cx="192024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7406640" y="320040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CH4 YT조회수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326880" y="3200400"/>
            <a:ext cx="50292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9326880" y="320040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829800" y="3200400"/>
            <a:ext cx="64008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9829800" y="320040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0.25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0469880" y="3200400"/>
            <a:ext cx="777240" cy="182880"/>
          </a:xfrm>
          <a:prstGeom prst="rect">
            <a:avLst/>
          </a:prstGeom>
          <a:solidFill>
            <a:srgbClr val="EAF1FA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10469880" y="320040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0.622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1247119" y="3200400"/>
            <a:ext cx="777240" cy="182880"/>
          </a:xfrm>
          <a:prstGeom prst="rect">
            <a:avLst/>
          </a:prstGeom>
          <a:solidFill>
            <a:srgbClr val="AAB1B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11247119" y="320040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비유의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446520" y="3383280"/>
            <a:ext cx="96012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6446520" y="338328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1F2D4E"/>
                </a:solidFill>
                <a:latin typeface="맑은 고딕"/>
              </a:rPr>
              <a:t>레고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406640" y="3383280"/>
            <a:ext cx="192024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7406640" y="338328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CH1 Google Trends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326880" y="3383280"/>
            <a:ext cx="50292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9326880" y="338328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9829800" y="3383280"/>
            <a:ext cx="64008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9829800" y="338328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3.92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10469880" y="3383280"/>
            <a:ext cx="77724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TextBox 148"/>
          <p:cNvSpPr txBox="1"/>
          <p:nvPr/>
        </p:nvSpPr>
        <p:spPr>
          <a:xfrm>
            <a:off x="10469880" y="338328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0.054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1247119" y="3383280"/>
            <a:ext cx="777240" cy="182880"/>
          </a:xfrm>
          <a:prstGeom prst="rect">
            <a:avLst/>
          </a:prstGeom>
          <a:solidFill>
            <a:srgbClr val="AAB1B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11247119" y="338328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비유의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446520" y="3566160"/>
            <a:ext cx="96012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6446520" y="356616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7406640" y="3566160"/>
            <a:ext cx="192024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7406640" y="356616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CH4 YT조회수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9326880" y="3566160"/>
            <a:ext cx="50292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9326880" y="356616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9829800" y="3566160"/>
            <a:ext cx="64008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9829800" y="356616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1.83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10469880" y="3566160"/>
            <a:ext cx="77724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10469880" y="356616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0.183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1247119" y="3566160"/>
            <a:ext cx="777240" cy="182880"/>
          </a:xfrm>
          <a:prstGeom prst="rect">
            <a:avLst/>
          </a:prstGeom>
          <a:solidFill>
            <a:srgbClr val="AAB1B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11247119" y="356616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비유의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6446520" y="3749040"/>
            <a:ext cx="96012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6446520" y="374904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7406640" y="3749040"/>
            <a:ext cx="192024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TextBox 166"/>
          <p:cNvSpPr txBox="1"/>
          <p:nvPr/>
        </p:nvSpPr>
        <p:spPr>
          <a:xfrm>
            <a:off x="7406640" y="374904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CH3 뉴스감성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9326880" y="3749040"/>
            <a:ext cx="50292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TextBox 168"/>
          <p:cNvSpPr txBox="1"/>
          <p:nvPr/>
        </p:nvSpPr>
        <p:spPr>
          <a:xfrm>
            <a:off x="9326880" y="374904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9829800" y="3749040"/>
            <a:ext cx="64008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9829800" y="374904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0.40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10469880" y="3749040"/>
            <a:ext cx="77724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10469880" y="374904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0.530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1247119" y="3749040"/>
            <a:ext cx="777240" cy="182880"/>
          </a:xfrm>
          <a:prstGeom prst="rect">
            <a:avLst/>
          </a:prstGeom>
          <a:solidFill>
            <a:srgbClr val="AAB1B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TextBox 174"/>
          <p:cNvSpPr txBox="1"/>
          <p:nvPr/>
        </p:nvSpPr>
        <p:spPr>
          <a:xfrm>
            <a:off x="11247119" y="374904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비유의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6446520" y="3931920"/>
            <a:ext cx="96012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TextBox 176"/>
          <p:cNvSpPr txBox="1"/>
          <p:nvPr/>
        </p:nvSpPr>
        <p:spPr>
          <a:xfrm>
            <a:off x="6446520" y="393192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7406640" y="3931920"/>
            <a:ext cx="192024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TextBox 178"/>
          <p:cNvSpPr txBox="1"/>
          <p:nvPr/>
        </p:nvSpPr>
        <p:spPr>
          <a:xfrm>
            <a:off x="7406640" y="393192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CH2 뉴스량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9326880" y="3931920"/>
            <a:ext cx="50292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9326880" y="393192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9829800" y="3931920"/>
            <a:ext cx="64008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9829800" y="393192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0.32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10469880" y="3931920"/>
            <a:ext cx="77724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10469880" y="393192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0.576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11247119" y="3931920"/>
            <a:ext cx="777240" cy="182880"/>
          </a:xfrm>
          <a:prstGeom prst="rect">
            <a:avLst/>
          </a:prstGeom>
          <a:solidFill>
            <a:srgbClr val="AAB1B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TextBox 186"/>
          <p:cNvSpPr txBox="1"/>
          <p:nvPr/>
        </p:nvSpPr>
        <p:spPr>
          <a:xfrm>
            <a:off x="11247119" y="393192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비유의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6446520" y="4114800"/>
            <a:ext cx="96012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6446520" y="4114800"/>
            <a:ext cx="9601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7406640" y="4114800"/>
            <a:ext cx="192024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7406640" y="4114800"/>
            <a:ext cx="1920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CH5 YT댓글감성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9326880" y="4114800"/>
            <a:ext cx="50292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9326880" y="4114800"/>
            <a:ext cx="50292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1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9829800" y="4114800"/>
            <a:ext cx="64008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TextBox 194"/>
          <p:cNvSpPr txBox="1"/>
          <p:nvPr/>
        </p:nvSpPr>
        <p:spPr>
          <a:xfrm>
            <a:off x="9829800" y="4114800"/>
            <a:ext cx="64008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0.17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10469880" y="4114800"/>
            <a:ext cx="777240" cy="182880"/>
          </a:xfrm>
          <a:prstGeom prst="rect">
            <a:avLst/>
          </a:prstGeom>
          <a:solidFill>
            <a:srgbClr val="FCF0E6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TextBox 196"/>
          <p:cNvSpPr txBox="1"/>
          <p:nvPr/>
        </p:nvSpPr>
        <p:spPr>
          <a:xfrm>
            <a:off x="10469880" y="411480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0">
                <a:solidFill>
                  <a:srgbClr val="0A0A0A"/>
                </a:solidFill>
                <a:latin typeface="맑은 고딕"/>
              </a:rPr>
              <a:t>0.680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11247119" y="4114800"/>
            <a:ext cx="777240" cy="182880"/>
          </a:xfrm>
          <a:prstGeom prst="rect">
            <a:avLst/>
          </a:prstGeom>
          <a:solidFill>
            <a:srgbClr val="AAB1BC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/>
          <p:cNvSpPr txBox="1"/>
          <p:nvPr/>
        </p:nvSpPr>
        <p:spPr>
          <a:xfrm>
            <a:off x="11247119" y="4114800"/>
            <a:ext cx="777240" cy="18288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비유의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91440" y="4389121"/>
            <a:ext cx="6172200" cy="941517"/>
          </a:xfrm>
          <a:prstGeom prst="roundRect">
            <a:avLst/>
          </a:prstGeom>
          <a:solidFill>
            <a:srgbClr val="EAF1FA"/>
          </a:solidFill>
          <a:ln w="1270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256032" y="4462273"/>
            <a:ext cx="11311128" cy="225703"/>
          </a:xfrm>
          <a:prstGeom prst="rect">
            <a:avLst/>
          </a:prstGeom>
          <a:noFill/>
        </p:spPr>
        <p:txBody>
          <a:bodyPr wrap="square" lIns="50800" tIns="12700" rIns="50800" bIns="1270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E6DA4"/>
                </a:solidFill>
                <a:latin typeface="맑은 고딕"/>
              </a:rPr>
              <a:t>F값·p값, 어느 기준으로 '유의'를 판단하나?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274320" y="4760566"/>
            <a:ext cx="6204204" cy="402674"/>
          </a:xfrm>
          <a:prstGeom prst="rect">
            <a:avLst/>
          </a:prstGeom>
          <a:noFill/>
        </p:spPr>
        <p:txBody>
          <a:bodyPr wrap="square" lIns="50800" tIns="12700" rIns="50800" bIns="127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 dirty="0">
                <a:solidFill>
                  <a:srgbClr val="0A0A0A"/>
                </a:solidFill>
                <a:latin typeface="맑은 고딕"/>
              </a:rPr>
              <a:t>•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그래프는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F가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아닌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1E7E34"/>
                </a:solidFill>
                <a:latin typeface="맑은 고딕"/>
              </a:rPr>
              <a:t>p값이</a:t>
            </a:r>
            <a:r>
              <a:rPr sz="1100" b="1" dirty="0">
                <a:solidFill>
                  <a:srgbClr val="1E7E34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1E7E34"/>
                </a:solidFill>
                <a:latin typeface="맑은 고딕"/>
              </a:rPr>
              <a:t>작을수록</a:t>
            </a:r>
            <a:r>
              <a:rPr sz="1100" b="1" dirty="0">
                <a:solidFill>
                  <a:srgbClr val="1E7E34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1E7E34"/>
                </a:solidFill>
                <a:latin typeface="맑은 고딕"/>
              </a:rPr>
              <a:t>막대가</a:t>
            </a:r>
            <a:r>
              <a:rPr sz="1100" b="1" dirty="0">
                <a:solidFill>
                  <a:srgbClr val="1E7E34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1E7E34"/>
                </a:solidFill>
                <a:latin typeface="맑은 고딕"/>
              </a:rPr>
              <a:t>높아지도록</a:t>
            </a:r>
            <a:r>
              <a:rPr sz="1100" b="1" dirty="0">
                <a:solidFill>
                  <a:srgbClr val="1E7E34"/>
                </a:solidFill>
                <a:latin typeface="맑은 고딕"/>
              </a:rPr>
              <a:t> </a:t>
            </a:r>
            <a:r>
              <a:rPr sz="1100" b="1" dirty="0" err="1">
                <a:solidFill>
                  <a:srgbClr val="1E7E34"/>
                </a:solidFill>
                <a:latin typeface="맑은 고딕"/>
              </a:rPr>
              <a:t>환산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해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표시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endParaRPr lang="en-US" sz="1100" b="0" dirty="0">
              <a:solidFill>
                <a:srgbClr val="0A0A0A"/>
              </a:solidFill>
              <a:latin typeface="맑은 고딕"/>
            </a:endParaRPr>
          </a:p>
          <a:p>
            <a:pPr algn="l">
              <a:spcAft>
                <a:spcPts val="300"/>
              </a:spcAft>
            </a:pPr>
            <a:r>
              <a:rPr sz="1100" b="0" dirty="0">
                <a:solidFill>
                  <a:srgbClr val="0A0A0A"/>
                </a:solidFill>
                <a:latin typeface="맑은 고딕"/>
              </a:rPr>
              <a:t>•  본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연구의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최종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판정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기준은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1" dirty="0">
                <a:solidFill>
                  <a:srgbClr val="1E7E34"/>
                </a:solidFill>
                <a:latin typeface="맑은 고딕"/>
              </a:rPr>
              <a:t>p &lt; 0.05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하나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—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기준선을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넘으면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'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유의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', 못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넘으면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'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비유의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'. 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6352795" y="4728080"/>
            <a:ext cx="5728716" cy="731520"/>
          </a:xfrm>
          <a:prstGeom prst="roundRect">
            <a:avLst/>
          </a:prstGeom>
          <a:solidFill>
            <a:srgbClr val="1E7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TextBox 203"/>
          <p:cNvSpPr txBox="1"/>
          <p:nvPr/>
        </p:nvSpPr>
        <p:spPr>
          <a:xfrm>
            <a:off x="6478524" y="4728080"/>
            <a:ext cx="5436108" cy="73152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dirty="0" err="1">
                <a:solidFill>
                  <a:srgbClr val="FFFFFF"/>
                </a:solidFill>
                <a:latin typeface="맑은 고딕"/>
              </a:rPr>
              <a:t>결론</a:t>
            </a:r>
            <a:r>
              <a:rPr sz="1250" b="1" dirty="0">
                <a:solidFill>
                  <a:srgbClr val="FFFFFF"/>
                </a:solidFill>
                <a:latin typeface="맑은 고딕"/>
              </a:rPr>
              <a:t> RQ1  </a:t>
            </a:r>
          </a:p>
          <a:p>
            <a:pPr algn="l">
              <a:spcAft>
                <a:spcPts val="300"/>
              </a:spcAft>
            </a:pPr>
            <a:r>
              <a:rPr sz="1150" b="0" dirty="0" err="1">
                <a:solidFill>
                  <a:srgbClr val="FFFFFF"/>
                </a:solidFill>
                <a:latin typeface="맑은 고딕"/>
              </a:rPr>
              <a:t>미디어가</a:t>
            </a:r>
            <a:r>
              <a:rPr sz="115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FFFFFF"/>
                </a:solidFill>
                <a:latin typeface="맑은 고딕"/>
              </a:rPr>
              <a:t>가격</a:t>
            </a:r>
            <a:r>
              <a:rPr sz="115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FFFFFF"/>
                </a:solidFill>
                <a:latin typeface="맑은 고딕"/>
              </a:rPr>
              <a:t>선행성</a:t>
            </a:r>
            <a:r>
              <a:rPr sz="115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FFFFFF"/>
                </a:solidFill>
                <a:latin typeface="맑은 고딕"/>
              </a:rPr>
              <a:t>부분</a:t>
            </a:r>
            <a:r>
              <a:rPr sz="115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FFFFFF"/>
                </a:solidFill>
                <a:latin typeface="맑은 고딕"/>
              </a:rPr>
              <a:t>지지</a:t>
            </a:r>
            <a:r>
              <a:rPr sz="1150" b="0" dirty="0">
                <a:solidFill>
                  <a:srgbClr val="FFFFFF"/>
                </a:solidFill>
                <a:latin typeface="맑은 고딕"/>
              </a:rPr>
              <a:t> — </a:t>
            </a:r>
            <a:r>
              <a:rPr sz="1150" b="0" dirty="0" err="1">
                <a:solidFill>
                  <a:srgbClr val="FFFFFF"/>
                </a:solidFill>
                <a:latin typeface="맑은 고딕"/>
              </a:rPr>
              <a:t>스니커즈</a:t>
            </a:r>
            <a:r>
              <a:rPr sz="1150" b="0" dirty="0">
                <a:solidFill>
                  <a:srgbClr val="FFFFFF"/>
                </a:solidFill>
                <a:latin typeface="맑은 고딕"/>
              </a:rPr>
              <a:t> 3개(CH3·CH4·CH1)·</a:t>
            </a:r>
            <a:r>
              <a:rPr sz="1150" b="0" dirty="0" err="1">
                <a:solidFill>
                  <a:srgbClr val="FFFFFF"/>
                </a:solidFill>
                <a:latin typeface="맑은 고딕"/>
              </a:rPr>
              <a:t>카드</a:t>
            </a:r>
            <a:r>
              <a:rPr sz="1150" b="0" dirty="0">
                <a:solidFill>
                  <a:srgbClr val="FFFFFF"/>
                </a:solidFill>
                <a:latin typeface="맑은 고딕"/>
              </a:rPr>
              <a:t> 1개(CH1) </a:t>
            </a:r>
            <a:r>
              <a:rPr sz="1150" b="0" dirty="0" err="1">
                <a:solidFill>
                  <a:srgbClr val="FFFFFF"/>
                </a:solidFill>
                <a:latin typeface="맑은 고딕"/>
              </a:rPr>
              <a:t>채널이</a:t>
            </a:r>
            <a:r>
              <a:rPr sz="1150" b="0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150" b="0" dirty="0" err="1">
                <a:solidFill>
                  <a:srgbClr val="FFFFFF"/>
                </a:solidFill>
                <a:latin typeface="맑은 고딕"/>
              </a:rPr>
              <a:t>유의</a:t>
            </a:r>
            <a:r>
              <a:rPr sz="1150" b="0" dirty="0">
                <a:solidFill>
                  <a:srgbClr val="FFFFFF"/>
                </a:solidFill>
                <a:latin typeface="맑은 고딕"/>
              </a:rPr>
              <a:t>(p&lt;0.05)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6332220" y="5623560"/>
            <a:ext cx="5728716" cy="731520"/>
          </a:xfrm>
          <a:prstGeom prst="roundRect">
            <a:avLst/>
          </a:prstGeom>
          <a:solidFill>
            <a:srgbClr val="1E7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6478524" y="5623560"/>
            <a:ext cx="5436108" cy="731520"/>
          </a:xfrm>
          <a:prstGeom prst="rect">
            <a:avLst/>
          </a:prstGeom>
          <a:noFill/>
        </p:spPr>
        <p:txBody>
          <a:bodyPr wrap="square" lIns="50800" tIns="12700" rIns="50800" bIns="1270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결론 RQ2  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FFFFFF"/>
                </a:solidFill>
                <a:latin typeface="맑은 고딕"/>
              </a:rPr>
              <a:t>자산 유형마다 선행하는 채널 구성이 다름 → 레고는 유의 채널 없음, 스니커즈·카드는 서로 다른 채널 조합 → RQ2 지지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240</Words>
  <Application>Microsoft Office PowerPoint</Application>
  <PresentationFormat>사용자 지정</PresentationFormat>
  <Paragraphs>93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Calibri</vt:lpstr>
      <vt:lpstr>Office Theme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이승현(2022314025)</cp:lastModifiedBy>
  <cp:revision>2</cp:revision>
  <dcterms:created xsi:type="dcterms:W3CDTF">2013-01-27T09:14:16Z</dcterms:created>
  <dcterms:modified xsi:type="dcterms:W3CDTF">2026-06-15T05:41:20Z</dcterms:modified>
  <cp:category/>
</cp:coreProperties>
</file>