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기존 연구 &amp; 한계 — 미디어 선행지표 연구의 계보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선행연구는 ‘감성 → Granger 선별 → 예측’ 패러다임을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주식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에 적용해 성공 — 그러나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리셀 등 대안자산의 다채널 선행성은 미답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89888"/>
            <a:ext cx="3776472" cy="3063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89888"/>
            <a:ext cx="3776472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08176"/>
            <a:ext cx="3776472" cy="347472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전설적 시초 · 2011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3685032" cy="8686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Twitter mood predicts the stock market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777777"/>
                </a:solidFill>
                <a:latin typeface="맑은 고딕"/>
              </a:rPr>
              <a:t>Bollen, Mao &amp; Zeng (2011)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688336"/>
            <a:ext cx="3630168" cy="1691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수천만 트윗을 6개 감정으로 분류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→ 다우존스(DJIA)와 Granger 인과검정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‘차분함(Calm)’이 주가를 2~4일 선행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신경망 결합 시 방향예측 정확도 86.7%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389888"/>
            <a:ext cx="3776472" cy="3063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389888"/>
            <a:ext cx="3776472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408176"/>
            <a:ext cx="3776472" cy="347472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국내 적용 ·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28800"/>
            <a:ext cx="3685032" cy="8686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뉴스·SNS 감성분석 + Granger 주가 예측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777777"/>
                </a:solidFill>
                <a:latin typeface="맑은 고딕"/>
              </a:rPr>
              <a:t>국내 학술지 (2019)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688336"/>
            <a:ext cx="3630168" cy="1691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뉴스·블로그·트위터 감성지수 추출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→ Granger로 유의 채널만 선별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→ LSTM 입력으로 예측 정확도 향상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‘선별 후 딥러닝’ 파이프라인 정착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89888"/>
            <a:ext cx="3776472" cy="3063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389888"/>
            <a:ext cx="3776472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08176"/>
            <a:ext cx="3776472" cy="347472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최신 트렌드 ·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828800"/>
            <a:ext cx="3685032" cy="8686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CausalStock: News-driven Causal Discovery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777777"/>
                </a:solidFill>
                <a:latin typeface="맑은 고딕"/>
              </a:rPr>
              <a:t>OpenReview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88336"/>
            <a:ext cx="3630168" cy="1691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LLM으로 뉴스·SNS 노이즈 제거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→ 시차 기반 인과그래프 자동 탐색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→ 다수 종목 움직임 동시 예측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Granger를 넘어 종단간(end-to-end) 인과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617720"/>
            <a:ext cx="11640312" cy="713232"/>
          </a:xfrm>
          <a:prstGeom prst="roundRect">
            <a:avLst/>
          </a:prstGeom>
          <a:solidFill>
            <a:srgbClr val="FCF0E6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654296"/>
            <a:ext cx="11338560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87722"/>
                </a:solidFill>
                <a:latin typeface="맑은 고딕"/>
              </a:rPr>
              <a:t>공통 한계 (연구 공백)   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① 모두 </a:t>
            </a:r>
            <a:r>
              <a:rPr sz="1150" b="1">
                <a:solidFill>
                  <a:srgbClr val="0A0A0A"/>
                </a:solidFill>
                <a:latin typeface="맑은 고딕"/>
              </a:rPr>
              <a:t>효율적 시장인 주식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에 한정   ② </a:t>
            </a:r>
            <a:r>
              <a:rPr sz="1150" b="1">
                <a:solidFill>
                  <a:srgbClr val="0A0A0A"/>
                </a:solidFill>
                <a:latin typeface="맑은 고딕"/>
              </a:rPr>
              <a:t>단일·소수 채널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 위주   ③ </a:t>
            </a:r>
            <a:r>
              <a:rPr sz="1150" b="1">
                <a:solidFill>
                  <a:srgbClr val="0A0A0A"/>
                </a:solidFill>
                <a:latin typeface="맑은 고딕"/>
              </a:rPr>
              <a:t>리셀 등 대안자산의 다채널 선행성은 검증된 바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458968"/>
            <a:ext cx="11640312" cy="64008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486400"/>
            <a:ext cx="11338560" cy="585216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연구 </a:t>
            </a:r>
            <a:r>
              <a:rPr sz="1250" b="0">
                <a:solidFill>
                  <a:srgbClr val="FFFFFF"/>
                </a:solidFill>
                <a:latin typeface="맑은 고딕"/>
              </a:rPr>
              <a:t>= 동일 방법론(감성→Granger 선별→예측)을 </a:t>
            </a:r>
            <a:r>
              <a:rPr sz="1250" b="1">
                <a:solidFill>
                  <a:srgbClr val="FFFFFF"/>
                </a:solidFill>
                <a:latin typeface="맑은 고딕"/>
              </a:rPr>
              <a:t>리셀 3종(스니커즈·카드·레고)</a:t>
            </a:r>
            <a:r>
              <a:rPr sz="1250" b="0">
                <a:solidFill>
                  <a:srgbClr val="FFFFFF"/>
                </a:solidFill>
                <a:latin typeface="맑은 고딕"/>
              </a:rPr>
              <a:t>에 </a:t>
            </a:r>
            <a:r>
              <a:rPr sz="1250" b="1">
                <a:solidFill>
                  <a:srgbClr val="FFFFFF"/>
                </a:solidFill>
                <a:latin typeface="맑은 고딕"/>
              </a:rPr>
              <a:t>5개 채널로 최초 적용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