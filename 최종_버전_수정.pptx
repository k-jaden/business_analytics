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7" r:id="rId3"/>
    <p:sldId id="278" r:id="rId4"/>
    <p:sldId id="257" r:id="rId5"/>
    <p:sldId id="258" r:id="rId6"/>
    <p:sldId id="281" r:id="rId7"/>
    <p:sldId id="259" r:id="rId8"/>
    <p:sldId id="260" r:id="rId9"/>
    <p:sldId id="261" r:id="rId10"/>
    <p:sldId id="279" r:id="rId11"/>
    <p:sldId id="262" r:id="rId12"/>
    <p:sldId id="280" r:id="rId13"/>
    <p:sldId id="264" r:id="rId14"/>
    <p:sldId id="265" r:id="rId15"/>
    <p:sldId id="274" r:id="rId16"/>
    <p:sldId id="272" r:id="rId17"/>
    <p:sldId id="273" r:id="rId18"/>
    <p:sldId id="267" r:id="rId19"/>
    <p:sldId id="275" r:id="rId20"/>
    <p:sldId id="282" r:id="rId21"/>
    <p:sldId id="268" r:id="rId22"/>
    <p:sldId id="269" r:id="rId23"/>
    <p:sldId id="283" r:id="rId24"/>
    <p:sldId id="270" r:id="rId25"/>
    <p:sldId id="271" r:id="rId26"/>
    <p:sldId id="276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 autoAdjust="0"/>
  </p:normalViewPr>
  <p:slideViewPr>
    <p:cSldViewPr snapToGrid="0" snapToObjects="1">
      <p:cViewPr varScale="1">
        <p:scale>
          <a:sx n="77" d="100"/>
          <a:sy n="77" d="100"/>
        </p:scale>
        <p:origin x="24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79706-9822-4F58-A27C-4FA6B1319888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671F0-93C0-4D0D-906B-4A39843449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8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3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3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F0F-08BE-24C3-AF6D-CE823D8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A4356-95BB-337A-0302-21925D7F5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7EC4C-B645-1DC4-62EF-4075FB35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51C85-00D8-72C4-99BA-443FBFCC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0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7168" y="2525677"/>
            <a:ext cx="1090879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 err="1">
                <a:latin typeface="Calibri"/>
              </a:rPr>
              <a:t>리셀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시장에서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미디어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채널은</a:t>
            </a:r>
            <a:r>
              <a:rPr lang="en-US" sz="3400" b="1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가격을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선행하는가</a:t>
            </a:r>
            <a:r>
              <a:rPr sz="3400" b="1" i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16" y="3572590"/>
            <a:ext cx="1090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latin typeface="Calibri"/>
              </a:rPr>
              <a:t>스니커즈</a:t>
            </a:r>
            <a:r>
              <a:rPr sz="1800" b="0" i="0" dirty="0">
                <a:latin typeface="Calibri"/>
              </a:rPr>
              <a:t>  ·  </a:t>
            </a:r>
            <a:r>
              <a:rPr sz="1800" b="0" i="0" dirty="0" err="1">
                <a:latin typeface="Calibri"/>
              </a:rPr>
              <a:t>트레이딩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카드</a:t>
            </a:r>
            <a:r>
              <a:rPr sz="1800" b="0" i="0" dirty="0">
                <a:latin typeface="Calibri"/>
              </a:rPr>
              <a:t>  ·  </a:t>
            </a:r>
            <a:r>
              <a:rPr sz="1800" b="0" i="0" dirty="0" err="1">
                <a:latin typeface="Calibri"/>
              </a:rPr>
              <a:t>레고</a:t>
            </a:r>
            <a:r>
              <a:rPr sz="1800" b="0" i="0" dirty="0">
                <a:latin typeface="Calibri"/>
              </a:rPr>
              <a:t> — </a:t>
            </a:r>
            <a:r>
              <a:rPr sz="1800" b="0" i="0" dirty="0" err="1">
                <a:latin typeface="Calibri"/>
              </a:rPr>
              <a:t>다중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자산</a:t>
            </a:r>
            <a:r>
              <a:rPr sz="1800" b="0" i="0" dirty="0">
                <a:latin typeface="Calibri"/>
              </a:rPr>
              <a:t> Granger </a:t>
            </a:r>
            <a:r>
              <a:rPr sz="1800" b="0" i="0" dirty="0" err="1">
                <a:latin typeface="Calibri"/>
              </a:rPr>
              <a:t>인과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분석</a:t>
            </a:r>
            <a:r>
              <a:rPr sz="1800" b="0" i="0" dirty="0">
                <a:latin typeface="Calibri"/>
              </a:rPr>
              <a:t> 및 </a:t>
            </a:r>
            <a:r>
              <a:rPr sz="1800" b="0" i="0" dirty="0" err="1">
                <a:latin typeface="Calibri"/>
              </a:rPr>
              <a:t>XGBoost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검증</a:t>
            </a:r>
            <a:endParaRPr sz="1800" b="0" i="0" dirty="0"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" y="4535739"/>
            <a:ext cx="10908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latin typeface="Calibri"/>
              </a:rPr>
              <a:t>2022.01 – 2025.12  |  48개월 × 15개 </a:t>
            </a:r>
            <a:r>
              <a:rPr sz="1400" b="0" i="0" dirty="0" err="1">
                <a:latin typeface="Calibri"/>
              </a:rPr>
              <a:t>아이템</a:t>
            </a:r>
            <a:r>
              <a:rPr sz="1400" b="0" i="0" dirty="0">
                <a:latin typeface="Calibri"/>
              </a:rPr>
              <a:t> × 5개 </a:t>
            </a:r>
            <a:r>
              <a:rPr sz="1400" b="0" i="0" dirty="0" err="1">
                <a:latin typeface="Calibri"/>
              </a:rPr>
              <a:t>미디어</a:t>
            </a:r>
            <a:r>
              <a:rPr sz="1400" b="0" i="0" dirty="0">
                <a:latin typeface="Calibri"/>
              </a:rPr>
              <a:t> </a:t>
            </a:r>
            <a:r>
              <a:rPr sz="1400" b="0" i="0" dirty="0" err="1">
                <a:latin typeface="Calibri"/>
              </a:rPr>
              <a:t>채널</a:t>
            </a:r>
            <a:endParaRPr sz="1400" b="0" i="0" dirty="0"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5836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825" cy="228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700000"/>
            <a:ext cx="11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발표 흐름 한눈에 보기 — 19매 슬라이드를 6개 섹션으로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18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000" y="118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0000" y="118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1F2D4E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0000" y="136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20000" y="136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연구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배경과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질문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164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선행 연구의 공백 · 연구 문제(RQ1–RQ3) · 연구 대상(15개 아이템) · 5개 미디어 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207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0000" y="207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000" y="207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50000" y="225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20000" y="225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설계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253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ADF 정상성 검정 · Granger 인과 분석 설계 · XGBoost 모델 A/B/C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296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000" y="296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000" y="296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0000" y="314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20000" y="310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1F2D4E"/>
                </a:solidFill>
                <a:latin typeface="Calibri"/>
              </a:rPr>
              <a:t>RQ1 &amp; RQ2 · Granger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인과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검정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결과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20000" y="342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자산×채널 15회 검정 (Benjamini-Hochberg 보정) · 자산별 유의 채널 구성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385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0000" y="385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000" y="385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50000" y="403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20000" y="399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1F2D4E"/>
                </a:solidFill>
                <a:latin typeface="Calibri"/>
              </a:rPr>
              <a:t>RQ3 ·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성능과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SHAP·DM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검정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20000" y="431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모델 A/B/C 성능 비교 · SHAP 채널 기여도 분석 · Diebold-Mariano 검정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474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0000" y="474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000" y="474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0000" y="492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20000" y="492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2D4E"/>
                </a:solidFill>
                <a:latin typeface="Calibri"/>
              </a:rPr>
              <a:t>충격반응함수 </a:t>
            </a:r>
            <a:r>
              <a:rPr lang="en-US" altLang="ko-KR" sz="1500" b="1" dirty="0">
                <a:solidFill>
                  <a:srgbClr val="1F2D4E"/>
                </a:solidFill>
                <a:latin typeface="Calibri"/>
              </a:rPr>
              <a:t>(IRF) </a:t>
            </a:r>
            <a:r>
              <a:rPr lang="ko-KR" altLang="en-US" sz="1500" b="1" dirty="0">
                <a:solidFill>
                  <a:srgbClr val="1F2D4E"/>
                </a:solidFill>
                <a:latin typeface="Calibri"/>
              </a:rPr>
              <a:t>분석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과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연구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제한점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20000" y="520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충격반응함수(IRF) 분석 · 데이터·방법론 한계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563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0000" y="563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0000" y="563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0000" y="581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20000" y="577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결론과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시사점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20000" y="609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연구 문제별 결론 · 학술적·실무적 기여 · 참고 문헌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AB9E6-61DB-0FB3-3081-5DA22F6561DD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8C7F23-9F54-471C-0EE4-6297FDF813DC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6A8F0-BD45-62FC-CB57-A0AE5E15FB04}"/>
              </a:ext>
            </a:extLst>
          </p:cNvPr>
          <p:cNvSpPr txBox="1"/>
          <p:nvPr/>
        </p:nvSpPr>
        <p:spPr>
          <a:xfrm>
            <a:off x="3846284" y="2532744"/>
            <a:ext cx="46010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01 </a:t>
            </a:r>
            <a:r>
              <a:rPr lang="ko-KR" altLang="en-US" sz="3000" dirty="0">
                <a:solidFill>
                  <a:schemeClr val="bg1"/>
                </a:solidFill>
              </a:rPr>
              <a:t>연구 배경과 질문</a:t>
            </a:r>
          </a:p>
        </p:txBody>
      </p:sp>
    </p:spTree>
    <p:extLst>
      <p:ext uri="{BB962C8B-B14F-4D97-AF65-F5344CB8AC3E}">
        <p14:creationId xmlns:p14="http://schemas.microsoft.com/office/powerpoint/2010/main" val="189808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선행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연구의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공백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12" y="582095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세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연구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흐름이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각자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발전해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왔지만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, 그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교점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— '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리셀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시장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×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다채널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×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선행성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' — 은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아직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다루지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않았다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3749039" cy="323165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-&gt; </a:t>
            </a:r>
            <a:r>
              <a:rPr lang="ko-KR" altLang="en-US" sz="1500" b="1" dirty="0">
                <a:solidFill>
                  <a:srgbClr val="FFFFFF"/>
                </a:solidFill>
                <a:latin typeface="Calibri"/>
              </a:rPr>
              <a:t>주식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선행성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616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Tetlock (2007)  Journal of Finance
  WSJ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비관론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S&amp;P 500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수익률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단기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예측함을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실증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Da, Engelberg &amp; Gao (2011)  J. Finance
  Google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(SVI)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개별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Granger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인과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검정으로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공식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급증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미래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55555"/>
                </a:solidFill>
                <a:latin typeface="Calibri"/>
              </a:rPr>
              <a:t>한계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전통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금융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(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주식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)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에만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적용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
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1668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1668" y="1051560"/>
            <a:ext cx="3749039" cy="323165"/>
          </a:xfrm>
          <a:prstGeom prst="rect">
            <a:avLst/>
          </a:prstGeom>
          <a:solidFill>
            <a:srgbClr val="277A4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상품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9683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Campello et al. (2021)  Procedia CS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StockX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출시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정보로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RF·XGBoost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적용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미디어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추가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필요성을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제안에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그침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Dobrynskaya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&amp;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Kishilova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(2023)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레고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세트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한정판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메커니즘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대체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자산으로서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레고의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특성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규명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9683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9683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55555"/>
                </a:solidFill>
                <a:latin typeface="Calibri"/>
              </a:rPr>
              <a:t>한계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미디어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신호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미포함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
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단일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클래스만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분석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051560"/>
            <a:ext cx="3749039" cy="323165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멀티채널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방법론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Bollen et al. (2011)  J. Comp. Sci.
  Twitter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6차원 -&gt; DJIA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Granger + SVM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Twitter가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Zhang et al. (2018)  Knowledge-Based Sys.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이벤트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결합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멀티소스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ML로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2752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55555"/>
                </a:solidFill>
                <a:latin typeface="Calibri"/>
              </a:rPr>
              <a:t>한계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주식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단일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간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구성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
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없음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 Granger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검정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미적용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3085" y="5788151"/>
            <a:ext cx="921179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26423" y="5855725"/>
            <a:ext cx="9025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본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: 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스니커즈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카드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레고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3개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자산에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걸쳐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5개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x Granger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인과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검정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x SHAP + DM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검증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 </a:t>
            </a:r>
            <a:endParaRPr lang="en-US" sz="14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-&gt;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세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흐름의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교점을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분석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문제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(RQ 1 - 3)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12" y="58288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555555"/>
                </a:solidFill>
                <a:latin typeface="Calibri"/>
              </a:rPr>
              <a:t>시간적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선행성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이질성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간결성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— 세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단계로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리셀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시장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미디어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효과를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해부한다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856505"/>
              </p:ext>
            </p:extLst>
          </p:nvPr>
        </p:nvGraphicFramePr>
        <p:xfrm>
          <a:off x="137160" y="1855955"/>
          <a:ext cx="11978640" cy="3728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3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464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질문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사용한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검정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측정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지표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귀무가설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904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5개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중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어떤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lang="ko-KR" altLang="en-US"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하는가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3자산 x 5채널 = 15회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F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통계량</a:t>
                      </a:r>
                      <a:r>
                        <a:rPr lang="en-US"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원본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p값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H0: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않는다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시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759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유의한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채널의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lang="en-US"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다른가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RQ1에서 자산별로
유의했던 채널 집합을
직접 비교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유의 채널 집합의
자산 간 일치 여부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H0: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모든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자산에서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같은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시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특이성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5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기반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동등한가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XGBoost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분류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Model A (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) vs Model B (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)
Diebold-Mariano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AUC-ROC
Delta AUC
DM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p값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H0: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실패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시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간결성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채널로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같은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성능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2286-ACFD-76A1-DEFE-4C49FA06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C699A-2148-1B3D-B59B-8DE110518AEF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FC0C06-890E-567B-5F92-78D9090B37EF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30404-8F79-4197-AF74-FB9AEA845771}"/>
              </a:ext>
            </a:extLst>
          </p:cNvPr>
          <p:cNvSpPr txBox="1"/>
          <p:nvPr/>
        </p:nvSpPr>
        <p:spPr>
          <a:xfrm>
            <a:off x="4317998" y="2532744"/>
            <a:ext cx="46010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02</a:t>
            </a:r>
            <a:r>
              <a:rPr lang="ko-KR" altLang="en-US" sz="5000" dirty="0">
                <a:solidFill>
                  <a:schemeClr val="bg1"/>
                </a:solidFill>
              </a:rPr>
              <a:t> </a:t>
            </a:r>
            <a:r>
              <a:rPr lang="ko-KR" altLang="en-US" sz="3000" dirty="0">
                <a:solidFill>
                  <a:schemeClr val="bg1"/>
                </a:solidFill>
              </a:rPr>
              <a:t>분석설계</a:t>
            </a:r>
          </a:p>
        </p:txBody>
      </p:sp>
    </p:spTree>
    <p:extLst>
      <p:ext uri="{BB962C8B-B14F-4D97-AF65-F5344CB8AC3E}">
        <p14:creationId xmlns:p14="http://schemas.microsoft.com/office/powerpoint/2010/main" val="416072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대상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15개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아이템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 (2022.01 - 2025.12, N = 48개월/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아이템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스니커즈(StockX US Sz10 평균가) · 트레이딩 카드(PriceCharting PSA 10) · 레고(BrickRanker 새 봉인)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72170"/>
              </p:ext>
            </p:extLst>
          </p:nvPr>
        </p:nvGraphicFramePr>
        <p:xfrm>
          <a:off x="846609" y="1014590"/>
          <a:ext cx="10287000" cy="530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아이템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아이템 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가격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지표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커버리지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sneakers_jordan1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Jordan 1 Retro High OG Bordeaux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Nike Dunk Low 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sneakers_yeezy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Yeezy 350 V2 Zebra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*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sneakers_travis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Travis Scott Jordan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US Sz10 </a:t>
                      </a:r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평균가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sneakers_nb550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New Balance 550 White Green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VMAX Shining Fates SV107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cards_umbreon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Umbreon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cards_rayquaza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Rayquaza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cards_pikachu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Pikachu VMAX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GX Hidden Fates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lego_falcon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Millennium Falcon 75192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lego_hogwarts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Hogwarts Castle 71043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lego_titanic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Titanic 10294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lego_porsche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Porsche 911 42096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lego_bugatti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Bugatti Chiron 42083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* Yeezy: StockX 샘플링 아티팩트로 4개월 결측 -&gt; 선형보간 처리    + Porsche(21/48)·Bugatti(25/48): Google Trends 0주 비율 높음 — 제한점으로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DBB22-6A3F-06E4-0BE5-D6DF826A1774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5개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(CH1 - 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232" y="72466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각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채널은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소비자·미디어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행동의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다른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측면을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포착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— 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투입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전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반드시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변환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적용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65695"/>
              </p:ext>
            </p:extLst>
          </p:nvPr>
        </p:nvGraphicFramePr>
        <p:xfrm>
          <a:off x="891540" y="1276324"/>
          <a:ext cx="10561320" cy="428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5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채널명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원본 데이터 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변환 방식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스케일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개념적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프록시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pytrends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API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월평균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, geo='')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직접 사용 (변환 없음)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0 - 100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소비자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관심도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제품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인지도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지표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뉴스 보도량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GDELT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timelinevolnorm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수집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월평균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아이템 내 최댓값으로
0-1 정규화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0 - 1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노출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강도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언론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빈도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뉴스 감성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GDELT timelinetone
(일별 수집 -&gt; 월평균)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/10 정규화 -&gt; -1~+1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-1 ~ 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논조·감성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긍정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부정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여론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유튜브 조회수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YouTube Data API v3
(resell+review 키워드, 월별)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log1p 변환
-&gt; 아이템 내 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정보 탐색 의도
리뷰·리셀 관심도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유튜브 댓글 감성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FinBERT (금융 특화 BERT)
상위 15 영상 x 30댓글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P(pos) - P(neg) 월평균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-1 ~ +1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감성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커뮤니티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온도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3643" y="6167628"/>
            <a:ext cx="982349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제한점  |  CH3: GDELT tone은 자동 추출 방식 (FinBERT 대비 도메인 특화도 낮음)  |  CH4: 'resell+review' 키워드 필터로 일반 hype 과소 계상 가능  |  두 항목 모두 논문 §5.3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40CE1-A046-256B-2E92-1C6AA365A7C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분석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전처리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ADF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단위근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검정으로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정상성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확보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566587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검정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투입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전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모든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시계열이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'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정상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(stationary)'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이어야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함 —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비정상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시계열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사용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시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허구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인과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위험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3240" y="1849768"/>
            <a:ext cx="2688651" cy="3882574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3240" y="1922920"/>
            <a:ext cx="247941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정상성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검정이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필요한가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240" y="2331680"/>
            <a:ext cx="24794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0A0A0A"/>
                </a:solidFill>
                <a:latin typeface="Calibri"/>
              </a:rPr>
              <a:t>Granger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검정의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전제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조건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시계열이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(I(0))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이어야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통계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유효함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비정상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시계열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사용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시
 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허구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(spurious correlation)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위험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기준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(ADF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단위근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):
  p &lt; 0.05 -&gt;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그대로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사용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
  p &gt;= 0.05 -&gt;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비정상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-&gt; 1차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후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재검정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최종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결과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I(0) 9개  /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후 I(1) 9개
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예외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CH1 (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후도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p=0.120,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경계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47337"/>
              </p:ext>
            </p:extLst>
          </p:nvPr>
        </p:nvGraphicFramePr>
        <p:xfrm>
          <a:off x="3811473" y="961473"/>
          <a:ext cx="786384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0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시계열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ADF 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정상?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조치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0.926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(p=0.120) *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(p=0.007)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6A0CF-1D13-1DCC-A857-C5EE9D3172EF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8F43-6B9A-E8D3-19AE-DE533483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A6124-A65C-324F-40C4-366E0A1CF2E7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1E889-6E2D-CE04-9506-350361E9383E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AD7BC-1E24-04E9-C542-04445DFFF4B0}"/>
              </a:ext>
            </a:extLst>
          </p:cNvPr>
          <p:cNvSpPr txBox="1"/>
          <p:nvPr/>
        </p:nvSpPr>
        <p:spPr>
          <a:xfrm>
            <a:off x="2191656" y="2563466"/>
            <a:ext cx="8000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03</a:t>
            </a:r>
            <a:r>
              <a:rPr lang="ko-KR" altLang="en-US" sz="5000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RQ1 &amp; RQ2 · Granger </a:t>
            </a:r>
            <a:r>
              <a:rPr lang="ko-KR" altLang="en-US" sz="3200" b="1" dirty="0">
                <a:solidFill>
                  <a:schemeClr val="bg1"/>
                </a:solidFill>
              </a:rPr>
              <a:t>인과 검정 결과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8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RQ1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&amp; RQ2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Granger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인과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15회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555283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이변량 VAR | 래그 수 AIC로 선택(1-4) | Benjamini-Hochberg FDR 보정 적용 (q=0.05, m=15)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75570"/>
              </p:ext>
            </p:extLst>
          </p:nvPr>
        </p:nvGraphicFramePr>
        <p:xfrm>
          <a:off x="4672872" y="823505"/>
          <a:ext cx="720280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9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래그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원본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BH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최종 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13.385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8.417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유튜브뷰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4.729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89758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65078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3.922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p&lt;0.10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CH2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뉴스량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1.409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48711"/>
            <a:ext cx="4489992" cy="3920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AB650-0B28-F780-6128-1703DEE62B7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EC6F9-4F4E-C80E-0DF9-1C9116139E3A}"/>
              </a:ext>
            </a:extLst>
          </p:cNvPr>
          <p:cNvSpPr txBox="1"/>
          <p:nvPr/>
        </p:nvSpPr>
        <p:spPr>
          <a:xfrm>
            <a:off x="613712" y="6300000"/>
            <a:ext cx="10770568" cy="42000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3693D-134A-07AC-0D1B-36791556E2AE}"/>
              </a:ext>
            </a:extLst>
          </p:cNvPr>
          <p:cNvSpPr txBox="1"/>
          <p:nvPr/>
        </p:nvSpPr>
        <p:spPr>
          <a:xfrm>
            <a:off x="733529" y="6361874"/>
            <a:ext cx="1096140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RQ1·RQ2  | 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스니커즈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3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개</a:t>
            </a:r>
            <a:r>
              <a:rPr lang="en-US" altLang="ko-KR" sz="140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카드 </a:t>
            </a:r>
            <a:r>
              <a:rPr lang="en-US" altLang="ko-KR" sz="1400" b="1" dirty="0">
                <a:solidFill>
                  <a:srgbClr val="FFFFFF"/>
                </a:solidFill>
                <a:latin typeface="Calibri"/>
              </a:rPr>
              <a:t>1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개 그랜저 유의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미디어의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선행성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부분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지지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(RQ1)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구성의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자산별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이질성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확인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(RQ2)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2853-DB8A-BF13-3A72-D1FEA2B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EE5147-5050-144A-142C-56CEEA6D1000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82CA1C-17ED-FAB0-7309-9708F62AABE9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C32AE-E234-E70D-0487-1F57BCFE0BC5}"/>
              </a:ext>
            </a:extLst>
          </p:cNvPr>
          <p:cNvSpPr txBox="1"/>
          <p:nvPr/>
        </p:nvSpPr>
        <p:spPr>
          <a:xfrm>
            <a:off x="2539998" y="2563466"/>
            <a:ext cx="83425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04 </a:t>
            </a:r>
            <a:r>
              <a:rPr lang="en-US" altLang="ko-KR" sz="3200" b="1" dirty="0">
                <a:solidFill>
                  <a:schemeClr val="bg1"/>
                </a:solidFill>
              </a:rPr>
              <a:t>RQ3 · </a:t>
            </a:r>
            <a:r>
              <a:rPr lang="ko-KR" altLang="en-US" sz="3200" b="1" dirty="0">
                <a:solidFill>
                  <a:schemeClr val="bg1"/>
                </a:solidFill>
              </a:rPr>
              <a:t>예측 성능과 </a:t>
            </a:r>
            <a:r>
              <a:rPr lang="en-US" altLang="ko-KR" sz="3200" b="1" dirty="0">
                <a:solidFill>
                  <a:schemeClr val="bg1"/>
                </a:solidFill>
              </a:rPr>
              <a:t>SHAP·DM </a:t>
            </a:r>
            <a:r>
              <a:rPr lang="ko-KR" altLang="en-US" sz="3200" b="1" dirty="0">
                <a:solidFill>
                  <a:schemeClr val="bg1"/>
                </a:solidFill>
              </a:rPr>
              <a:t>검정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91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" y="450235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15885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전채널(모델A) -&gt; SHAP으로 채널 기여도 분석 -&gt; 상위 채널만 선별(모델B) -&gt; DM 검정으로 성능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6127"/>
              </p:ext>
            </p:extLst>
          </p:nvPr>
        </p:nvGraphicFramePr>
        <p:xfrm>
          <a:off x="5072743" y="1248841"/>
          <a:ext cx="6887482" cy="455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7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868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요소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모델 A  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B  (Granger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모델 C  (SHAP 선별)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9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투입 채널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
+ CH1~CH5 전부
(5채널)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
+ Granger 유의 채널만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피처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+ SHAP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2채널만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924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모두 동일
(5채널 전부)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스니커즈: CH3
카드: CH1
레고: (없음)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스니커즈: CH1+CH5
카드: CH4+CH1
레고: CH5+CH4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89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price_vs_ma3
price_chg_lag1~lag3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89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교차검증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TimeSeriesSplit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n_splits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=5)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896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방식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베이스라인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A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AUC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직접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A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Diebold-Mariano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A61CB-1650-31B9-A05B-B3D06BC52FC9}"/>
              </a:ext>
            </a:extLst>
          </p:cNvPr>
          <p:cNvSpPr txBox="1"/>
          <p:nvPr/>
        </p:nvSpPr>
        <p:spPr>
          <a:xfrm>
            <a:off x="0" y="0"/>
            <a:ext cx="12161520" cy="461665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RQ3: </a:t>
            </a:r>
            <a:r>
              <a:rPr lang="en-US" altLang="ko-KR" sz="2400" b="1" dirty="0" err="1">
                <a:solidFill>
                  <a:schemeClr val="bg1"/>
                </a:solidFill>
              </a:rPr>
              <a:t>XGBoost</a:t>
            </a:r>
            <a:r>
              <a:rPr lang="ko-KR" altLang="en-US" sz="2400" b="1" dirty="0">
                <a:solidFill>
                  <a:schemeClr val="bg1"/>
                </a:solidFill>
              </a:rPr>
              <a:t> 모델 설계 </a:t>
            </a:r>
            <a:r>
              <a:rPr lang="en-US" altLang="ko-KR" sz="2400" b="1" dirty="0">
                <a:solidFill>
                  <a:schemeClr val="bg1"/>
                </a:solidFill>
              </a:rPr>
              <a:t>— </a:t>
            </a:r>
            <a:r>
              <a:rPr lang="ko-KR" altLang="en-US" sz="2400" b="1" dirty="0">
                <a:solidFill>
                  <a:schemeClr val="bg1"/>
                </a:solidFill>
              </a:rPr>
              <a:t>모델 </a:t>
            </a:r>
            <a:r>
              <a:rPr lang="en-US" altLang="ko-KR" sz="2400" b="1" dirty="0">
                <a:solidFill>
                  <a:schemeClr val="bg1"/>
                </a:solidFill>
              </a:rPr>
              <a:t>A vs </a:t>
            </a:r>
            <a:r>
              <a:rPr lang="ko-KR" altLang="en-US" sz="2400" b="1" dirty="0">
                <a:solidFill>
                  <a:schemeClr val="bg1"/>
                </a:solidFill>
              </a:rPr>
              <a:t>모델 </a:t>
            </a:r>
            <a:r>
              <a:rPr lang="en-US" altLang="ko-KR" sz="2400" b="1" dirty="0">
                <a:solidFill>
                  <a:schemeClr val="bg1"/>
                </a:solidFill>
              </a:rPr>
              <a:t>B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vs</a:t>
            </a:r>
            <a:r>
              <a:rPr lang="ko-KR" altLang="en-US" sz="2400" b="1" dirty="0">
                <a:solidFill>
                  <a:schemeClr val="bg1"/>
                </a:solidFill>
              </a:rPr>
              <a:t> 모델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71A0B-42B9-B425-D887-ED7BE25BD01F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5F2229C-F824-8256-F2D9-DB3DC495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37"/>
          <a:stretch>
            <a:fillRect/>
          </a:stretch>
        </p:blipFill>
        <p:spPr>
          <a:xfrm>
            <a:off x="94344" y="1601976"/>
            <a:ext cx="4852876" cy="3825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A &amp; B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13237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4210" y="404783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모델 A vs 모델 B  AUC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 / 19</a:t>
            </a:r>
          </a:p>
        </p:txBody>
      </p:sp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8F8F6E32-DA1B-3540-5370-B3A158D6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0" y="1485510"/>
            <a:ext cx="7481770" cy="3606362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E5D5BF3-3BFB-B142-4E06-82FED560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10969"/>
              </p:ext>
            </p:extLst>
          </p:nvPr>
        </p:nvGraphicFramePr>
        <p:xfrm>
          <a:off x="7588030" y="2322457"/>
          <a:ext cx="4324395" cy="1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25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모델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 B AUC
(Granger </a:t>
                      </a:r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선별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05D590-0588-7F90-6F55-2A6052B256DC}"/>
              </a:ext>
            </a:extLst>
          </p:cNvPr>
          <p:cNvSpPr txBox="1"/>
          <p:nvPr/>
        </p:nvSpPr>
        <p:spPr>
          <a:xfrm>
            <a:off x="1195104" y="6035473"/>
            <a:ext cx="9798616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B1032-40CB-7470-B3C3-B3A23EA7FE02}"/>
              </a:ext>
            </a:extLst>
          </p:cNvPr>
          <p:cNvSpPr txBox="1"/>
          <p:nvPr/>
        </p:nvSpPr>
        <p:spPr>
          <a:xfrm>
            <a:off x="1435812" y="6142869"/>
            <a:ext cx="1078992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B가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A보다</a:t>
            </a:r>
            <a:r>
              <a:rPr lang="ko-KR" altLang="en-US" sz="1200" dirty="0">
                <a:solidFill>
                  <a:schemeClr val="bg1"/>
                </a:solidFill>
              </a:rPr>
              <a:t> 우수하다는 결론</a:t>
            </a:r>
            <a:r>
              <a:rPr lang="en-US" altLang="ko-KR" sz="1200" dirty="0">
                <a:solidFill>
                  <a:schemeClr val="bg1"/>
                </a:solidFill>
              </a:rPr>
              <a:t>(RQ3)</a:t>
            </a:r>
            <a:r>
              <a:rPr lang="ko-KR" altLang="en-US" sz="1200" dirty="0">
                <a:solidFill>
                  <a:schemeClr val="bg1"/>
                </a:solidFill>
              </a:rPr>
              <a:t>은 성립하지 않음. 사실상 두 모델에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r>
              <a:rPr lang="ko-KR" altLang="en-US" sz="1200" dirty="0">
                <a:solidFill>
                  <a:schemeClr val="bg1"/>
                </a:solidFill>
              </a:rPr>
              <a:t>개의 자산이 차이가 없다는 것을 확인할 수 있었음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2AB48-7174-57BE-F1C9-40E49927A5C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841C-94BE-E35C-486F-7136E066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6F11-C15C-955A-03C8-72689320F332}"/>
              </a:ext>
            </a:extLst>
          </p:cNvPr>
          <p:cNvSpPr txBox="1"/>
          <p:nvPr/>
        </p:nvSpPr>
        <p:spPr>
          <a:xfrm>
            <a:off x="0" y="0"/>
            <a:ext cx="12202604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Calibri"/>
              </a:rPr>
              <a:t>SHAP이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밝힌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것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34CD-C187-6C70-22EF-A90EDF153CB8}"/>
              </a:ext>
            </a:extLst>
          </p:cNvPr>
          <p:cNvSpPr txBox="1"/>
          <p:nvPr/>
        </p:nvSpPr>
        <p:spPr>
          <a:xfrm>
            <a:off x="182880" y="531326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C4113-26BF-90CF-337B-D72DA5A97CF0}"/>
              </a:ext>
            </a:extLst>
          </p:cNvPr>
          <p:cNvSpPr txBox="1"/>
          <p:nvPr/>
        </p:nvSpPr>
        <p:spPr>
          <a:xfrm>
            <a:off x="4305278" y="394157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SHAP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—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실제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기여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(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모델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A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8525B-C378-E0B4-6DDF-94AA0B3A3570}"/>
              </a:ext>
            </a:extLst>
          </p:cNvPr>
          <p:cNvSpPr txBox="1"/>
          <p:nvPr/>
        </p:nvSpPr>
        <p:spPr>
          <a:xfrm>
            <a:off x="1235329" y="4357339"/>
            <a:ext cx="2757344" cy="196596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6BD1B-2732-2F34-4443-BE182A1A77A9}"/>
              </a:ext>
            </a:extLst>
          </p:cNvPr>
          <p:cNvSpPr txBox="1"/>
          <p:nvPr/>
        </p:nvSpPr>
        <p:spPr>
          <a:xfrm>
            <a:off x="2250068" y="4413257"/>
            <a:ext cx="1820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E6DA4"/>
                </a:solidFill>
                <a:latin typeface="Calibri"/>
              </a:rPr>
              <a:t>스니커즈</a:t>
            </a:r>
            <a:endParaRPr sz="1100" b="1" i="0" dirty="0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FB7D5-91B4-708D-2AD2-662F68ACD0F5}"/>
              </a:ext>
            </a:extLst>
          </p:cNvPr>
          <p:cNvSpPr txBox="1"/>
          <p:nvPr/>
        </p:nvSpPr>
        <p:spPr>
          <a:xfrm>
            <a:off x="1336929" y="4641318"/>
            <a:ext cx="26557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CH1 Google 
SHAP 2위: CH5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SHAP 3위: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</a:t>
            </a:r>
            <a:endParaRPr lang="en-US" sz="1100" b="0" i="0" dirty="0">
              <a:solidFill>
                <a:srgbClr val="0A0A0A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주목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: CH3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뉴스감성은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Granger 1위지만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4위 (0.011)
→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기여도가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다름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E3D8-CEB9-4C04-34D7-D08FDBA0CD79}"/>
              </a:ext>
            </a:extLst>
          </p:cNvPr>
          <p:cNvSpPr txBox="1"/>
          <p:nvPr/>
        </p:nvSpPr>
        <p:spPr>
          <a:xfrm>
            <a:off x="4931397" y="4358393"/>
            <a:ext cx="2349979" cy="1965960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FC243-9F35-0929-898C-DEBA77EFF741}"/>
              </a:ext>
            </a:extLst>
          </p:cNvPr>
          <p:cNvSpPr txBox="1"/>
          <p:nvPr/>
        </p:nvSpPr>
        <p:spPr>
          <a:xfrm>
            <a:off x="5827207" y="4416665"/>
            <a:ext cx="1365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77A4A"/>
                </a:solidFill>
                <a:latin typeface="Calibri"/>
              </a:rPr>
              <a:t>카드</a:t>
            </a:r>
            <a:endParaRPr sz="1100" b="1" i="0" dirty="0">
              <a:solidFill>
                <a:srgbClr val="277A4A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7D5-EDB8-0AD1-3255-C70A6B6525EB}"/>
              </a:ext>
            </a:extLst>
          </p:cNvPr>
          <p:cNvSpPr txBox="1"/>
          <p:nvPr/>
        </p:nvSpPr>
        <p:spPr>
          <a:xfrm>
            <a:off x="5055483" y="4674867"/>
            <a:ext cx="227669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
SHAP 2위: CH1 Google 
SHAP 3위: CH2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뉴스량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CH1이 Granger 1위 &amp; SHAP 2위
→ 두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일관성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→ CH4가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더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강한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100E4-013E-004D-234E-16D6A7095252}"/>
              </a:ext>
            </a:extLst>
          </p:cNvPr>
          <p:cNvSpPr txBox="1"/>
          <p:nvPr/>
        </p:nvSpPr>
        <p:spPr>
          <a:xfrm>
            <a:off x="8142514" y="4368180"/>
            <a:ext cx="2757344" cy="1965960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4135-F68C-02E0-4B16-D6544090B42E}"/>
              </a:ext>
            </a:extLst>
          </p:cNvPr>
          <p:cNvSpPr txBox="1"/>
          <p:nvPr/>
        </p:nvSpPr>
        <p:spPr>
          <a:xfrm>
            <a:off x="9304626" y="4400248"/>
            <a:ext cx="1394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6C3D91"/>
                </a:solidFill>
                <a:latin typeface="Calibri"/>
              </a:rPr>
              <a:t>레고</a:t>
            </a:r>
            <a:endParaRPr sz="1100" b="1" i="0" dirty="0">
              <a:solidFill>
                <a:srgbClr val="6C3D91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740B-C168-FFF4-6884-0F41FC78D8C2}"/>
              </a:ext>
            </a:extLst>
          </p:cNvPr>
          <p:cNvSpPr txBox="1"/>
          <p:nvPr/>
        </p:nvSpPr>
        <p:spPr>
          <a:xfrm>
            <a:off x="8273821" y="4647968"/>
            <a:ext cx="268032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CH5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SHAP 2위: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
SHAP 3위: CH1 Google
Granger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없었지만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CH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4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, CH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5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→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없으나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동시적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연관성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존재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34C1-352A-0AFF-0CDD-DDD9360AC99D}"/>
              </a:ext>
            </a:extLst>
          </p:cNvPr>
          <p:cNvSpPr txBox="1"/>
          <p:nvPr/>
        </p:nvSpPr>
        <p:spPr>
          <a:xfrm>
            <a:off x="228536" y="65379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주.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자산별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평균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|SHAP|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막대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그래프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높을수록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XGBoost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예측에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실제로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기여한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스니커즈는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CH1·CH5,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카드는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CH4·CH1,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레고는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CH5·CH4가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상위권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-&gt; Model C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근거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E7BEE-774F-1A2D-714B-814CBA05EC33}"/>
              </a:ext>
            </a:extLst>
          </p:cNvPr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11 / 19</a:t>
            </a:r>
          </a:p>
        </p:txBody>
      </p:sp>
      <p:pic>
        <p:nvPicPr>
          <p:cNvPr id="17" name="Picture 34" descr="image.png">
            <a:extLst>
              <a:ext uri="{FF2B5EF4-FFF2-40B4-BE49-F238E27FC236}">
                <a16:creationId xmlns:a16="http://schemas.microsoft.com/office/drawing/2014/main" id="{BCE6363C-BE9A-1835-192D-739C42B4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1" y="1061725"/>
            <a:ext cx="10292833" cy="2755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4E92A5-CB86-D666-F94D-C640A96DC6D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12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9596"/>
            <a:ext cx="11603576" cy="4565851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12 / 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DB855-5145-757D-D1E9-E7EDE70D9463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3277A-D9DC-FD09-964F-FB69BF931EC1}"/>
              </a:ext>
            </a:extLst>
          </p:cNvPr>
          <p:cNvSpPr txBox="1"/>
          <p:nvPr/>
        </p:nvSpPr>
        <p:spPr>
          <a:xfrm>
            <a:off x="1884107" y="6042833"/>
            <a:ext cx="8420610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48356-15BF-401D-40A5-7EE2444F305E}"/>
              </a:ext>
            </a:extLst>
          </p:cNvPr>
          <p:cNvSpPr txBox="1"/>
          <p:nvPr/>
        </p:nvSpPr>
        <p:spPr>
          <a:xfrm>
            <a:off x="2124814" y="6150114"/>
            <a:ext cx="881169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ko-KR" sz="1200" dirty="0">
                <a:solidFill>
                  <a:schemeClr val="bg1"/>
                </a:solidFill>
              </a:rPr>
              <a:t>세 자산 모두 모델 간 AUC-ROC 차이는 최대 0.01 내외로, 채널 수를 줄여도 예측 성능이 실질적으로 유지됨을 확인</a:t>
            </a:r>
            <a:r>
              <a:rPr lang="ko-KR" altLang="ko-KR" sz="1200" dirty="0"/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394A-20F1-63C9-1D63-92926DEE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D38BE-CC25-04AE-9589-4EC0075FE915}"/>
              </a:ext>
            </a:extLst>
          </p:cNvPr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A4C1B-3189-F0FD-9599-58A3A4E69D4A}"/>
              </a:ext>
            </a:extLst>
          </p:cNvPr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2641E3-55CF-2C62-C958-EA0F9CF2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38409"/>
              </p:ext>
            </p:extLst>
          </p:nvPr>
        </p:nvGraphicFramePr>
        <p:xfrm>
          <a:off x="1199520" y="1339596"/>
          <a:ext cx="9653462" cy="447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9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스니커즈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A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CH1~5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9D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0.8413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0.8587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B  Granger 유의 채널 (raw p&lt;0.05)
  스니커즈: CH1+CH3+CH4 / 카드: CH1 / 레고: —</a:t>
                      </a:r>
                    </a:p>
                  </a:txBody>
                  <a:tcPr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0.8461 †근사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0.8612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  SHAP 상위 2채널
  스니커즈: CH1+CH5 / 카드: CH4+CH1 / 레고: CH5+CH4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0.8401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0.8590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0.9626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N-A  Granger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제거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CH2+CH5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CH2~5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= A</a:t>
                      </a:r>
                    </a:p>
                  </a:txBody>
                  <a:tcPr>
                    <a:solidFill>
                      <a:srgbClr val="EAD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0.8472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0.8671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CH1 단독  Google Trends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0.8449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CH2 단독  뉴스 보도량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0.8714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0.9687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CH3 단독  뉴스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0.8708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0.9650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단독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 YT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조회수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0.8614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0.9635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CH5 단독  YT 댓글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0.8353
(A 우수)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0.8689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0.9658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13 /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E49BD-3986-FB58-7B25-B04B0E767701}"/>
              </a:ext>
            </a:extLst>
          </p:cNvPr>
          <p:cNvSpPr txBox="1"/>
          <p:nvPr/>
        </p:nvSpPr>
        <p:spPr>
          <a:xfrm>
            <a:off x="711529" y="6076259"/>
            <a:ext cx="10614420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CC77B-AAE0-86B8-6BD8-878B56B3F20D}"/>
              </a:ext>
            </a:extLst>
          </p:cNvPr>
          <p:cNvSpPr txBox="1"/>
          <p:nvPr/>
        </p:nvSpPr>
        <p:spPr>
          <a:xfrm>
            <a:off x="952237" y="6183655"/>
            <a:ext cx="1019053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단독 채널 모델도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A와</a:t>
            </a:r>
            <a:r>
              <a:rPr lang="ko-KR" altLang="en-US" sz="1200" dirty="0">
                <a:solidFill>
                  <a:schemeClr val="bg1"/>
                </a:solidFill>
              </a:rPr>
              <a:t> 통계적으로 동등하거나 일부 우세 — </a:t>
            </a:r>
            <a:r>
              <a:rPr lang="ko-KR" altLang="en-US" sz="1200" dirty="0" err="1">
                <a:solidFill>
                  <a:schemeClr val="bg1"/>
                </a:solidFill>
              </a:rPr>
              <a:t>소표본</a:t>
            </a:r>
            <a:r>
              <a:rPr lang="ko-KR" altLang="en-US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N</a:t>
            </a:r>
            <a:r>
              <a:rPr lang="ko-KR" altLang="en-US" sz="1200" dirty="0">
                <a:solidFill>
                  <a:schemeClr val="bg1"/>
                </a:solidFill>
              </a:rPr>
              <a:t>=48) 환경에서 다채널 결합이 오히려 노이즈로 작용할 수 있음을 시사</a:t>
            </a:r>
            <a:r>
              <a:rPr lang="ko-KR" altLang="en-US" sz="1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ADFDF-71C0-39B8-3634-71A4B6B2765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07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61520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B·C가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A와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냈는가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선별(B)과 SHAP 선별(C) 모두 전채널(A)과 성능 차이 없음 — 세 가지 메커니즘으로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①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간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정보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중복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575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CH1(Google)과 CH4(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)는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관심도'를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높은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-&gt; 한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채널로도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충분한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정보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커버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XGBoost는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이미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중복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낮은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가중치를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자동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부여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추가해도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미변화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8808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② Granger ≠ SHAP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순위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불일치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8536" y="1384805"/>
            <a:ext cx="3575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Granger(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VAR)와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XGBoost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SHAP(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)은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다른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것을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CH3:
  Granger F=13.4 (1위)
  SHAP 0.011 (4위)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강하지만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기여는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낮음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두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지표는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상호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보완적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9016" y="1024128"/>
            <a:ext cx="3831336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0972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③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소표본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(N=48)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효과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38744" y="1371368"/>
            <a:ext cx="3611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N=48개월의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간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미세한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검출할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통계적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검정력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부족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DM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p값이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0.50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이상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없음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'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결론이지만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없다'는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증명도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아님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N=200+이면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탐지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가능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3547872"/>
            <a:ext cx="11731752" cy="274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3630168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D4E"/>
                </a:solidFill>
                <a:latin typeface="Calibri"/>
              </a:rPr>
              <a:t>자산별 해석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75143"/>
              </p:ext>
            </p:extLst>
          </p:nvPr>
        </p:nvGraphicFramePr>
        <p:xfrm>
          <a:off x="315468" y="4017054"/>
          <a:ext cx="11622023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5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B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(Granger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C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(SHAP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인사이트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(-0.005)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나머지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4채널도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잔여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CH1+CH5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(-0.001)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파악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(CH3)과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(CH1·CH5)이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!=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예측력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(-0.004)
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1개로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유지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CH4+CH1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오히려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CH4의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잠재력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발견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Granger·SHAP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중요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일관성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두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방법론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B = A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불가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CH5+CH4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(+0.003)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(Granger)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(SHAP)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동시적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연관성만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있음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14 / 19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5F943-4776-AA36-06E2-7C9C7C59F78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322E-25B3-399C-217A-2A4ECCF7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7509AE5-7E31-64CB-CD8E-38189C3C4A9B}"/>
              </a:ext>
            </a:extLst>
          </p:cNvPr>
          <p:cNvSpPr txBox="1"/>
          <p:nvPr/>
        </p:nvSpPr>
        <p:spPr>
          <a:xfrm>
            <a:off x="306469" y="963580"/>
            <a:ext cx="3949918" cy="5179075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5AB790-C4CF-EEBE-82AF-1A7445D1996D}"/>
              </a:ext>
            </a:extLst>
          </p:cNvPr>
          <p:cNvSpPr txBox="1"/>
          <p:nvPr/>
        </p:nvSpPr>
        <p:spPr>
          <a:xfrm>
            <a:off x="338328" y="10698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D4E"/>
                </a:solidFill>
                <a:latin typeface="Calibri"/>
              </a:rPr>
              <a:t>왜 DM 검정이 필요한가?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CD788A-ED25-3616-5CA9-76AC049F99B4}"/>
              </a:ext>
            </a:extLst>
          </p:cNvPr>
          <p:cNvSpPr txBox="1"/>
          <p:nvPr/>
        </p:nvSpPr>
        <p:spPr>
          <a:xfrm>
            <a:off x="338328" y="1453896"/>
            <a:ext cx="3886200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6C984-DE65-1EAB-C01C-03DB05BCD57B}"/>
              </a:ext>
            </a:extLst>
          </p:cNvPr>
          <p:cNvSpPr txBox="1"/>
          <p:nvPr/>
        </p:nvSpPr>
        <p:spPr>
          <a:xfrm>
            <a:off x="338328" y="1527048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문제: AUC 숫자 비교만으론 부족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B8493-D9CE-9EC9-7DBF-13D8FCCDC09E}"/>
              </a:ext>
            </a:extLst>
          </p:cNvPr>
          <p:cNvSpPr txBox="1"/>
          <p:nvPr/>
        </p:nvSpPr>
        <p:spPr>
          <a:xfrm>
            <a:off x="338328" y="1828800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0A0A0A"/>
                </a:solidFill>
                <a:latin typeface="Calibri"/>
              </a:rPr>
              <a:t>A AUC = 0.841, C AUC = 0.840
→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우연인지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실제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차이인지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숫자만으로는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알 수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없음</a:t>
            </a:r>
            <a:endParaRPr sz="1050" b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A3481-B833-D37A-A790-3880742F2B39}"/>
              </a:ext>
            </a:extLst>
          </p:cNvPr>
          <p:cNvSpPr txBox="1"/>
          <p:nvPr/>
        </p:nvSpPr>
        <p:spPr>
          <a:xfrm>
            <a:off x="338328" y="26243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2BE0F-EAD1-4D2C-C2A5-502D253BB00A}"/>
              </a:ext>
            </a:extLst>
          </p:cNvPr>
          <p:cNvSpPr txBox="1"/>
          <p:nvPr/>
        </p:nvSpPr>
        <p:spPr>
          <a:xfrm>
            <a:off x="338328" y="26883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DM 검정이 하는 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808B2-95C8-E7B4-130F-D621E1A9F98D}"/>
              </a:ext>
            </a:extLst>
          </p:cNvPr>
          <p:cNvSpPr txBox="1"/>
          <p:nvPr/>
        </p:nvSpPr>
        <p:spPr>
          <a:xfrm>
            <a:off x="338328" y="3029861"/>
            <a:ext cx="3886200" cy="12234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0A0A0A"/>
                </a:solidFill>
              </a:rPr>
              <a:t>두 모델이 매달 낸 예측의 오차를</a:t>
            </a:r>
          </a:p>
          <a:p>
            <a:r>
              <a:rPr lang="ko-KR" altLang="en-US" sz="1050" dirty="0">
                <a:solidFill>
                  <a:srgbClr val="0A0A0A"/>
                </a:solidFill>
              </a:rPr>
              <a:t>  시계열로 나란히 놓고</a:t>
            </a:r>
            <a:r>
              <a:rPr lang="en-US" altLang="ko-KR" sz="1050" dirty="0">
                <a:solidFill>
                  <a:srgbClr val="0A0A0A"/>
                </a:solidFill>
              </a:rPr>
              <a:t>, </a:t>
            </a:r>
            <a:r>
              <a:rPr lang="ko-KR" altLang="en-US" sz="1050" dirty="0">
                <a:solidFill>
                  <a:srgbClr val="0A0A0A"/>
                </a:solidFill>
              </a:rPr>
              <a:t>그 차이가</a:t>
            </a:r>
          </a:p>
          <a:p>
            <a:r>
              <a:rPr lang="ko-KR" altLang="en-US" sz="1050" dirty="0">
                <a:solidFill>
                  <a:srgbClr val="0A0A0A"/>
                </a:solidFill>
              </a:rPr>
              <a:t>  우연인지 실제 차이인지 검정</a:t>
            </a:r>
            <a:endParaRPr lang="en-US" altLang="ko-KR" sz="1050" dirty="0">
              <a:solidFill>
                <a:srgbClr val="0A0A0A"/>
              </a:solidFill>
            </a:endParaRPr>
          </a:p>
          <a:p>
            <a:endParaRPr lang="en-US" sz="1050" b="0" dirty="0">
              <a:solidFill>
                <a:srgbClr val="0A0A0A"/>
              </a:solidFill>
              <a:latin typeface="Calibri"/>
            </a:endParaRPr>
          </a:p>
          <a:p>
            <a:r>
              <a:rPr lang="ko-KR" altLang="en-US" sz="1050" dirty="0">
                <a:solidFill>
                  <a:srgbClr val="0A0A0A"/>
                </a:solidFill>
              </a:rPr>
              <a:t>단일 평균값이 아니라</a:t>
            </a:r>
          </a:p>
          <a:p>
            <a:r>
              <a:rPr lang="ko-KR" altLang="en-US" sz="1050" dirty="0">
                <a:solidFill>
                  <a:srgbClr val="0A0A0A"/>
                </a:solidFill>
              </a:rPr>
              <a:t>  매달의 예측 오차를 시계열로 통째 비교해</a:t>
            </a:r>
          </a:p>
          <a:p>
            <a:r>
              <a:rPr lang="ko-KR" altLang="en-US" sz="1050" dirty="0">
                <a:solidFill>
                  <a:srgbClr val="0A0A0A"/>
                </a:solidFill>
              </a:rPr>
              <a:t>  그 차이가 우연 범위 안인지 검정</a:t>
            </a:r>
            <a:endParaRPr sz="1050" b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673241-7DAC-14AA-9FC0-2F3177EBFD2F}"/>
              </a:ext>
            </a:extLst>
          </p:cNvPr>
          <p:cNvSpPr txBox="1"/>
          <p:nvPr/>
        </p:nvSpPr>
        <p:spPr>
          <a:xfrm>
            <a:off x="338328" y="46817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D77B5C-6045-8F8B-C2F8-C367D3C40EFE}"/>
              </a:ext>
            </a:extLst>
          </p:cNvPr>
          <p:cNvSpPr txBox="1"/>
          <p:nvPr/>
        </p:nvSpPr>
        <p:spPr>
          <a:xfrm>
            <a:off x="338328" y="47457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왜 이게 중요한가?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C20996-A08E-4516-6871-396AAC08CFAC}"/>
              </a:ext>
            </a:extLst>
          </p:cNvPr>
          <p:cNvSpPr txBox="1"/>
          <p:nvPr/>
        </p:nvSpPr>
        <p:spPr>
          <a:xfrm>
            <a:off x="306469" y="5003728"/>
            <a:ext cx="3886200" cy="9002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A0A0A"/>
                </a:solidFill>
                <a:latin typeface="Calibri"/>
              </a:rPr>
              <a:t>16p</a:t>
            </a:r>
            <a:r>
              <a:rPr lang="ko-KR" altLang="en-US" sz="1050" dirty="0">
                <a:solidFill>
                  <a:srgbClr val="0A0A0A"/>
                </a:solidFill>
                <a:latin typeface="Calibri"/>
              </a:rPr>
              <a:t>의 결론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—
"</a:t>
            </a:r>
            <a:r>
              <a:rPr lang="ko-KR" altLang="ko-KR" sz="1050" dirty="0"/>
              <a:t>채널 수를 줄여도 예측 성능이 실질적으로 유지됨을 확인 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"
→ DM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검정으로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그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근거를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Calibri"/>
              </a:rPr>
              <a:t>확보</a:t>
            </a:r>
            <a:r>
              <a:rPr sz="1050" b="0" dirty="0">
                <a:solidFill>
                  <a:srgbClr val="0A0A0A"/>
                </a:solidFill>
                <a:latin typeface="Calibri"/>
              </a:rPr>
              <a:t> (parsimony)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5B3FAA-3D66-9DAA-74CE-09FC74CF1933}"/>
              </a:ext>
            </a:extLst>
          </p:cNvPr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선별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 — DM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7A9FD-6E2B-D535-7E6D-B32891DFCDBD}"/>
              </a:ext>
            </a:extLst>
          </p:cNvPr>
          <p:cNvSpPr txBox="1"/>
          <p:nvPr/>
        </p:nvSpPr>
        <p:spPr>
          <a:xfrm>
            <a:off x="205740" y="536745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Diebold-Mariano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검정으로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'Model A(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) = Model C(SHAP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2채널)'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가설을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통계적으로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검증</a:t>
            </a:r>
            <a:endParaRPr sz="900" b="0" i="1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32" name="Table 16">
            <a:extLst>
              <a:ext uri="{FF2B5EF4-FFF2-40B4-BE49-F238E27FC236}">
                <a16:creationId xmlns:a16="http://schemas.microsoft.com/office/drawing/2014/main" id="{75F9F6E1-9C17-6C7A-8294-1D56768C4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19201"/>
              </p:ext>
            </p:extLst>
          </p:nvPr>
        </p:nvGraphicFramePr>
        <p:xfrm>
          <a:off x="4526280" y="4734479"/>
          <a:ext cx="7324217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6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A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C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선별 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DM 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CH1+CH5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-0.417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CH4+CH1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-0.670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CH5+CH4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H₀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실패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→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endParaRPr sz="10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56A888E-2F76-182E-74A3-9B8961DF958E}"/>
              </a:ext>
            </a:extLst>
          </p:cNvPr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확인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80BD43-64B5-06D3-C65A-A0DD8B913EF8}"/>
              </a:ext>
            </a:extLst>
          </p:cNvPr>
          <p:cNvSpPr txBox="1"/>
          <p:nvPr/>
        </p:nvSpPr>
        <p:spPr>
          <a:xfrm>
            <a:off x="1884785" y="6247811"/>
            <a:ext cx="8260702" cy="49059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9B7E4F-C6EB-7638-824C-7143D5394DED}"/>
              </a:ext>
            </a:extLst>
          </p:cNvPr>
          <p:cNvSpPr txBox="1"/>
          <p:nvPr/>
        </p:nvSpPr>
        <p:spPr>
          <a:xfrm>
            <a:off x="553615" y="6350319"/>
            <a:ext cx="10798297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RQ3  |  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DM </a:t>
            </a:r>
            <a:r>
              <a:rPr lang="ko-KR" altLang="en-US" sz="1300" b="1" dirty="0">
                <a:solidFill>
                  <a:srgbClr val="FFFFFF"/>
                </a:solidFill>
                <a:latin typeface="Calibri"/>
              </a:rPr>
              <a:t>검정을 통해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3자산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</a:rPr>
              <a:t>통계적으로  모델이 동등함을 확인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→ 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확인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7" name="Picture 15" descr="image.png">
            <a:extLst>
              <a:ext uri="{FF2B5EF4-FFF2-40B4-BE49-F238E27FC236}">
                <a16:creationId xmlns:a16="http://schemas.microsoft.com/office/drawing/2014/main" id="{2F027425-9DBB-1B92-50A9-F9D9784EC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348" y="1012871"/>
            <a:ext cx="7498079" cy="3703320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>
                <a:solidFill>
                  <a:srgbClr val="555555"/>
                </a:solidFill>
                <a:latin typeface="Calibri"/>
              </a:rPr>
              <a:t>15 / 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22B86-AEB1-1AC4-8F9F-D238FD17244E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29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2A64-F9C2-89D5-42A5-C799F3C2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ECE6E-284B-15D2-488D-1B9B6F1FF558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3D89DAF-A20A-8FEE-4A46-00BAE44EC173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D29C2-04E9-E632-ED28-0BDABF9196AB}"/>
              </a:ext>
            </a:extLst>
          </p:cNvPr>
          <p:cNvSpPr txBox="1"/>
          <p:nvPr/>
        </p:nvSpPr>
        <p:spPr>
          <a:xfrm>
            <a:off x="2140856" y="2563466"/>
            <a:ext cx="97318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05 </a:t>
            </a:r>
            <a:r>
              <a:rPr lang="ko-KR" altLang="en-US" sz="3200" b="1" dirty="0">
                <a:solidFill>
                  <a:schemeClr val="bg1"/>
                </a:solidFill>
              </a:rPr>
              <a:t>충격반응함수 </a:t>
            </a:r>
            <a:r>
              <a:rPr lang="en-US" altLang="ko-KR" sz="3200" b="1" dirty="0">
                <a:solidFill>
                  <a:schemeClr val="bg1"/>
                </a:solidFill>
              </a:rPr>
              <a:t>(IRF) </a:t>
            </a:r>
            <a:r>
              <a:rPr lang="ko-KR" altLang="en-US" sz="3200" b="1" dirty="0">
                <a:solidFill>
                  <a:schemeClr val="bg1"/>
                </a:solidFill>
              </a:rPr>
              <a:t>분석과 연구 </a:t>
            </a:r>
            <a:r>
              <a:rPr lang="ko-KR" altLang="en-US" sz="3200" b="1" dirty="0" err="1">
                <a:solidFill>
                  <a:schemeClr val="bg1"/>
                </a:solidFill>
              </a:rPr>
              <a:t>제한점</a:t>
            </a:r>
            <a:endParaRPr lang="ko-KR" altLang="en-US" sz="3200" b="1" dirty="0">
              <a:solidFill>
                <a:schemeClr val="bg1"/>
              </a:solidFill>
            </a:endParaRP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46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추가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강건성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검증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충격반응함수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(IRF)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분석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0702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검정이 '유의한지 여부'만 알려주는 한계를 보완 — 채널 충격의 방향·크기·지속 기간까지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657600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IRF를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추가했나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43814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Granger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'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선행한다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/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아니다'만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판단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효과의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방향·크기·지속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기간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불명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IRF(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충격반응함수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)로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보완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값이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갑자기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1sigma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시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6개월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어떻게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반응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(위/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아래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),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크기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파악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69080" y="1024128"/>
            <a:ext cx="3749039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8808" y="10972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대상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및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설정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8808" y="1481328"/>
            <a:ext cx="382219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0A0A0A"/>
                </a:solidFill>
                <a:latin typeface="Calibri"/>
              </a:rPr>
              <a:t>대상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</a:t>
            </a:r>
            <a:r>
              <a:rPr lang="ko-KR" altLang="en-US" sz="1300" b="0" i="0" dirty="0">
                <a:solidFill>
                  <a:srgbClr val="0A0A0A"/>
                </a:solidFill>
                <a:latin typeface="Calibri"/>
              </a:rPr>
              <a:t>가장 높은 유의성을 나타내는 것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①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&lt;- CH3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②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카드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&lt;- CH1 Google Trends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설정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반응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기간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6개월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추적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95%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신뢰구간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부트스트랩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1,000회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반복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해석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0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포함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안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되면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유의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1024128"/>
            <a:ext cx="3959352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7" y="1097280"/>
            <a:ext cx="3739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경제적 해석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481328"/>
            <a:ext cx="3739896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CH3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부정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하락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 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심리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위축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
CH1 Google Trends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카드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급증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 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관심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</a:t>
            </a:r>
          </a:p>
        </p:txBody>
      </p:sp>
      <p:pic>
        <p:nvPicPr>
          <p:cNvPr id="14" name="Picture 13" descr="irf_sneakers_c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0"/>
            <a:ext cx="5715000" cy="2697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6309359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스니커즈 &lt;- CH3 뉴스감성 충격반응. 래그 1-2에서 음의 반응 확인, 래그 4에서 소멸. 부정 뉴스 -&gt; 단기 가격 하락 선행을 IRF로 재확인.</a:t>
            </a:r>
          </a:p>
        </p:txBody>
      </p:sp>
      <p:pic>
        <p:nvPicPr>
          <p:cNvPr id="16" name="Picture 15" descr="irf_cards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66160"/>
            <a:ext cx="5724144" cy="2697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6208" y="6309359"/>
            <a:ext cx="5724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카드 &lt;- CH1 Google Trends 충격반응. 래그 1에서 양의 반응, 래그 3에서 감쇠. 검색량 증가 -&gt; 카드 가격 상승 선행을 IRF로 재확인.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16 / 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1B1A29-596B-A0EB-30F0-92C0C36A4242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제한점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방법론적 한계 및 데이터 품질 이슈 — 논문 §5.3에 전부 명시하여 과도한 일반화 방지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25778"/>
              </p:ext>
            </p:extLst>
          </p:nvPr>
        </p:nvGraphicFramePr>
        <p:xfrm>
          <a:off x="320040" y="1208341"/>
          <a:ext cx="11612880" cy="5131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0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제한점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구체적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심각도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소표본 문제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자산별 N=48개월 — 복잡한 VAR 구조 검정하기엔 관측치 부족. 검정력(power) 낮을 수 있음.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높음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원본 p + BH 보정 p 병기. 검정력 명시.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 CH1
약한 정상성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1차 차분 후에도 ADF p=0.120 — 경계적 비정상 상태. Granger 결과 해석 시 주의 필요.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해당 결과 해석 시 주의 문구 명시.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도메인
특화도 한계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GDELT tone은 기사 전반 자동 추출. FinBERT(금융 특화) 대비 도메인 정밀도 낮음.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민감도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진행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키워드
편향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'resell+review' 키워드 필터 -&gt; 일반 hype 콘텐츠 과소 계상 가능성.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전 아이템 동일 키워드 프로토콜 적용.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 GT 0주
비율 높음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Porsche 21/48, Bugatti 25/48 구간에서 Google Trends 값 = 0.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0비율 테이블 제시. 해당 아이템 강한 결론 배제.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단일 플랫폼
편향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YouTube만 수집. TikTok·Reddit·Twitter/X 제외 -&gt; CH4·CH5 대표성 한계.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향후 연구 기회로 명시.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z-score
데이터 누출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StandardScaler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피팅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TimeSeriesSplit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엄밀한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fold별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fit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아님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N=48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특성상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영향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7B473-4597-1C5D-EAAA-F896B99CA77D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AE3B-1A9D-A582-FA8F-CD7809D8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C309B-F234-8EBE-947C-6C4B7E61A078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4745F8-A6CC-BE5F-10B6-702BB2BE9D63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8A5CE-881A-9352-CAD0-CC10A4EA539A}"/>
              </a:ext>
            </a:extLst>
          </p:cNvPr>
          <p:cNvSpPr txBox="1"/>
          <p:nvPr/>
        </p:nvSpPr>
        <p:spPr>
          <a:xfrm>
            <a:off x="3933370" y="2532744"/>
            <a:ext cx="46010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06 </a:t>
            </a:r>
            <a:r>
              <a:rPr lang="ko-KR" altLang="en-US" sz="3200" b="1" dirty="0">
                <a:solidFill>
                  <a:schemeClr val="bg1"/>
                </a:solidFill>
              </a:rPr>
              <a:t>결론과 시사점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542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문제별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답변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인과 검정 -&gt; Jaccard 채널 비교 -&gt; XGBoost + DM 검정 — 세 단계 분석의 핵심 결과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95677"/>
              </p:ext>
            </p:extLst>
          </p:nvPr>
        </p:nvGraphicFramePr>
        <p:xfrm>
          <a:off x="676592" y="1348561"/>
          <a:ext cx="10835640" cy="4851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80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연구 문제 (요약)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실증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핵심 근거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653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선행하는가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CH3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(F=13.4,  p=0.001,  BH p=0.011)
</a:t>
                      </a:r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CH1 Google Trends
  (F=8.4,   p=0.006,  BH p=0.044)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lang="en-US" altLang="ko-KR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-&gt;  </a:t>
                      </a:r>
                      <a:r>
                        <a:rPr lang="ko-KR" altLang="en-US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미디어 채널이 </a:t>
                      </a:r>
                      <a:r>
                        <a:rPr lang="ko-KR" altLang="en-US" sz="1500" b="0" dirty="0" err="1">
                          <a:solidFill>
                            <a:srgbClr val="0A0A0A"/>
                          </a:solidFill>
                          <a:latin typeface="+mn-lt"/>
                        </a:rPr>
                        <a:t>리셀</a:t>
                      </a:r>
                      <a:r>
                        <a:rPr lang="ko-KR" altLang="en-US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 가격을 부분적으로 선행함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BH FDR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(q=0.05, m=15)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43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다른가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CH1·CH3·CH4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CH1만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RQ1 Granger 결과의
유의 채널 집합 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53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동등한가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DM p=0.678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p=0.504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p=0.646
  </a:t>
                      </a:r>
                      <a:r>
                        <a:rPr lang="en-US" altLang="ko-KR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-&gt; 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2채널만으로도 5채널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성능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Diebold-Mariano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AUC-ROC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58FBC-3DDC-4CDF-E477-A31FE9092F34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학술적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기여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및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실무적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시사점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0884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세 연구 흐름의 교점을 최초로 분석 — 리셀 시장 미디어 모니터링 전략의 이론적 근거 제공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364038"/>
              </p:ext>
            </p:extLst>
          </p:nvPr>
        </p:nvGraphicFramePr>
        <p:xfrm>
          <a:off x="287972" y="1424178"/>
          <a:ext cx="11612880" cy="443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62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기여 유형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새로운 연구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시장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스니커즈·카드·레고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Granger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분석을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금융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자산이나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국한되어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있었음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다자산 채널 비교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않음을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(CH3)이,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(CH1)이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핵심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—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특이적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방법론 삼각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Granger 인과(시간적 선행성) + SHAP(모델 내 채널 기여도) + DM 검정(예측 비교) 세 방법을 결합하여 단일 방법의 한계를 상호 보완.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실무적 시사점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모니터링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Google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트렌드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추적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현재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유효한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모멘텀에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의존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향후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TikTok·Reddit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등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플랫폼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주별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데이터로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고빈도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경매·한정판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드롭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이벤트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효과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장기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(4년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구축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19 / 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0D10C-6724-95BE-F607-B7E6D0E5DA6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82296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1A1A1A"/>
                </a:solidFill>
                <a:latin typeface="Calibri"/>
              </a:rPr>
              <a:t>참고 문헌</a:t>
            </a:r>
            <a:r>
              <a:rPr lang="ko-KR" altLang="en-US" sz="1800" b="0" dirty="0">
                <a:solidFill>
                  <a:srgbClr val="555555"/>
                </a:solidFill>
                <a:latin typeface="Calibri"/>
              </a:rPr>
              <a:t>  </a:t>
            </a:r>
            <a:r>
              <a:rPr lang="en-US" sz="1800" b="0" dirty="0">
                <a:solidFill>
                  <a:srgbClr val="555555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585216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88888"/>
                </a:solidFill>
                <a:latin typeface="Calibri"/>
              </a:rPr>
              <a:t>draft.tex 실제 인용 43건  ·  Granger 인과 / XGBoost+SHAP / DM 검정 / 대안자산 / 미디어·감성 / 디지털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12471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7299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203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계량경제 ·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165860"/>
            <a:ext cx="3474720" cy="201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202436"/>
            <a:ext cx="3474720" cy="213055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[1] </a:t>
            </a:r>
            <a:r>
              <a:rPr sz="1000" b="0">
                <a:solidFill>
                  <a:srgbClr val="1A1A1A"/>
                </a:solidFill>
                <a:latin typeface="Calibri"/>
              </a:rPr>
              <a:t>Granger (1969)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37(3)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[2] </a:t>
            </a:r>
            <a:r>
              <a:rPr sz="1000" b="0">
                <a:solidFill>
                  <a:srgbClr val="1A1A1A"/>
                </a:solidFill>
                <a:latin typeface="Calibri"/>
              </a:rPr>
              <a:t>Dickey &amp; Fuller (1979)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JASA 74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[3] </a:t>
            </a:r>
            <a:r>
              <a:rPr sz="1000" b="0">
                <a:solidFill>
                  <a:srgbClr val="1A1A1A"/>
                </a:solidFill>
                <a:latin typeface="Calibri"/>
              </a:rPr>
              <a:t>Schwarz (1978)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Ann. Stat. 6(2)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[4] </a:t>
            </a:r>
            <a:r>
              <a:rPr sz="1000" b="0">
                <a:solidFill>
                  <a:srgbClr val="1A1A1A"/>
                </a:solidFill>
                <a:latin typeface="Calibri"/>
              </a:rPr>
              <a:t>Diebold &amp; Mariano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JBES 13(3)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[5] </a:t>
            </a:r>
            <a:r>
              <a:rPr sz="1000" b="0">
                <a:solidFill>
                  <a:srgbClr val="1A1A1A"/>
                </a:solidFill>
                <a:latin typeface="Calibri"/>
              </a:rPr>
              <a:t>Benjamini &amp; Hochberg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JRSS-B 57(1)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[6] </a:t>
            </a:r>
            <a:r>
              <a:rPr sz="1000" b="0">
                <a:solidFill>
                  <a:srgbClr val="1A1A1A"/>
                </a:solidFill>
                <a:latin typeface="Calibri"/>
              </a:rPr>
              <a:t>West (1996)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64(5)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[7] </a:t>
            </a:r>
            <a:r>
              <a:rPr sz="1000" b="0">
                <a:solidFill>
                  <a:srgbClr val="1A1A1A"/>
                </a:solidFill>
                <a:latin typeface="Calibri"/>
              </a:rPr>
              <a:t>Hansen (2005)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JBES 23(4)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[8] </a:t>
            </a:r>
            <a:r>
              <a:rPr sz="1000" b="0">
                <a:solidFill>
                  <a:srgbClr val="1A1A1A"/>
                </a:solidFill>
                <a:latin typeface="Calibri"/>
              </a:rPr>
              <a:t>Hansen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79(2)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[9] </a:t>
            </a:r>
            <a:r>
              <a:rPr sz="1000" b="0">
                <a:solidFill>
                  <a:srgbClr val="1A1A1A"/>
                </a:solidFill>
                <a:latin typeface="Calibri"/>
              </a:rPr>
              <a:t>Holtz-Eakin et al. (1988)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56(6)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[10] </a:t>
            </a:r>
            <a:r>
              <a:rPr sz="1000" b="0">
                <a:solidFill>
                  <a:srgbClr val="1A1A1A"/>
                </a:solidFill>
                <a:latin typeface="Calibri"/>
              </a:rPr>
              <a:t>Dumitrescu &amp; Hurlin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Econ. Modelling 29(4)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[11] </a:t>
            </a:r>
            <a:r>
              <a:rPr sz="1000" b="0">
                <a:solidFill>
                  <a:srgbClr val="1A1A1A"/>
                </a:solidFill>
                <a:latin typeface="Calibri"/>
              </a:rPr>
              <a:t>Welch &amp; Goyal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RFS 21(4)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70148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45A32"/>
                </a:solidFill>
                <a:latin typeface="Calibri"/>
              </a:rPr>
              <a:t>머신러닝 ·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666744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703320"/>
            <a:ext cx="3474720" cy="786384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[12] </a:t>
            </a:r>
            <a:r>
              <a:rPr sz="1000" b="0">
                <a:solidFill>
                  <a:srgbClr val="1A1A1A"/>
                </a:solidFill>
                <a:latin typeface="Calibri"/>
              </a:rPr>
              <a:t>Chen &amp; Guestrin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KDD 2016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[13] </a:t>
            </a:r>
            <a:r>
              <a:rPr sz="1000" b="0">
                <a:solidFill>
                  <a:srgbClr val="1A1A1A"/>
                </a:solidFill>
                <a:latin typeface="Calibri"/>
              </a:rPr>
              <a:t>Lundberg &amp; Lee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NeurIPS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[14] </a:t>
            </a:r>
            <a:r>
              <a:rPr sz="1000" b="0">
                <a:solidFill>
                  <a:srgbClr val="1A1A1A"/>
                </a:solidFill>
                <a:latin typeface="Calibri"/>
              </a:rPr>
              <a:t>Araci (2019) FinBERT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arXiv:1908.10063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[15] </a:t>
            </a:r>
            <a:r>
              <a:rPr sz="1000" b="0">
                <a:solidFill>
                  <a:srgbClr val="1A1A1A"/>
                </a:solidFill>
                <a:latin typeface="Calibri"/>
              </a:rPr>
              <a:t>Devlin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NAACL-HLT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45A32"/>
                </a:solidFill>
                <a:latin typeface="Calibri"/>
              </a:rPr>
              <a:t>머신러닝 · NLP (CONT.)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165860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20243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[16] </a:t>
            </a:r>
            <a:r>
              <a:rPr sz="1000" b="0">
                <a:solidFill>
                  <a:srgbClr val="1A1A1A"/>
                </a:solidFill>
                <a:latin typeface="Calibri"/>
              </a:rPr>
              <a:t>Gu et al. (2020)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RFS 33(5)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[17] </a:t>
            </a:r>
            <a:r>
              <a:rPr sz="1000" b="0">
                <a:solidFill>
                  <a:srgbClr val="1A1A1A"/>
                </a:solidFill>
                <a:latin typeface="Calibri"/>
              </a:rPr>
              <a:t>Akiba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KDD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41932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4A235A"/>
                </a:solidFill>
                <a:latin typeface="Calibri"/>
              </a:rPr>
              <a:t>대안 자산 · 수집품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938528"/>
            <a:ext cx="3474720" cy="20116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975104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[18] </a:t>
            </a:r>
            <a:r>
              <a:rPr sz="1000" b="0">
                <a:solidFill>
                  <a:srgbClr val="1A1A1A"/>
                </a:solidFill>
                <a:latin typeface="Calibri"/>
              </a:rPr>
              <a:t>Burton &amp; Jacobsen (1999)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JEP 13(4)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[19] </a:t>
            </a:r>
            <a:r>
              <a:rPr sz="1000" b="0">
                <a:solidFill>
                  <a:srgbClr val="1A1A1A"/>
                </a:solidFill>
                <a:latin typeface="Calibri"/>
              </a:rPr>
              <a:t>Mei &amp; Moses (2002)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AER 92(5)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[20] </a:t>
            </a:r>
            <a:r>
              <a:rPr sz="1000" b="0">
                <a:solidFill>
                  <a:srgbClr val="1A1A1A"/>
                </a:solidFill>
                <a:latin typeface="Calibri"/>
              </a:rPr>
              <a:t>Renneboog &amp; Spaenjers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Mgmt. Sci. 59(1)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[21] </a:t>
            </a:r>
            <a:r>
              <a:rPr sz="1000" b="0">
                <a:solidFill>
                  <a:srgbClr val="1A1A1A"/>
                </a:solidFill>
                <a:latin typeface="Calibri"/>
              </a:rPr>
              <a:t>Dimson et al. (2015)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JFE 118(2)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[22] </a:t>
            </a:r>
            <a:r>
              <a:rPr sz="1000" b="0">
                <a:solidFill>
                  <a:srgbClr val="1A1A1A"/>
                </a:solidFill>
                <a:latin typeface="Calibri"/>
              </a:rPr>
              <a:t>Dobrynskaya &amp; Kishilova (2022)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RIBF 59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[23] </a:t>
            </a:r>
            <a:r>
              <a:rPr sz="1000" b="0">
                <a:solidFill>
                  <a:srgbClr val="1A1A1A"/>
                </a:solidFill>
                <a:latin typeface="Calibri"/>
              </a:rPr>
              <a:t>Raditya et al. (2021)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Procedia CS 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8269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782800"/>
                </a:solidFill>
                <a:latin typeface="Calibri"/>
              </a:rPr>
              <a:t>미디어 · 감성 →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479292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2" y="3515868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[24] </a:t>
            </a:r>
            <a:r>
              <a:rPr sz="1000" b="0">
                <a:solidFill>
                  <a:srgbClr val="1A1A1A"/>
                </a:solidFill>
                <a:latin typeface="Calibri"/>
              </a:rPr>
              <a:t>Tetlock (2007)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62(3)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[25] </a:t>
            </a:r>
            <a:r>
              <a:rPr sz="1000" b="0">
                <a:solidFill>
                  <a:srgbClr val="1A1A1A"/>
                </a:solidFill>
                <a:latin typeface="Calibri"/>
              </a:rPr>
              <a:t>Tetlock et al.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[26] </a:t>
            </a:r>
            <a:r>
              <a:rPr sz="1000" b="0">
                <a:solidFill>
                  <a:srgbClr val="1A1A1A"/>
                </a:solidFill>
                <a:latin typeface="Calibri"/>
              </a:rPr>
              <a:t>Antweiler &amp; Frank (2004)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59(3)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[27] </a:t>
            </a:r>
            <a:r>
              <a:rPr sz="1000" b="0">
                <a:solidFill>
                  <a:srgbClr val="1A1A1A"/>
                </a:solidFill>
                <a:latin typeface="Calibri"/>
              </a:rPr>
              <a:t>Engelberg &amp; Parsons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[28] </a:t>
            </a:r>
            <a:r>
              <a:rPr sz="1000" b="0">
                <a:solidFill>
                  <a:srgbClr val="1A1A1A"/>
                </a:solidFill>
                <a:latin typeface="Calibri"/>
              </a:rPr>
              <a:t>Loughran &amp; McDonald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[29] </a:t>
            </a:r>
            <a:r>
              <a:rPr sz="1000" b="0">
                <a:solidFill>
                  <a:srgbClr val="1A1A1A"/>
                </a:solidFill>
                <a:latin typeface="Calibri"/>
              </a:rPr>
              <a:t>Loughran &amp; McDonald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JAR 54(4)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782800"/>
                </a:solidFill>
                <a:latin typeface="Calibri"/>
              </a:rPr>
              <a:t>미디어 · 감성 → 자산 (CONT.)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165860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5592" y="1202436"/>
            <a:ext cx="3474720" cy="97840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[30] </a:t>
            </a:r>
            <a:r>
              <a:rPr sz="1000" b="0">
                <a:solidFill>
                  <a:srgbClr val="1A1A1A"/>
                </a:solidFill>
                <a:latin typeface="Calibri"/>
              </a:rPr>
              <a:t>García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68(3)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[31] </a:t>
            </a:r>
            <a:r>
              <a:rPr sz="1000" b="0">
                <a:solidFill>
                  <a:srgbClr val="1A1A1A"/>
                </a:solidFill>
                <a:latin typeface="Calibri"/>
              </a:rPr>
              <a:t>Kearney &amp; Liu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IRFA 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[32] </a:t>
            </a:r>
            <a:r>
              <a:rPr sz="1000" b="0">
                <a:solidFill>
                  <a:srgbClr val="1A1A1A"/>
                </a:solidFill>
                <a:latin typeface="Calibri"/>
              </a:rPr>
              <a:t>Heston &amp; Sinha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FAJ 73(3)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[33] </a:t>
            </a:r>
            <a:r>
              <a:rPr sz="1000" b="0">
                <a:solidFill>
                  <a:srgbClr val="1A1A1A"/>
                </a:solidFill>
                <a:latin typeface="Calibri"/>
              </a:rPr>
              <a:t>Bollen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J. Comput. Sci. 2(1)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[34] </a:t>
            </a:r>
            <a:r>
              <a:rPr sz="1000" b="0">
                <a:solidFill>
                  <a:srgbClr val="1A1A1A"/>
                </a:solidFill>
                <a:latin typeface="Calibri"/>
              </a:rPr>
              <a:t>Sprenger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EFM 20(5)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31800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0B3D66"/>
                </a:solidFill>
                <a:latin typeface="Calibri"/>
              </a:rPr>
              <a:t>검색 · 디지털 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514600"/>
            <a:ext cx="3474720" cy="20116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5592" y="2551176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[35] </a:t>
            </a:r>
            <a:r>
              <a:rPr sz="1000" b="0">
                <a:solidFill>
                  <a:srgbClr val="1A1A1A"/>
                </a:solidFill>
                <a:latin typeface="Calibri"/>
              </a:rPr>
              <a:t>Da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[36] </a:t>
            </a:r>
            <a:r>
              <a:rPr sz="1000" b="0">
                <a:solidFill>
                  <a:srgbClr val="1A1A1A"/>
                </a:solidFill>
                <a:latin typeface="Calibri"/>
              </a:rPr>
              <a:t>Preis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[37] </a:t>
            </a:r>
            <a:r>
              <a:rPr sz="1000" b="0">
                <a:solidFill>
                  <a:srgbClr val="1A1A1A"/>
                </a:solidFill>
                <a:latin typeface="Calibri"/>
              </a:rPr>
              <a:t>Joseph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IJF 27(4)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[38] </a:t>
            </a:r>
            <a:r>
              <a:rPr sz="1000" b="0">
                <a:solidFill>
                  <a:srgbClr val="1A1A1A"/>
                </a:solidFill>
                <a:latin typeface="Calibri"/>
              </a:rPr>
              <a:t>Vlastakis &amp; Markellos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JBF 36(6)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[39] </a:t>
            </a:r>
            <a:r>
              <a:rPr sz="1000" b="0">
                <a:solidFill>
                  <a:srgbClr val="1A1A1A"/>
                </a:solidFill>
                <a:latin typeface="Calibri"/>
              </a:rPr>
              <a:t>Vozlyublennaia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JBF 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[40] </a:t>
            </a:r>
            <a:r>
              <a:rPr sz="1000" b="0">
                <a:solidFill>
                  <a:srgbClr val="1A1A1A"/>
                </a:solidFill>
                <a:latin typeface="Calibri"/>
              </a:rPr>
              <a:t>Bordino et al.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PLoS ONE 7(7)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[41] </a:t>
            </a:r>
            <a:r>
              <a:rPr sz="1000" b="0">
                <a:solidFill>
                  <a:srgbClr val="1A1A1A"/>
                </a:solidFill>
                <a:latin typeface="Calibri"/>
              </a:rPr>
              <a:t>Moat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[42] </a:t>
            </a:r>
            <a:r>
              <a:rPr sz="1000" b="0">
                <a:solidFill>
                  <a:srgbClr val="1A1A1A"/>
                </a:solidFill>
                <a:latin typeface="Calibri"/>
              </a:rPr>
              <a:t>Curme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PNAS 111(32)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24281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374751"/>
                </a:solidFill>
                <a:latin typeface="Calibri"/>
              </a:rPr>
              <a:t>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439412"/>
            <a:ext cx="3474720" cy="20116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4475988"/>
            <a:ext cx="3474720" cy="1261866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74751"/>
                </a:solidFill>
                <a:latin typeface="Calibri"/>
              </a:rPr>
              <a:t>[43] </a:t>
            </a:r>
            <a:r>
              <a:rPr sz="1000" b="0">
                <a:solidFill>
                  <a:srgbClr val="1A1A1A"/>
                </a:solidFill>
                <a:latin typeface="Calibri"/>
              </a:rPr>
              <a:t>Leetaru &amp; Schrodt (2013) GDELT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ISA Annual Conv.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[44] </a:t>
            </a:r>
            <a:r>
              <a:rPr sz="1000" b="0">
                <a:solidFill>
                  <a:srgbClr val="1A1A1A"/>
                </a:solidFill>
                <a:latin typeface="Calibri"/>
              </a:rPr>
              <a:t>StockX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Sneaker resale marketplace data, stockx.com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[45] </a:t>
            </a:r>
            <a:r>
              <a:rPr sz="1000" b="0">
                <a:solidFill>
                  <a:srgbClr val="1A1A1A"/>
                </a:solidFill>
                <a:latin typeface="Calibri"/>
              </a:rPr>
              <a:t>PriceCharting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Trading card price guide, pricecharting.com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[46] </a:t>
            </a:r>
            <a:r>
              <a:rPr sz="1000" b="0">
                <a:solidFill>
                  <a:srgbClr val="1A1A1A"/>
                </a:solidFill>
                <a:latin typeface="Calibri"/>
              </a:rPr>
              <a:t>BrickRanker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LEGO secondary-market index, brickranker.com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[47] </a:t>
            </a:r>
            <a:r>
              <a:rPr sz="1000" b="0">
                <a:solidFill>
                  <a:srgbClr val="1A1A1A"/>
                </a:solidFill>
                <a:latin typeface="Calibri"/>
              </a:rPr>
              <a:t>Google Trends API (pytrends)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trends.google.com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[48] </a:t>
            </a:r>
            <a:r>
              <a:rPr sz="1000" b="0">
                <a:solidFill>
                  <a:srgbClr val="1A1A1A"/>
                </a:solidFill>
                <a:latin typeface="Calibri"/>
              </a:rPr>
              <a:t>YouTube Data API v3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developers.google.com/youtube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6638544"/>
            <a:ext cx="1124712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66751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Calibri"/>
              </a:rPr>
              <a:t>48 references  ·  리셀 시장 미디어 선행 지표 연구  ·  draft.tex 인용 + 데이터 출처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5099</Words>
  <Application>Microsoft Office PowerPoint</Application>
  <PresentationFormat>사용자 지정</PresentationFormat>
  <Paragraphs>771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16</cp:revision>
  <dcterms:created xsi:type="dcterms:W3CDTF">2013-01-27T09:14:16Z</dcterms:created>
  <dcterms:modified xsi:type="dcterms:W3CDTF">2026-06-07T13:13:23Z</dcterms:modified>
  <cp:category/>
</cp:coreProperties>
</file>