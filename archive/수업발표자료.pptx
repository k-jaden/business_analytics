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318" r:id="rId42"/>
    <p:sldId id="319" r:id="rId43"/>
    <p:sldId id="320" r:id="rId44"/>
    <p:sldId id="321" r:id="rId45"/>
    <p:sldId id="322" r:id="rId46"/>
    <p:sldId id="323" r:id="rId47"/>
    <p:sldId id="324" r:id="rId48"/>
    <p:sldId id="325" r:id="rId49"/>
    <p:sldId id="326" r:id="rId50"/>
    <p:sldId id="327" r:id="rId51"/>
    <p:sldId id="328" r:id="rId52"/>
    <p:sldId id="329" r:id="rId5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  <a:srgbClr val="185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CA5EE2-8ED6-4C88-96F3-CFCEB1F1B20B}" v="6" dt="2026-04-19T04:39:18.4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45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7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Relationship Id="rId41" Type="http://schemas.microsoft.com/office/2015/10/relationships/revisionInfo" Target="revisionInfo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8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68096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미디어 채널의 리셀 가격 선행성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스니커즈 · 트레이딩 카드 · 레고  |  5개 미디어 채널  |  XGBoost 예측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724912"/>
            <a:ext cx="3657600" cy="11887"/>
          </a:xfrm>
          <a:prstGeom prst="rect">
            <a:avLst/>
          </a:pr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이승현 · 윤재은 · 최형호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7680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2026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관련 연구 — 4개 연구 흐름과 공통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미디어·가격·멀티채널·Granger→예측 파이프라인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05840"/>
            <a:ext cx="3931920" cy="402336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05840"/>
            <a:ext cx="3931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미디어 → 가격
선행성 연구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463040"/>
            <a:ext cx="3657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Tetlock (2007): 뉴스 감성 → 주가 하락
Da et al. (2011, JF): Google Trends → 주가 공포
Preis et al. (2013): 검색량 → 시장 전략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7784" y="215798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7784" y="221284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▶ 한계: 전통 금융자산(주식)만
리셀 자산 적용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100584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800600" y="1005840"/>
            <a:ext cx="3931920" cy="402336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005840"/>
            <a:ext cx="3931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리셀/대체자산
가격 연구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46904" y="1463040"/>
            <a:ext cx="3657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StockX 스니커즈 프리미엄 연구
Dobrynskaya &amp; Kishilova (2018): LEGO 투자
거시 경제 변수·공급 분석 중심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6904" y="215798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221284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▶ 한계: 미디어 채널 효과 미포함
채널 선행성 미검증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9748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1480" y="2697480"/>
            <a:ext cx="3931920" cy="402336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697480"/>
            <a:ext cx="3931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멀티채널
미디어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" y="3154680"/>
            <a:ext cx="3657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Bollen et al. (2011): Twitter → DJIA 예측
Jang &amp; Jun (2025): YouTube → 주가
볼륨·감성 분리 활용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7784" y="384962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7784" y="390448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▶ 한계: 단일 자산(주식) 위주
리셀 3종 자산 비교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800600" y="2697480"/>
            <a:ext cx="3931920" cy="1572768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00600" y="2697480"/>
            <a:ext cx="3931920" cy="402336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697480"/>
            <a:ext cx="393192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Granger → ML
예측 파이프라인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46904" y="3154680"/>
            <a:ext cx="36576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Bollen (2011): Granger → SVM 예측
Peng et al. (2020): Granger + LSTM 결합
공통 전제: 선행 채널을 ML 피처로 그냥 사용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46904" y="3849624"/>
            <a:ext cx="365760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46904" y="3904488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▶ 한계: 선행 채널이 ML 예측에 실제로
유효한지 검증한 연구 없음
★ 이 가정 자체를 검증한 것이 본 연구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437083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37083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본 연구  </a:t>
            </a:r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① 리셀 × 멀티채널 선행성 비교 (최초)  ② '선행 채널 = ML 유효 피처'라는 기존 가정을 직접 검증 → 틀렸음을 발견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연구 배경 — 우리가 채우는 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리셀 × 멀티채널 선행성 = 최초 시도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gap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6914262" cy="29443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4041648"/>
            <a:ext cx="8321040" cy="585216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4041648"/>
            <a:ext cx="64008" cy="58521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078224"/>
            <a:ext cx="80010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연구 목적  </a:t>
            </a:r>
            <a:r>
              <a:rPr sz="120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예측 성능 향상이 목적이 아닙니다. </a:t>
            </a:r>
            <a:r>
              <a:rPr sz="1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어떤 미디어 채널이 가격보다 먼저 움직이는가</a:t>
            </a:r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를 자산별로 찾는 것입니다. XGBoost는 그 채널이 실제로도 유용한지 검증하는 도구로 씁니다.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4700016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700016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★ 본 연구  </a:t>
            </a:r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3종 × 5채널 선행성 비교 (최초) + Granger 선행 채널이 예측에도 유효한지 검증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정당화 — 미디어가 정말 가격을 선행하는가?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Granger 인과검정 15회 · 역인과·우연이 아님을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51560"/>
            <a:ext cx="3832953" cy="29992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96512"/>
            <a:ext cx="475488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1. 자산×채널 15쌍 Granger F-통계량 (초록=유의 · 노랑=경계 · 회색=비유의)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097280"/>
            <a:ext cx="35661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7528" y="1188720"/>
            <a:ext cx="3163824" cy="3035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Sneakers: 뉴스감성(F=13.4)·YT조회수(F=4.7)·검색(F=3.5) 선행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Cards: 검색량(F=8.4) 선행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LEGO: 유의 채널 없음 (경계: 검색 F=3.9)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BH 보정 후 sneakers CH3 · cards CH1 두 채널만 견고하게 생존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역인과·우연이 아님을 확인 — XGBoost 피처 채택의 통계적 근거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66360" y="4370832"/>
            <a:ext cx="356616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i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⚠ Granger는 '정당화 근거'이지 XGBoost의 필수조건이 아닙니다.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정당화 — 자산마다 유효 채널이 다르다 (H2 지지)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유의 채널 집합 비교 · Jaccard 유사도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6091298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069080"/>
            <a:ext cx="4846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2. 자산별 유의 채널 집합 (초록=유의 · 회색=비유의)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097280"/>
            <a:ext cx="356616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67528" y="1188720"/>
            <a:ext cx="3163824" cy="3127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Sneakers: {CH1, CH3, CH4}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Cards: {CH1}  — 검색량 1개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• LEGO: {∅}  — 유의 채널 없음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Jaccard  sn–cards=0.333 / 그 외 0.000</a:t>
            </a:r>
          </a:p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1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• 모든 자산쌍 Jaccard &lt; 0.6 → 채널 구성이 자산마다 뚜렷이 다름 (H2 지지)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2단계 검증 — Granger 선행 채널이 예측에도 유용한가?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Model A (전채널) vs Model B (Granger 선별) · XGBoost + DM 검정 · TimeSeriesSplit(5)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3931920" cy="3611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3931920" cy="438912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39319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Model A — 전채널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356616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피처 (9개):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price_vs_ma3, price_chg_lag1~3
(가격 모멘텀 통제 변수)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CH1 Google Trends 검색량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CH2 뉴스 보도량 (GDELT)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CH3 뉴스 감성 (GDELT tone)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CH4 YouTube 조회수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CH5 YouTube 댓글 감성 (FinBERT)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560320"/>
            <a:ext cx="548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051560"/>
            <a:ext cx="3749039" cy="3611880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83480" y="1051560"/>
            <a:ext cx="3749039" cy="438912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1051560"/>
            <a:ext cx="3749039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Model B — Granger 선별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1572768"/>
            <a:ext cx="3383280" cy="297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피처 (4~5개):</a:t>
            </a:r>
          </a:p>
          <a:p>
            <a:pPr algn="l">
              <a:spcAft>
                <a:spcPts val="600"/>
              </a:spcAft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price_vs_ma3, price_chg_lag1~3
(동일 통제 변수)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Granger 유의 채널만: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Sneakers → CH1, CH3, CH4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Cards → CH1</a:t>
            </a:r>
          </a:p>
          <a:p>
            <a:pPr algn="l"/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LEGO → (없음, 전채널 폴백)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질문: Granger에서 선행한다고 나온 채널을 ML 예측 피처로 쓰면 — 실제로 더 잘 맞히나?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DM 검정 — A·B 모형 예측력 비교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Diebold-Mariano · 15개 아이템 × 2모형 · 24개월 테스트 구간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2560320" cy="20574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51560"/>
            <a:ext cx="256032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331720"/>
            <a:ext cx="2560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아이템에서 A·B 차이 없음
(73% — 간결성 확보)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051560"/>
            <a:ext cx="5577840" cy="117043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1051560"/>
            <a:ext cx="54864" cy="1170432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143000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Sneakers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453895"/>
            <a:ext cx="3840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Jordan1: Model A 유의 우세 (p&lt;0.001)
나머지 4개: 차이 없음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43800" y="1380743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A 우세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2295144"/>
            <a:ext cx="5577840" cy="117043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54680" y="2295144"/>
            <a:ext cx="54864" cy="1170432"/>
          </a:xfrm>
          <a:prstGeom prst="rect">
            <a:avLst/>
          </a:prstGeom>
          <a:solidFill>
            <a:srgbClr val="2A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0" y="2386584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Cards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79"/>
            <a:ext cx="3840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5개 전부 차이 없음
Granger 선별(CH1)로 간결성 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2624327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동등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54680" y="3538728"/>
            <a:ext cx="5577840" cy="117043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54680" y="3538728"/>
            <a:ext cx="54864" cy="1170432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0" y="3630168"/>
            <a:ext cx="1371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LEGO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3941064"/>
            <a:ext cx="3840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Falcon: Model A 약간 우세 (p=0.032)
나머지 4개: 차이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867912"/>
            <a:ext cx="1097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A 약간 우세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답: Granger 선별 채널이 전채널보다 낫지 않다 — </a:t>
            </a:r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Granger 선행성 ≠ ML 예측 유효성</a:t>
            </a:r>
            <a:r>
              <a:rPr sz="1100">
                <a:solidFill>
                  <a:srgbClr val="AAAAAA"/>
                </a:solidFill>
                <a:latin typeface="Calibri"/>
                <a:ea typeface="Malgun Gothic"/>
                <a:cs typeface="Calibri"/>
              </a:rPr>
              <a:t>  (H3 부분 지지, 다음 슬라이드에서 더 명확히 확인)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SHAP — 채널별 예측 기여도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mean |SHAP| (Model A, XGBoost) · 인과성(Granger) ≠ 예측 기여(SHAP)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24128"/>
            <a:ext cx="96012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24128"/>
            <a:ext cx="8869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채널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1024128"/>
            <a:ext cx="1965960" cy="402336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17320" y="1024128"/>
            <a:ext cx="1892807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설명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024128"/>
            <a:ext cx="1325880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79" y="1024128"/>
            <a:ext cx="12527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Sneakers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024128"/>
            <a:ext cx="1325880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024128"/>
            <a:ext cx="12527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Cards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024128"/>
            <a:ext cx="1325880" cy="402336"/>
          </a:xfrm>
          <a:prstGeom prst="rect">
            <a:avLst/>
          </a:prstGeom>
          <a:solidFill>
            <a:srgbClr val="185FA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024128"/>
            <a:ext cx="125272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LEGO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024128"/>
            <a:ext cx="1883664" cy="402336"/>
          </a:xfrm>
          <a:prstGeom prst="rect">
            <a:avLst/>
          </a:prstGeom>
          <a:solidFill>
            <a:srgbClr val="C00000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20" y="1024128"/>
            <a:ext cx="181051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핵심 포인트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1426464"/>
            <a:ext cx="9601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" y="1426464"/>
            <a:ext cx="9052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1426464"/>
            <a:ext cx="196596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44752" y="1426464"/>
            <a:ext cx="18379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Google Trends
검색량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142646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4136" y="142646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0.125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142646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0016" y="142646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0.048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89320" y="142646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25896" y="142646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0.036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1426464"/>
            <a:ext cx="1883664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8352" y="1426464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Sneakers 최고 기여 · Cards Granger 유일 채널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1929384"/>
            <a:ext cx="96012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8056" y="1929384"/>
            <a:ext cx="9052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1929384"/>
            <a:ext cx="196596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44752" y="1929384"/>
            <a:ext cx="18379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뉴스 보도량
(GDELT)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37560" y="192938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74136" y="192938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192938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00016" y="192938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0.031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89320" y="192938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25896" y="192938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0" y="1929384"/>
            <a:ext cx="1883664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88352" y="1929384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전체적으로 기여 미미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2432304"/>
            <a:ext cx="9601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8056" y="2432304"/>
            <a:ext cx="9052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CH3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2432304"/>
            <a:ext cx="196596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444752" y="2432304"/>
            <a:ext cx="18379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뉴스 감성
(GDELT tone)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37560" y="2432304"/>
            <a:ext cx="1325880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74136" y="243230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0.011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63440" y="2432304"/>
            <a:ext cx="1325880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00016" y="243230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0.025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89320" y="2432304"/>
            <a:ext cx="1325880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25896" y="243230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0" y="2432304"/>
            <a:ext cx="1883664" cy="502920"/>
          </a:xfrm>
          <a:prstGeom prst="rect">
            <a:avLst/>
          </a:prstGeom>
          <a:solidFill>
            <a:srgbClr val="FADBD8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388352" y="2432304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Granger 1위(F=13.4) → SHAP 최하위
▶ 인과성 ≠ 예측 기여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11480" y="2935224"/>
            <a:ext cx="960120" cy="50292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48056" y="2935224"/>
            <a:ext cx="9052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371600" y="2935224"/>
            <a:ext cx="196596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44752" y="2935224"/>
            <a:ext cx="18379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YT 조회수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37560" y="293522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74136" y="293522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0.080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663440" y="293522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00016" y="293522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0.091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2935224"/>
            <a:ext cx="1325880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025896" y="293522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0.070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315200" y="2935224"/>
            <a:ext cx="1883664" cy="502920"/>
          </a:xfrm>
          <a:prstGeom prst="rect">
            <a:avLst/>
          </a:prstGeom>
          <a:solidFill>
            <a:srgbClr val="F2F2F2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88352" y="2935224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Cards·LEGO 최고 기여
3자산 공통 중요 채널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3438144"/>
            <a:ext cx="96012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8056" y="3438144"/>
            <a:ext cx="90525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CH5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371600" y="3438144"/>
            <a:ext cx="196596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444752" y="3438144"/>
            <a:ext cx="183794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YT 댓글감성
(FinBERT)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37560" y="3438144"/>
            <a:ext cx="1325880" cy="502920"/>
          </a:xfrm>
          <a:prstGeom prst="rect">
            <a:avLst/>
          </a:prstGeom>
          <a:solidFill>
            <a:srgbClr val="D4EDDA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374136" y="343814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A7A2A"/>
                </a:solidFill>
                <a:latin typeface="Calibri"/>
                <a:ea typeface="Malgun Gothic"/>
                <a:cs typeface="Calibri"/>
              </a:rPr>
              <a:t>0.124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663440" y="343814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00016" y="343814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0.004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89320" y="3438144"/>
            <a:ext cx="1325880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25896" y="3438144"/>
            <a:ext cx="1271016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0.021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315200" y="3438144"/>
            <a:ext cx="1883664" cy="502920"/>
          </a:xfrm>
          <a:prstGeom prst="rect">
            <a:avLst/>
          </a:prstGeom>
          <a:solidFill>
            <a:srgbClr val="F7F7F7"/>
          </a:solidFill>
          <a:ln w="6350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388352" y="3438144"/>
            <a:ext cx="175564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Sneakers CH1과 동급 기여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3995928"/>
            <a:ext cx="8321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참고  </a:t>
            </a:r>
            <a:r>
              <a:rPr sz="950" i="1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price_vs_ma3 = 2.93 / price_chg_lag1 = 0.97  →  가격 모멘텀이 예측 분산의 대부분 흡수 (채널 대비 20~30배)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11480" y="482803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94360" y="482803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CH3(Granger 최강) → SHAP 최하위 · CH4(Granger 비유의) → 3자산 공통 최상위  ▶  </a:t>
            </a:r>
            <a:r>
              <a:rPr sz="115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선행성 ≠ 예측 기여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추가 실험 — 가격 래그의 역할과 Granger 채널 제거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채널만으로는 예측 불가 · Granger 유의 채널을 빼면 어떻게 되나?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_ablatio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730354" cy="3246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4297680"/>
            <a:ext cx="8595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00" i="1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그림 3(좌) 4모형 AUC 전체 스케일 — 채널만(회색 빗금)은 무작위 수준  |  그림 3(우) Model A 대비 차이 — Cards에서 Granger 채널 제거 시 유의한 향상(★)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① 채널만으로는 AUC≈0.5(무작위)  |  ② Granger 채널 제거 시 Cards AUC </a:t>
            </a:r>
            <a:r>
              <a:rPr sz="115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오히려 향상</a:t>
            </a:r>
            <a:r>
              <a:rPr sz="115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  (0.859→0.867, p=.004)  →  인과성 ≠ 예측력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핵심 발견 — Granger 선행 채널이 예측에는 '독'이 될 수 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A-dropGranger 실험 · 선행성과 예측력은 서로 다른 차원의 개념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8321040" cy="1188720"/>
          </a:xfrm>
          <a:prstGeom prst="roundRect">
            <a:avLst/>
          </a:prstGeom>
          <a:solidFill>
            <a:srgbClr val="FFF3CD"/>
          </a:solidFill>
          <a:ln w="2540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73152" cy="118872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078992"/>
            <a:ext cx="80467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역설  </a:t>
            </a:r>
            <a:r>
              <a:rPr sz="13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Granger 검정에서 유의하게 선행하는 채널을 제거했더니 — 예측 성능이 오히려 향상됐다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8046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Cards:  Granger 유의 채널 CH1 포함(Model A) AUC=0.859  →  CH1 제거(A-dropGranger) AUC=</a:t>
            </a:r>
            <a:r>
              <a:rPr sz="12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0.867  (DM p=0.004, 통계적 유의)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322576"/>
            <a:ext cx="2715768" cy="232257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11480" y="2322576"/>
            <a:ext cx="2715768" cy="402336"/>
          </a:xfrm>
          <a:prstGeom prst="round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322576"/>
            <a:ext cx="27157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스니커즈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798064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Granger 유의: CH1·CH3·CH4
A-dropGranger AUC: 0.847
Model A AUC:      0.841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" y="3749039"/>
            <a:ext cx="246888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3822191"/>
            <a:ext cx="2468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B8860B"/>
                </a:solidFill>
                <a:latin typeface="Calibri"/>
                <a:ea typeface="Malgun Gothic"/>
                <a:cs typeface="Calibri"/>
              </a:rPr>
              <a:t>p=0.916 → 차이 없음
채널 제거해도 성능 유지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8688" y="2322576"/>
            <a:ext cx="2715768" cy="232257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218688" y="2322576"/>
            <a:ext cx="2715768" cy="402336"/>
          </a:xfrm>
          <a:prstGeom prst="round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2322576"/>
            <a:ext cx="27157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트레이딩 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2798064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Granger 유의: CH1
A-dropGranger AUC: 0.867 ★
Model A AUC:      0.859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46704" y="3749039"/>
            <a:ext cx="246888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46704" y="3822191"/>
            <a:ext cx="2468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C00000"/>
                </a:solidFill>
                <a:latin typeface="Calibri"/>
                <a:ea typeface="Malgun Gothic"/>
                <a:cs typeface="Calibri"/>
              </a:rPr>
              <a:t>p=0.004 → 유의 향상!
Granger 채널 제거 → 더 좋음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25896" y="2322576"/>
            <a:ext cx="2715768" cy="2322576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025896" y="2322576"/>
            <a:ext cx="2715768" cy="402336"/>
          </a:xfrm>
          <a:prstGeom prst="roundRect">
            <a:avLst/>
          </a:prstGeom>
          <a:solidFill>
            <a:srgbClr val="185F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25896" y="2322576"/>
            <a:ext cx="271576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레고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53912" y="2798064"/>
            <a:ext cx="2468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Granger 유의: 없음
A-dropGranger = Model A
(제거 채널 없음)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53912" y="3749039"/>
            <a:ext cx="246888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3822191"/>
            <a:ext cx="24688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85FA5"/>
                </a:solidFill>
                <a:latin typeface="Calibri"/>
                <a:ea typeface="Malgun Gothic"/>
                <a:cs typeface="Calibri"/>
              </a:rPr>
              <a:t>비교 불가
(Granger 유의채널 없음)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Granger 선행성 ≠ ML 예측력  — 선행성이 확인된 채널이 오히려 예측에 노이즈로 작용할 수 있음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결론 — 자산마다 미디어 신호가 다르게 작동한다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3개 집단별 실무 시사점 · 일괄 적용 불가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051560"/>
            <a:ext cx="2715768" cy="30906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051560"/>
            <a:ext cx="2715768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51560"/>
            <a:ext cx="2715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투자자·수집가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" y="1591056"/>
            <a:ext cx="24231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카드: Google Trends를 1~2개월 선행 보조지표로 활용
• 스니커즈: 뉴스 감성·YT 댓글 모니터링 가치 높음
• 레고: 미디어보다 단종·재고 정보 우선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051560"/>
            <a:ext cx="2715768" cy="30906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18688" y="1051560"/>
            <a:ext cx="2715768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1051560"/>
            <a:ext cx="2715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리셀 플랫폼 운영자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591056"/>
            <a:ext cx="24231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자산 유형별 맞춤 피처 구성 권장
• Granger 선별 채널로 73% 아이템 예측력 유지
• 채널 축소해도 성능 손실 없음 → 비용 효율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25896" y="1051560"/>
            <a:ext cx="2715768" cy="3090672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025896" y="1051560"/>
            <a:ext cx="2715768" cy="45720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25896" y="1051560"/>
            <a:ext cx="27157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학술 연구자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591056"/>
            <a:ext cx="2423160" cy="2514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• 공개 데이터 → Granger 선별 → XGBoost+SHAP+DM
  파이프라인은 명품·시계 등으로 확장 가능
• Granger 선행성 ≠ ML 예측력 — 두 개념 구분 필요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핵심: 미디어 선행성은 자산 유형마다 다름 — </a:t>
            </a:r>
            <a:r>
              <a:rPr sz="1200" b="1">
                <a:solidFill>
                  <a:srgbClr val="FFE08A"/>
                </a:solidFill>
                <a:latin typeface="Calibri"/>
                <a:ea typeface="Malgun Gothic"/>
                <a:cs typeface="Calibri"/>
              </a:rPr>
              <a:t>cards CH1이 3종 검정 모두 통과한 유일하고 견고한 신호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840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8503920" cy="4754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한계 &amp; 후속 연구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1792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888888"/>
                </a:solidFill>
                <a:latin typeface="Calibri"/>
                <a:ea typeface="Malgun Gothic"/>
                <a:cs typeface="Calibri"/>
              </a:rPr>
              <a:t>탐색적 발견으로 한정 · 확증 연구를 위한 발전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96112"/>
            <a:ext cx="8321040" cy="11887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024128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24128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115568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소표본 (N=48)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463040"/>
            <a:ext cx="22860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2022년부터 확보 가능한 월별 체결가
→ 결과는 탐색적, 확증 해석 지양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024128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024128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1115568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Google Trends 결측
(레고 2종)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1463040"/>
            <a:ext cx="22860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porsche·bugatti: 21~25/48 zero
→ 레고 CH1 신호 품질 제한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1024128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024128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2472" y="1115568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GDELT 감성 (CH3)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2472" y="1463040"/>
            <a:ext cx="22860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NewsAPI 30일 제한으로 대체 사용
→ FinBERT 대비 도메인 특화도 낮음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2633472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2633472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272491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가격 모멘텀 압도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" y="3072384"/>
            <a:ext cx="22860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SHAP에서 price_vs_ma3가 채널의
20~30배 → 채널 기여 과소 측정 위험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2633472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54680" y="2633472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19272" y="272491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단위 불일치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19272" y="3072384"/>
            <a:ext cx="22860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Granger=자산, XGBoost=아이템
→ 선별 채널 일반화 시 정보 손실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97880" y="2633472"/>
            <a:ext cx="2606040" cy="1517904"/>
          </a:xfrm>
          <a:prstGeom prst="roundRect">
            <a:avLst/>
          </a:prstGeom>
          <a:solidFill>
            <a:srgbClr val="F7F7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97880" y="2633472"/>
            <a:ext cx="45720" cy="1517904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62472" y="2724912"/>
            <a:ext cx="2286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sneakers_yeezy 보간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62472" y="3072384"/>
            <a:ext cx="2286000" cy="1024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>
                <a:solidFill>
                  <a:srgbClr val="555555"/>
                </a:solidFill>
                <a:latin typeface="Calibri"/>
                <a:ea typeface="Malgun Gothic"/>
                <a:cs typeface="Calibri"/>
              </a:rPr>
              <a:t>4개월 선형보간 처리
→ 논문 limitation 명시됨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261104"/>
            <a:ext cx="83210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1A1A1A"/>
                </a:solidFill>
                <a:latin typeface="Calibri"/>
                <a:ea typeface="Malgun Gothic"/>
                <a:cs typeface="Calibri"/>
              </a:rPr>
              <a:t>향후:  ① 5년+ 패널  ② FinBERT CH3 교체  ③ CatBoost-XGBoost DM 검정  ④ 사전 등록(pre-registration) 확증 연구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4736592"/>
            <a:ext cx="8321040" cy="502920"/>
          </a:xfrm>
          <a:prstGeom prst="round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736592"/>
            <a:ext cx="79552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alibri"/>
                <a:ea typeface="Malgun Gothic"/>
                <a:cs typeface="Calibri"/>
              </a:rPr>
              <a:t>한계를 투명하게 밝히고 BH·DH·VAR 삼각검증으로 스스로 검증 — 탐색적 발견으로 한정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3245</TotalTime>
  <Words>4465</Words>
  <Application>Microsoft Office PowerPoint</Application>
  <PresentationFormat>화면 슬라이드 쇼(16:9)</PresentationFormat>
  <Paragraphs>570</Paragraphs>
  <Slides>34</Slides>
  <Notes>34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34</vt:i4>
      </vt:variant>
    </vt:vector>
  </HeadingPairs>
  <TitlesOfParts>
    <vt:vector size="3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리셀 시장 미디어 선행 지표 연구</dc:title>
  <dc:subject>PptxGenJS Presentation</dc:subject>
  <dc:creator>PptxGenJS</dc:creator>
  <cp:lastModifiedBy>이승현(2022314025)</cp:lastModifiedBy>
  <cp:revision>65</cp:revision>
  <dcterms:created xsi:type="dcterms:W3CDTF">2026-04-09T08:16:19Z</dcterms:created>
  <dcterms:modified xsi:type="dcterms:W3CDTF">2026-05-26T09:52:20Z</dcterms:modified>
</cp:coreProperties>
</file>