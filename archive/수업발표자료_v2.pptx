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8" y="5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617720"/>
            <a:ext cx="12188952" cy="6400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72591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Calibri"/>
              </a:rPr>
              <a:t>리셀 시장에서 미디어 채널은
가격을 선행하는가?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7259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BC4E2"/>
                </a:solidFill>
                <a:latin typeface="Calibri"/>
              </a:rPr>
              <a:t>스니커즈 · 트레이딩 카드 · 레고 — 다중 자산 Granger 인과 분석 및 XGBoost 검증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DEE"/>
                </a:solidFill>
                <a:latin typeface="Calibri"/>
              </a:rPr>
              <a:t>2022.01 – 2025.12  |  48개월 × 15개 아이템 × 5개 미디어 채널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799BB"/>
                </a:solidFill>
                <a:latin typeface="Calibri"/>
              </a:rPr>
              <a:t>K-Jaden  |  파이낸스학과  |  2026.06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선행 연구의 공백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세 연구 흐름이 각자 존재하지만, 교점 — '미디어 채널 × 리셀 자산 × 다채널 비교' — 은 아무도 다루지 않았다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024128"/>
            <a:ext cx="3749039" cy="475488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미디어 → 주가 선행성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591056"/>
            <a:ext cx="3529583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Calibri"/>
              </a:rPr>
              <a:t>Tetlock (2007)  Journal of Finance
WSJ 뉴스 비관론 지수 → S&amp;P 500
VAR / OLS 회귀 분석
뉴스 감성이 단기 수익률을 예측함
Da, Engelberg &amp; Gao (2011)  J. Finance
Google SVI (검색량 지수) → 개별 주가
Granger 인과 검정으로 선행성 확인
검색량 상승 → 미래 초과수익 선행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" y="4379976"/>
            <a:ext cx="3529583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8" y="4453127"/>
            <a:ext cx="3529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한계: 전통 금융 자산(주식)에만 한정.
리셀/대체 자산 적용 사례 없음.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1668" y="1024128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1668" y="1024128"/>
            <a:ext cx="3749039" cy="475488"/>
          </a:xfrm>
          <a:prstGeom prst="rect">
            <a:avLst/>
          </a:prstGeom>
          <a:solidFill>
            <a:srgbClr val="277A4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리셀 상품 가격 예측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1396" y="1591056"/>
            <a:ext cx="3529583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Calibri"/>
              </a:rPr>
              <a:t>Campello et al. (2021)  Procedia CS
StockX 스니커즈 데이터 + 기본 피처
Random Forest, XGBoost 적용
소셜 미디어 변수 추가 필요성 제안
Dobrynskaya &amp; Kishilova (2023)
레고 세트 가격 상승 메커니즘 분석
한정판 레고의 대체 자산 특성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1396" y="4379976"/>
            <a:ext cx="3529583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11396" y="4453127"/>
            <a:ext cx="3529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한계: 미디어 채널 신호 미포함.
단일 자산 카테고리만 분석.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024128"/>
            <a:ext cx="3749039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024128"/>
            <a:ext cx="3749039" cy="475488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멀티채널 예측 방법론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1591056"/>
            <a:ext cx="3529583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0A0A"/>
                </a:solidFill>
                <a:latin typeface="Calibri"/>
              </a:rPr>
              <a:t>Bollen et al. (2011)  J. Comp. Sci.
Twitter 감성 6차원 → DJIA 지수
Granger 인과 + SVM 분류 검증
Twitter가 주가를 이틀 선행함
Zhang et al. (2018)  Knowledge-Based Sys.
뉴스 이벤트 + 감성 + 가격 정량
멀티소스 인스턴스 학습 (ML)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4379976"/>
            <a:ext cx="3529583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84463" y="4453127"/>
            <a:ext cx="352958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한계: 단일 자산 클래스 또는 금융 주식에 한정.
리셀 자산 간 채널 비교 없음.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623559"/>
            <a:ext cx="11731752" cy="621792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5714999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이 연구 (2026):  스니커즈 · 트레이딩 카드 · 레고  3자산에 걸쳐 5개 미디어 채널 × Granger 인과 검정 × SHAP + DM 검증 — 세 흐름의 교점을 최초로 분석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연구 대상: 15개 아이템 × 3개 자산 군  (2022.01 – 2025.12, N=48개월/아이템)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스니커즈(StockX), 트레이딩 카드(PriceCharting), 레고(BrickRanker)에서 가격 수집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0378440" cy="5376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아이템 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아이템 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가격 지표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커버리지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sneakers_jordan1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Jordan 1 Retro High OG Bordeaux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평균가,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Nike Dunk Low 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평균가,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sneakers_yeezy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Yeezy 350 V2 Zebra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평균가,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*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sneakers_travis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Travis Scott Jordan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평균가,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sneakers_nb550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New Balance 550 White Green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평균가, US Sz10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cards_charizard1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Charizard VMAX Shining Fates SV107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cards_umbreon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Umbreon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cards_rayquaza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Rayquaza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cards_pikachu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Pikachu VMAX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cards_charizard2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Charizard GX Hidden Fates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lego_falcon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Millennium Falcon 75192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lego_hogwarts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Hogwarts Castle 71043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lego_titanic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Titanic 10294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lego_porsche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Porsche 911 42096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6042"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lego_bugatti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Bugatti Chiron 42083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* Yeezy: StockX 100구간 샘플링 아티팩트로 4개월 결측 → 선형보간 처리    + 레고 Porsche(21/48) · Bugatti(25/48): Google Trends 0주 비율 높음 — 제한점으로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5개 미디어 채널 (CH1 – CH5)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Granger 투입 전 반드시 변환 적용. z-score는 XGBoost 전용 복사본에만 적용 (원본 덮어쓰기 금지)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0561320" cy="4370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채널명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원본 데이터 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변환 방식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스케일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개념적 프록시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pytrends API (월평균, geo='')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직접 사용 — 변환 없음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 – 100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소비자 검색 관심도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CH2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뉴스 보도량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GDELT timelinevolnorm
(일별 → 월평균)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아이템 내 max값으로 0–1 정규화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0 – 1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미디어 노출 강도</a:t>
                      </a:r>
                    </a:p>
                  </a:txBody>
                  <a:tcPr>
                    <a:solidFill>
                      <a:srgbClr val="F3E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뉴스 감성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GDELT timelinetone
(일별 → 월평균)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÷10 정규화 → –1~+1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–1 ~ +1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미디어 논조 / 시장 감성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유튜브 조회수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YouTube Data API v3
(관련성 검색, 월별)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log1p 변환 → 아이템 내 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z-score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정보 탐색 의도
(리셀/리뷰 키워드)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847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CH5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유튜브 댓글 감성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FinBERT P(pos)–P(neg)
상위 15영상 × 30댓글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월평균 집계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–1 ~ +1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소매 투자자 감성</a:t>
                      </a:r>
                    </a:p>
                  </a:txBody>
                  <a:tcPr>
                    <a:solidFill>
                      <a:srgbClr val="FBE9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5522976"/>
            <a:ext cx="11887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제한점  CH3: GDELT tone은 자동 추출 (FinBERT 대비 도메인 특화도 낮음)  |  CH4: 'resell+review' 키워드 필터로 일반 hype 과소 계상 가능  |  두 항목 모두 논문 §5.3에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연구 문제 (RQ1 – RQ3)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시간적 선행성 → 채널 이질성 → 예측 간결성 순으로 검증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152144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연구 문제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통계 검정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핵심 지표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귀무가설 / 기대 결과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미디어 채널이 리셀 가격을
Granger-cause 하는가?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이변량 Granger 인과 검정
(15회: 3자산 × 5채널)
Benjamini-Hochberg FDR (q=0.05)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F통계량
원본 p값
BH 보정 p값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H0: 인과 없음
기대: 자산별 ≥1채널 유의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유의 채널 구성이
자산마다 다른가?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유사도
RQ1 유의 채널 집합 비교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지수
(0=완전 다름
1=동일 구성)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H0: 채널 구성 동일
기대: J &lt; 0.5 → 자산 특이적 채널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1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선별 채널 모델이
전채널 모델과 동등한가?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XGBoost: 모델A(전채널)
vs 모델C(상위채널)
Diebold-Mariano 검정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AUC-ROC
ΔAUC
DM p값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H0: 정확도 동일
기대: H0 기각 실패 → 간결성 확인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전처리: ADF 단위근 검정  (N=48, 유의수준 5%)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비정상 시계열은 1차 차분 후 Granger 분석에 투입. 초록=정상(I(0)), 주황=1차차분(I(1))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0515600" cy="53766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시계열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ADF 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정상?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조치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-2.131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-0.297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0.926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(p=0.120) *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-5.646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-3.558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-3.973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-4.361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-2.046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(p=0.007)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-2.175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-4.879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-1.834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-1.958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-3.902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-2.511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-1.154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-5.919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-5.817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-6.595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98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-3.001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* 스니커즈 CH1: 1차차분 후에도 p=0.120 — 경계적 비정상 → Granger 결과 해석 시 주의 (제한점)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RQ1: Granger 인과 검정 — 전체 15회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이변량 VAR; 래그 AIC 선택(1–4); Benjamini-Hochberg FDR 보정 (q=0.05, m=15)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5760720" cy="531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래그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F값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원본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BH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13.385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0.0007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유의 (BH)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8.417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0.0058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유의 (BH)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4.729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유의→BH n.s.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경계→BH n.s.</a:t>
                      </a:r>
                    </a:p>
                  </a:txBody>
                  <a:tcPr>
                    <a:solidFill>
                      <a:srgbClr val="FDF3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3.922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경계 n.s.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1.409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1.833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8612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24128"/>
            <a:ext cx="5943600" cy="42793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35040" y="534924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F통계량 히트맵 (3자산 × 5채널). BH 보정 유의: 스니커즈←CH3, 카드←CH1만 생존.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309360"/>
            <a:ext cx="11155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F2D4E"/>
                </a:solidFill>
                <a:latin typeface="Calibri"/>
              </a:rPr>
              <a:t>BH 보정 통과: 2/15   |   원본만 유의: 2/15   |   비유의: 11/15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RQ2: 채널 이질성 — Jaccard 유사도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자산별 유의 채널 집합을 비교. Jaccard = 0: 완전히 다른 채널 구성 / 1: 동일한 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69494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원본 유의 채널 (p&lt;0.05)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BH 보정 유의 채널 (q&lt;0.05)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CH1, CH3, CH4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—  (없음)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—  (없음)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205472" y="1024128"/>
          <a:ext cx="44348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Jaccard 지수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A0A0A"/>
                          </a:solidFill>
                          <a:latin typeface="Calibri"/>
                        </a:rPr>
                        <a:t>0.333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A0A0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" name="Picture 6" descr="fig_jac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067" y="3150423"/>
            <a:ext cx="5534451" cy="27383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28600" y="6144768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Jaccard 유사도 행렬(좌) · 벤다이어그램(우). J(스니커즈,카드)=0.333(CH1 공유), J(*,레고)=0.000.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9224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 dirty="0" err="1">
                <a:solidFill>
                  <a:srgbClr val="1F2D4E"/>
                </a:solidFill>
                <a:latin typeface="Calibri"/>
              </a:rPr>
              <a:t>결론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: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구성이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자산마다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다름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→ RQ2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지지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 | 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스니커즈↔카드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: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부분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겹침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(CH1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공유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),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레고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: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유의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95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950" b="1" i="0" dirty="0" err="1">
                <a:solidFill>
                  <a:srgbClr val="1F2D4E"/>
                </a:solidFill>
                <a:latin typeface="Calibri"/>
              </a:rPr>
              <a:t>없음</a:t>
            </a:r>
            <a:endParaRPr sz="95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RQ3: XGBoost 모델 설계 및 검증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모델A(전채널) vs 모델C(상위채널) 비교 — TimeSeriesSplit으로 미래 누출 방지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1750040" cy="5074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구성 요소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모델 A  (전채널 Full)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모델 C  (상위채널 Top)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설정 이유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입력 채널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통제 피처 +
CH1+CH2+CH3+CH4+CH5
(5개 채널 전체)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통제 피처 +
Granger/SHAP 선별
상위 채널만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간결성 검정:
채널 줄여도 정확도 유지?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통제 피처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price_vs_ma3
price_chg_lag1 ~ lag3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가격 자기회귀 및
추세 교란 제거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예측 대상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price_direction (0/1)
전월 대비 가격 방향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이진 분류 → AUC로
임계값 무관 평가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교차검증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TimeSeriesSplit(n_splits=5)
순서 유지, 셔플 없음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미래 시점 데이터
학습 누출 방지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성능 지표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AUC-ROC (폴드 평균)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AUC-ROC (폴드 평균)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불균형 클래스에
강건한 표준 지표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비교 검정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Diebold-Mariano 검정
H0: 예측 정확도 동일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A0A0A"/>
                          </a:solidFill>
                          <a:latin typeface="Calibri"/>
                        </a:rPr>
                        <a:t>DM p&gt;0.05 → H0 기각 실패
→ 간결성 확인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208776"/>
            <a:ext cx="1188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TimeSeriesSplit 예시  →  폴드1: [1–10] 학습→[11–12] 테스트  |  폴드2: [1–20]→[21–22]  |  폴드3: [1–30]→[31–32]  |  폴드4: [1–38]→[39–42]  |  폴드5: [1–42]→[43–48]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RQ3: 다모델 AUC 비교  (TimeSeriesSplit CV, AUC-ROC)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XGBoost · CatBoost · Random Forest · ElasticNet — 3개 자산군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152144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XGBoost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CatBoost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ElasticNet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최고 트리 모델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0.923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(0.960)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0.975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0.952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0.663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(0.975)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0.956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0.706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XGBoost  (0.960)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평균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0.887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0.964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0.937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0.657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CatBoost  (전체 최고)</a:t>
                      </a:r>
                    </a:p>
                  </a:txBody>
                  <a:tcPr>
                    <a:solidFill>
                      <a:srgbClr val="E0E0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971800"/>
            <a:ext cx="11731752" cy="3154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17220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자산별 AUC-ROC. 점선 = 0.5 (무작위 기준). 트리 기반 모델(CatBoost≈RF&gt;XGBoost)이 ElasticNet을 크게 상회 → 채널 간 비선형 상호작용이 예측에 중요함을 시사.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RQ3: Diebold-Mariano 검정 — 모델A vs 모델C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H0: 예측 정확도 동일 (양측 검정) / DM ~ N(0,1) / XGBoost 전채널 vs 상위채널 비교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AUC — 모델A
(전채널)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AUC — 모델C
(상위채널)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ΔAUC
(C-A)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DM 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-0.001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-0.417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 기각 실패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간결성 확인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-0.670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 기각 실패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간결성 확인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+0.003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H0 기각 실패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간결성 확인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fig_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950" y="2944368"/>
            <a:ext cx="621030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5852159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DM 통계량 ± 95% 신뢰구간 (점선: ±1.96). 3개 자산 모두 |DM| &lt; 1.96 → 전채널과 상위채널 모델 간 유의한 정확도 차이 없음.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291072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2D4E"/>
                </a:solidFill>
                <a:latin typeface="Calibri"/>
              </a:rPr>
              <a:t>결론 RQ3: 상위채널 모델(C)이 전채널 모델(A)과 동등한 정확도 달성 (DM p &gt; 0.50, 3자산 전부) → 간결성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SHAP 채널 중요도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TreeSHAP 평균 |SHAP| — XGBoost 모델A (이진 분류). 높을수록 예측 기여도 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1887200" cy="2426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1위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2위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3위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4위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5위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Granger vs. SHAP 비교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(0.125)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(0.124)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(0.080)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(0.011)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(~0)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CH3: Granger 1위 but SHAP 4위
→ 시간 선행성 ≠ 횡단면 기여도
(Granger=인과 선행, SHAP=모델 내 가중치)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(0.091)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(0.048)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(0.031)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(~0)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(~0)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CH1: Granger 1위 &amp; SHAP 2위
→ 두 검정 간 일관성 확인
(견고한 선행 지표)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(0.070)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(0.036)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CH5 (0.021)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CH2 (~0)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(~0)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Granger 유의 채널 없음
but CH4 SHAP 1위
→ 동시 연관성만 존재
(시간적 선행성 없음)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fig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38728"/>
            <a:ext cx="11731752" cy="24871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6071616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자산별 채널 평균 |SHAP| 막대 그래프 (XGBoost 모델A). SHAP는 모델 내 피처 기여도를 측정; Granger는 시간적 선행성을 측정 — 상호 보완적.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강건성 검증: 충격반응함수 (IRF)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채널 충격 → 가격 동태 반응 6개월 추적 | 95% 부트스트랩 CI (1,000 반복)</a:t>
            </a:r>
          </a:p>
        </p:txBody>
      </p:sp>
      <p:pic>
        <p:nvPicPr>
          <p:cNvPr id="5" name="Picture 4" descr="irf_sneakers_c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24128"/>
            <a:ext cx="571500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600" y="5276088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스니커즈 ← CH3 (뉴스감성). 래그 1–2에서 음(-)의 가격반응; 래그 4에서 소멸. 부정적 뉴스 감성이 단기 가격 하락을 선행함.</a:t>
            </a:r>
          </a:p>
        </p:txBody>
      </p:sp>
      <p:pic>
        <p:nvPicPr>
          <p:cNvPr id="7" name="Picture 6" descr="irf_cards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24128"/>
            <a:ext cx="5769864" cy="4206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0488" y="5276088"/>
            <a:ext cx="57698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  <a:latin typeface="Calibri"/>
              </a:rPr>
              <a:t>주. 카드 ← CH1 (Google Trends). 래그 1에서 양(+)의 가격반응 (수요 신호); 래그 3에서 감쇠. Granger F=8.4 및 SHAP 2위와 일관됨.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5760720"/>
            <a:ext cx="11887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2D4E"/>
                </a:solidFill>
                <a:latin typeface="Calibri"/>
              </a:rPr>
              <a:t>강건성 확인: IRF가 BH 유의 두 쌍의 방향·부호·감쇠 패턴을 재확인. Granger 검정·SHAP 결과와 일관된 경제적 해석 가능.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연구 제한점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방법론적 제약 및 데이터 품질 이슈 — 논문 §5.3에 전부 명시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060704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제한점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구체적 내용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심각도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대응 방안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소표본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자산별 N=48개월 → 복잡한 VAR 구조 검정력 부족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높음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원본 p + BH 보정 p 병기; 검정력 명시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약한 정상성
(스니커즈 CH1)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1차차분 후에도 ADF p=0.120 — 경계적 비정상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CH1 Granger 결과 해석 시 주의; 제한점 명시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도메인 특화도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GDELT tone = 자동 추출 (FinBERT 대비 정밀도 낮음)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CH3 민감도 분석 진행; 부록 수록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CH4 키워드 편향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'resell+review' 필터 → 일반 hype 과소 계상 가능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전 아이템 동일 키워드 프로토콜 적용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레고 GT 0주 비율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Porsche 21/48, Bugatti 25/48 Google Trends 0주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0비율 테이블 보고; 강한 결론 배제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z-score 데이터 누출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전체 패널로 StandardScaler 피팅 후 TimeSeriesSplit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N=48 특성상 실질 영향 미미; §5.3 명시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단일 플랫폼 편향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유튜브만 수집 — TikTok, Reddit, Twitter/X 제외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향후 연구 기회로 명시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40"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L8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Yeezy 결측 보간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StockX 샘플링 아티팩트로 4개월 선형보간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A0A0A"/>
                          </a:solidFill>
                          <a:latin typeface="Calibri"/>
                        </a:rPr>
                        <a:t>tx_count=0 표시, 보간 사실 논문 명시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libri"/>
              </a:rPr>
              <a:t>  결론 및 학술적 기여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RQ1–RQ3 실증 결과 요약 및 본 연구의 기여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1024128"/>
          <a:ext cx="107442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연구 문제 (요약)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실증 결과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근거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미디어 채널이
리셀 가격을
선행하는가?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예 — 15회 중 2회 BH 기준 유의:
  스니커즈 ← CH3 뉴스감성  (F=13.4, p=0.001)
  카드 ← CH1 Google Trends  (F=8.4, p=0.006)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Granger 인과 검정
BH FDR 보정
(q=0.05, m=15)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채널 구성이
자산마다
다른가?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예 — Jaccard 유사도 낮음:
  J(스니커즈, 카드) = 0.333  (CH1만 공유)
  J(*, 레고) = 0.000  (레고: 유의 채널 없음)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Jaccard 지수
채널 집합 비교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상위채널 모델이
전채널 모델과
동등한가?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예 — DM 검정 H0 기각 실패 (3자산 전부):
  DM p = 0.678 / 0.504 / 0.646  (모두 &gt; 0.50)
  → 채널 줄여도 정확도 유지됨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Diebold-Mariano 검정
AUC-ROC 비교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4069080"/>
          <a:ext cx="11521440" cy="2176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학술적 기여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새로운 연구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리셀/대체 자산 시장에 다채널 Granger 인과 분석을 최초로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다자산 채널 비교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단일 채널이 모든 자산을 선행하지 않음 — 자산 특이적 채널 존재를 실증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방법론 삼각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Granger(시간적 선행) + SHAP(모델 기여) + DM 검정(예측 비교) 통합 활용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54"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실무적 시사점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0A0A0A"/>
                          </a:solidFill>
                          <a:latin typeface="Calibri"/>
                        </a:rPr>
                        <a:t>스니커즈: CH3 뉴스감성, 트레이딩 카드: CH1 Google Trends → 실행 가능한 선행 지표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28600" y="6473952"/>
            <a:ext cx="118872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F2D4E"/>
                </a:solidFill>
                <a:latin typeface="Calibri"/>
              </a:rPr>
              <a:t>감사합니다  —  질문 환영합니다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65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3025</Words>
  <Application>Microsoft Office PowerPoint</Application>
  <PresentationFormat>사용자 지정</PresentationFormat>
  <Paragraphs>668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2026-06-06T10:21:30Z</dcterms:modified>
  <cp:category/>
</cp:coreProperties>
</file>