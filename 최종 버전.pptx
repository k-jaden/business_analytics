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74" r:id="rId11"/>
    <p:sldId id="272" r:id="rId12"/>
    <p:sldId id="273" r:id="rId13"/>
    <p:sldId id="267" r:id="rId14"/>
    <p:sldId id="275" r:id="rId15"/>
    <p:sldId id="268" r:id="rId16"/>
    <p:sldId id="269" r:id="rId17"/>
    <p:sldId id="270" r:id="rId18"/>
    <p:sldId id="271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079706-9822-4F58-A27C-4FA6B1319888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671F0-93C0-4D0D-906B-4A39843449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86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671F0-93C0-4D0D-906B-4A398434499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137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671F0-93C0-4D0D-906B-4A398434499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183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6F0F-08BE-24C3-AF6D-CE823D823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0A4356-95BB-337A-0302-21925D7F5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B7EC4C-B645-1DC4-62EF-4075FB353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051C85-00D8-72C4-99BA-443FBFCC8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671F0-93C0-4D0D-906B-4A398434499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02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663440"/>
            <a:ext cx="12188952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리셀 시장에서 미디어 채널은
가격을 선행하는가?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BC4E2"/>
                </a:solidFill>
                <a:latin typeface="Calibri"/>
              </a:rPr>
              <a:t>스니커즈  ·  트레이딩 카드  ·  레고 — 다중 자산 Granger 인과 분석 및 XGBoost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  <a:latin typeface="Calibri"/>
              </a:rPr>
              <a:t>2022.01 – 2025.12  |  48개월 × 15개 아이템 × 5개 미디어 채널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8076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799BB"/>
                </a:solidFill>
                <a:latin typeface="Calibri"/>
              </a:rPr>
              <a:t>K-Jaden  |  파이낸스학과  |  2026.06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선행 연구의 공백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세 연구 흐름이 각자 발전해 왔지만, 그 교점 — '리셀 시장 × 다채널 × 선행성 비교' — 은 아직 아무도 다루지 않았다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51560"/>
            <a:ext cx="3749039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1051560"/>
            <a:ext cx="3749039" cy="323165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Calibri"/>
              </a:rPr>
              <a:t>미디어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채널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-&gt;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가격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선행성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6616" y="1636776"/>
            <a:ext cx="349300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0A0A"/>
                </a:solidFill>
                <a:latin typeface="Calibri"/>
              </a:rPr>
              <a:t>Tetlock (2007)  Journal of Finance
  WSJ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뉴스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비관론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지수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S&amp;P 500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수익률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뉴스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감성이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단기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주가를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예측함을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실증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Da, Engelberg &amp; Gao (2011)  J. Finance
  Google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검색량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(SVI)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개별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주가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Granger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인과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검정으로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선행성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공식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확인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검색량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급증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미래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주가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상승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선행</a:t>
            </a:r>
            <a:endParaRPr sz="13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6616" y="4379975"/>
            <a:ext cx="3493007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" y="4462271"/>
            <a:ext cx="34930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 err="1">
                <a:solidFill>
                  <a:srgbClr val="555555"/>
                </a:solidFill>
                <a:latin typeface="Calibri"/>
              </a:rPr>
              <a:t>한계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: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전통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금융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자산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(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주식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)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에만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적용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.
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리셀·대체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자산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사례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전무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1668" y="1051560"/>
            <a:ext cx="3749039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1668" y="1051560"/>
            <a:ext cx="3749039" cy="323165"/>
          </a:xfrm>
          <a:prstGeom prst="rect">
            <a:avLst/>
          </a:prstGeom>
          <a:solidFill>
            <a:srgbClr val="277A4A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Calibri"/>
              </a:rPr>
              <a:t>리셀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상품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가격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예측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29683" y="1636776"/>
            <a:ext cx="349300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0A0A"/>
                </a:solidFill>
                <a:latin typeface="Calibri"/>
              </a:rPr>
              <a:t>Campello et al. (2021)  Procedia CS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StockX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스니커즈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+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출시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정보로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예측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RF·XGBoost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적용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소셜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미디어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변수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추가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필요성을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제안에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그침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Dobrynskaya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&amp;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Kishilova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(2023)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레고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세트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한정판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가격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상승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메커니즘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대체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자산으로서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레고의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특성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규명</a:t>
            </a:r>
            <a:endParaRPr sz="13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29683" y="4379975"/>
            <a:ext cx="3493007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29683" y="4462271"/>
            <a:ext cx="34930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한계: 미디어 채널 신호 미포함.
단일 자산 클래스만 분석.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1051560"/>
            <a:ext cx="3749039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1051560"/>
            <a:ext cx="3749039" cy="323165"/>
          </a:xfrm>
          <a:prstGeom prst="rect">
            <a:avLst/>
          </a:prstGeom>
          <a:solidFill>
            <a:srgbClr val="6C3D9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Calibri"/>
              </a:rPr>
              <a:t>멀티채널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예측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방법론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02752" y="1636776"/>
            <a:ext cx="349300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0A0A"/>
                </a:solidFill>
                <a:latin typeface="Calibri"/>
              </a:rPr>
              <a:t>Bollen et al. (2011)  J. Comp. Sci.
  Twitter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감성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6차원 -&gt; DJIA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지수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Granger + SVM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검증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Twitter가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주가를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이틀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선행함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Zhang et al. (2018)  Knowledge-Based Sys.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뉴스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이벤트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+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감성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+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가격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정량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결합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멀티소스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ML로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주가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방향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예측</a:t>
            </a:r>
            <a:endParaRPr sz="13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02752" y="4379975"/>
            <a:ext cx="3493007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4462271"/>
            <a:ext cx="34930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 err="1">
                <a:solidFill>
                  <a:srgbClr val="555555"/>
                </a:solidFill>
                <a:latin typeface="Calibri"/>
              </a:rPr>
              <a:t>한계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: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주식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단일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자산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.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자산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간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구성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
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비교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없음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. Granger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검정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555555"/>
                </a:solidFill>
                <a:latin typeface="Calibri"/>
              </a:rPr>
              <a:t>미적용</a:t>
            </a:r>
            <a:r>
              <a:rPr sz="1300" b="0" i="1" dirty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3085" y="5788151"/>
            <a:ext cx="921179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51957" y="5916166"/>
            <a:ext cx="9025115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Calibri"/>
              </a:rPr>
              <a:t>이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연구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: 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스니커즈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·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카드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·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레고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 3개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리셀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자산에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걸쳐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 5개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미디어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채널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x Granger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인과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검정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x SHAP + DM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검증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  </a:t>
            </a:r>
            <a:endParaRPr lang="en-US" sz="115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150" b="1" i="0" dirty="0">
                <a:solidFill>
                  <a:srgbClr val="FFFFFF"/>
                </a:solidFill>
                <a:latin typeface="Calibri"/>
              </a:rPr>
              <a:t>-&gt; 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세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흐름의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교점을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분석</a:t>
            </a:r>
            <a:endParaRPr sz="115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연구 문제 (RQ 1 - 3)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시간적 선행성 -&gt; 채널 이질성 -&gt; 예측 간결성 — 세 단계로 리셀 시장 미디어 효과를 해부한다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490490"/>
              </p:ext>
            </p:extLst>
          </p:nvPr>
        </p:nvGraphicFramePr>
        <p:xfrm>
          <a:off x="627468" y="1927303"/>
          <a:ext cx="10998024" cy="3519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2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3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3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8161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RQ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핵심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질문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사용한 검정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측정 지표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귀무가설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904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RQ1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5개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미디어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중
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어떤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리셀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lang="ko-KR" altLang="en-US"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하는가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이변량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Granger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인과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검정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3자산 x 5채널 = 15회
BH-FDR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보정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(q=0.05)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F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통계량</a:t>
                      </a:r>
                      <a:r>
                        <a:rPr lang="en-US"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원본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p값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H0: 채널이 가격을
선행하지 않는다
-&gt; 기각 시 선행성 확인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759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RQ2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채널의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구성이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자산마다</a:t>
                      </a:r>
                      <a:r>
                        <a:rPr lang="en-US"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다른가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RQ1 유의 채널 집합 비교
-&gt; Jaccard 유사도 계산
(3자산 쌍별 비교)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Jaccard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지수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(0 =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완전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다름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1 =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완전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같음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H0: 모든 자산에서
같은 채널이 선행
-&gt; 기각 시 자산별 채널 특이성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458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RQ3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Granger·SHAP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기반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모델이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전채널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모델과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동등한가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XGBoost 이진 분류
Model A (전채널) vs Model B (선별)
Diebold-Mariano 검정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AUC-ROC
Delta AUC
DM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p값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H0: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정확도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기각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실패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시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간결성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확인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(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적은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같은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성능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연구 대상: 15개 리셀 아이템  (2022.01 - 2025.12, N = 48개월/아이템)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스니커즈(StockX US Sz10 평균가) · 트레이딩 카드(PriceCharting PSA 10) · 레고(BrickRanker 새 봉인)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372170"/>
              </p:ext>
            </p:extLst>
          </p:nvPr>
        </p:nvGraphicFramePr>
        <p:xfrm>
          <a:off x="846609" y="1014590"/>
          <a:ext cx="10287000" cy="5304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아이템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ID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아이템 명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출처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가격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지표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커버리지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sneakers_jordan1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Jordan 1 Retro High OG Bordeaux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US Sz10 평균가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sneakers_panda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Nike Dunk Low Panda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US Sz10 평균가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sneakers_yeezy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Yeezy 350 V2 Zebra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US Sz10 평균가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 *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sneakers_travis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Travis Scott Jordan 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A0A0A"/>
                          </a:solidFill>
                          <a:latin typeface="Calibri"/>
                        </a:rPr>
                        <a:t>US Sz10 </a:t>
                      </a:r>
                      <a:r>
                        <a:rPr sz="12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평균가</a:t>
                      </a:r>
                      <a:endParaRPr sz="12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A0A0A"/>
                          </a:solidFill>
                          <a:latin typeface="Calibri"/>
                        </a:rPr>
                        <a:t>sneakers_nb550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New Balance 550 White Green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US Sz10 평균가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cards_charizard1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Charizard VMAX Shining Fates SV107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cards_umbreon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Umbreon VMAX Alt Art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cards_rayquaza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Rayquaza VMAX Alt Art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cards_pikachu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Pikachu VMAX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cards_charizard2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Charizard GX Hidden Fates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lego_falcon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Millennium Falcon 75192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lego_hogwarts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Hogwarts Castle 71043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lego_titanic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Titanic 10294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lego_porsche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Porsche 911 42096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 +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lego_bugatti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Bugatti Chiron 42083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  <a:endParaRPr sz="12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A0A0A"/>
                          </a:solidFill>
                          <a:latin typeface="Calibri"/>
                        </a:rPr>
                        <a:t>48/48 +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6492240"/>
            <a:ext cx="1188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* Yeezy: StockX 샘플링 아티팩트로 4개월 결측 -&gt; 선형보간 처리    + Porsche(21/48)·Bugatti(25/48): Google Trends 0주 비율 높음 — 제한점으로 명시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5개 미디어 채널 (CH1 - CH5)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9232" y="72466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각 채널은 소비자·미디어 행동의 다른 측면을 포착 — Granger 투입 전 반드시 변환 적용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665695"/>
              </p:ext>
            </p:extLst>
          </p:nvPr>
        </p:nvGraphicFramePr>
        <p:xfrm>
          <a:off x="891540" y="1276324"/>
          <a:ext cx="10561320" cy="428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5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채널명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원본 데이터 출처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변환 방식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스케일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개념적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프록시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Google Trends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pytrends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API (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월평균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, geo='')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직접 사용 (변환 없음)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0 - 100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소비자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검색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관심도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제품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인지도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대리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지표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CH2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뉴스 보도량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GDELT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timelinevolnorm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(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일별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수집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월평균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아이템 내 최댓값으로
0-1 정규화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0 - 1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미디어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노출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강도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언론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보도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빈도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뉴스 감성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GDELT timelinetone
(일별 수집 -&gt; 월평균)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/10 정규화 -&gt; -1~+1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-1 ~ +1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미디어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논조·감성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긍정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/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부정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여론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CH4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유튜브 조회수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YouTube Data API v3
(resell+review 키워드, 월별)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log1p 변환
-&gt; 아이템 내 z-score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z-score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정보 탐색 의도
리뷰·리셀 관심도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CH5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유튜브 댓글 감성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FinBERT (금융 특화 BERT)
상위 15 영상 x 30댓글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P(pos) - P(neg) 월평균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-1 ~ +1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소매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투자자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감성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커뮤니티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온도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73643" y="6167628"/>
            <a:ext cx="982349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  <a:latin typeface="Calibri"/>
              </a:rPr>
              <a:t>제한점  |  CH3: GDELT tone은 자동 추출 방식 (FinBERT 대비 도메인 특화도 낮음)  |  CH4: 'resell+review' 키워드 필터로 일반 hype 과소 계상 가능  |  두 항목 모두 논문 §5.3 명시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분석 전처리: ADF 단위근 검정으로 정상성 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Granger 검정 투입 전 모든 시계열이 '정상(stationary)' 이어야 함 — 비정상 시계열 사용 시 허구 인과 위험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3512" y="1017349"/>
            <a:ext cx="2798379" cy="534924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3240" y="1090501"/>
            <a:ext cx="38953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F2D4E"/>
                </a:solidFill>
                <a:latin typeface="Calibri"/>
              </a:rPr>
              <a:t>왜 </a:t>
            </a:r>
            <a:r>
              <a:rPr sz="1300" b="1" i="0" dirty="0" err="1">
                <a:solidFill>
                  <a:srgbClr val="1F2D4E"/>
                </a:solidFill>
                <a:latin typeface="Calibri"/>
              </a:rPr>
              <a:t>정상성</a:t>
            </a:r>
            <a:r>
              <a:rPr sz="13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F2D4E"/>
                </a:solidFill>
                <a:latin typeface="Calibri"/>
              </a:rPr>
              <a:t>검정이</a:t>
            </a:r>
            <a:r>
              <a:rPr sz="13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F2D4E"/>
                </a:solidFill>
                <a:latin typeface="Calibri"/>
              </a:rPr>
              <a:t>필요한가</a:t>
            </a:r>
            <a:r>
              <a:rPr sz="1300" b="1" i="0" dirty="0">
                <a:solidFill>
                  <a:srgbClr val="1F2D4E"/>
                </a:solidFill>
                <a:latin typeface="Calibr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240" y="1499260"/>
            <a:ext cx="2575140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0A0A"/>
                </a:solidFill>
                <a:latin typeface="Calibri"/>
              </a:rPr>
              <a:t>Granger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검정의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전제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조건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
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분석하는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시계열이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'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정상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(I(0))'
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이어야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통계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검정이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유효함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정상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시계열이란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?
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시간이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지나도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평균·분산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일정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추세나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계절성이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없는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상태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비정상이면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어떤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문제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?
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관계없는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시계열끼리도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 '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유의하다'고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잘못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판단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 (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허구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상관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 spurious correlation)
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기준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(ADF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단위근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):
  p &lt; 0.05 -&gt;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정상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(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그대로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사용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)
  p &gt;= 0.05 -&gt;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비정상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1차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차분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dx_t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=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x_t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 x_(t-1)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재검정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최종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결과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정상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I(0): 9개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시계열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차분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후 I(1): 9개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시계열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예외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스니커즈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CH1
 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차분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후에도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p=0.120 (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경계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025921"/>
              </p:ext>
            </p:extLst>
          </p:nvPr>
        </p:nvGraphicFramePr>
        <p:xfrm>
          <a:off x="3701745" y="947928"/>
          <a:ext cx="7863840" cy="550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9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0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시계열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ADF p값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정상?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조치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mean_price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0.232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0.926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(p=0.120) *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score_ch3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0.007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score_ch4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mean_price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0.267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(p=0.007)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0.216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0.364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차분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score_ch4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0.305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mean_price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0.113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0.693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score_ch3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score_ch4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RQ1: Granger 인과 검정 — 전체 15회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이변량 VAR | 래그 수 AIC로 선택(1-4) | Benjamini-Hochberg FDR 보정 적용 (q=0.05, m=15)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827142"/>
              </p:ext>
            </p:extLst>
          </p:nvPr>
        </p:nvGraphicFramePr>
        <p:xfrm>
          <a:off x="4672872" y="1080897"/>
          <a:ext cx="7202805" cy="513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2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5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2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95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채널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래그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F값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원본 p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BH p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최종 판정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CH3 뉴스감성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13.385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0.011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CH1 Google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8.417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0.006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0.044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CH4 유튜브뷰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4.729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원본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DF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CH1 Google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3.473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0.041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경계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CH1 Google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3.922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0.054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0.162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경계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p&lt;0.10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CH2 뉴스량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1.551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CH5 YT감성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0.764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CH2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뉴스량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0.728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0.398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CH3 뉴스감성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1.409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0.242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CH4 유튜브뷰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0.247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0.622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CH5 YT감성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0.614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0.438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CH2 뉴스량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0.318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0.576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CH3 뉴스감성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0.401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0.530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CH4 유튜브뷰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1.833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0.183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CH5 YT감성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0.173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0.680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6" name="Picture 5" descr="fig_gra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48711"/>
            <a:ext cx="4489992" cy="39205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662145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Calibri"/>
              </a:rPr>
              <a:t>  RQ3: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XGBoost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설계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A vs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B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vs</a:t>
            </a:r>
            <a:r>
              <a:rPr lang="ko-KR" altLang="en-US" sz="2200" b="1" dirty="0">
                <a:solidFill>
                  <a:srgbClr val="FFFFFF"/>
                </a:solidFill>
                <a:latin typeface="Calibri"/>
              </a:rPr>
              <a:t> 모델 </a:t>
            </a:r>
            <a:r>
              <a:rPr lang="en-US" altLang="ko-KR" sz="2200" b="1" dirty="0">
                <a:solidFill>
                  <a:srgbClr val="FFFFFF"/>
                </a:solidFill>
                <a:latin typeface="Calibri"/>
              </a:rPr>
              <a:t>C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전채널(모델A) -&gt; SHAP으로 채널 기여도 분석 -&gt; 상위 채널만 선별(모델B) -&gt; DM 검정으로 성능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24128"/>
            <a:ext cx="4389120" cy="534924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2472" y="1290285"/>
            <a:ext cx="4169663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0A0A0A"/>
                </a:solidFill>
                <a:latin typeface="Calibri"/>
              </a:rPr>
              <a:t>분석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순서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
STEP 1 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모델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A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학습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(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전채널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5개)
   -&gt; CH1~CH5 +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통제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피처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전부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투입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
   -&gt; AUC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측정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베이스라인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확보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
STEP 2 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모델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B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학습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(Granger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선별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)
   -&gt; Granger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인과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유의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채널만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투입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
   -&gt; A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대비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성능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비교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
   -&gt; '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선행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=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예측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?'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검증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
STEP 3  SHAP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분석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(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모델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A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기반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)
   -&gt; 각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채널의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실제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예측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기여도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측정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
   -&gt; Granger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순위와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차이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있는지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확인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
STEP 4 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모델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C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학습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(SHAP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선별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)
   -&gt; SHAP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기여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상위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2채널만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투입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
   -&gt; DM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검정으로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A vs C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최종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비교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
   -&gt;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간결성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확보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여부</a:t>
            </a:r>
            <a:r>
              <a:rPr sz="15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A0A0A"/>
                </a:solidFill>
                <a:latin typeface="Calibri"/>
              </a:rPr>
              <a:t>판단</a:t>
            </a:r>
            <a:endParaRPr sz="1500" b="0" i="0" dirty="0">
              <a:solidFill>
                <a:srgbClr val="0A0A0A"/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624027"/>
              </p:ext>
            </p:extLst>
          </p:nvPr>
        </p:nvGraphicFramePr>
        <p:xfrm>
          <a:off x="4901499" y="1459768"/>
          <a:ext cx="7058726" cy="4321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1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1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799"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구성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요소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모델 A  (전채널)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 B  (Granger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선별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모델 C  (SHAP 선별)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02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투입 채널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통제 피처
+ CH1~CH5 전부
(5채널)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통제 피처
+ Granger 유의 채널만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통제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피처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+ SHAP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상위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2채널만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022"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모두 동일
(5채널 전부)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스니커즈: CH3
카드: CH1
레고: (없음)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스니커즈: CH1+CH5
카드: CH4+CH1
레고: CH5+CH4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02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통제 피처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price_vs_ma3
price_chg_lag1~lag3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02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교차검증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TimeSeriesSplit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(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n_splits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=5)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022"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방식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기준 모델
(베이스라인)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A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대비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AUC
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직접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비교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A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대비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Diebold-Mariano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검정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모델 A &amp; B 결과 — 그리고 SHAP이 밝힌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모델 A(전채널) vs 모델 B(Granger 선별 채널) AUC 비교 -&gt; SHAP으로 실제 예측 기여 채널 파악 -&gt; 모델 C 설계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4210" y="404783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D4E"/>
                </a:solidFill>
                <a:latin typeface="Calibri"/>
              </a:rPr>
              <a:t>모델 A vs 모델 B  AUC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536" y="6537960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555555"/>
                </a:solidFill>
                <a:latin typeface="Calibri"/>
              </a:rPr>
              <a:t>주.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자산별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평균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|SHAP|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막대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그래프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.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높을수록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XGBoost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예측에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실제로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기여한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.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스니커즈는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CH1·CH5,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카드는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CH4·CH1,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레고는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CH5·CH4가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상위권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-&gt; Model C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선택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근거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25364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10 / 16</a:t>
            </a:r>
          </a:p>
        </p:txBody>
      </p:sp>
      <p:pic>
        <p:nvPicPr>
          <p:cNvPr id="7" name="Picture 4" descr="image.png">
            <a:extLst>
              <a:ext uri="{FF2B5EF4-FFF2-40B4-BE49-F238E27FC236}">
                <a16:creationId xmlns:a16="http://schemas.microsoft.com/office/drawing/2014/main" id="{8F8F6E32-DA1B-3540-5370-B3A158D69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60" y="1806413"/>
            <a:ext cx="7481770" cy="3606362"/>
          </a:xfrm>
          <a:prstGeom prst="rect">
            <a:avLst/>
          </a:prstGeom>
        </p:spPr>
      </p:pic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DE5D5BF3-3BFB-B142-4E06-82FED560A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790112"/>
              </p:ext>
            </p:extLst>
          </p:nvPr>
        </p:nvGraphicFramePr>
        <p:xfrm>
          <a:off x="7588030" y="2232397"/>
          <a:ext cx="4324395" cy="1980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5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25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57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D4E"/>
                          </a:solidFill>
                          <a:latin typeface="Calibri"/>
                        </a:rPr>
                        <a:t>모델 A AUC
(전채널 5개)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0.859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20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F2D4E"/>
                          </a:solidFill>
                          <a:latin typeface="Calibri"/>
                        </a:rPr>
                        <a:t>모델</a:t>
                      </a:r>
                      <a:r>
                        <a:rPr sz="1200" b="1" dirty="0">
                          <a:solidFill>
                            <a:srgbClr val="1F2D4E"/>
                          </a:solidFill>
                          <a:latin typeface="Calibri"/>
                        </a:rPr>
                        <a:t> B AUC
(Granger </a:t>
                      </a:r>
                      <a:r>
                        <a:rPr sz="1200" b="1" dirty="0" err="1">
                          <a:solidFill>
                            <a:srgbClr val="1F2D4E"/>
                          </a:solidFill>
                          <a:latin typeface="Calibri"/>
                        </a:rPr>
                        <a:t>선별</a:t>
                      </a:r>
                      <a:r>
                        <a:rPr sz="1200" b="1" dirty="0">
                          <a:solidFill>
                            <a:srgbClr val="1F2D4E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0.836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333333"/>
                          </a:solidFill>
                          <a:latin typeface="Calibri"/>
                        </a:rPr>
                        <a:t>0.855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3333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7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D4E"/>
                          </a:solidFill>
                          <a:latin typeface="Calibri"/>
                        </a:rPr>
                        <a:t>ΔAUC
(B−A)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−0.005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−0.004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666666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6ED017A-FDA3-385F-3ECE-8501AA7D66B1}"/>
              </a:ext>
            </a:extLst>
          </p:cNvPr>
          <p:cNvSpPr txBox="1"/>
          <p:nvPr/>
        </p:nvSpPr>
        <p:spPr>
          <a:xfrm>
            <a:off x="2825181" y="5732342"/>
            <a:ext cx="3405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</a:t>
            </a:r>
            <a:r>
              <a:rPr lang="en-US" altLang="ko-KR" dirty="0"/>
              <a:t>: 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는 큰 차이가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3841C-94BE-E35C-486F-7136E066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496F11-C15C-955A-03C8-72689320F332}"/>
              </a:ext>
            </a:extLst>
          </p:cNvPr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모델 A &amp; B 결과 — 그리고 SHAP이 밝힌 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5CB619-61FD-CBCA-6000-4E13676AD994}"/>
              </a:ext>
            </a:extLst>
          </p:cNvPr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134CD-C187-6C70-22EF-A90EDF153CB8}"/>
              </a:ext>
            </a:extLst>
          </p:cNvPr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모델 A(전채널) vs 모델 B(Granger 선별 채널) AUC 비교 -&gt; SHAP으로 실제 예측 기여 채널 파악 -&gt; 모델 C 설계 근거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CC4113-26BF-90CF-337B-D72DA5A97CF0}"/>
              </a:ext>
            </a:extLst>
          </p:cNvPr>
          <p:cNvSpPr txBox="1"/>
          <p:nvPr/>
        </p:nvSpPr>
        <p:spPr>
          <a:xfrm>
            <a:off x="4305278" y="3941574"/>
            <a:ext cx="5989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2D4E"/>
                </a:solidFill>
                <a:latin typeface="Calibri"/>
              </a:rPr>
              <a:t>SHAP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분석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—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실제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예측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기여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채널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(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모델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A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기반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8525B-C378-E0B4-6DDF-94AA0B3A3570}"/>
              </a:ext>
            </a:extLst>
          </p:cNvPr>
          <p:cNvSpPr txBox="1"/>
          <p:nvPr/>
        </p:nvSpPr>
        <p:spPr>
          <a:xfrm>
            <a:off x="2907921" y="4413257"/>
            <a:ext cx="1920240" cy="1965960"/>
          </a:xfrm>
          <a:prstGeom prst="rect">
            <a:avLst/>
          </a:prstGeom>
          <a:solidFill>
            <a:srgbClr val="E3F2FD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6BD1B-2732-2F34-4443-BE182A1A77A9}"/>
              </a:ext>
            </a:extLst>
          </p:cNvPr>
          <p:cNvSpPr txBox="1"/>
          <p:nvPr/>
        </p:nvSpPr>
        <p:spPr>
          <a:xfrm>
            <a:off x="2981073" y="4468121"/>
            <a:ext cx="17739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2E6DA4"/>
                </a:solidFill>
                <a:latin typeface="Calibri"/>
              </a:rPr>
              <a:t>스니커즈</a:t>
            </a:r>
            <a:endParaRPr sz="1100" b="1" i="0" dirty="0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FB7D5-91B4-708D-2AD2-662F68ACD0F5}"/>
              </a:ext>
            </a:extLst>
          </p:cNvPr>
          <p:cNvSpPr txBox="1"/>
          <p:nvPr/>
        </p:nvSpPr>
        <p:spPr>
          <a:xfrm>
            <a:off x="2981073" y="4697236"/>
            <a:ext cx="1773936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0A0A"/>
                </a:solidFill>
                <a:latin typeface="Calibri"/>
              </a:rPr>
              <a:t>SHAP 1위: CH1 Google 
SHAP 2위: CH5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YT감성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
SHAP 3위: CH4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유튜브뷰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endParaRPr lang="en-US" sz="1100" b="0" i="0" dirty="0">
              <a:solidFill>
                <a:srgbClr val="0A0A0A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주목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: CH3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뉴스감성은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Granger 1위지만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SHAP에서는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4위 (0.011)
→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선행성과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예측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기여도가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다름</a:t>
            </a:r>
            <a:endParaRPr sz="11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1E3D8-CEB9-4C04-34D7-D08FDBA0CD79}"/>
              </a:ext>
            </a:extLst>
          </p:cNvPr>
          <p:cNvSpPr txBox="1"/>
          <p:nvPr/>
        </p:nvSpPr>
        <p:spPr>
          <a:xfrm>
            <a:off x="4937889" y="4413257"/>
            <a:ext cx="1920240" cy="1965960"/>
          </a:xfrm>
          <a:prstGeom prst="rect">
            <a:avLst/>
          </a:prstGeom>
          <a:solidFill>
            <a:srgbClr val="E8F5E9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FC243-9F35-0929-898C-DEBA77EFF741}"/>
              </a:ext>
            </a:extLst>
          </p:cNvPr>
          <p:cNvSpPr txBox="1"/>
          <p:nvPr/>
        </p:nvSpPr>
        <p:spPr>
          <a:xfrm>
            <a:off x="5011041" y="4468121"/>
            <a:ext cx="17739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7A4A"/>
                </a:solidFill>
                <a:latin typeface="Calibri"/>
              </a:rPr>
              <a:t>카드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B07D5-EDB8-0AD1-3255-C70A6B6525EB}"/>
              </a:ext>
            </a:extLst>
          </p:cNvPr>
          <p:cNvSpPr txBox="1"/>
          <p:nvPr/>
        </p:nvSpPr>
        <p:spPr>
          <a:xfrm>
            <a:off x="5011041" y="4702570"/>
            <a:ext cx="1773936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0A0A"/>
                </a:solidFill>
                <a:latin typeface="Calibri"/>
              </a:rPr>
              <a:t>SHAP 1위: CH4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유튜브뷰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
SHAP 2위: CH1 Google 
SHAP 3위: CH2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뉴스량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
CH1이 Granger 1위 &amp; SHAP 2위
→ 두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일관성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확인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→ CH4가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예측엔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더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강한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기여</a:t>
            </a:r>
            <a:endParaRPr sz="11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0100E4-013E-004D-234E-16D6A7095252}"/>
              </a:ext>
            </a:extLst>
          </p:cNvPr>
          <p:cNvSpPr txBox="1"/>
          <p:nvPr/>
        </p:nvSpPr>
        <p:spPr>
          <a:xfrm>
            <a:off x="6967857" y="4413257"/>
            <a:ext cx="1920240" cy="1965960"/>
          </a:xfrm>
          <a:prstGeom prst="rect">
            <a:avLst/>
          </a:prstGeom>
          <a:solidFill>
            <a:srgbClr val="FFF9C4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BC4135-F68C-02E0-4B16-D6544090B42E}"/>
              </a:ext>
            </a:extLst>
          </p:cNvPr>
          <p:cNvSpPr txBox="1"/>
          <p:nvPr/>
        </p:nvSpPr>
        <p:spPr>
          <a:xfrm>
            <a:off x="7041009" y="4468121"/>
            <a:ext cx="17739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D91"/>
                </a:solidFill>
                <a:latin typeface="Calibri"/>
              </a:rPr>
              <a:t>레고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D9740B-C168-FFF4-6884-0F41FC78D8C2}"/>
              </a:ext>
            </a:extLst>
          </p:cNvPr>
          <p:cNvSpPr txBox="1"/>
          <p:nvPr/>
        </p:nvSpPr>
        <p:spPr>
          <a:xfrm>
            <a:off x="7041009" y="4693045"/>
            <a:ext cx="177393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A0A0A"/>
                </a:solidFill>
                <a:latin typeface="Calibri"/>
              </a:rPr>
              <a:t>SHAP 1위: CH5 </a:t>
            </a:r>
            <a:r>
              <a:rPr sz="1000" b="0" i="0" dirty="0" err="1">
                <a:solidFill>
                  <a:srgbClr val="0A0A0A"/>
                </a:solidFill>
                <a:latin typeface="Calibri"/>
              </a:rPr>
              <a:t>YT감성</a:t>
            </a:r>
            <a:r>
              <a:rPr sz="1000" b="0" i="0" dirty="0">
                <a:solidFill>
                  <a:srgbClr val="0A0A0A"/>
                </a:solidFill>
                <a:latin typeface="Calibri"/>
              </a:rPr>
              <a:t>
SHAP 2위: CH4 </a:t>
            </a:r>
            <a:r>
              <a:rPr sz="1000" b="0" i="0" dirty="0" err="1">
                <a:solidFill>
                  <a:srgbClr val="0A0A0A"/>
                </a:solidFill>
                <a:latin typeface="Calibri"/>
              </a:rPr>
              <a:t>유튜브뷰</a:t>
            </a:r>
            <a:r>
              <a:rPr sz="1000" b="0" i="0" dirty="0">
                <a:solidFill>
                  <a:srgbClr val="0A0A0A"/>
                </a:solidFill>
                <a:latin typeface="Calibri"/>
              </a:rPr>
              <a:t> 
SHAP 3위: CH1 Google
Granger </a:t>
            </a:r>
            <a:r>
              <a:rPr sz="1000" b="0" i="0" dirty="0" err="1">
                <a:solidFill>
                  <a:srgbClr val="0A0A0A"/>
                </a:solidFill>
                <a:latin typeface="Calibri"/>
              </a:rPr>
              <a:t>유의</a:t>
            </a:r>
            <a:r>
              <a:rPr sz="10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0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0A0A0A"/>
                </a:solidFill>
                <a:latin typeface="Calibri"/>
              </a:rPr>
              <a:t>없었지만</a:t>
            </a:r>
            <a:r>
              <a:rPr sz="10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000" b="0" i="0" dirty="0" err="1">
                <a:solidFill>
                  <a:srgbClr val="0A0A0A"/>
                </a:solidFill>
                <a:latin typeface="Calibri"/>
              </a:rPr>
              <a:t>SHAP에서는</a:t>
            </a:r>
            <a:r>
              <a:rPr sz="1000" b="0" i="0" dirty="0">
                <a:solidFill>
                  <a:srgbClr val="0A0A0A"/>
                </a:solidFill>
                <a:latin typeface="Calibri"/>
              </a:rPr>
              <a:t> CH5, CH4 </a:t>
            </a:r>
            <a:r>
              <a:rPr sz="1000" b="0" i="0" dirty="0" err="1">
                <a:solidFill>
                  <a:srgbClr val="0A0A0A"/>
                </a:solidFill>
                <a:latin typeface="Calibri"/>
              </a:rPr>
              <a:t>기여</a:t>
            </a:r>
            <a:r>
              <a:rPr sz="1000" b="0" i="0" dirty="0">
                <a:solidFill>
                  <a:srgbClr val="0A0A0A"/>
                </a:solidFill>
                <a:latin typeface="Calibri"/>
              </a:rPr>
              <a:t>
→ </a:t>
            </a:r>
            <a:r>
              <a:rPr sz="1000" b="0" i="0" dirty="0" err="1">
                <a:solidFill>
                  <a:srgbClr val="0A0A0A"/>
                </a:solidFill>
                <a:latin typeface="Calibri"/>
              </a:rPr>
              <a:t>선행성은</a:t>
            </a:r>
            <a:r>
              <a:rPr sz="10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0A0A0A"/>
                </a:solidFill>
                <a:latin typeface="Calibri"/>
              </a:rPr>
              <a:t>없으나</a:t>
            </a:r>
            <a:r>
              <a:rPr sz="10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0A0A0A"/>
                </a:solidFill>
                <a:latin typeface="Calibri"/>
              </a:rPr>
              <a:t>동시적</a:t>
            </a:r>
            <a:r>
              <a:rPr sz="10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0A0A0A"/>
                </a:solidFill>
                <a:latin typeface="Calibri"/>
              </a:rPr>
              <a:t>연관성</a:t>
            </a:r>
            <a:r>
              <a:rPr sz="10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0A0A0A"/>
                </a:solidFill>
                <a:latin typeface="Calibri"/>
              </a:rPr>
              <a:t>존재</a:t>
            </a:r>
            <a:endParaRPr sz="10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3434C1-352A-0AFF-0CDD-DDD9360AC99D}"/>
              </a:ext>
            </a:extLst>
          </p:cNvPr>
          <p:cNvSpPr txBox="1"/>
          <p:nvPr/>
        </p:nvSpPr>
        <p:spPr>
          <a:xfrm>
            <a:off x="228536" y="6537960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555555"/>
                </a:solidFill>
                <a:latin typeface="Calibri"/>
              </a:rPr>
              <a:t>주.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자산별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평균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|SHAP|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막대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그래프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.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높을수록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XGBoost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예측에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실제로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기여한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.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스니커즈는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CH1·CH5,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카드는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CH4·CH1,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레고는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CH5·CH4가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상위권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-&gt; Model C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선택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근거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9E7BEE-774F-1A2D-714B-814CBA05EC33}"/>
              </a:ext>
            </a:extLst>
          </p:cNvPr>
          <p:cNvSpPr txBox="1"/>
          <p:nvPr/>
        </p:nvSpPr>
        <p:spPr>
          <a:xfrm>
            <a:off x="11425364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10 / 16</a:t>
            </a:r>
          </a:p>
        </p:txBody>
      </p:sp>
      <p:pic>
        <p:nvPicPr>
          <p:cNvPr id="17" name="Picture 34" descr="image.png">
            <a:extLst>
              <a:ext uri="{FF2B5EF4-FFF2-40B4-BE49-F238E27FC236}">
                <a16:creationId xmlns:a16="http://schemas.microsoft.com/office/drawing/2014/main" id="{BCE6363C-BE9A-1835-192D-739C42B4C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11" y="1061725"/>
            <a:ext cx="10292833" cy="275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28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  RQ3 전체 모델 성능 비교 — A / B / C / N-A / 채널단독 (CH1~CH5)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A=전채널  |  B=Granger 유의 채널(raw p&lt;0.05: 스니커즈 CH1+CH3+CH4, 카드 CH1)  |  C=SHAP 상위 채널  |  N-A=Granger 유의 채널 제거  |  레고: B=N-A=A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39596"/>
            <a:ext cx="11603576" cy="45658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5394A-20F1-63C9-1D63-92926DEE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FD38BE-CC25-04AE-9589-4EC0075FE915}"/>
              </a:ext>
            </a:extLst>
          </p:cNvPr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  RQ3 전체 모델 성능 비교 — A / B / C / N-A / 채널단독 (CH1~CH5)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7A754A-0A13-9E02-A00A-0BEFFE2D782E}"/>
              </a:ext>
            </a:extLst>
          </p:cNvPr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A4C1B-3189-F0FD-9599-58A3A4E69D4A}"/>
              </a:ext>
            </a:extLst>
          </p:cNvPr>
          <p:cNvSpPr txBox="1"/>
          <p:nvPr/>
        </p:nvSpPr>
        <p:spPr>
          <a:xfrm>
            <a:off x="182880" y="690372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A=전채널  |  B=Granger 유의 채널(raw p&lt;0.05: 스니커즈 CH1+CH3+CH4, 카드 CH1)  |  C=SHAP 상위 채널  |  N-A=Granger 유의 채널 제거  |  레고: B=N-A=A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2641E3-55CF-2C62-C958-EA0F9CF2E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338409"/>
              </p:ext>
            </p:extLst>
          </p:nvPr>
        </p:nvGraphicFramePr>
        <p:xfrm>
          <a:off x="1199520" y="1339596"/>
          <a:ext cx="9653462" cy="447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8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8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8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290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(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구성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채널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스니커즈
AUC (vs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카드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
AUC (vs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레고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
AUC (vs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A 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전채널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CH1~5 +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가격래그</a:t>
                      </a:r>
                      <a:endParaRPr sz="1100" b="1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D9D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0.8413
(기준)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0.8587
(기준)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0.9601
(기준)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B  Granger 유의 채널 (raw p&lt;0.05)
  스니커즈: CH1+CH3+CH4 / 카드: CH1 / 레고: —</a:t>
                      </a:r>
                    </a:p>
                  </a:txBody>
                  <a:tcPr>
                    <a:solidFill>
                      <a:srgbClr val="FFE8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0.8461 †근사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0.8612
(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차이없음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0.9601
(= A, 유의채널없음)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  SHAP 상위 2채널
  스니커즈: CH1+CH5 / 카드: CH4+CH1 / 레고: CH5+CH4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0.8401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0.8590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0.9626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N-A  Granger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제거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
 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: CH2+CH5 /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: CH2~5 /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: = A</a:t>
                      </a:r>
                    </a:p>
                  </a:txBody>
                  <a:tcPr>
                    <a:solidFill>
                      <a:srgbClr val="EAD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0.8472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0.8671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0.9601
(= A, 유의채널없음)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CH1 단독  Google Trends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0.8449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0.8612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0.9634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CH2 단독  뉴스 보도량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0.8517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0.8714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0.9687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CH3 단독  뉴스 감성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0.8517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0.8708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0.9650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CH4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단독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 YT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조회수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+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가격래그</a:t>
                      </a:r>
                      <a:endParaRPr sz="1100" b="1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0.8416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0.8614
(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차이없음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0.9635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CH5 단독  YT 댓글 감성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0.8353
(A 우수)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0.8689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0.9658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A1F60B7-DC2D-32B7-A154-24F3FCE70F0F}"/>
              </a:ext>
            </a:extLst>
          </p:cNvPr>
          <p:cNvSpPr txBox="1"/>
          <p:nvPr/>
        </p:nvSpPr>
        <p:spPr>
          <a:xfrm>
            <a:off x="2301766" y="6155646"/>
            <a:ext cx="8601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</a:t>
            </a:r>
            <a:r>
              <a:rPr lang="en-US" altLang="ko-KR" dirty="0"/>
              <a:t>: </a:t>
            </a:r>
            <a:r>
              <a:rPr lang="ko-KR" altLang="en-US" dirty="0"/>
              <a:t>사실상 단독이 더 우수하였다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075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왜 모델 B·C가 모델 A와 동등한 결과를 냈는가?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Granger 선별(B)과 SHAP 선별(C) 모두 전채널(A)과 성능 차이 없음 — 세 가지 메커니즘으로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24128"/>
            <a:ext cx="3794760" cy="237744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1097280"/>
            <a:ext cx="3575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D4E"/>
                </a:solidFill>
                <a:latin typeface="Calibri"/>
              </a:rPr>
              <a:t>① 채널 간 정보 중복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481328"/>
            <a:ext cx="357530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0A0A"/>
                </a:solidFill>
                <a:latin typeface="Calibri"/>
              </a:rPr>
              <a:t>CH1(Google)과 CH4(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유튜브뷰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)는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모두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'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소비자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관심도'를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측정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-&gt;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높은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상관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-&gt; 한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채널로도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  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충분한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정보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커버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가능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XGBoost는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이미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중복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채널에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낮은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가중치를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자동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부여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-&gt;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추가해도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성능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미변화</a:t>
            </a:r>
            <a:endParaRPr sz="11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78808" y="1024128"/>
            <a:ext cx="3794760" cy="237744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88536" y="1097280"/>
            <a:ext cx="3575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D4E"/>
                </a:solidFill>
                <a:latin typeface="Calibri"/>
              </a:rPr>
              <a:t>② Granger ≠ SHAP 순위 불일치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8536" y="1481328"/>
            <a:ext cx="357530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0A0A"/>
                </a:solidFill>
                <a:latin typeface="Calibri"/>
              </a:rPr>
              <a:t>Granger(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선형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VAR)와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XGBoost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SHAP(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비선형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)은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다른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것을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측정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스니커즈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CH3:
  Granger F=13.4 (1위)
  SHAP 0.011 (4위)
-&gt;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선형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선행성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강하지만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  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비선형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예측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기여는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낮음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-&gt; 두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지표는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상호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보완적</a:t>
            </a:r>
            <a:endParaRPr sz="11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29016" y="1024128"/>
            <a:ext cx="3831336" cy="237744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38744" y="109728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2D4E"/>
                </a:solidFill>
                <a:latin typeface="Calibri"/>
              </a:rPr>
              <a:t>③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소표본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(N=48)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효과</a:t>
            </a:r>
            <a:endParaRPr sz="1200" b="1" i="0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38744" y="1481328"/>
            <a:ext cx="361188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0A0A"/>
                </a:solidFill>
                <a:latin typeface="Calibri"/>
              </a:rPr>
              <a:t>N=48개월의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한계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: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간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미세한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성능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차이를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검출할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통계적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검정력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부족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DM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p값이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모두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0.50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이상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-&gt; '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차이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없음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'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결론이지만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   '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차이가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없다'는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증명도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아님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N=200+이면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미세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차이도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통계적으로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탐지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가능</a:t>
            </a:r>
            <a:endParaRPr sz="11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" y="3547872"/>
            <a:ext cx="11731752" cy="274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" y="3630168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D4E"/>
                </a:solidFill>
                <a:latin typeface="Calibri"/>
              </a:rPr>
              <a:t>자산별 해석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575143"/>
              </p:ext>
            </p:extLst>
          </p:nvPr>
        </p:nvGraphicFramePr>
        <p:xfrm>
          <a:off x="315468" y="4017054"/>
          <a:ext cx="11622023" cy="254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3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3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2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659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B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결과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해석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
(Granger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선별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C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결과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해석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
(SHAP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선별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핵심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인사이트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08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CH3만 투입 -&gt; AUC 소폭 하락 (-0.005)
나머지 4채널도 잔여 정보 보유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CH1+CH5 투입 -&gt; AUC 거의 동일 (-0.001)
SHAP이 실제 기여 채널 더 정확히 파악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Granger 선행 채널(CH3)과
예측 기여 채널(CH1·CH5)이 다름
-&gt; 선행성 != 예측력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08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CH1만 투입 -&gt; AUC 소폭 하락 (-0.004)
Granger 유의 채널 1개로 거의 유지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CH4+CH1 투입 -&gt; AUC 오히려 소폭 상승
SHAP이 CH4의 잠재력 발견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Granger·SHAP 모두 CH1 중요
-&gt; 가장 일관성 있는 자산
두 방법론 일치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08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Granger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B = A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불가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CH5+CH4 투입 -&gt; AUC 소폭 상승 (+0.003)
선행성 없어도 예측 기여 채널 존재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(Granger) =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(SHAP) =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존재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동시적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연관성만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있음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3322E-25B3-399C-217A-2A4ECCF7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C5C7A9-3280-855F-3453-9FFEEF1A2D89}"/>
              </a:ext>
            </a:extLst>
          </p:cNvPr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509AE5-7E31-64CB-CD8E-38189C3C4A9B}"/>
              </a:ext>
            </a:extLst>
          </p:cNvPr>
          <p:cNvSpPr txBox="1"/>
          <p:nvPr/>
        </p:nvSpPr>
        <p:spPr>
          <a:xfrm>
            <a:off x="201168" y="978408"/>
            <a:ext cx="4160520" cy="534924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5AB790-C4CF-EEBE-82AF-1A7445D1996D}"/>
              </a:ext>
            </a:extLst>
          </p:cNvPr>
          <p:cNvSpPr txBox="1"/>
          <p:nvPr/>
        </p:nvSpPr>
        <p:spPr>
          <a:xfrm>
            <a:off x="338328" y="1069848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D4E"/>
                </a:solidFill>
                <a:latin typeface="Calibri"/>
              </a:rPr>
              <a:t>왜 DM 검정이 필요한가?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CD788A-ED25-3616-5CA9-76AC049F99B4}"/>
              </a:ext>
            </a:extLst>
          </p:cNvPr>
          <p:cNvSpPr txBox="1"/>
          <p:nvPr/>
        </p:nvSpPr>
        <p:spPr>
          <a:xfrm>
            <a:off x="338328" y="1453896"/>
            <a:ext cx="3886200" cy="2011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B6C984-DE65-1EAB-C01C-03DB05BCD57B}"/>
              </a:ext>
            </a:extLst>
          </p:cNvPr>
          <p:cNvSpPr txBox="1"/>
          <p:nvPr/>
        </p:nvSpPr>
        <p:spPr>
          <a:xfrm>
            <a:off x="338328" y="1527048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D4E"/>
                </a:solidFill>
                <a:latin typeface="Calibri"/>
              </a:rPr>
              <a:t>문제: AUC 숫자 비교만으론 부족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0B8493-D9CE-9EC9-7DBF-13D8FCCDC09E}"/>
              </a:ext>
            </a:extLst>
          </p:cNvPr>
          <p:cNvSpPr txBox="1"/>
          <p:nvPr/>
        </p:nvSpPr>
        <p:spPr>
          <a:xfrm>
            <a:off x="338328" y="1828800"/>
            <a:ext cx="388620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A0A"/>
                </a:solidFill>
                <a:latin typeface="Calibri"/>
              </a:rPr>
              <a:t>A AUC = 0.841, C AUC = 0.840
→ "C가 약간 낮네?" 라고만 보임
→ 이 차이가 우연인지, 진짜 차이인지 알 수 없음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9A3481-B833-D37A-A790-3880742F2B39}"/>
              </a:ext>
            </a:extLst>
          </p:cNvPr>
          <p:cNvSpPr txBox="1"/>
          <p:nvPr/>
        </p:nvSpPr>
        <p:spPr>
          <a:xfrm>
            <a:off x="338328" y="2624328"/>
            <a:ext cx="388620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82BE0F-EAD1-4D2C-C2A5-502D253BB00A}"/>
              </a:ext>
            </a:extLst>
          </p:cNvPr>
          <p:cNvSpPr txBox="1"/>
          <p:nvPr/>
        </p:nvSpPr>
        <p:spPr>
          <a:xfrm>
            <a:off x="338328" y="268833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D4E"/>
                </a:solidFill>
                <a:latin typeface="Calibri"/>
              </a:rPr>
              <a:t>DM 검정이 하는 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0808B2-95C8-E7B4-130F-D621E1A9F98D}"/>
              </a:ext>
            </a:extLst>
          </p:cNvPr>
          <p:cNvSpPr txBox="1"/>
          <p:nvPr/>
        </p:nvSpPr>
        <p:spPr>
          <a:xfrm>
            <a:off x="338328" y="2990088"/>
            <a:ext cx="388620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A0A"/>
                </a:solidFill>
                <a:latin typeface="Calibri"/>
              </a:rPr>
              <a:t>두 모델의 예측 오차 시계열을 직접 비교
→ 오차 차이가 통계적으로 유의한지 검정
H₀: 두 모델의 예측 오차 크기가 같다
p &gt; 0.05  →  H₀ 기각 실패
  = '통계적으로 차이없음' 공식 확인
  = Model C가 A와 동등하다고 주장 가능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673241-7DAC-14AA-9FC0-2F3177EBFD2F}"/>
              </a:ext>
            </a:extLst>
          </p:cNvPr>
          <p:cNvSpPr txBox="1"/>
          <p:nvPr/>
        </p:nvSpPr>
        <p:spPr>
          <a:xfrm>
            <a:off x="338328" y="4681728"/>
            <a:ext cx="388620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D77B5C-6045-8F8B-C2F8-C367D3C40EFE}"/>
              </a:ext>
            </a:extLst>
          </p:cNvPr>
          <p:cNvSpPr txBox="1"/>
          <p:nvPr/>
        </p:nvSpPr>
        <p:spPr>
          <a:xfrm>
            <a:off x="338328" y="474573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D4E"/>
                </a:solidFill>
                <a:latin typeface="Calibri"/>
              </a:rPr>
              <a:t>왜 이게 중요한가?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C20996-A08E-4516-6871-396AAC08CFAC}"/>
              </a:ext>
            </a:extLst>
          </p:cNvPr>
          <p:cNvSpPr txBox="1"/>
          <p:nvPr/>
        </p:nvSpPr>
        <p:spPr>
          <a:xfrm>
            <a:off x="338328" y="5047488"/>
            <a:ext cx="3886200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0A0A"/>
                </a:solidFill>
                <a:latin typeface="Calibri"/>
              </a:rPr>
              <a:t>RQ3 핵심 주장:
"5개 채널 대신 2개만 써도 충분하다"
DM 검정 없이는 → 단순 AUC 비교
DM 검정 있으면 → 통계적 동등성 입증
= 간결성(parsimony) 근거 확보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5B3FAA-3D66-9DAA-74CE-09FC74CF1933}"/>
              </a:ext>
            </a:extLst>
          </p:cNvPr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  RQ3: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선별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채널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모델이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전채널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모델과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동등한가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? — DM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검정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37A9FD-6E2B-D535-7E6D-B32891DFCDBD}"/>
              </a:ext>
            </a:extLst>
          </p:cNvPr>
          <p:cNvSpPr txBox="1"/>
          <p:nvPr/>
        </p:nvSpPr>
        <p:spPr>
          <a:xfrm>
            <a:off x="182880" y="690372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555555"/>
                </a:solidFill>
                <a:latin typeface="Calibri"/>
              </a:rPr>
              <a:t>Diebold-Mariano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검정으로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'Model A(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전채널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) = Model C(SHAP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선별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2채널)'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가설을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통계적으로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검증</a:t>
            </a:r>
            <a:endParaRPr sz="900" b="0" i="1" dirty="0">
              <a:solidFill>
                <a:srgbClr val="555555"/>
              </a:solidFill>
              <a:latin typeface="Calibri"/>
            </a:endParaRPr>
          </a:p>
        </p:txBody>
      </p:sp>
      <p:graphicFrame>
        <p:nvGraphicFramePr>
          <p:cNvPr id="32" name="Table 16">
            <a:extLst>
              <a:ext uri="{FF2B5EF4-FFF2-40B4-BE49-F238E27FC236}">
                <a16:creationId xmlns:a16="http://schemas.microsoft.com/office/drawing/2014/main" id="{75F9F6E1-9C17-6C7A-8294-1D56768C4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219201"/>
              </p:ext>
            </p:extLst>
          </p:nvPr>
        </p:nvGraphicFramePr>
        <p:xfrm>
          <a:off x="4526280" y="4734479"/>
          <a:ext cx="7324217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6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69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33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4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6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  <a:endParaRPr sz="10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 A AUC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 C AUC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선별 채널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DM 통계량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p값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판정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0.8413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0.8401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CH1+CH5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-0.417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0.678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A0A0A"/>
                          </a:solidFill>
                          <a:latin typeface="Calibri"/>
                        </a:rPr>
                        <a:t>H₀ 기각 실패 → 동등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A0A0A"/>
                          </a:solidFill>
                          <a:latin typeface="Calibri"/>
                        </a:rPr>
                        <a:t>0.8587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0.8590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CH4+CH1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-0.670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0.504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A0A0A"/>
                          </a:solidFill>
                          <a:latin typeface="Calibri"/>
                        </a:rPr>
                        <a:t>H₀ 기각 실패 → 동등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0.9601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0.9626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CH5+CH4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+0.460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0.646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0A0A0A"/>
                          </a:solidFill>
                          <a:latin typeface="Calibri"/>
                        </a:rPr>
                        <a:t>H₀ </a:t>
                      </a:r>
                      <a:r>
                        <a:rPr sz="10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기각</a:t>
                      </a:r>
                      <a:r>
                        <a:rPr sz="1000" b="1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실패</a:t>
                      </a:r>
                      <a:r>
                        <a:rPr sz="1000" b="1" dirty="0">
                          <a:solidFill>
                            <a:srgbClr val="0A0A0A"/>
                          </a:solidFill>
                          <a:latin typeface="Calibri"/>
                        </a:rPr>
                        <a:t> → </a:t>
                      </a:r>
                      <a:r>
                        <a:rPr sz="10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동등</a:t>
                      </a:r>
                      <a:endParaRPr sz="1000" b="1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E56A888E-2F76-182E-74A3-9B8961DF958E}"/>
              </a:ext>
            </a:extLst>
          </p:cNvPr>
          <p:cNvSpPr txBox="1"/>
          <p:nvPr/>
        </p:nvSpPr>
        <p:spPr>
          <a:xfrm>
            <a:off x="274320" y="6510528"/>
            <a:ext cx="117500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 dirty="0" err="1">
                <a:solidFill>
                  <a:srgbClr val="FFFFFF"/>
                </a:solidFill>
                <a:latin typeface="Calibri"/>
              </a:rPr>
              <a:t>결론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RQ3  |  3자산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모두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DM p &gt; 0.50 → H₀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기각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실패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→ SHAP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상위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2채널(Model C)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로도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전채널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(A)과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통계적으로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동등한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예측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성능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달성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 → 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간결성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(Parsimony)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확인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80BD43-64B5-06D3-C65A-A0DD8B913EF8}"/>
              </a:ext>
            </a:extLst>
          </p:cNvPr>
          <p:cNvSpPr txBox="1"/>
          <p:nvPr/>
        </p:nvSpPr>
        <p:spPr>
          <a:xfrm>
            <a:off x="164465" y="6445795"/>
            <a:ext cx="11887200" cy="29260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9B7E4F-C6EB-7638-824C-7143D5394DED}"/>
              </a:ext>
            </a:extLst>
          </p:cNvPr>
          <p:cNvSpPr txBox="1"/>
          <p:nvPr/>
        </p:nvSpPr>
        <p:spPr>
          <a:xfrm>
            <a:off x="237617" y="6464083"/>
            <a:ext cx="117500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 dirty="0" err="1">
                <a:solidFill>
                  <a:srgbClr val="FFFFFF"/>
                </a:solidFill>
                <a:latin typeface="Calibri"/>
              </a:rPr>
              <a:t>결론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RQ3  |  3자산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모두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DM p &gt; 0.50 → H₀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기각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실패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→ SHAP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상위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2채널(Model C)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로도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전채널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(A)과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통계적으로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동등한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예측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성능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달성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 → 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간결성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(Parsimony)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확인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37" name="Picture 15" descr="image.png">
            <a:extLst>
              <a:ext uri="{FF2B5EF4-FFF2-40B4-BE49-F238E27FC236}">
                <a16:creationId xmlns:a16="http://schemas.microsoft.com/office/drawing/2014/main" id="{2F027425-9DBB-1B92-50A9-F9D9784EC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348" y="1012871"/>
            <a:ext cx="7498079" cy="37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91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추가 강건성 검증: 충격반응함수 (IRF)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Granger 검정이 '유의한지 여부'만 알려주는 한계를 보완 — 채널 충격의 방향·크기·지속 기간까지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24128"/>
            <a:ext cx="3657600" cy="242316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1097280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2D4E"/>
                </a:solidFill>
                <a:latin typeface="Calibri"/>
              </a:rPr>
              <a:t>왜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IRF를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추가했나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481328"/>
            <a:ext cx="343814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0A0A"/>
                </a:solidFill>
                <a:latin typeface="Calibri"/>
              </a:rPr>
              <a:t>Granger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검정의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한계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
'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선행한다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/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아니다'만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판단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효과의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방향·크기·지속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기간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불명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IRF(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충격반응함수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)로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보완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
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값이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갑자기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1sigma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증가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시
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가격이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이후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6개월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어떻게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반응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?
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방향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(위/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아래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),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크기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소멸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시점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파악</a:t>
            </a:r>
            <a:endParaRPr sz="13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69080" y="1024128"/>
            <a:ext cx="3749039" cy="242316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78808" y="1097280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1F2D4E"/>
                </a:solidFill>
                <a:latin typeface="Calibri"/>
              </a:rPr>
              <a:t>분석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대상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및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설정</a:t>
            </a:r>
            <a:endParaRPr sz="1200" b="1" i="0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8808" y="1481328"/>
            <a:ext cx="3822192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0A0A0A"/>
                </a:solidFill>
                <a:latin typeface="Calibri"/>
              </a:rPr>
              <a:t>대상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 </a:t>
            </a:r>
            <a:r>
              <a:rPr lang="ko-KR" altLang="en-US" sz="1300" b="0" i="0" dirty="0">
                <a:solidFill>
                  <a:srgbClr val="0A0A0A"/>
                </a:solidFill>
                <a:latin typeface="Calibri"/>
              </a:rPr>
              <a:t>가장 높은 유의성을 나타내는 것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①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스니커즈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&lt;- CH3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뉴스감성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②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카드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&lt;- CH1 Google Trends
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설정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반응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기간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 6개월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추적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95%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신뢰구간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부트스트랩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1,000회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반복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해석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 0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포함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안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되면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유의</a:t>
            </a:r>
            <a:endParaRPr sz="13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1000" y="1024128"/>
            <a:ext cx="3959352" cy="242316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0727" y="1097280"/>
            <a:ext cx="3739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D4E"/>
                </a:solidFill>
                <a:latin typeface="Calibri"/>
              </a:rPr>
              <a:t>경제적 해석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1481328"/>
            <a:ext cx="3739896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A0A0A"/>
                </a:solidFill>
                <a:latin typeface="Calibri"/>
              </a:rPr>
              <a:t>CH3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뉴스감성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스니커즈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가격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부정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뉴스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충격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가격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하락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?
  (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소비자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심리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위축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수요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감소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)
CH1 Google Trends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카드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가격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:
 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검색량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급증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충격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가격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상승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?
  (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관심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증가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-&gt;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수요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증가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A0A0A"/>
                </a:solidFill>
                <a:latin typeface="Calibri"/>
              </a:rPr>
              <a:t>선행</a:t>
            </a:r>
            <a:r>
              <a:rPr sz="1300" b="0" i="0" dirty="0">
                <a:solidFill>
                  <a:srgbClr val="0A0A0A"/>
                </a:solidFill>
                <a:latin typeface="Calibri"/>
              </a:rPr>
              <a:t>)</a:t>
            </a:r>
          </a:p>
        </p:txBody>
      </p:sp>
      <p:pic>
        <p:nvPicPr>
          <p:cNvPr id="14" name="Picture 13" descr="irf_sneakers_ch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0"/>
            <a:ext cx="5715000" cy="2697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8600" y="6309359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주. 스니커즈 &lt;- CH3 뉴스감성 충격반응. 래그 1-2에서 음의 반응 확인, 래그 4에서 소멸. 부정 뉴스 -&gt; 단기 가격 하락 선행을 IRF로 재확인.</a:t>
            </a:r>
          </a:p>
        </p:txBody>
      </p:sp>
      <p:pic>
        <p:nvPicPr>
          <p:cNvPr id="16" name="Picture 15" descr="irf_cards_c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566160"/>
            <a:ext cx="5724144" cy="2697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36208" y="6309359"/>
            <a:ext cx="5724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주. 카드 &lt;- CH1 Google Trends 충격반응. 래그 1에서 양의 반응, 래그 3에서 감쇠. 검색량 증가 -&gt; 카드 가격 상승 선행을 IRF로 재확인.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연구 제한점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방법론적 한계 및 데이터 품질 이슈 — 논문 §5.3에 전부 명시하여 과도한 일반화 방지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125778"/>
              </p:ext>
            </p:extLst>
          </p:nvPr>
        </p:nvGraphicFramePr>
        <p:xfrm>
          <a:off x="320040" y="1208341"/>
          <a:ext cx="11612880" cy="5131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09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제한점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구체적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내용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심각도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대응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소표본 문제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자산별 N=48개월 — 복잡한 VAR 구조 검정하기엔 관측치 부족. 검정력(power) 낮을 수 있음.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높음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원본 p + BH 보정 p 병기. 검정력 명시.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 CH1
약한 정상성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1차 차분 후에도 ADF p=0.120 — 경계적 비정상 상태. Granger 결과 해석 시 주의 필요.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해당 결과 해석 시 주의 문구 명시.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CH3 도메인
특화도 한계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GDELT tone은 기사 전반 자동 추출. FinBERT(금융 특화) 대비 도메인 정밀도 낮음.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CH3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민감도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분석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진행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.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논문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§5.3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명시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CH4 키워드
편향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'resell+review' 키워드 필터 -&gt; 일반 hype 콘텐츠 과소 계상 가능성.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전 아이템 동일 키워드 프로토콜 적용.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L5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 GT 0주
비율 높음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Porsche 21/48, Bugatti 25/48 구간에서 Google Trends 값 = 0.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0비율 테이블 제시. 해당 아이템 강한 결론 배제.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단일 플랫폼
편향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YouTube만 수집. TikTok·Reddit·Twitter/X 제외 -&gt; CH4·CH5 대표성 한계.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낮음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향후 연구 기회로 명시.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z-score
데이터 누출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전체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패널로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StandardScaler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피팅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후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TimeSeriesSplit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적용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—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엄밀한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fold별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fit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아님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낮음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N=48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특성상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실질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영향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미미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. §5.3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명시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결론: 연구 문제별 답변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Granger 인과 검정 -&gt; Jaccard 채널 비교 -&gt; XGBoost + DM 검정 — 세 단계 분석의 핵심 결과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284249"/>
              </p:ext>
            </p:extLst>
          </p:nvPr>
        </p:nvGraphicFramePr>
        <p:xfrm>
          <a:off x="676592" y="1472827"/>
          <a:ext cx="10835640" cy="4598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27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RQ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연구 문제 (요약)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실증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결과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핵심 근거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6067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RQ1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미디어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리셀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가격을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선행하는가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&lt;- CH3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뉴스감성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  (F=13.4,  p=0.001,  BH p=0.011)
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&lt;- CH1 Google Trends
  (F=8.4,   p=0.006,  BH p=0.044)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Granger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인과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검정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BH FDR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보정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(q=0.05, m=15)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6067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RQ2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구성이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자산마다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다른가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  J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,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) = 0.333
  (CH1만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공유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,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부분적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겹침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)
  J(*,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) = 0.000
  (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Jaccard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유사도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집합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비교</a:t>
                      </a:r>
                      <a:endParaRPr sz="18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6067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RQ3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선별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모델이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전채널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모델과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동등한가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DM p=0.678
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    DM p=0.504
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    DM p=0.646
  2채널만으로도 5채널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동등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성능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Diebold-Mariano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검정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AUC-ROC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비교</a:t>
                      </a:r>
                      <a:endParaRPr sz="18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학술적 기여 및 실무적 시사점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세 연구 흐름의 교점을 최초로 분석 — 리셀 시장 미디어 모니터링 전략의 이론적 근거 제공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879900"/>
              </p:ext>
            </p:extLst>
          </p:nvPr>
        </p:nvGraphicFramePr>
        <p:xfrm>
          <a:off x="287972" y="1424178"/>
          <a:ext cx="11612880" cy="4433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623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기여 유형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내용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2E6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41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새로운 연구 도메인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리셀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시장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스니커즈·카드·레고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)에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다채널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Granger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인과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분석을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최초로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적용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 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연구는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전통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금융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자산이나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단일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리셀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국한되어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있었음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41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다자산 채널 비교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단일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선행하지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않음을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실증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 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스니커즈는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뉴스감성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(CH3)이,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카드는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검색량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(CH1)이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핵심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—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특이적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존재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확인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41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방법론 삼각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Granger 인과(시간적 선행성) + SHAP(모델 내 채널 기여도) + DM 검정(예측 비교) 세 방법을 결합하여 단일 방법의 한계를 상호 보완.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841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실무적 시사점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투자자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뉴스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논조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(CH3)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모니터링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투자자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Google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검색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트렌드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(CH1)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추적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현재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유효한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미디어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지표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모멘텀에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의존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8415"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향후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연구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방향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TikTok·Reddit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등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플랫폼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확장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|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월별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주별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데이터로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고빈도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분석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|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경매·한정판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드롭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이벤트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효과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통제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|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장기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패널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(4년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이상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)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구축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4392</Words>
  <Application>Microsoft Office PowerPoint</Application>
  <PresentationFormat>사용자 지정</PresentationFormat>
  <Paragraphs>664</Paragraphs>
  <Slides>18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7</cp:revision>
  <dcterms:created xsi:type="dcterms:W3CDTF">2013-01-27T09:14:16Z</dcterms:created>
  <dcterms:modified xsi:type="dcterms:W3CDTF">2026-06-06T15:30:38Z</dcterms:modified>
  <cp:category/>
</cp:coreProperties>
</file>