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시사점 &amp; 향후 연구 — 그래서 무엇이 달라지는가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177" y="715124"/>
            <a:ext cx="1170432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탐색적 발견을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실무에서 참고할 점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과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다음 단계 연구 방향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으로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5632704" cy="420624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51585"/>
            <a:ext cx="5632704" cy="220573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ko-KR" altLang="en-US" sz="1100" dirty="0">
                <a:solidFill>
                  <a:srgbClr val="FFFFFF"/>
                </a:solidFill>
                <a:latin typeface="맑은 고딕"/>
              </a:rPr>
              <a:t>이 연구의 시사점</a:t>
            </a:r>
            <a:endParaRPr sz="11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90488" y="1051560"/>
            <a:ext cx="5724144" cy="420624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0488" y="1151585"/>
            <a:ext cx="5724144" cy="220573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ko-KR" altLang="en-US" sz="1100" b="0" dirty="0">
                <a:solidFill>
                  <a:srgbClr val="FFFFFF"/>
                </a:solidFill>
                <a:latin typeface="맑은 고딕"/>
              </a:rPr>
              <a:t>향후 연구</a:t>
            </a:r>
            <a:endParaRPr sz="1100" b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" y="1600200"/>
            <a:ext cx="5632704" cy="228142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8912" y="2352294"/>
            <a:ext cx="777240" cy="77724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2352294"/>
            <a:ext cx="777240" cy="7772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운영자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46504"/>
            <a:ext cx="4407408" cy="28212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dirty="0" err="1">
                <a:solidFill>
                  <a:srgbClr val="1F2D4E"/>
                </a:solidFill>
                <a:latin typeface="맑은 고딕"/>
              </a:rPr>
              <a:t>리셀</a:t>
            </a:r>
            <a:r>
              <a:rPr sz="15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맑은 고딕"/>
              </a:rPr>
              <a:t>플랫폼을</a:t>
            </a:r>
            <a:r>
              <a:rPr sz="15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맑은 고딕"/>
              </a:rPr>
              <a:t>운영</a:t>
            </a:r>
            <a:r>
              <a:rPr lang="en-US" sz="15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lang="ko-KR" altLang="en-US" sz="1500" b="1" dirty="0">
                <a:solidFill>
                  <a:srgbClr val="1F2D4E"/>
                </a:solidFill>
                <a:latin typeface="맑은 고딕"/>
              </a:rPr>
              <a:t>측면</a:t>
            </a:r>
            <a:endParaRPr sz="1500" b="1" dirty="0">
              <a:solidFill>
                <a:srgbClr val="1F2D4E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2203704"/>
            <a:ext cx="4407408" cy="162306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맑은 고딕"/>
              </a:rPr>
              <a:t>•  모든 미디어 데이터를 다 모을 필요는 없음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맑은 고딕"/>
              </a:rPr>
              <a:t>•  자산마다 효과 있는 채널 몇 개만 골라 운영해도 예측력은 비슷 → 데이터 수집·운영 비용 절감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맑은 고딕"/>
              </a:rPr>
              <a:t>•  어떤 채널이 효과적인지는 자산마다 다름 — 스니커즈는 뉴스감성·검색량·조회수, 카드는 검색량 중심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27932"/>
            <a:ext cx="5632704" cy="228142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8912" y="4780026"/>
            <a:ext cx="777240" cy="777240"/>
          </a:xfrm>
          <a:prstGeom prst="ellipse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4780026"/>
            <a:ext cx="777240" cy="77724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연구자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74236"/>
            <a:ext cx="4407408" cy="28212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dirty="0" err="1">
                <a:solidFill>
                  <a:srgbClr val="1F2D4E"/>
                </a:solidFill>
                <a:latin typeface="맑은 고딕"/>
              </a:rPr>
              <a:t>학술</a:t>
            </a:r>
            <a:r>
              <a:rPr sz="15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맑은 고딕"/>
              </a:rPr>
              <a:t>연구</a:t>
            </a:r>
            <a:r>
              <a:rPr lang="en-US" sz="15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lang="ko-KR" altLang="en-US" sz="1500" b="1" dirty="0">
                <a:solidFill>
                  <a:srgbClr val="1F2D4E"/>
                </a:solidFill>
                <a:latin typeface="맑은 고딕"/>
              </a:rPr>
              <a:t>측면</a:t>
            </a:r>
            <a:endParaRPr sz="1500" b="1" dirty="0">
              <a:solidFill>
                <a:srgbClr val="1F2D4E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4631436"/>
            <a:ext cx="4407408" cy="1077218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이번에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쓴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방법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(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공개데이터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수집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먼저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움직이는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신호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찾기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머신러닝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예측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)은</a:t>
            </a:r>
            <a:r>
              <a:rPr lang="en-US"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명품·시계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등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다른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수집품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시장에도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그대로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적용해볼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수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있음</a:t>
            </a:r>
            <a:endParaRPr sz="12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800"/>
              </a:spcAft>
            </a:pPr>
            <a:r>
              <a:rPr sz="12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Granger·SHAP·DM처럼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이미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검증된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통계·머신러닝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기법을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그대로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재사용</a:t>
            </a:r>
            <a:r>
              <a:rPr sz="12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0A0A0A"/>
                </a:solidFill>
                <a:latin typeface="맑은 고딕"/>
              </a:rPr>
              <a:t>가능</a:t>
            </a:r>
            <a:endParaRPr sz="1200" b="0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51092" y="2385060"/>
            <a:ext cx="27432" cy="3139440"/>
          </a:xfrm>
          <a:prstGeom prst="rect">
            <a:avLst/>
          </a:prstGeom>
          <a:solidFill>
            <a:srgbClr val="AAB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08775" y="2129028"/>
            <a:ext cx="512064" cy="512064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08775" y="2129028"/>
            <a:ext cx="512064" cy="51206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1636776"/>
            <a:ext cx="5010912" cy="149656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31736" y="1691640"/>
            <a:ext cx="4791456" cy="292608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기간 늘리고 상품 수 늘리기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2020824"/>
            <a:ext cx="4791456" cy="384721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지금은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4년(48개월)·15개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상품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→ 5년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이상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, 더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많은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상품으로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검증하면</a:t>
            </a:r>
            <a:endParaRPr sz="10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lang="en-US" sz="1000" dirty="0">
                <a:solidFill>
                  <a:srgbClr val="0A0A0A"/>
                </a:solidFill>
                <a:latin typeface="맑은 고딕"/>
              </a:rPr>
              <a:t> 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결과를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더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믿을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수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있게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됨</a:t>
            </a:r>
          </a:p>
        </p:txBody>
      </p:sp>
      <p:sp>
        <p:nvSpPr>
          <p:cNvPr id="26" name="Oval 25"/>
          <p:cNvSpPr/>
          <p:nvPr/>
        </p:nvSpPr>
        <p:spPr>
          <a:xfrm>
            <a:off x="6208775" y="3698748"/>
            <a:ext cx="512064" cy="512064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08775" y="3698748"/>
            <a:ext cx="512064" cy="51206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206496"/>
            <a:ext cx="5010912" cy="149656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31736" y="3261360"/>
            <a:ext cx="4791456" cy="292608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뉴스 감성 분석 더 정교하게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6" y="3590544"/>
            <a:ext cx="4791456" cy="384721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지금은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범용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자동분석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도구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사용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금융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전문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AI로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바꾸면</a:t>
            </a:r>
            <a:endParaRPr sz="10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lang="en-US" sz="1000" dirty="0">
                <a:solidFill>
                  <a:srgbClr val="0A0A0A"/>
                </a:solidFill>
                <a:latin typeface="맑은 고딕"/>
              </a:rPr>
              <a:t> 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신호의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품질이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좋아질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것</a:t>
            </a:r>
          </a:p>
        </p:txBody>
      </p:sp>
      <p:sp>
        <p:nvSpPr>
          <p:cNvPr id="31" name="Oval 30"/>
          <p:cNvSpPr/>
          <p:nvPr/>
        </p:nvSpPr>
        <p:spPr>
          <a:xfrm>
            <a:off x="6208775" y="5268468"/>
            <a:ext cx="512064" cy="512064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08775" y="5268468"/>
            <a:ext cx="512064" cy="512064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4776216"/>
            <a:ext cx="5010912" cy="149656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31736" y="4831080"/>
            <a:ext cx="4791456" cy="292608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월 단위 → 주 단위로 더 세밀하게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5160264"/>
            <a:ext cx="4791456" cy="384721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한정판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출시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같은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특별한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사건의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효과를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따로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떼어서</a:t>
            </a:r>
            <a:endParaRPr sz="10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lang="en-US" sz="1000" dirty="0">
                <a:solidFill>
                  <a:srgbClr val="0A0A0A"/>
                </a:solidFill>
                <a:latin typeface="맑은 고딕"/>
              </a:rPr>
              <a:t>  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분석할</a:t>
            </a:r>
            <a:r>
              <a:rPr sz="1000" b="0" dirty="0">
                <a:solidFill>
                  <a:srgbClr val="0A0A0A"/>
                </a:solidFill>
                <a:latin typeface="맑은 고딕"/>
              </a:rPr>
              <a:t> 수 </a:t>
            </a:r>
            <a:r>
              <a:rPr sz="1000" b="0" dirty="0" err="1">
                <a:solidFill>
                  <a:srgbClr val="0A0A0A"/>
                </a:solidFill>
                <a:latin typeface="맑은 고딕"/>
              </a:rPr>
              <a:t>있음</a:t>
            </a:r>
            <a:endParaRPr sz="1000" b="0" dirty="0">
              <a:solidFill>
                <a:srgbClr val="0A0A0A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196</Words>
  <Application>Microsoft Office PowerPoint</Application>
  <PresentationFormat>사용자 지정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2026-06-13T12:56:07Z</dcterms:modified>
  <cp:category/>
</cp:coreProperties>
</file>